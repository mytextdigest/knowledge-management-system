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6BFF"/>
                </a:solidFill>
                <a:latin typeface="Calibri"/>
              </a:rPr>
              <a:t>KNOWLEDGE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1D29"/>
                </a:solidFill>
                <a:latin typeface="Calibri"/>
              </a:rPr>
              <a:t>KMS: An AI-Powered Enterprise Knowledge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B6275"/>
                </a:solidFill>
                <a:latin typeface="Calibri"/>
              </a:rPr>
              <a:t>What it is, how it differs from MTD, and the Tier 1 feature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275"/>
                </a:solidFill>
                <a:latin typeface="Calibri"/>
              </a:rPr>
              <a:t>Tier 1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6BFF"/>
                </a:solidFill>
                <a:latin typeface="Calibri"/>
              </a:rPr>
              <a:t>01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9"/>
                </a:solidFill>
                <a:latin typeface="Calibri"/>
              </a:rPr>
              <a:t>What is KMS?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51560"/>
            <a:ext cx="10908792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A1D29"/>
                </a:solidFill>
                <a:latin typeface="Calibri"/>
              </a:rPr>
              <a:t>An AI-powered Enterprise Knowledge Management System — the organization's long-term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6BFF"/>
                </a:solidFill>
                <a:latin typeface="Calibri"/>
              </a:rPr>
              <a:t>Search &amp;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D29"/>
                </a:solidFill>
                <a:latin typeface="Calibri"/>
              </a:rPr>
              <a:t>Employees search and ask natural-language questions across the org's knowledge.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2860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6BFF"/>
                </a:solidFill>
                <a:latin typeface="Calibri"/>
              </a:rPr>
              <a:t>Understands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D29"/>
                </a:solidFill>
                <a:latin typeface="Calibri"/>
              </a:rPr>
              <a:t>AI reads and reasons about documents — not just storage and file names.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6BFF"/>
                </a:solidFill>
                <a:latin typeface="Calibri"/>
              </a:rPr>
              <a:t>Discovers Expertise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D29"/>
                </a:solidFill>
                <a:latin typeface="Calibri"/>
              </a:rPr>
              <a:t>Surfaces who knows what, and connects related knowledge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2860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56032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6BFF"/>
                </a:solidFill>
                <a:latin typeface="Calibri"/>
              </a:rPr>
              <a:t>Covers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10896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D29"/>
                </a:solidFill>
                <a:latin typeface="Calibri"/>
              </a:rPr>
              <a:t>Policies, SOPs, reports, meeting notes, research — accumulated over years.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275"/>
                </a:solidFill>
                <a:latin typeface="Calibri"/>
              </a:rPr>
              <a:t>Knowledge Management System (KMS)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27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6BFF"/>
                </a:solidFill>
                <a:latin typeface="Calibri"/>
              </a:rPr>
              <a:t>02 —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9"/>
                </a:solidFill>
                <a:latin typeface="Calibri"/>
              </a:rPr>
              <a:t>How Is KMS Different From MTD?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51560"/>
            <a:ext cx="10908792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71600"/>
            <a:ext cx="5257800" cy="4846320"/>
          </a:xfrm>
          <a:prstGeom prst="roundRect">
            <a:avLst>
              <a:gd name="adj" fmla="val 6000"/>
            </a:avLst>
          </a:prstGeom>
          <a:solidFill>
            <a:srgbClr val="F0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B6275"/>
                </a:solidFill>
                <a:latin typeface="Calibri"/>
              </a:rPr>
              <a:t>MTD (My Text Digest)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Per-user document summarization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Personal, individual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40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Manual summarization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No org structure — no departments, projects, or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949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No cross-document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257800" cy="4846320"/>
          </a:xfrm>
          <a:prstGeom prst="roundRect">
            <a:avLst>
              <a:gd name="adj" fmla="val 6000"/>
            </a:avLst>
          </a:prstGeom>
          <a:solidFill>
            <a:srgbClr val="EA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6BFF"/>
                </a:solidFill>
                <a:latin typeface="Calibri"/>
              </a:rPr>
              <a:t>KMS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Org-wide Enterprise Knowledge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63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Multi-tenant: orgs, departments, projects, RBAC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Automated ingestion (e.g. SharePoint sync) + auto-classification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1772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Cross-document reasoning, summarization, org-wide AI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949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D29"/>
                </a:solidFill>
                <a:latin typeface="Calibri"/>
              </a:rPr>
              <a:t>•  Relationship/expertise discovery + knowledge health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B6275"/>
                </a:solidFill>
                <a:latin typeface="Calibri"/>
              </a:rPr>
              <a:t>Same underlying stack (Next.js, Prisma, AWS) — different product direction, built as a greenfield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6BFF"/>
                </a:solidFill>
                <a:latin typeface="Calibri"/>
              </a:rPr>
              <a:t>03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9"/>
                </a:solidFill>
                <a:latin typeface="Calibri"/>
              </a:rPr>
              <a:t>Tier 1 Features — In Order of Importance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051560"/>
            <a:ext cx="10908792" cy="0"/>
          </a:xfrm>
          <a:prstGeom prst="line">
            <a:avLst/>
          </a:prstGeom>
          <a:ln w="12700">
            <a:solidFill>
              <a:srgbClr val="E3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344168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9844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Conversational Knowledge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1673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Org-wide AI chat with streaming, citations &amp; confidence scoring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47088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40080" y="1947672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0195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Semantic Knowledge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Vector-based search across all organizational content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2450592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0080" y="2551176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05456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Automated Knowledge Ingestion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2374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Auto-sync from sources like SharePoint into a unified review queue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054096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0896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Automatic Knowledge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127248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Auto-categorizes documents, flags duplicates &amp; suggests department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3657600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80" y="3758184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712464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Cross-Document 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730752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Auto-organizes related documents into Topics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4261104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40080" y="4361688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315968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Knowledge Summarization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334256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AI-generated summaries for every document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4864608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4965192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919472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Enterprise Knowledge Repository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9377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Org / department / project structure for all knowledge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5468112"/>
            <a:ext cx="10908792" cy="0"/>
          </a:xfrm>
          <a:prstGeom prst="line">
            <a:avLst/>
          </a:prstGeom>
          <a:ln w="9525">
            <a:solidFill>
              <a:srgbClr val="ECEE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40080" y="5568696"/>
            <a:ext cx="384048" cy="384048"/>
          </a:xfrm>
          <a:prstGeom prst="ellipse">
            <a:avLst/>
          </a:prstGeom>
          <a:solidFill>
            <a:srgbClr val="4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522976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1D29"/>
                </a:solidFill>
                <a:latin typeface="Calibri"/>
              </a:rPr>
              <a:t>Knowledge Context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541264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6275"/>
                </a:solidFill>
                <a:latin typeface="Calibri"/>
              </a:rPr>
              <a:t>Related-document &amp; expert discovery across the org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275"/>
                </a:solidFill>
                <a:latin typeface="Calibri"/>
              </a:rPr>
              <a:t>Knowledge Management System (KMS)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B627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BECC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