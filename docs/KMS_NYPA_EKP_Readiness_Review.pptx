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b9793907-ee6f-f075-2f87-f58268d0afef}">
          <p14:sldIdLst>
            <p14:sldId id="256"/>
            <p14:sldId id="257"/>
            <p14:sldId id="258"/>
          </p14:sldIdLst>
        </p14:section>
        <p14:section name="Where we stand" id="{1a9b4d2c-4988-7d87-77b9-f7fb12a8558e}">
          <p14:sldIdLst>
            <p14:sldId id="259"/>
            <p14:sldId id="260"/>
            <p14:sldId id="261"/>
            <p14:sldId id="262"/>
            <p14:sldId id="263"/>
          </p14:sldIdLst>
        </p14:section>
        <p14:section name="Gaps and risks" id="{94b096e4-a480-1e54-5d31-128042242e07}">
          <p14:sldIdLst>
            <p14:sldId id="264"/>
            <p14:sldId id="265"/>
          </p14:sldIdLst>
        </p14:section>
        <p14:section name="Closing the gap" id="{4a00dac6-7596-28b8-621d-fc12781804af}">
          <p14:sldIdLst>
            <p14:sldId id="266"/>
            <p14:sldId id="267"/>
            <p14:sldId id="268"/>
          </p14:sldIdLst>
        </p14:section>
        <p14:section name="Next steps" id="{0d6cca83-aac7-3398-7008-2562ea76f2f0}">
          <p14:sldIdLst>
            <p14:sldId id="269"/>
          </p14:sldIdLst>
        </p14:section>
        <p14:section name="Appendix" id="{d442c1d6-0483-2949-6542-fb264dcfb7a0}">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Met</c:v>
                </c:pt>
              </c:strCache>
            </c:strRef>
          </c:tx>
          <c:spPr>
            <a:solidFill>
              <a:srgbClr val="2E8B57"/>
            </a:solidFill>
            <a:effectLst/>
          </c:spPr>
          <c:invertIfNegative val="0"/>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EKP</c:v>
                  </c:pt>
                </c:lvl>
              </c:multiLvlStrCache>
            </c:multiLvlStrRef>
          </c:cat>
          <c:val>
            <c:numRef>
              <c:f>Sheet1!$B$2:$B$2</c:f>
              <c:numCache>
                <c:formatCode>General</c:formatCode>
                <c:ptCount val="1"/>
                <c:pt idx="0">
                  <c:v>8</c:v>
                </c:pt>
              </c:numCache>
            </c:numRef>
          </c:val>
        </c:ser>
        <c:ser>
          <c:idx val="1"/>
          <c:order val="1"/>
          <c:tx>
            <c:strRef>
              <c:f>Sheet1!$C$1</c:f>
              <c:strCache>
                <c:ptCount val="1"/>
                <c:pt idx="0">
                  <c:v>Partial</c:v>
                </c:pt>
              </c:strCache>
            </c:strRef>
          </c:tx>
          <c:spPr>
            <a:solidFill>
              <a:srgbClr val="E0A100"/>
            </a:solidFill>
            <a:effectLst/>
          </c:spPr>
          <c:invertIfNegative val="0"/>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EKP</c:v>
                  </c:pt>
                </c:lvl>
              </c:multiLvlStrCache>
            </c:multiLvlStrRef>
          </c:cat>
          <c:val>
            <c:numRef>
              <c:f>Sheet1!$C$2:$C$2</c:f>
              <c:numCache>
                <c:formatCode>General</c:formatCode>
                <c:ptCount val="1"/>
                <c:pt idx="0">
                  <c:v>18</c:v>
                </c:pt>
              </c:numCache>
            </c:numRef>
          </c:val>
        </c:ser>
        <c:ser>
          <c:idx val="2"/>
          <c:order val="2"/>
          <c:tx>
            <c:strRef>
              <c:f>Sheet1!$D$1</c:f>
              <c:strCache>
                <c:ptCount val="1"/>
                <c:pt idx="0">
                  <c:v>Gap</c:v>
                </c:pt>
              </c:strCache>
            </c:strRef>
          </c:tx>
          <c:spPr>
            <a:solidFill>
              <a:srgbClr val="C0392B"/>
            </a:solidFill>
            <a:effectLst/>
          </c:spPr>
          <c:invertIfNegative val="0"/>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EKP</c:v>
                  </c:pt>
                </c:lvl>
              </c:multiLvlStrCache>
            </c:multiLvlStrRef>
          </c:cat>
          <c:val>
            <c:numRef>
              <c:f>Sheet1!$D$2:$D$2</c:f>
              <c:numCache>
                <c:formatCode>General</c:formatCode>
                <c:ptCount val="1"/>
                <c:pt idx="0">
                  <c:v>6</c:v>
                </c:pt>
              </c:numCache>
            </c:numRef>
          </c:val>
        </c:ser>
        <c:dLbls>
          <c:numFmt formatCode="#,##0" sourceLinked="0"/>
          <c:txPr>
            <a:bodyPr/>
            <a:lstStyle/>
            <a:p>
              <a:pPr>
                <a:defRPr b="1" i="0" strike="noStrike" sz="1600" u="none">
                  <a:solidFill>
                    <a:srgbClr val="FFFFFF"/>
                  </a:solidFill>
                  <a:latin typeface="+mn-lt"/>
                </a:defRPr>
              </a:pPr>
            </a:p>
          </c:txPr>
          <c:dLblPos val="ctr"/>
          <c:showLegendKey val="0"/>
          <c:showVal val="1"/>
          <c:showCatName val="0"/>
          <c:showSerName val="0"/>
          <c:showPercent val="0"/>
          <c:showBubbleSize val="0"/>
          <c:showLeaderLines val="0"/>
        </c:dLbls>
        <c:gapWidth val="1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review. Purpose: show the team exactly where KMS stands against NYPA's Enterprise Knowledge Platform requirements, and agree a plan to close every gap before we engage NYPA.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KMS is built to be NYPA's Enterprise Knowledge Platform. The aim of this deck is not to defend where we are, but to get to full coverage of the 32 EKP requirements before we go to NYPA.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ratings come from the code, not from the PRD. 'Met' means the code path exists and is wired to the UI or API. It has not been load-tested or UAT-tested at NYPA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8 met, 18 partial, 6 gap. The point to land: closing the partials is mostly productizing what already exists, not inventing new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heatmap: governance has the most partials (4); content coverage and the semantic layer hold 4 of the 6 hard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 AI part and it works: retrieval, grounded answers, the graph, classification with human review. Requirement numbers refer to the full table in Appendix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team honest: Tier 2 work is valuable but it is not EKP progress. Don't let it hide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partial requirements in 6 themes. The right-hand column is effectively the build list for the partials.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six sit in content coverage and the semantic layer. Managed metadata (#15) unlocks #3, #4 and #16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1 and 3 are explicit commitments in our proposal. Risk 1 also touches the RFI's only mandatory requirement, so it leads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24 non-met requirements maps to exactly one workstream. Single sign-on isn't a numbered requirement but rides with workstream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target dates are left as TBD for the team to fill in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days of work, not weeks, and uses code that already exists (logAudit, crypto.js, the existing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decisions, not discussion. Owners and dates on slide 12 should be filled in from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Full evidence and code references are in docs/NYPA_RFI_KMS_GAP_ANALYSIS.md.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Full evidence and code references are in docs/NYPA_RFI_KMS_GAP_ANALYSIS.md.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Full evidence and code references are in docs/NYPA_RFI_KMS_GAP_ANALYSIS.md.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Full evidence and code references are in docs/NYPA_RFI_KMS_GAP_ANALYSIS.md.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proposal's security, governance and pilot sections. Items marked 'at risk' are written commitments we don't yet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documentation/architecture deliverables NYPA expects for the EKP.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0584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5394960"/>
            <a:ext cx="10058400" cy="45720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KMS · NYPA EKP readiness review · Internal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KMS · NYPA EKP readiness review · Internal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KMS vs. NYPA Enterprise Knowledge Platform</a:t>
            </a:r>
            <a:endParaRPr lang="en-US" sz="4400" dirty="0"/>
          </a:p>
        </p:txBody>
      </p:sp>
      <p:sp>
        <p:nvSpPr>
          <p:cNvPr id="3" name="Text 0"/>
          <p:cNvSpPr/>
          <p:nvPr>
            <p:ph idx="101" type="body" hasCustomPrompt="1"/>
          </p:nvPr>
        </p:nvSpPr>
        <p:spPr>
          <a:xfrm>
            <a:off x="731520" y="3474720"/>
            <a:ext cx="10058400" cy="914400"/>
          </a:xfrm>
          <a:prstGeom prst="rect">
            <a:avLst/>
          </a:prstGeom>
          <a:noFill/>
          <a:ln/>
        </p:spPr>
        <p:txBody>
          <a:bodyPr wrap="square" lIns="0" tIns="0" rIns="0" bIns="0" rtlCol="0" anchor="t"/>
          <a:lstStyle/>
          <a:p>
            <a:pPr indent="0" marL="0">
              <a:buNone/>
            </a:pPr>
            <a:r>
              <a:rPr lang="en-US" sz="2200" dirty="0">
                <a:solidFill>
                  <a:schemeClr val="bg2"/>
                </a:solidFill>
              </a:rPr>
              <a:t>Where we stand against the EKP requirements, and how we close the gap</a:t>
            </a:r>
            <a:endParaRPr lang="en-US" sz="2200" dirty="0"/>
          </a:p>
        </p:txBody>
      </p:sp>
      <p:sp>
        <p:nvSpPr>
          <p:cNvPr id="4" name="Text 0"/>
          <p:cNvSpPr/>
          <p:nvPr>
            <p:ph idx="102" type="body" hasCustomPrompt="1"/>
          </p:nvPr>
        </p:nvSpPr>
        <p:spPr>
          <a:xfrm>
            <a:off x="731520" y="5394960"/>
            <a:ext cx="10058400" cy="457200"/>
          </a:xfrm>
          <a:prstGeom prst="rect">
            <a:avLst/>
          </a:prstGeom>
          <a:noFill/>
          <a:ln/>
        </p:spPr>
        <p:txBody>
          <a:bodyPr wrap="square" lIns="0" tIns="0" rIns="0" bIns="0" rtlCol="0"/>
          <a:lstStyle/>
          <a:p>
            <a:pPr indent="0" marL="0">
              <a:buNone/>
            </a:pPr>
            <a:r>
              <a:rPr lang="en-US" sz="1400" b="1" dirty="0">
                <a:solidFill>
                  <a:schemeClr val="accent1"/>
                </a:solidFill>
              </a:rPr>
              <a:t>Internal readiness review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Goal: meet every EKP requirement before NYPA</a:t>
            </a:r>
            <a:endParaRPr lang="en-US" sz="3200" dirty="0"/>
          </a:p>
        </p:txBody>
      </p:sp>
      <p:sp>
        <p:nvSpPr>
          <p:cNvPr id="3" name="EKP definition card"/>
          <p:cNvSpPr/>
          <p:nvPr/>
        </p:nvSpPr>
        <p:spPr>
          <a:xfrm>
            <a:off x="548640" y="1463040"/>
            <a:ext cx="4937760" cy="4480560"/>
          </a:xfrm>
          <a:prstGeom prst="roundRect">
            <a:avLst>
              <a:gd name="adj" fmla="val 1633"/>
            </a:avLst>
          </a:prstGeom>
          <a:solidFill>
            <a:schemeClr val="tx2"/>
          </a:solidFill>
          <a:ln/>
        </p:spPr>
      </p:sp>
      <p:sp>
        <p:nvSpPr>
          <p:cNvPr id="4" name="EKP circle"/>
          <p:cNvSpPr/>
          <p:nvPr/>
        </p:nvSpPr>
        <p:spPr>
          <a:xfrm>
            <a:off x="914400" y="1783080"/>
            <a:ext cx="731520" cy="731520"/>
          </a:xfrm>
          <a:prstGeom prst="ellipse">
            <a:avLst/>
          </a:prstGeom>
          <a:solidFill>
            <a:schemeClr val="accent1"/>
          </a:solidFill>
          <a:ln/>
        </p:spPr>
      </p:sp>
      <p:pic>
        <p:nvPicPr>
          <p:cNvPr id="5" name="EKP icon" descr="EKP">    </p:cNvPr>
          <p:cNvPicPr>
            <a:picLocks noChangeAspect="1"/>
          </p:cNvPicPr>
          <p:nvPr/>
        </p:nvPicPr>
        <p:blipFill>
          <a:blip r:embed="rId1"/>
          <a:stretch>
            <a:fillRect/>
          </a:stretch>
        </p:blipFill>
        <p:spPr>
          <a:xfrm>
            <a:off x="1097280" y="1965960"/>
            <a:ext cx="365760" cy="365760"/>
          </a:xfrm>
          <a:prstGeom prst="rect">
            <a:avLst/>
          </a:prstGeom>
        </p:spPr>
      </p:pic>
      <p:sp>
        <p:nvSpPr>
          <p:cNvPr id="6" name="Text 3"/>
          <p:cNvSpPr txBox="1"/>
          <p:nvPr/>
        </p:nvSpPr>
        <p:spPr>
          <a:xfrm>
            <a:off x="914400" y="2697480"/>
            <a:ext cx="4206240" cy="77724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Enterprise Knowledge Platform</a:t>
            </a:r>
            <a:endParaRPr lang="en-US" sz="2200" dirty="0"/>
          </a:p>
        </p:txBody>
      </p:sp>
      <p:sp>
        <p:nvSpPr>
          <p:cNvPr id="7" name="Text 4"/>
          <p:cNvSpPr txBox="1"/>
          <p:nvPr/>
        </p:nvSpPr>
        <p:spPr>
          <a:xfrm>
            <a:off x="914400" y="3611880"/>
            <a:ext cx="4206240" cy="1371600"/>
          </a:xfrm>
          <a:prstGeom prst="rect">
            <a:avLst/>
          </a:prstGeom>
          <a:noFill/>
          <a:ln/>
        </p:spPr>
        <p:txBody>
          <a:bodyPr wrap="square" lIns="0" tIns="0" rIns="0" bIns="0" rtlCol="0" anchor="t"/>
          <a:lstStyle/>
          <a:p>
            <a:pPr indent="0" marL="0">
              <a:buNone/>
            </a:pPr>
            <a:r>
              <a:rPr lang="en-US" sz="1600" dirty="0">
                <a:solidFill>
                  <a:schemeClr val="bg2"/>
                </a:solidFill>
              </a:rPr>
              <a:t>NYPA wants one platform that gives employees unified search, navigation and access to knowledge across key repositories, with AI answers grounded in trusted sources.</a:t>
            </a:r>
            <a:endParaRPr lang="en-US" sz="1600" dirty="0"/>
          </a:p>
        </p:txBody>
      </p:sp>
      <p:sp>
        <p:nvSpPr>
          <p:cNvPr id="8" name="Text 5"/>
          <p:cNvSpPr txBox="1"/>
          <p:nvPr/>
        </p:nvSpPr>
        <p:spPr>
          <a:xfrm>
            <a:off x="914400" y="5074920"/>
            <a:ext cx="4206240" cy="457200"/>
          </a:xfrm>
          <a:prstGeom prst="rect">
            <a:avLst/>
          </a:prstGeom>
          <a:noFill/>
          <a:ln/>
        </p:spPr>
        <p:txBody>
          <a:bodyPr wrap="square" lIns="0" tIns="0" rIns="0" bIns="0" rtlCol="0" anchor="t"/>
          <a:lstStyle/>
          <a:p>
            <a:pPr indent="0" marL="0">
              <a:buNone/>
            </a:pPr>
            <a:r>
              <a:rPr lang="en-US" sz="1600" b="1" dirty="0">
                <a:solidFill>
                  <a:schemeClr val="accent1"/>
                </a:solidFill>
              </a:rPr>
              <a:t>32 requirements in RFI §3.1</a:t>
            </a:r>
            <a:endParaRPr lang="en-US" sz="1600" dirty="0"/>
          </a:p>
        </p:txBody>
      </p:sp>
      <p:sp>
        <p:nvSpPr>
          <p:cNvPr id="9" name="Step 1 card"/>
          <p:cNvSpPr/>
          <p:nvPr/>
        </p:nvSpPr>
        <p:spPr>
          <a:xfrm>
            <a:off x="5943600" y="1463040"/>
            <a:ext cx="5699455" cy="1325880"/>
          </a:xfrm>
          <a:prstGeom prst="roundRect">
            <a:avLst>
              <a:gd name="adj" fmla="val 5517"/>
            </a:avLst>
          </a:prstGeom>
          <a:solidFill>
            <a:schemeClr val="bg2"/>
          </a:solidFill>
          <a:ln/>
        </p:spPr>
      </p:sp>
      <p:sp>
        <p:nvSpPr>
          <p:cNvPr id="10" name="Step 1 circle"/>
          <p:cNvSpPr/>
          <p:nvPr/>
        </p:nvSpPr>
        <p:spPr>
          <a:xfrm>
            <a:off x="6217920" y="1828800"/>
            <a:ext cx="594360" cy="594360"/>
          </a:xfrm>
          <a:prstGeom prst="ellipse">
            <a:avLst/>
          </a:prstGeom>
          <a:solidFill>
            <a:schemeClr val="accent1"/>
          </a:solidFill>
          <a:ln/>
        </p:spPr>
      </p:sp>
      <p:sp>
        <p:nvSpPr>
          <p:cNvPr id="11" name="Step 1 number"/>
          <p:cNvSpPr txBox="1"/>
          <p:nvPr/>
        </p:nvSpPr>
        <p:spPr>
          <a:xfrm>
            <a:off x="6217920" y="18288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2" name="Text 9"/>
          <p:cNvSpPr txBox="1"/>
          <p:nvPr/>
        </p:nvSpPr>
        <p:spPr>
          <a:xfrm>
            <a:off x="7040880" y="1691640"/>
            <a:ext cx="4327855" cy="411480"/>
          </a:xfrm>
          <a:prstGeom prst="rect">
            <a:avLst/>
          </a:prstGeom>
          <a:noFill/>
          <a:ln/>
        </p:spPr>
        <p:txBody>
          <a:bodyPr wrap="square" lIns="0" tIns="0" rIns="0" bIns="0" rtlCol="0" anchor="t"/>
          <a:lstStyle/>
          <a:p>
            <a:pPr indent="0" marL="0">
              <a:buNone/>
            </a:pPr>
            <a:r>
              <a:rPr lang="en-US" sz="2000" b="1" dirty="0">
                <a:solidFill>
                  <a:schemeClr val="tx2"/>
                </a:solidFill>
              </a:rPr>
              <a:t>Where we are today</a:t>
            </a:r>
            <a:endParaRPr lang="en-US" sz="2000" dirty="0"/>
          </a:p>
        </p:txBody>
      </p:sp>
      <p:sp>
        <p:nvSpPr>
          <p:cNvPr id="13" name="Text 10"/>
          <p:cNvSpPr txBox="1"/>
          <p:nvPr/>
        </p:nvSpPr>
        <p:spPr>
          <a:xfrm>
            <a:off x="7040880" y="2148840"/>
            <a:ext cx="4327855" cy="502920"/>
          </a:xfrm>
          <a:prstGeom prst="rect">
            <a:avLst/>
          </a:prstGeom>
          <a:noFill/>
          <a:ln/>
        </p:spPr>
        <p:txBody>
          <a:bodyPr wrap="square" lIns="0" tIns="0" rIns="0" bIns="0" rtlCol="0" anchor="t"/>
          <a:lstStyle/>
          <a:p>
            <a:pPr indent="0" marL="0">
              <a:buNone/>
            </a:pPr>
            <a:r>
              <a:rPr lang="en-US" sz="1500" dirty="0">
                <a:solidFill>
                  <a:schemeClr val="tx1"/>
                </a:solidFill>
              </a:rPr>
              <a:t>Every EKP requirement rated against the actual codebase</a:t>
            </a:r>
            <a:endParaRPr lang="en-US" sz="1500" dirty="0"/>
          </a:p>
        </p:txBody>
      </p:sp>
      <p:sp>
        <p:nvSpPr>
          <p:cNvPr id="14" name="Step 2 card"/>
          <p:cNvSpPr/>
          <p:nvPr/>
        </p:nvSpPr>
        <p:spPr>
          <a:xfrm>
            <a:off x="5943600" y="3017520"/>
            <a:ext cx="5699455" cy="1325880"/>
          </a:xfrm>
          <a:prstGeom prst="roundRect">
            <a:avLst>
              <a:gd name="adj" fmla="val 5517"/>
            </a:avLst>
          </a:prstGeom>
          <a:solidFill>
            <a:schemeClr val="bg2"/>
          </a:solidFill>
          <a:ln/>
        </p:spPr>
      </p:sp>
      <p:sp>
        <p:nvSpPr>
          <p:cNvPr id="15" name="Step 2 circle"/>
          <p:cNvSpPr/>
          <p:nvPr/>
        </p:nvSpPr>
        <p:spPr>
          <a:xfrm>
            <a:off x="6217920" y="3383280"/>
            <a:ext cx="594360" cy="594360"/>
          </a:xfrm>
          <a:prstGeom prst="ellipse">
            <a:avLst/>
          </a:prstGeom>
          <a:solidFill>
            <a:schemeClr val="accent1"/>
          </a:solidFill>
          <a:ln/>
        </p:spPr>
      </p:sp>
      <p:sp>
        <p:nvSpPr>
          <p:cNvPr id="16" name="Step 2 number"/>
          <p:cNvSpPr txBox="1"/>
          <p:nvPr/>
        </p:nvSpPr>
        <p:spPr>
          <a:xfrm>
            <a:off x="6217920" y="338328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7" name="Text 14"/>
          <p:cNvSpPr txBox="1"/>
          <p:nvPr/>
        </p:nvSpPr>
        <p:spPr>
          <a:xfrm>
            <a:off x="7040880" y="3246120"/>
            <a:ext cx="4327855" cy="411480"/>
          </a:xfrm>
          <a:prstGeom prst="rect">
            <a:avLst/>
          </a:prstGeom>
          <a:noFill/>
          <a:ln/>
        </p:spPr>
        <p:txBody>
          <a:bodyPr wrap="square" lIns="0" tIns="0" rIns="0" bIns="0" rtlCol="0" anchor="t"/>
          <a:lstStyle/>
          <a:p>
            <a:pPr indent="0" marL="0">
              <a:buNone/>
            </a:pPr>
            <a:r>
              <a:rPr lang="en-US" sz="2000" b="1" dirty="0">
                <a:solidFill>
                  <a:schemeClr val="tx2"/>
                </a:solidFill>
              </a:rPr>
              <a:t>What's missing</a:t>
            </a:r>
            <a:endParaRPr lang="en-US" sz="2000" dirty="0"/>
          </a:p>
        </p:txBody>
      </p:sp>
      <p:sp>
        <p:nvSpPr>
          <p:cNvPr id="18" name="Text 15"/>
          <p:cNvSpPr txBox="1"/>
          <p:nvPr/>
        </p:nvSpPr>
        <p:spPr>
          <a:xfrm>
            <a:off x="7040880" y="3703320"/>
            <a:ext cx="4327855" cy="502920"/>
          </a:xfrm>
          <a:prstGeom prst="rect">
            <a:avLst/>
          </a:prstGeom>
          <a:noFill/>
          <a:ln/>
        </p:spPr>
        <p:txBody>
          <a:bodyPr wrap="square" lIns="0" tIns="0" rIns="0" bIns="0" rtlCol="0" anchor="t"/>
          <a:lstStyle/>
          <a:p>
            <a:pPr indent="0" marL="0">
              <a:buNone/>
            </a:pPr>
            <a:r>
              <a:rPr lang="en-US" sz="1500" dirty="0">
                <a:solidFill>
                  <a:schemeClr val="tx1"/>
                </a:solidFill>
              </a:rPr>
              <a:t>The partial and unbuilt requirements, and the biggest risks</a:t>
            </a:r>
            <a:endParaRPr lang="en-US" sz="1500" dirty="0"/>
          </a:p>
        </p:txBody>
      </p:sp>
      <p:sp>
        <p:nvSpPr>
          <p:cNvPr id="19" name="Step 3 card"/>
          <p:cNvSpPr/>
          <p:nvPr/>
        </p:nvSpPr>
        <p:spPr>
          <a:xfrm>
            <a:off x="5943600" y="4572000"/>
            <a:ext cx="5699455" cy="1325880"/>
          </a:xfrm>
          <a:prstGeom prst="roundRect">
            <a:avLst>
              <a:gd name="adj" fmla="val 5517"/>
            </a:avLst>
          </a:prstGeom>
          <a:solidFill>
            <a:schemeClr val="bg2"/>
          </a:solidFill>
          <a:ln/>
        </p:spPr>
      </p:sp>
      <p:sp>
        <p:nvSpPr>
          <p:cNvPr id="20" name="Step 3 circle"/>
          <p:cNvSpPr/>
          <p:nvPr/>
        </p:nvSpPr>
        <p:spPr>
          <a:xfrm>
            <a:off x="6217920" y="4937760"/>
            <a:ext cx="594360" cy="594360"/>
          </a:xfrm>
          <a:prstGeom prst="ellipse">
            <a:avLst/>
          </a:prstGeom>
          <a:solidFill>
            <a:schemeClr val="accent1"/>
          </a:solidFill>
          <a:ln/>
        </p:spPr>
      </p:sp>
      <p:sp>
        <p:nvSpPr>
          <p:cNvPr id="21" name="Step 3 number"/>
          <p:cNvSpPr txBox="1"/>
          <p:nvPr/>
        </p:nvSpPr>
        <p:spPr>
          <a:xfrm>
            <a:off x="6217920" y="4937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9"/>
          <p:cNvSpPr txBox="1"/>
          <p:nvPr/>
        </p:nvSpPr>
        <p:spPr>
          <a:xfrm>
            <a:off x="7040880" y="4800600"/>
            <a:ext cx="4327855" cy="411480"/>
          </a:xfrm>
          <a:prstGeom prst="rect">
            <a:avLst/>
          </a:prstGeom>
          <a:noFill/>
          <a:ln/>
        </p:spPr>
        <p:txBody>
          <a:bodyPr wrap="square" lIns="0" tIns="0" rIns="0" bIns="0" rtlCol="0" anchor="t"/>
          <a:lstStyle/>
          <a:p>
            <a:pPr indent="0" marL="0">
              <a:buNone/>
            </a:pPr>
            <a:r>
              <a:rPr lang="en-US" sz="2000" b="1" dirty="0">
                <a:solidFill>
                  <a:schemeClr val="tx2"/>
                </a:solidFill>
              </a:rPr>
              <a:t>How we reach 32 / 32</a:t>
            </a:r>
            <a:endParaRPr lang="en-US" sz="2000" dirty="0"/>
          </a:p>
        </p:txBody>
      </p:sp>
      <p:sp>
        <p:nvSpPr>
          <p:cNvPr id="23" name="Text 20"/>
          <p:cNvSpPr txBox="1"/>
          <p:nvPr/>
        </p:nvSpPr>
        <p:spPr>
          <a:xfrm>
            <a:off x="7040880" y="5257800"/>
            <a:ext cx="4327855" cy="502920"/>
          </a:xfrm>
          <a:prstGeom prst="rect">
            <a:avLst/>
          </a:prstGeom>
          <a:noFill/>
          <a:ln/>
        </p:spPr>
        <p:txBody>
          <a:bodyPr wrap="square" lIns="0" tIns="0" rIns="0" bIns="0" rtlCol="0" anchor="t"/>
          <a:lstStyle/>
          <a:p>
            <a:pPr indent="0" marL="0">
              <a:buNone/>
            </a:pPr>
            <a:r>
              <a:rPr lang="en-US" sz="1500" dirty="0">
                <a:solidFill>
                  <a:schemeClr val="tx1"/>
                </a:solidFill>
              </a:rPr>
              <a:t>Workstreams, sequencing and quick wins to close every gap</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How we assessed KMS</a:t>
            </a:r>
            <a:endParaRPr lang="en-US" sz="3200" dirty="0"/>
          </a:p>
        </p:txBody>
      </p:sp>
      <p:sp>
        <p:nvSpPr>
          <p:cNvPr id="3" name="Method 1"/>
          <p:cNvSpPr/>
          <p:nvPr/>
        </p:nvSpPr>
        <p:spPr>
          <a:xfrm>
            <a:off x="548640" y="1463040"/>
            <a:ext cx="3454298" cy="2743200"/>
          </a:xfrm>
          <a:prstGeom prst="roundRect">
            <a:avLst>
              <a:gd name="adj" fmla="val 2667"/>
            </a:avLst>
          </a:prstGeom>
          <a:solidFill>
            <a:schemeClr val="bg2"/>
          </a:solidFill>
          <a:ln/>
        </p:spPr>
      </p:sp>
      <p:sp>
        <p:nvSpPr>
          <p:cNvPr id="4" name="32 requirements circle"/>
          <p:cNvSpPr/>
          <p:nvPr/>
        </p:nvSpPr>
        <p:spPr>
          <a:xfrm>
            <a:off x="868680" y="1783080"/>
            <a:ext cx="685800" cy="685800"/>
          </a:xfrm>
          <a:prstGeom prst="ellipse">
            <a:avLst/>
          </a:prstGeom>
          <a:solidFill>
            <a:schemeClr val="accent1"/>
          </a:solidFill>
          <a:ln/>
        </p:spPr>
      </p:sp>
      <p:pic>
        <p:nvPicPr>
          <p:cNvPr id="5" name="32 requirements icon" descr="32 requirements">    </p:cNvPr>
          <p:cNvPicPr>
            <a:picLocks noChangeAspect="1"/>
          </p:cNvPicPr>
          <p:nvPr/>
        </p:nvPicPr>
        <p:blipFill>
          <a:blip r:embed="rId1"/>
          <a:stretch>
            <a:fillRect/>
          </a:stretch>
        </p:blipFill>
        <p:spPr>
          <a:xfrm>
            <a:off x="1040130" y="1954530"/>
            <a:ext cx="342900" cy="342900"/>
          </a:xfrm>
          <a:prstGeom prst="rect">
            <a:avLst/>
          </a:prstGeom>
        </p:spPr>
      </p:pic>
      <p:sp>
        <p:nvSpPr>
          <p:cNvPr id="6" name="Text 3"/>
          <p:cNvSpPr txBox="1"/>
          <p:nvPr/>
        </p:nvSpPr>
        <p:spPr>
          <a:xfrm>
            <a:off x="868680" y="2606040"/>
            <a:ext cx="2814218" cy="365760"/>
          </a:xfrm>
          <a:prstGeom prst="rect">
            <a:avLst/>
          </a:prstGeom>
          <a:noFill/>
          <a:ln/>
        </p:spPr>
        <p:txBody>
          <a:bodyPr wrap="square" lIns="0" tIns="0" rIns="0" bIns="0" rtlCol="0" anchor="t"/>
          <a:lstStyle/>
          <a:p>
            <a:pPr indent="0" marL="0">
              <a:buNone/>
            </a:pPr>
            <a:r>
              <a:rPr lang="en-US" sz="1800" b="1" dirty="0">
                <a:solidFill>
                  <a:schemeClr val="tx2"/>
                </a:solidFill>
              </a:rPr>
              <a:t>32 requirements</a:t>
            </a:r>
            <a:endParaRPr lang="en-US" sz="1800" dirty="0"/>
          </a:p>
        </p:txBody>
      </p:sp>
      <p:sp>
        <p:nvSpPr>
          <p:cNvPr id="7" name="Text 4"/>
          <p:cNvSpPr txBox="1"/>
          <p:nvPr/>
        </p:nvSpPr>
        <p:spPr>
          <a:xfrm>
            <a:off x="868680" y="3063240"/>
            <a:ext cx="2814218" cy="1005840"/>
          </a:xfrm>
          <a:prstGeom prst="rect">
            <a:avLst/>
          </a:prstGeom>
          <a:noFill/>
          <a:ln/>
        </p:spPr>
        <p:txBody>
          <a:bodyPr wrap="square" lIns="0" tIns="0" rIns="0" bIns="0" rtlCol="0" anchor="t"/>
          <a:lstStyle/>
          <a:p>
            <a:pPr indent="0" marL="0">
              <a:buNone/>
            </a:pPr>
            <a:r>
              <a:rPr lang="en-US" sz="1500" dirty="0">
                <a:solidFill>
                  <a:schemeClr val="tx1"/>
                </a:solidFill>
              </a:rPr>
              <a:t>Every requirement line in RFI §3.1, grouped into 9 areas</a:t>
            </a:r>
            <a:endParaRPr lang="en-US" sz="1500" dirty="0"/>
          </a:p>
        </p:txBody>
      </p:sp>
      <p:sp>
        <p:nvSpPr>
          <p:cNvPr id="8" name="Arrow 1"/>
          <p:cNvSpPr/>
          <p:nvPr/>
        </p:nvSpPr>
        <p:spPr>
          <a:xfrm>
            <a:off x="4094378" y="2606040"/>
            <a:ext cx="182880" cy="320040"/>
          </a:xfrm>
          <a:prstGeom prst="chevron">
            <a:avLst/>
          </a:prstGeom>
          <a:solidFill>
            <a:schemeClr val="accent5"/>
          </a:solidFill>
          <a:ln/>
        </p:spPr>
      </p:sp>
      <p:sp>
        <p:nvSpPr>
          <p:cNvPr id="9" name="Method 2"/>
          <p:cNvSpPr/>
          <p:nvPr/>
        </p:nvSpPr>
        <p:spPr>
          <a:xfrm>
            <a:off x="4368698" y="1463040"/>
            <a:ext cx="3454298" cy="2743200"/>
          </a:xfrm>
          <a:prstGeom prst="roundRect">
            <a:avLst>
              <a:gd name="adj" fmla="val 2667"/>
            </a:avLst>
          </a:prstGeom>
          <a:solidFill>
            <a:schemeClr val="bg2"/>
          </a:solidFill>
          <a:ln/>
        </p:spPr>
      </p:sp>
      <p:sp>
        <p:nvSpPr>
          <p:cNvPr id="10" name="Code-level check circle"/>
          <p:cNvSpPr/>
          <p:nvPr/>
        </p:nvSpPr>
        <p:spPr>
          <a:xfrm>
            <a:off x="4688738" y="1783080"/>
            <a:ext cx="685800" cy="685800"/>
          </a:xfrm>
          <a:prstGeom prst="ellipse">
            <a:avLst/>
          </a:prstGeom>
          <a:solidFill>
            <a:schemeClr val="accent1"/>
          </a:solidFill>
          <a:ln/>
        </p:spPr>
      </p:sp>
      <p:pic>
        <p:nvPicPr>
          <p:cNvPr id="11" name="Code-level check icon" descr="Code-level check">    </p:cNvPr>
          <p:cNvPicPr>
            <a:picLocks noChangeAspect="1"/>
          </p:cNvPicPr>
          <p:nvPr/>
        </p:nvPicPr>
        <p:blipFill>
          <a:blip r:embed="rId2"/>
          <a:stretch>
            <a:fillRect/>
          </a:stretch>
        </p:blipFill>
        <p:spPr>
          <a:xfrm>
            <a:off x="4860188" y="1954530"/>
            <a:ext cx="342900" cy="342900"/>
          </a:xfrm>
          <a:prstGeom prst="rect">
            <a:avLst/>
          </a:prstGeom>
        </p:spPr>
      </p:pic>
      <p:sp>
        <p:nvSpPr>
          <p:cNvPr id="12" name="Text 8"/>
          <p:cNvSpPr txBox="1"/>
          <p:nvPr/>
        </p:nvSpPr>
        <p:spPr>
          <a:xfrm>
            <a:off x="4688738" y="2606040"/>
            <a:ext cx="2814218" cy="365760"/>
          </a:xfrm>
          <a:prstGeom prst="rect">
            <a:avLst/>
          </a:prstGeom>
          <a:noFill/>
          <a:ln/>
        </p:spPr>
        <p:txBody>
          <a:bodyPr wrap="square" lIns="0" tIns="0" rIns="0" bIns="0" rtlCol="0" anchor="t"/>
          <a:lstStyle/>
          <a:p>
            <a:pPr indent="0" marL="0">
              <a:buNone/>
            </a:pPr>
            <a:r>
              <a:rPr lang="en-US" sz="1800" b="1" dirty="0">
                <a:solidFill>
                  <a:schemeClr val="tx2"/>
                </a:solidFill>
              </a:rPr>
              <a:t>Code-level check</a:t>
            </a:r>
            <a:endParaRPr lang="en-US" sz="1800" dirty="0"/>
          </a:p>
        </p:txBody>
      </p:sp>
      <p:sp>
        <p:nvSpPr>
          <p:cNvPr id="13" name="Text 9"/>
          <p:cNvSpPr txBox="1"/>
          <p:nvPr/>
        </p:nvSpPr>
        <p:spPr>
          <a:xfrm>
            <a:off x="4688738" y="3063240"/>
            <a:ext cx="2814218" cy="1005840"/>
          </a:xfrm>
          <a:prstGeom prst="rect">
            <a:avLst/>
          </a:prstGeom>
          <a:noFill/>
          <a:ln/>
        </p:spPr>
        <p:txBody>
          <a:bodyPr wrap="square" lIns="0" tIns="0" rIns="0" bIns="0" rtlCol="0" anchor="t"/>
          <a:lstStyle/>
          <a:p>
            <a:pPr indent="0" marL="0">
              <a:buNone/>
            </a:pPr>
            <a:r>
              <a:rPr lang="en-US" sz="1500" dirty="0">
                <a:solidFill>
                  <a:schemeClr val="tx1"/>
                </a:solidFill>
              </a:rPr>
              <a:t>API routes, database schema, ingestion pipeline and UI, not the PRD status column</a:t>
            </a:r>
            <a:endParaRPr lang="en-US" sz="1500" dirty="0"/>
          </a:p>
        </p:txBody>
      </p:sp>
      <p:sp>
        <p:nvSpPr>
          <p:cNvPr id="14" name="Arrow 2"/>
          <p:cNvSpPr/>
          <p:nvPr/>
        </p:nvSpPr>
        <p:spPr>
          <a:xfrm>
            <a:off x="7914437" y="2606040"/>
            <a:ext cx="182880" cy="320040"/>
          </a:xfrm>
          <a:prstGeom prst="chevron">
            <a:avLst/>
          </a:prstGeom>
          <a:solidFill>
            <a:schemeClr val="accent5"/>
          </a:solidFill>
          <a:ln/>
        </p:spPr>
      </p:sp>
      <p:sp>
        <p:nvSpPr>
          <p:cNvPr id="15" name="Method 3"/>
          <p:cNvSpPr/>
          <p:nvPr/>
        </p:nvSpPr>
        <p:spPr>
          <a:xfrm>
            <a:off x="8188757" y="1463040"/>
            <a:ext cx="3454298" cy="2743200"/>
          </a:xfrm>
          <a:prstGeom prst="roundRect">
            <a:avLst>
              <a:gd name="adj" fmla="val 2667"/>
            </a:avLst>
          </a:prstGeom>
          <a:solidFill>
            <a:schemeClr val="bg2"/>
          </a:solidFill>
          <a:ln/>
        </p:spPr>
      </p:sp>
      <p:sp>
        <p:nvSpPr>
          <p:cNvPr id="16" name="Rated circle"/>
          <p:cNvSpPr/>
          <p:nvPr/>
        </p:nvSpPr>
        <p:spPr>
          <a:xfrm>
            <a:off x="8508797" y="1783080"/>
            <a:ext cx="685800" cy="685800"/>
          </a:xfrm>
          <a:prstGeom prst="ellipse">
            <a:avLst/>
          </a:prstGeom>
          <a:solidFill>
            <a:schemeClr val="accent1"/>
          </a:solidFill>
          <a:ln/>
        </p:spPr>
      </p:sp>
      <p:pic>
        <p:nvPicPr>
          <p:cNvPr id="17" name="Rated icon" descr="Rated">    </p:cNvPr>
          <p:cNvPicPr>
            <a:picLocks noChangeAspect="1"/>
          </p:cNvPicPr>
          <p:nvPr/>
        </p:nvPicPr>
        <p:blipFill>
          <a:blip r:embed="rId3"/>
          <a:stretch>
            <a:fillRect/>
          </a:stretch>
        </p:blipFill>
        <p:spPr>
          <a:xfrm>
            <a:off x="8680247" y="1954530"/>
            <a:ext cx="342900" cy="342900"/>
          </a:xfrm>
          <a:prstGeom prst="rect">
            <a:avLst/>
          </a:prstGeom>
        </p:spPr>
      </p:pic>
      <p:sp>
        <p:nvSpPr>
          <p:cNvPr id="18" name="Text 13"/>
          <p:cNvSpPr txBox="1"/>
          <p:nvPr/>
        </p:nvSpPr>
        <p:spPr>
          <a:xfrm>
            <a:off x="8508797" y="2606040"/>
            <a:ext cx="2814218" cy="365760"/>
          </a:xfrm>
          <a:prstGeom prst="rect">
            <a:avLst/>
          </a:prstGeom>
          <a:noFill/>
          <a:ln/>
        </p:spPr>
        <p:txBody>
          <a:bodyPr wrap="square" lIns="0" tIns="0" rIns="0" bIns="0" rtlCol="0" anchor="t"/>
          <a:lstStyle/>
          <a:p>
            <a:pPr indent="0" marL="0">
              <a:buNone/>
            </a:pPr>
            <a:r>
              <a:rPr lang="en-US" sz="1800" b="1" dirty="0">
                <a:solidFill>
                  <a:schemeClr val="tx2"/>
                </a:solidFill>
              </a:rPr>
              <a:t>Rated</a:t>
            </a:r>
            <a:endParaRPr lang="en-US" sz="1800" dirty="0"/>
          </a:p>
        </p:txBody>
      </p:sp>
      <p:sp>
        <p:nvSpPr>
          <p:cNvPr id="19" name="Text 14"/>
          <p:cNvSpPr txBox="1"/>
          <p:nvPr/>
        </p:nvSpPr>
        <p:spPr>
          <a:xfrm>
            <a:off x="8508797" y="3063240"/>
            <a:ext cx="2814218" cy="1005840"/>
          </a:xfrm>
          <a:prstGeom prst="rect">
            <a:avLst/>
          </a:prstGeom>
          <a:noFill/>
          <a:ln/>
        </p:spPr>
        <p:txBody>
          <a:bodyPr wrap="square" lIns="0" tIns="0" rIns="0" bIns="0" rtlCol="0" anchor="t"/>
          <a:lstStyle/>
          <a:p>
            <a:pPr indent="0" marL="0">
              <a:buNone/>
            </a:pPr>
            <a:r>
              <a:rPr lang="en-US" sz="1500" dirty="0">
                <a:solidFill>
                  <a:schemeClr val="tx1"/>
                </a:solidFill>
              </a:rPr>
              <a:t>Each requirement marked Met, Partial or Gap, with the evidence and what's missing</a:t>
            </a:r>
            <a:endParaRPr lang="en-US" sz="1500" dirty="0"/>
          </a:p>
        </p:txBody>
      </p:sp>
      <p:sp>
        <p:nvSpPr>
          <p:cNvPr id="20" name="Text 15"/>
          <p:cNvSpPr txBox="1"/>
          <p:nvPr/>
        </p:nvSpPr>
        <p:spPr>
          <a:xfrm>
            <a:off x="548640" y="4526280"/>
            <a:ext cx="2743200" cy="365760"/>
          </a:xfrm>
          <a:prstGeom prst="rect">
            <a:avLst/>
          </a:prstGeom>
          <a:noFill/>
          <a:ln/>
        </p:spPr>
        <p:txBody>
          <a:bodyPr wrap="square" lIns="0" tIns="0" rIns="0" bIns="0" rtlCol="0" anchor="t"/>
          <a:lstStyle/>
          <a:p>
            <a:pPr indent="0" marL="0">
              <a:buNone/>
            </a:pPr>
            <a:r>
              <a:rPr lang="en-US" sz="1600" b="1" dirty="0">
                <a:solidFill>
                  <a:schemeClr val="tx2"/>
                </a:solidFill>
              </a:rPr>
              <a:t>Rating scale</a:t>
            </a:r>
            <a:endParaRPr lang="en-US" sz="1600" dirty="0"/>
          </a:p>
        </p:txBody>
      </p:sp>
      <p:sp>
        <p:nvSpPr>
          <p:cNvPr id="21" name="Legend M"/>
          <p:cNvSpPr/>
          <p:nvPr/>
        </p:nvSpPr>
        <p:spPr>
          <a:xfrm>
            <a:off x="548640" y="4983480"/>
            <a:ext cx="1097280" cy="411480"/>
          </a:xfrm>
          <a:prstGeom prst="roundRect">
            <a:avLst>
              <a:gd name="adj" fmla="val 17778"/>
            </a:avLst>
          </a:prstGeom>
          <a:solidFill>
            <a:schemeClr val="accent3"/>
          </a:solidFill>
          <a:ln/>
        </p:spPr>
      </p:sp>
      <p:sp>
        <p:nvSpPr>
          <p:cNvPr id="22" name="Text 17"/>
          <p:cNvSpPr txBox="1"/>
          <p:nvPr/>
        </p:nvSpPr>
        <p:spPr>
          <a:xfrm>
            <a:off x="548640" y="4983480"/>
            <a:ext cx="1097280" cy="411480"/>
          </a:xfrm>
          <a:prstGeom prst="rect">
            <a:avLst/>
          </a:prstGeom>
          <a:noFill/>
          <a:ln/>
        </p:spPr>
        <p:txBody>
          <a:bodyPr wrap="square" lIns="0" tIns="0" rIns="0" bIns="0" rtlCol="0" anchor="ctr"/>
          <a:lstStyle/>
          <a:p>
            <a:pPr algn="ctr" indent="0" marL="0">
              <a:buNone/>
            </a:pPr>
            <a:r>
              <a:rPr lang="en-US" sz="1500" b="1" dirty="0">
                <a:solidFill>
                  <a:schemeClr val="bg1"/>
                </a:solidFill>
              </a:rPr>
              <a:t>Met</a:t>
            </a:r>
            <a:endParaRPr lang="en-US" sz="1500" dirty="0"/>
          </a:p>
        </p:txBody>
      </p:sp>
      <p:sp>
        <p:nvSpPr>
          <p:cNvPr id="23" name="Text 18"/>
          <p:cNvSpPr txBox="1"/>
          <p:nvPr/>
        </p:nvSpPr>
        <p:spPr>
          <a:xfrm>
            <a:off x="1783080" y="4983480"/>
            <a:ext cx="2377440" cy="411480"/>
          </a:xfrm>
          <a:prstGeom prst="rect">
            <a:avLst/>
          </a:prstGeom>
          <a:noFill/>
          <a:ln/>
        </p:spPr>
        <p:txBody>
          <a:bodyPr wrap="square" lIns="0" tIns="0" rIns="0" bIns="0" rtlCol="0" anchor="ctr"/>
          <a:lstStyle/>
          <a:p>
            <a:pPr indent="0" marL="0">
              <a:buNone/>
            </a:pPr>
            <a:r>
              <a:rPr lang="en-US" sz="1400" dirty="0">
                <a:solidFill>
                  <a:schemeClr val="tx1"/>
                </a:solidFill>
              </a:rPr>
              <a:t>Built and working</a:t>
            </a:r>
            <a:endParaRPr lang="en-US" sz="1400" dirty="0"/>
          </a:p>
        </p:txBody>
      </p:sp>
      <p:sp>
        <p:nvSpPr>
          <p:cNvPr id="24" name="Legend P"/>
          <p:cNvSpPr/>
          <p:nvPr/>
        </p:nvSpPr>
        <p:spPr>
          <a:xfrm>
            <a:off x="4297680" y="4983480"/>
            <a:ext cx="1097280" cy="411480"/>
          </a:xfrm>
          <a:prstGeom prst="roundRect">
            <a:avLst>
              <a:gd name="adj" fmla="val 17778"/>
            </a:avLst>
          </a:prstGeom>
          <a:solidFill>
            <a:srgbClr val="8A6400"/>
          </a:solidFill>
          <a:ln/>
        </p:spPr>
      </p:sp>
      <p:sp>
        <p:nvSpPr>
          <p:cNvPr id="25" name="Text 20"/>
          <p:cNvSpPr txBox="1"/>
          <p:nvPr/>
        </p:nvSpPr>
        <p:spPr>
          <a:xfrm>
            <a:off x="4297680" y="4983480"/>
            <a:ext cx="1097280" cy="411480"/>
          </a:xfrm>
          <a:prstGeom prst="rect">
            <a:avLst/>
          </a:prstGeom>
          <a:noFill/>
          <a:ln/>
        </p:spPr>
        <p:txBody>
          <a:bodyPr wrap="square" lIns="0" tIns="0" rIns="0" bIns="0" rtlCol="0" anchor="ctr"/>
          <a:lstStyle/>
          <a:p>
            <a:pPr algn="ctr" indent="0" marL="0">
              <a:buNone/>
            </a:pPr>
            <a:r>
              <a:rPr lang="en-US" sz="1500" b="1" dirty="0">
                <a:solidFill>
                  <a:schemeClr val="bg1"/>
                </a:solidFill>
              </a:rPr>
              <a:t>Partial</a:t>
            </a:r>
            <a:endParaRPr lang="en-US" sz="1500" dirty="0"/>
          </a:p>
        </p:txBody>
      </p:sp>
      <p:sp>
        <p:nvSpPr>
          <p:cNvPr id="26" name="Text 21"/>
          <p:cNvSpPr txBox="1"/>
          <p:nvPr/>
        </p:nvSpPr>
        <p:spPr>
          <a:xfrm>
            <a:off x="5532120" y="4983480"/>
            <a:ext cx="2377440" cy="411480"/>
          </a:xfrm>
          <a:prstGeom prst="rect">
            <a:avLst/>
          </a:prstGeom>
          <a:noFill/>
          <a:ln/>
        </p:spPr>
        <p:txBody>
          <a:bodyPr wrap="square" lIns="0" tIns="0" rIns="0" bIns="0" rtlCol="0" anchor="ctr"/>
          <a:lstStyle/>
          <a:p>
            <a:pPr indent="0" marL="0">
              <a:buNone/>
            </a:pPr>
            <a:r>
              <a:rPr lang="en-US" sz="1400" dirty="0">
                <a:solidFill>
                  <a:schemeClr val="tx1"/>
                </a:solidFill>
              </a:rPr>
              <a:t>Foundation exists, not enough yet</a:t>
            </a:r>
            <a:endParaRPr lang="en-US" sz="1400" dirty="0"/>
          </a:p>
        </p:txBody>
      </p:sp>
      <p:sp>
        <p:nvSpPr>
          <p:cNvPr id="27" name="Legend G"/>
          <p:cNvSpPr/>
          <p:nvPr/>
        </p:nvSpPr>
        <p:spPr>
          <a:xfrm>
            <a:off x="8046720" y="4983480"/>
            <a:ext cx="1097280" cy="411480"/>
          </a:xfrm>
          <a:prstGeom prst="roundRect">
            <a:avLst>
              <a:gd name="adj" fmla="val 17778"/>
            </a:avLst>
          </a:prstGeom>
          <a:solidFill>
            <a:schemeClr val="accent4"/>
          </a:solidFill>
          <a:ln/>
        </p:spPr>
      </p:sp>
      <p:sp>
        <p:nvSpPr>
          <p:cNvPr id="28" name="Text 23"/>
          <p:cNvSpPr txBox="1"/>
          <p:nvPr/>
        </p:nvSpPr>
        <p:spPr>
          <a:xfrm>
            <a:off x="8046720" y="4983480"/>
            <a:ext cx="1097280" cy="411480"/>
          </a:xfrm>
          <a:prstGeom prst="rect">
            <a:avLst/>
          </a:prstGeom>
          <a:noFill/>
          <a:ln/>
        </p:spPr>
        <p:txBody>
          <a:bodyPr wrap="square" lIns="0" tIns="0" rIns="0" bIns="0" rtlCol="0" anchor="ctr"/>
          <a:lstStyle/>
          <a:p>
            <a:pPr algn="ctr" indent="0" marL="0">
              <a:buNone/>
            </a:pPr>
            <a:r>
              <a:rPr lang="en-US" sz="1500" b="1" dirty="0">
                <a:solidFill>
                  <a:schemeClr val="bg1"/>
                </a:solidFill>
              </a:rPr>
              <a:t>Gap</a:t>
            </a:r>
            <a:endParaRPr lang="en-US" sz="1500" dirty="0"/>
          </a:p>
        </p:txBody>
      </p:sp>
      <p:sp>
        <p:nvSpPr>
          <p:cNvPr id="29" name="Text 24"/>
          <p:cNvSpPr txBox="1"/>
          <p:nvPr/>
        </p:nvSpPr>
        <p:spPr>
          <a:xfrm>
            <a:off x="9281160" y="4983480"/>
            <a:ext cx="2377440" cy="411480"/>
          </a:xfrm>
          <a:prstGeom prst="rect">
            <a:avLst/>
          </a:prstGeom>
          <a:noFill/>
          <a:ln/>
        </p:spPr>
        <p:txBody>
          <a:bodyPr wrap="square" lIns="0" tIns="0" rIns="0" bIns="0" rtlCol="0" anchor="ctr"/>
          <a:lstStyle/>
          <a:p>
            <a:pPr indent="0" marL="0">
              <a:buNone/>
            </a:pPr>
            <a:r>
              <a:rPr lang="en-US" sz="1400" dirty="0">
                <a:solidFill>
                  <a:schemeClr val="tx1"/>
                </a:solidFill>
              </a:rPr>
              <a:t>Not built</a:t>
            </a:r>
            <a:endParaRPr lang="en-US" sz="1400" dirty="0"/>
          </a:p>
        </p:txBody>
      </p:sp>
      <p:sp>
        <p:nvSpPr>
          <p:cNvPr id="30" name="Text 25"/>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i="1" dirty="0">
                <a:solidFill>
                  <a:schemeClr val="accent5"/>
                </a:solidFill>
              </a:rPr>
              <a:t>We also checked the security, governance and user-experience commitments made in our proposal (Appendix A2).</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Most requirements are partial: the core is built</a:t>
            </a:r>
            <a:endParaRPr lang="en-US" sz="3200" dirty="0"/>
          </a:p>
        </p:txBody>
      </p:sp>
      <p:sp>
        <p:nvSpPr>
          <p:cNvPr id="3" name="Stat Met"/>
          <p:cNvSpPr/>
          <p:nvPr/>
        </p:nvSpPr>
        <p:spPr>
          <a:xfrm>
            <a:off x="548640" y="1417320"/>
            <a:ext cx="3515258" cy="2148840"/>
          </a:xfrm>
          <a:prstGeom prst="roundRect">
            <a:avLst>
              <a:gd name="adj" fmla="val 3404"/>
            </a:avLst>
          </a:prstGeom>
          <a:solidFill>
            <a:schemeClr val="bg2"/>
          </a:solidFill>
          <a:ln/>
        </p:spPr>
      </p:sp>
      <p:sp>
        <p:nvSpPr>
          <p:cNvPr id="4" name="Text 2"/>
          <p:cNvSpPr txBox="1"/>
          <p:nvPr/>
        </p:nvSpPr>
        <p:spPr>
          <a:xfrm>
            <a:off x="914400" y="1554480"/>
            <a:ext cx="173736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8</a:t>
            </a:r>
            <a:endParaRPr lang="en-US" sz="7200" dirty="0"/>
          </a:p>
        </p:txBody>
      </p:sp>
      <p:sp>
        <p:nvSpPr>
          <p:cNvPr id="5" name="Text 3"/>
          <p:cNvSpPr txBox="1"/>
          <p:nvPr/>
        </p:nvSpPr>
        <p:spPr>
          <a:xfrm>
            <a:off x="2651760" y="1874520"/>
            <a:ext cx="1137818" cy="457200"/>
          </a:xfrm>
          <a:prstGeom prst="rect">
            <a:avLst/>
          </a:prstGeom>
          <a:noFill/>
          <a:ln/>
        </p:spPr>
        <p:txBody>
          <a:bodyPr wrap="square" lIns="0" tIns="0" rIns="0" bIns="0" rtlCol="0" anchor="t"/>
          <a:lstStyle/>
          <a:p>
            <a:pPr algn="r" indent="0" marL="0">
              <a:buNone/>
            </a:pPr>
            <a:r>
              <a:rPr lang="en-US" sz="2000" b="1" dirty="0">
                <a:solidFill>
                  <a:schemeClr val="accent5"/>
                </a:solidFill>
              </a:rPr>
              <a:t>25%</a:t>
            </a:r>
            <a:endParaRPr lang="en-US" sz="2000" dirty="0"/>
          </a:p>
        </p:txBody>
      </p:sp>
      <p:sp>
        <p:nvSpPr>
          <p:cNvPr id="6" name="Text 4"/>
          <p:cNvSpPr txBox="1"/>
          <p:nvPr/>
        </p:nvSpPr>
        <p:spPr>
          <a:xfrm>
            <a:off x="914400" y="2651760"/>
            <a:ext cx="2783738" cy="365760"/>
          </a:xfrm>
          <a:prstGeom prst="rect">
            <a:avLst/>
          </a:prstGeom>
          <a:noFill/>
          <a:ln/>
        </p:spPr>
        <p:txBody>
          <a:bodyPr wrap="square" lIns="0" tIns="0" rIns="0" bIns="0" rtlCol="0" anchor="t"/>
          <a:lstStyle/>
          <a:p>
            <a:pPr indent="0" marL="0">
              <a:buNone/>
            </a:pPr>
            <a:r>
              <a:rPr lang="en-US" sz="2000" b="1" dirty="0">
                <a:solidFill>
                  <a:schemeClr val="tx2"/>
                </a:solidFill>
              </a:rPr>
              <a:t>Met</a:t>
            </a:r>
            <a:endParaRPr lang="en-US" sz="2000" dirty="0"/>
          </a:p>
        </p:txBody>
      </p:sp>
      <p:sp>
        <p:nvSpPr>
          <p:cNvPr id="7" name="Text 5"/>
          <p:cNvSpPr txBox="1"/>
          <p:nvPr/>
        </p:nvSpPr>
        <p:spPr>
          <a:xfrm>
            <a:off x="914400" y="3017520"/>
            <a:ext cx="2783738" cy="365760"/>
          </a:xfrm>
          <a:prstGeom prst="rect">
            <a:avLst/>
          </a:prstGeom>
          <a:noFill/>
          <a:ln/>
        </p:spPr>
        <p:txBody>
          <a:bodyPr wrap="square" lIns="0" tIns="0" rIns="0" bIns="0" rtlCol="0" anchor="t"/>
          <a:lstStyle/>
          <a:p>
            <a:pPr indent="0" marL="0">
              <a:buNone/>
            </a:pPr>
            <a:r>
              <a:rPr lang="en-US" sz="1500" dirty="0">
                <a:solidFill>
                  <a:schemeClr val="tx1"/>
                </a:solidFill>
              </a:rPr>
              <a:t>Built and working</a:t>
            </a:r>
            <a:endParaRPr lang="en-US" sz="1500" dirty="0"/>
          </a:p>
        </p:txBody>
      </p:sp>
      <p:sp>
        <p:nvSpPr>
          <p:cNvPr id="8" name="Stat Partial"/>
          <p:cNvSpPr/>
          <p:nvPr/>
        </p:nvSpPr>
        <p:spPr>
          <a:xfrm>
            <a:off x="4338218" y="1417320"/>
            <a:ext cx="3515258" cy="2148840"/>
          </a:xfrm>
          <a:prstGeom prst="roundRect">
            <a:avLst>
              <a:gd name="adj" fmla="val 3404"/>
            </a:avLst>
          </a:prstGeom>
          <a:solidFill>
            <a:schemeClr val="bg2"/>
          </a:solidFill>
          <a:ln/>
        </p:spPr>
      </p:sp>
      <p:sp>
        <p:nvSpPr>
          <p:cNvPr id="9" name="Text 7"/>
          <p:cNvSpPr txBox="1"/>
          <p:nvPr/>
        </p:nvSpPr>
        <p:spPr>
          <a:xfrm>
            <a:off x="4703978" y="1554480"/>
            <a:ext cx="1737360" cy="1097280"/>
          </a:xfrm>
          <a:prstGeom prst="rect">
            <a:avLst/>
          </a:prstGeom>
          <a:noFill/>
          <a:ln/>
        </p:spPr>
        <p:txBody>
          <a:bodyPr wrap="square" lIns="0" tIns="0" rIns="0" bIns="0" rtlCol="0" anchor="ctr"/>
          <a:lstStyle/>
          <a:p>
            <a:pPr indent="0" marL="0">
              <a:buNone/>
            </a:pPr>
            <a:r>
              <a:rPr lang="en-US" sz="7200" b="1" dirty="0">
                <a:solidFill>
                  <a:schemeClr val="accent2"/>
                </a:solidFill>
                <a:latin typeface="Cambria" pitchFamily="34" charset="0"/>
                <a:ea typeface="Cambria" pitchFamily="34" charset="-122"/>
                <a:cs typeface="Cambria" pitchFamily="34" charset="-120"/>
              </a:rPr>
              <a:t>18</a:t>
            </a:r>
            <a:endParaRPr lang="en-US" sz="7200" dirty="0"/>
          </a:p>
        </p:txBody>
      </p:sp>
      <p:sp>
        <p:nvSpPr>
          <p:cNvPr id="10" name="Text 8"/>
          <p:cNvSpPr txBox="1"/>
          <p:nvPr/>
        </p:nvSpPr>
        <p:spPr>
          <a:xfrm>
            <a:off x="6441338" y="1874520"/>
            <a:ext cx="1137818" cy="457200"/>
          </a:xfrm>
          <a:prstGeom prst="rect">
            <a:avLst/>
          </a:prstGeom>
          <a:noFill/>
          <a:ln/>
        </p:spPr>
        <p:txBody>
          <a:bodyPr wrap="square" lIns="0" tIns="0" rIns="0" bIns="0" rtlCol="0" anchor="t"/>
          <a:lstStyle/>
          <a:p>
            <a:pPr algn="r" indent="0" marL="0">
              <a:buNone/>
            </a:pPr>
            <a:r>
              <a:rPr lang="en-US" sz="2000" b="1" dirty="0">
                <a:solidFill>
                  <a:schemeClr val="accent5"/>
                </a:solidFill>
              </a:rPr>
              <a:t>56%</a:t>
            </a:r>
            <a:endParaRPr lang="en-US" sz="2000" dirty="0"/>
          </a:p>
        </p:txBody>
      </p:sp>
      <p:sp>
        <p:nvSpPr>
          <p:cNvPr id="11" name="Text 9"/>
          <p:cNvSpPr txBox="1"/>
          <p:nvPr/>
        </p:nvSpPr>
        <p:spPr>
          <a:xfrm>
            <a:off x="4703978" y="2651760"/>
            <a:ext cx="2783738" cy="365760"/>
          </a:xfrm>
          <a:prstGeom prst="rect">
            <a:avLst/>
          </a:prstGeom>
          <a:noFill/>
          <a:ln/>
        </p:spPr>
        <p:txBody>
          <a:bodyPr wrap="square" lIns="0" tIns="0" rIns="0" bIns="0" rtlCol="0" anchor="t"/>
          <a:lstStyle/>
          <a:p>
            <a:pPr indent="0" marL="0">
              <a:buNone/>
            </a:pPr>
            <a:r>
              <a:rPr lang="en-US" sz="2000" b="1" dirty="0">
                <a:solidFill>
                  <a:schemeClr val="tx2"/>
                </a:solidFill>
              </a:rPr>
              <a:t>Partial</a:t>
            </a:r>
            <a:endParaRPr lang="en-US" sz="2000" dirty="0"/>
          </a:p>
        </p:txBody>
      </p:sp>
      <p:sp>
        <p:nvSpPr>
          <p:cNvPr id="12" name="Text 10"/>
          <p:cNvSpPr txBox="1"/>
          <p:nvPr/>
        </p:nvSpPr>
        <p:spPr>
          <a:xfrm>
            <a:off x="4703978" y="3017520"/>
            <a:ext cx="2783738" cy="365760"/>
          </a:xfrm>
          <a:prstGeom prst="rect">
            <a:avLst/>
          </a:prstGeom>
          <a:noFill/>
          <a:ln/>
        </p:spPr>
        <p:txBody>
          <a:bodyPr wrap="square" lIns="0" tIns="0" rIns="0" bIns="0" rtlCol="0" anchor="t"/>
          <a:lstStyle/>
          <a:p>
            <a:pPr indent="0" marL="0">
              <a:buNone/>
            </a:pPr>
            <a:r>
              <a:rPr lang="en-US" sz="1500" dirty="0">
                <a:solidFill>
                  <a:schemeClr val="tx1"/>
                </a:solidFill>
              </a:rPr>
              <a:t>Exists, needs more depth</a:t>
            </a:r>
            <a:endParaRPr lang="en-US" sz="1500" dirty="0"/>
          </a:p>
        </p:txBody>
      </p:sp>
      <p:sp>
        <p:nvSpPr>
          <p:cNvPr id="13" name="Stat Gap"/>
          <p:cNvSpPr/>
          <p:nvPr/>
        </p:nvSpPr>
        <p:spPr>
          <a:xfrm>
            <a:off x="8127797" y="1417320"/>
            <a:ext cx="3515258" cy="2148840"/>
          </a:xfrm>
          <a:prstGeom prst="roundRect">
            <a:avLst>
              <a:gd name="adj" fmla="val 3404"/>
            </a:avLst>
          </a:prstGeom>
          <a:solidFill>
            <a:schemeClr val="bg2"/>
          </a:solidFill>
          <a:ln/>
        </p:spPr>
      </p:sp>
      <p:sp>
        <p:nvSpPr>
          <p:cNvPr id="14" name="Text 12"/>
          <p:cNvSpPr txBox="1"/>
          <p:nvPr/>
        </p:nvSpPr>
        <p:spPr>
          <a:xfrm>
            <a:off x="8493557" y="1554480"/>
            <a:ext cx="1737360" cy="1097280"/>
          </a:xfrm>
          <a:prstGeom prst="rect">
            <a:avLst/>
          </a:prstGeom>
          <a:noFill/>
          <a:ln/>
        </p:spPr>
        <p:txBody>
          <a:bodyPr wrap="square" lIns="0" tIns="0" rIns="0" bIns="0" rtlCol="0" anchor="ctr"/>
          <a:lstStyle/>
          <a:p>
            <a:pPr indent="0" marL="0">
              <a:buNone/>
            </a:pPr>
            <a:r>
              <a:rPr lang="en-US" sz="7200" b="1" dirty="0">
                <a:solidFill>
                  <a:schemeClr val="accent4"/>
                </a:solidFill>
                <a:latin typeface="Cambria" pitchFamily="34" charset="0"/>
                <a:ea typeface="Cambria" pitchFamily="34" charset="-122"/>
                <a:cs typeface="Cambria" pitchFamily="34" charset="-120"/>
              </a:rPr>
              <a:t>6</a:t>
            </a:r>
            <a:endParaRPr lang="en-US" sz="7200" dirty="0"/>
          </a:p>
        </p:txBody>
      </p:sp>
      <p:sp>
        <p:nvSpPr>
          <p:cNvPr id="15" name="Text 13"/>
          <p:cNvSpPr txBox="1"/>
          <p:nvPr/>
        </p:nvSpPr>
        <p:spPr>
          <a:xfrm>
            <a:off x="10230917" y="1874520"/>
            <a:ext cx="1137818" cy="457200"/>
          </a:xfrm>
          <a:prstGeom prst="rect">
            <a:avLst/>
          </a:prstGeom>
          <a:noFill/>
          <a:ln/>
        </p:spPr>
        <p:txBody>
          <a:bodyPr wrap="square" lIns="0" tIns="0" rIns="0" bIns="0" rtlCol="0" anchor="t"/>
          <a:lstStyle/>
          <a:p>
            <a:pPr algn="r" indent="0" marL="0">
              <a:buNone/>
            </a:pPr>
            <a:r>
              <a:rPr lang="en-US" sz="2000" b="1" dirty="0">
                <a:solidFill>
                  <a:schemeClr val="accent5"/>
                </a:solidFill>
              </a:rPr>
              <a:t>19%</a:t>
            </a:r>
            <a:endParaRPr lang="en-US" sz="2000" dirty="0"/>
          </a:p>
        </p:txBody>
      </p:sp>
      <p:sp>
        <p:nvSpPr>
          <p:cNvPr id="16" name="Text 14"/>
          <p:cNvSpPr txBox="1"/>
          <p:nvPr/>
        </p:nvSpPr>
        <p:spPr>
          <a:xfrm>
            <a:off x="8493557" y="2651760"/>
            <a:ext cx="2783738" cy="365760"/>
          </a:xfrm>
          <a:prstGeom prst="rect">
            <a:avLst/>
          </a:prstGeom>
          <a:noFill/>
          <a:ln/>
        </p:spPr>
        <p:txBody>
          <a:bodyPr wrap="square" lIns="0" tIns="0" rIns="0" bIns="0" rtlCol="0" anchor="t"/>
          <a:lstStyle/>
          <a:p>
            <a:pPr indent="0" marL="0">
              <a:buNone/>
            </a:pPr>
            <a:r>
              <a:rPr lang="en-US" sz="2000" b="1" dirty="0">
                <a:solidFill>
                  <a:schemeClr val="tx2"/>
                </a:solidFill>
              </a:rPr>
              <a:t>Gap</a:t>
            </a:r>
            <a:endParaRPr lang="en-US" sz="2000" dirty="0"/>
          </a:p>
        </p:txBody>
      </p:sp>
      <p:sp>
        <p:nvSpPr>
          <p:cNvPr id="17" name="Text 15"/>
          <p:cNvSpPr txBox="1"/>
          <p:nvPr/>
        </p:nvSpPr>
        <p:spPr>
          <a:xfrm>
            <a:off x="8493557" y="3017520"/>
            <a:ext cx="2783738" cy="365760"/>
          </a:xfrm>
          <a:prstGeom prst="rect">
            <a:avLst/>
          </a:prstGeom>
          <a:noFill/>
          <a:ln/>
        </p:spPr>
        <p:txBody>
          <a:bodyPr wrap="square" lIns="0" tIns="0" rIns="0" bIns="0" rtlCol="0" anchor="t"/>
          <a:lstStyle/>
          <a:p>
            <a:pPr indent="0" marL="0">
              <a:buNone/>
            </a:pPr>
            <a:r>
              <a:rPr lang="en-US" sz="1500" dirty="0">
                <a:solidFill>
                  <a:schemeClr val="tx1"/>
                </a:solidFill>
              </a:rPr>
              <a:t>Not built yet</a:t>
            </a:r>
            <a:endParaRPr lang="en-US" sz="1500" dirty="0"/>
          </a:p>
        </p:txBody>
      </p:sp>
      <p:graphicFrame>
        <p:nvGraphicFramePr>
          <p:cNvPr id="18" name="Scorecard bar" descr=""/>
          <p:cNvGraphicFramePr/>
          <p:nvPr/>
        </p:nvGraphicFramePr>
        <p:xfrm>
          <a:off x="548640" y="3794760"/>
          <a:ext cx="11094415" cy="9601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48640" y="4800600"/>
            <a:ext cx="11094415" cy="320040"/>
          </a:xfrm>
          <a:prstGeom prst="rect">
            <a:avLst/>
          </a:prstGeom>
          <a:noFill/>
          <a:ln/>
        </p:spPr>
        <p:txBody>
          <a:bodyPr wrap="square" lIns="0" tIns="0" rIns="0" bIns="0" rtlCol="0" anchor="t"/>
          <a:lstStyle/>
          <a:p>
            <a:pPr indent="0" marL="0">
              <a:buNone/>
            </a:pPr>
            <a:r>
              <a:rPr lang="en-US" sz="1200" dirty="0">
                <a:solidFill>
                  <a:schemeClr val="accent5"/>
                </a:solidFill>
              </a:rPr>
              <a:t>32 EKP requirements</a:t>
            </a:r>
            <a:endParaRPr lang="en-US" sz="1200" dirty="0"/>
          </a:p>
        </p:txBody>
      </p:sp>
      <p:sp>
        <p:nvSpPr>
          <p:cNvPr id="20" name="Text 17"/>
          <p:cNvSpPr txBox="1"/>
          <p:nvPr/>
        </p:nvSpPr>
        <p:spPr>
          <a:xfrm>
            <a:off x="548640" y="5257800"/>
            <a:ext cx="11094415" cy="822960"/>
          </a:xfrm>
          <a:prstGeom prst="rect">
            <a:avLst/>
          </a:prstGeom>
          <a:noFill/>
          <a:ln/>
        </p:spPr>
        <p:txBody>
          <a:bodyPr wrap="square" lIns="0" tIns="0" rIns="0" bIns="0" rtlCol="0" anchor="t"/>
          <a:lstStyle/>
          <a:p>
            <a:pPr indent="0" marL="0">
              <a:buNone/>
            </a:pPr>
            <a:r>
              <a:rPr lang="en-US" sz="1600" i="1" dirty="0">
                <a:solidFill>
                  <a:schemeClr val="tx2"/>
                </a:solidFill>
              </a:rPr>
              <a:t>In almost every partial case the working mechanism exists. What's missing is enterprise depth: configurable governance, analytics, managed taxonomy, more formats and fuller M365 integration.</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Where KMS is strong and where it's weak</a:t>
            </a:r>
            <a:endParaRPr lang="en-US" sz="3200" dirty="0"/>
          </a:p>
        </p:txBody>
      </p:sp>
      <p:graphicFrame>
        <p:nvGraphicFramePr>
          <p:cNvPr id="6" name="Area heatmap"/>
          <p:cNvGraphicFramePr>
            <a:graphicFrameLocks noGrp="1"/>
          </p:cNvGraphicFramePr>
          <p:nvPr>
            <p:extLst>
              <p:ext uri="{D42A27DB-BD31-4B8C-83A1-F6EECF244321}">
                <p14:modId xmlns:p14="http://schemas.microsoft.com/office/powerpoint/2010/main" val="1579011935"/>
              </p:ext>
            </p:extLst>
          </p:nvPr>
        </p:nvGraphicFramePr>
        <p:xfrm>
          <a:off x="548640" y="1417320"/>
          <a:ext cx="7040880" cy="914400"/>
        </p:xfrm>
        <a:graphic>
          <a:graphicData uri="http://schemas.openxmlformats.org/drawingml/2006/table">
            <a:tbl>
              <a:tblPr/>
              <a:tblGrid>
                <a:gridCol w="4297680"/>
                <a:gridCol w="914400"/>
                <a:gridCol w="914400"/>
                <a:gridCol w="914400"/>
              </a:tblGrid>
              <a:tr h="438912">
                <a:tc>
                  <a:txBody>
                    <a:bodyPr/>
                    <a:lstStyle/>
                    <a:p>
                      <a:pPr algn="l" indent="0" marL="0">
                        <a:buNone/>
                      </a:pPr>
                      <a:r>
                        <a:rPr lang="en-US" sz="1400" b="1" dirty="0">
                          <a:solidFill>
                            <a:srgbClr val="FFFFFF"/>
                          </a:solidFill>
                        </a:rPr>
                        <a:t>EKP area</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rPr>
                        <a:t>Met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rPr>
                        <a:t>Partial</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rPr>
                        <a:t>Gap</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38912">
                <a:tc>
                  <a:txBody>
                    <a:bodyPr/>
                    <a:lstStyle/>
                    <a:p>
                      <a:pPr indent="0" marL="0">
                        <a:buNone/>
                      </a:pPr>
                      <a:r>
                        <a:rPr lang="en-US" sz="1400" dirty="0">
                          <a:solidFill>
                            <a:schemeClr val="tx1"/>
                          </a:solidFill>
                        </a:rPr>
                        <a:t>Unified access, search &amp; navigation</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rgbClr val="8A6400"/>
                          </a:solidFill>
                        </a:rPr>
                        <a:t>4</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38912">
                <a:tc>
                  <a:txBody>
                    <a:bodyPr/>
                    <a:lstStyle/>
                    <a:p>
                      <a:pPr indent="0" marL="0">
                        <a:buNone/>
                      </a:pPr>
                      <a:r>
                        <a:rPr lang="en-US" sz="1400" dirty="0">
                          <a:solidFill>
                            <a:schemeClr val="tx1"/>
                          </a:solidFill>
                        </a:rPr>
                        <a:t>Personalization</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3"/>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algn="ctr" indent="0" marL="0">
                        <a:buNone/>
                      </a:pPr>
                      <a:r>
                        <a:rPr lang="en-US" sz="1400" b="1" dirty="0">
                          <a:solidFill>
                            <a:srgbClr val="8A6400"/>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38912">
                <a:tc>
                  <a:txBody>
                    <a:bodyPr/>
                    <a:lstStyle/>
                    <a:p>
                      <a:pPr indent="0" marL="0">
                        <a:buNone/>
                      </a:pPr>
                      <a:r>
                        <a:rPr lang="en-US" sz="1400" dirty="0">
                          <a:solidFill>
                            <a:schemeClr val="tx1"/>
                          </a:solidFill>
                        </a:rPr>
                        <a:t>Conversational Q&amp;A</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3"/>
                          </a:solidFill>
                        </a:rPr>
                        <a:t>3</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algn="ctr" indent="0" marL="0">
                        <a:buNone/>
                      </a:pPr>
                      <a:r>
                        <a:rPr lang="en-US" sz="1400" b="1" dirty="0">
                          <a:solidFill>
                            <a:srgbClr val="8A6400"/>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38912">
                <a:tc>
                  <a:txBody>
                    <a:bodyPr/>
                    <a:lstStyle/>
                    <a:p>
                      <a:pPr indent="0" marL="0">
                        <a:buNone/>
                      </a:pPr>
                      <a:r>
                        <a:rPr lang="en-US" sz="1400" dirty="0">
                          <a:solidFill>
                            <a:schemeClr val="tx1"/>
                          </a:solidFill>
                        </a:rPr>
                        <a:t>Content coverage</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rgbClr val="8A6400"/>
                          </a:solidFill>
                        </a:rPr>
                        <a:t>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b="1" dirty="0">
                          <a:solidFill>
                            <a:schemeClr val="accent4"/>
                          </a:solidFill>
                        </a:rPr>
                        <a:t>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r h="438912">
                <a:tc>
                  <a:txBody>
                    <a:bodyPr/>
                    <a:lstStyle/>
                    <a:p>
                      <a:pPr indent="0" marL="0">
                        <a:buNone/>
                      </a:pPr>
                      <a:r>
                        <a:rPr lang="en-US" sz="1400" dirty="0">
                          <a:solidFill>
                            <a:schemeClr val="tx1"/>
                          </a:solidFill>
                        </a:rPr>
                        <a:t>Enrichment &amp; semantic layer</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3"/>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4"/>
                          </a:solidFill>
                        </a:rPr>
                        <a:t>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r h="438912">
                <a:tc>
                  <a:txBody>
                    <a:bodyPr/>
                    <a:lstStyle/>
                    <a:p>
                      <a:pPr indent="0" marL="0">
                        <a:buNone/>
                      </a:pPr>
                      <a:r>
                        <a:rPr lang="en-US" sz="1400" dirty="0">
                          <a:solidFill>
                            <a:schemeClr val="tx1"/>
                          </a:solidFill>
                        </a:rPr>
                        <a:t>Ingestion &amp; automated metadata</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3"/>
                          </a:solidFill>
                        </a:rPr>
                        <a:t>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algn="ctr" indent="0" marL="0">
                        <a:buNone/>
                      </a:pPr>
                      <a:r>
                        <a:rPr lang="en-US" sz="1400" b="1" dirty="0">
                          <a:solidFill>
                            <a:srgbClr val="8A6400"/>
                          </a:solidFill>
                        </a:rPr>
                        <a:t>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38912">
                <a:tc>
                  <a:txBody>
                    <a:bodyPr/>
                    <a:lstStyle/>
                    <a:p>
                      <a:pPr indent="0" marL="0">
                        <a:buNone/>
                      </a:pPr>
                      <a:r>
                        <a:rPr lang="en-US" sz="1400" dirty="0">
                          <a:solidFill>
                            <a:schemeClr val="tx1"/>
                          </a:solidFill>
                        </a:rPr>
                        <a:t>Governance &amp; lifecycle</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chemeClr val="accent3"/>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algn="ctr" indent="0" marL="0">
                        <a:buNone/>
                      </a:pPr>
                      <a:r>
                        <a:rPr lang="en-US" sz="1400" b="1" dirty="0">
                          <a:solidFill>
                            <a:srgbClr val="8A6400"/>
                          </a:solidFill>
                        </a:rPr>
                        <a:t>4</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b="1" dirty="0">
                          <a:solidFill>
                            <a:schemeClr val="accent4"/>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r h="438912">
                <a:tc>
                  <a:txBody>
                    <a:bodyPr/>
                    <a:lstStyle/>
                    <a:p>
                      <a:pPr indent="0" marL="0">
                        <a:buNone/>
                      </a:pPr>
                      <a:r>
                        <a:rPr lang="en-US" sz="1400" dirty="0">
                          <a:solidFill>
                            <a:schemeClr val="tx1"/>
                          </a:solidFill>
                        </a:rPr>
                        <a:t>Analytics &amp; dashboards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rgbClr val="8A6400"/>
                          </a:solidFill>
                        </a:rPr>
                        <a:t>3</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b="1" dirty="0">
                          <a:solidFill>
                            <a:schemeClr val="accent4"/>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r h="438912">
                <a:tc>
                  <a:txBody>
                    <a:bodyPr/>
                    <a:lstStyle/>
                    <a:p>
                      <a:pPr indent="0" marL="0">
                        <a:buNone/>
                      </a:pPr>
                      <a:r>
                        <a:rPr lang="en-US" sz="1400" dirty="0">
                          <a:solidFill>
                            <a:schemeClr val="tx1"/>
                          </a:solidFill>
                        </a:rPr>
                        <a:t>M365 integration</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400" b="1" dirty="0">
                          <a:solidFill>
                            <a:srgbClr val="8A6400"/>
                          </a:solidFill>
                        </a:rPr>
                        <a:t>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algn="ctr" indent="0" marL="0">
                        <a:buNone/>
                      </a:pPr>
                      <a:r>
                        <a:rPr lang="en-US" sz="1400" dirty="0">
                          <a:solidFill>
                            <a:schemeClr val="accent5"/>
                          </a:solidFill>
                        </a:rPr>
                        <a:t>–</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4" name="Strongest card"/>
          <p:cNvSpPr/>
          <p:nvPr/>
        </p:nvSpPr>
        <p:spPr>
          <a:xfrm>
            <a:off x="8046720" y="1417320"/>
            <a:ext cx="3596335" cy="2148840"/>
          </a:xfrm>
          <a:prstGeom prst="roundRect">
            <a:avLst>
              <a:gd name="adj" fmla="val 3404"/>
            </a:avLst>
          </a:prstGeom>
          <a:solidFill>
            <a:schemeClr val="bg2"/>
          </a:solidFill>
          <a:ln/>
        </p:spPr>
      </p:sp>
      <p:sp>
        <p:nvSpPr>
          <p:cNvPr id="5" name="Strongest circle"/>
          <p:cNvSpPr/>
          <p:nvPr/>
        </p:nvSpPr>
        <p:spPr>
          <a:xfrm>
            <a:off x="8321040" y="1645920"/>
            <a:ext cx="548640" cy="548640"/>
          </a:xfrm>
          <a:prstGeom prst="ellipse">
            <a:avLst/>
          </a:prstGeom>
          <a:solidFill>
            <a:schemeClr val="accent3"/>
          </a:solidFill>
          <a:ln/>
        </p:spPr>
      </p:sp>
      <p:pic>
        <p:nvPicPr>
          <p:cNvPr id="6" name="Strongest icon" descr="Strongest">    </p:cNvPr>
          <p:cNvPicPr>
            <a:picLocks noChangeAspect="1"/>
          </p:cNvPicPr>
          <p:nvPr/>
        </p:nvPicPr>
        <p:blipFill>
          <a:blip r:embed="rId1"/>
          <a:stretch>
            <a:fillRect/>
          </a:stretch>
        </p:blipFill>
        <p:spPr>
          <a:xfrm>
            <a:off x="8458200" y="1783080"/>
            <a:ext cx="274320" cy="274320"/>
          </a:xfrm>
          <a:prstGeom prst="rect">
            <a:avLst/>
          </a:prstGeom>
        </p:spPr>
      </p:pic>
      <p:sp>
        <p:nvSpPr>
          <p:cNvPr id="7" name="Text 3"/>
          <p:cNvSpPr txBox="1"/>
          <p:nvPr/>
        </p:nvSpPr>
        <p:spPr>
          <a:xfrm>
            <a:off x="9052560" y="1737360"/>
            <a:ext cx="2407615" cy="365760"/>
          </a:xfrm>
          <a:prstGeom prst="rect">
            <a:avLst/>
          </a:prstGeom>
          <a:noFill/>
          <a:ln/>
        </p:spPr>
        <p:txBody>
          <a:bodyPr wrap="square" lIns="0" tIns="0" rIns="0" bIns="0" rtlCol="0" anchor="t"/>
          <a:lstStyle/>
          <a:p>
            <a:pPr indent="0" marL="0">
              <a:buNone/>
            </a:pPr>
            <a:r>
              <a:rPr lang="en-US" sz="1800" b="1" dirty="0">
                <a:solidFill>
                  <a:schemeClr val="tx2"/>
                </a:solidFill>
              </a:rPr>
              <a:t>Strongest</a:t>
            </a:r>
            <a:endParaRPr lang="en-US" sz="1800" dirty="0"/>
          </a:p>
        </p:txBody>
      </p:sp>
      <p:sp>
        <p:nvSpPr>
          <p:cNvPr id="8" name="Text 4"/>
          <p:cNvSpPr txBox="1"/>
          <p:nvPr/>
        </p:nvSpPr>
        <p:spPr>
          <a:xfrm>
            <a:off x="8321040" y="2331720"/>
            <a:ext cx="3139135" cy="10972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Conversational Q&amp;A</a:t>
            </a:r>
            <a:endParaRPr lang="en-US" sz="1500" dirty="0"/>
          </a:p>
          <a:p>
            <a:pPr marL="342900" indent="-342900">
              <a:spcAft>
                <a:spcPts val="400"/>
              </a:spcAft>
              <a:buSzPct val="100000"/>
              <a:buChar char="•"/>
            </a:pPr>
            <a:r>
              <a:rPr lang="en-US" sz="1500" dirty="0">
                <a:solidFill>
                  <a:schemeClr val="tx1"/>
                </a:solidFill>
              </a:rPr>
              <a:t>Ingestion &amp; classification</a:t>
            </a:r>
            <a:endParaRPr lang="en-US" sz="1500" dirty="0"/>
          </a:p>
          <a:p>
            <a:pPr marL="342900" indent="-342900">
              <a:spcAft>
                <a:spcPts val="400"/>
              </a:spcAft>
              <a:buSzPct val="100000"/>
              <a:buChar char="•"/>
            </a:pPr>
            <a:r>
              <a:rPr lang="en-US" sz="1500" dirty="0">
                <a:solidFill>
                  <a:schemeClr val="tx1"/>
                </a:solidFill>
              </a:rPr>
              <a:t>Knowledge graph</a:t>
            </a:r>
            <a:endParaRPr lang="en-US" sz="1500" dirty="0"/>
          </a:p>
        </p:txBody>
      </p:sp>
      <p:sp>
        <p:nvSpPr>
          <p:cNvPr id="9" name="Weakest card"/>
          <p:cNvSpPr/>
          <p:nvPr/>
        </p:nvSpPr>
        <p:spPr>
          <a:xfrm>
            <a:off x="8046720" y="3794760"/>
            <a:ext cx="3596335" cy="2148840"/>
          </a:xfrm>
          <a:prstGeom prst="roundRect">
            <a:avLst>
              <a:gd name="adj" fmla="val 3404"/>
            </a:avLst>
          </a:prstGeom>
          <a:solidFill>
            <a:schemeClr val="bg2"/>
          </a:solidFill>
          <a:ln/>
        </p:spPr>
      </p:sp>
      <p:sp>
        <p:nvSpPr>
          <p:cNvPr id="10" name="Weakest circle"/>
          <p:cNvSpPr/>
          <p:nvPr/>
        </p:nvSpPr>
        <p:spPr>
          <a:xfrm>
            <a:off x="8321040" y="4023360"/>
            <a:ext cx="548640" cy="548640"/>
          </a:xfrm>
          <a:prstGeom prst="ellipse">
            <a:avLst/>
          </a:prstGeom>
          <a:solidFill>
            <a:schemeClr val="accent4"/>
          </a:solidFill>
          <a:ln/>
        </p:spPr>
      </p:sp>
      <p:pic>
        <p:nvPicPr>
          <p:cNvPr id="11" name="Weakest icon" descr="Weakest">    </p:cNvPr>
          <p:cNvPicPr>
            <a:picLocks noChangeAspect="1"/>
          </p:cNvPicPr>
          <p:nvPr/>
        </p:nvPicPr>
        <p:blipFill>
          <a:blip r:embed="rId2"/>
          <a:stretch>
            <a:fillRect/>
          </a:stretch>
        </p:blipFill>
        <p:spPr>
          <a:xfrm>
            <a:off x="8458200" y="4160520"/>
            <a:ext cx="274320" cy="274320"/>
          </a:xfrm>
          <a:prstGeom prst="rect">
            <a:avLst/>
          </a:prstGeom>
        </p:spPr>
      </p:pic>
      <p:sp>
        <p:nvSpPr>
          <p:cNvPr id="12" name="Text 7"/>
          <p:cNvSpPr txBox="1"/>
          <p:nvPr/>
        </p:nvSpPr>
        <p:spPr>
          <a:xfrm>
            <a:off x="9052560" y="4114800"/>
            <a:ext cx="2407615" cy="365760"/>
          </a:xfrm>
          <a:prstGeom prst="rect">
            <a:avLst/>
          </a:prstGeom>
          <a:noFill/>
          <a:ln/>
        </p:spPr>
        <p:txBody>
          <a:bodyPr wrap="square" lIns="0" tIns="0" rIns="0" bIns="0" rtlCol="0" anchor="t"/>
          <a:lstStyle/>
          <a:p>
            <a:pPr indent="0" marL="0">
              <a:buNone/>
            </a:pPr>
            <a:r>
              <a:rPr lang="en-US" sz="1800" b="1" dirty="0">
                <a:solidFill>
                  <a:schemeClr val="tx2"/>
                </a:solidFill>
              </a:rPr>
              <a:t>Weakest</a:t>
            </a:r>
            <a:endParaRPr lang="en-US" sz="1800" dirty="0"/>
          </a:p>
        </p:txBody>
      </p:sp>
      <p:sp>
        <p:nvSpPr>
          <p:cNvPr id="13" name="Text 8"/>
          <p:cNvSpPr txBox="1"/>
          <p:nvPr/>
        </p:nvSpPr>
        <p:spPr>
          <a:xfrm>
            <a:off x="8321040" y="4709160"/>
            <a:ext cx="3139135" cy="10972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Content coverage (formats)</a:t>
            </a:r>
            <a:endParaRPr lang="en-US" sz="1500" dirty="0"/>
          </a:p>
          <a:p>
            <a:pPr marL="342900" indent="-342900">
              <a:spcAft>
                <a:spcPts val="400"/>
              </a:spcAft>
              <a:buSzPct val="100000"/>
              <a:buChar char="•"/>
            </a:pPr>
            <a:r>
              <a:rPr lang="en-US" sz="1500" dirty="0">
                <a:solidFill>
                  <a:schemeClr val="tx1"/>
                </a:solidFill>
              </a:rPr>
              <a:t>Taxonomy &amp; semantic layer</a:t>
            </a:r>
            <a:endParaRPr lang="en-US" sz="1500" dirty="0"/>
          </a:p>
          <a:p>
            <a:pPr marL="342900" indent="-342900">
              <a:spcAft>
                <a:spcPts val="400"/>
              </a:spcAft>
              <a:buSzPct val="100000"/>
              <a:buChar char="•"/>
            </a:pPr>
            <a:r>
              <a:rPr lang="en-US" sz="1500" dirty="0">
                <a:solidFill>
                  <a:schemeClr val="tx1"/>
                </a:solidFill>
              </a:rPr>
              <a:t>Analytics &amp; dashboards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8 requirements are fully met today</a:t>
            </a:r>
            <a:endParaRPr lang="en-US" sz="3200" dirty="0"/>
          </a:p>
        </p:txBody>
      </p:sp>
      <p:sp>
        <p:nvSpPr>
          <p:cNvPr id="3" name="Met card #7"/>
          <p:cNvSpPr/>
          <p:nvPr/>
        </p:nvSpPr>
        <p:spPr>
          <a:xfrm>
            <a:off x="548640" y="1417320"/>
            <a:ext cx="2567864" cy="2286000"/>
          </a:xfrm>
          <a:prstGeom prst="roundRect">
            <a:avLst>
              <a:gd name="adj" fmla="val 3200"/>
            </a:avLst>
          </a:prstGeom>
          <a:solidFill>
            <a:schemeClr val="bg2"/>
          </a:solidFill>
          <a:ln/>
        </p:spPr>
      </p:sp>
      <p:sp>
        <p:nvSpPr>
          <p:cNvPr id="4" name="Natural-language answers circle"/>
          <p:cNvSpPr/>
          <p:nvPr/>
        </p:nvSpPr>
        <p:spPr>
          <a:xfrm>
            <a:off x="777240" y="1645920"/>
            <a:ext cx="548640" cy="548640"/>
          </a:xfrm>
          <a:prstGeom prst="ellipse">
            <a:avLst/>
          </a:prstGeom>
          <a:solidFill>
            <a:schemeClr val="accent3"/>
          </a:solidFill>
          <a:ln/>
        </p:spPr>
      </p:sp>
      <p:pic>
        <p:nvPicPr>
          <p:cNvPr id="5" name="Natural-language answers icon" descr="Natural-language answers">    </p:cNvPr>
          <p:cNvPicPr>
            <a:picLocks noChangeAspect="1"/>
          </p:cNvPicPr>
          <p:nvPr/>
        </p:nvPicPr>
        <p:blipFill>
          <a:blip r:embed="rId1"/>
          <a:stretch>
            <a:fillRect/>
          </a:stretch>
        </p:blipFill>
        <p:spPr>
          <a:xfrm>
            <a:off x="914400" y="1783080"/>
            <a:ext cx="274320" cy="274320"/>
          </a:xfrm>
          <a:prstGeom prst="rect">
            <a:avLst/>
          </a:prstGeom>
        </p:spPr>
      </p:pic>
      <p:sp>
        <p:nvSpPr>
          <p:cNvPr id="6" name="Text 3"/>
          <p:cNvSpPr txBox="1"/>
          <p:nvPr/>
        </p:nvSpPr>
        <p:spPr>
          <a:xfrm>
            <a:off x="2339264" y="16916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#7</a:t>
            </a:r>
            <a:endParaRPr lang="en-US" sz="1200" dirty="0"/>
          </a:p>
        </p:txBody>
      </p:sp>
      <p:sp>
        <p:nvSpPr>
          <p:cNvPr id="7" name="Text 4"/>
          <p:cNvSpPr txBox="1"/>
          <p:nvPr/>
        </p:nvSpPr>
        <p:spPr>
          <a:xfrm>
            <a:off x="777240" y="2286000"/>
            <a:ext cx="2110664" cy="548640"/>
          </a:xfrm>
          <a:prstGeom prst="rect">
            <a:avLst/>
          </a:prstGeom>
          <a:noFill/>
          <a:ln/>
        </p:spPr>
        <p:txBody>
          <a:bodyPr wrap="square" lIns="0" tIns="0" rIns="0" bIns="0" rtlCol="0" anchor="t"/>
          <a:lstStyle/>
          <a:p>
            <a:pPr indent="0" marL="0">
              <a:buNone/>
            </a:pPr>
            <a:r>
              <a:rPr lang="en-US" sz="1600" b="1" dirty="0">
                <a:solidFill>
                  <a:schemeClr val="tx2"/>
                </a:solidFill>
              </a:rPr>
              <a:t>Natural-language answers</a:t>
            </a:r>
            <a:endParaRPr lang="en-US" sz="1600" dirty="0"/>
          </a:p>
        </p:txBody>
      </p:sp>
      <p:sp>
        <p:nvSpPr>
          <p:cNvPr id="8" name="Text 5"/>
          <p:cNvSpPr txBox="1"/>
          <p:nvPr/>
        </p:nvSpPr>
        <p:spPr>
          <a:xfrm>
            <a:off x="777240" y="2880360"/>
            <a:ext cx="2110664" cy="731520"/>
          </a:xfrm>
          <a:prstGeom prst="rect">
            <a:avLst/>
          </a:prstGeom>
          <a:noFill/>
          <a:ln/>
        </p:spPr>
        <p:txBody>
          <a:bodyPr wrap="square" lIns="0" tIns="0" rIns="0" bIns="0" rtlCol="0" anchor="t"/>
          <a:lstStyle/>
          <a:p>
            <a:pPr indent="0" marL="0">
              <a:buNone/>
            </a:pPr>
            <a:r>
              <a:rPr lang="en-US" sz="1400" dirty="0">
                <a:solidFill>
                  <a:schemeClr val="tx1"/>
                </a:solidFill>
              </a:rPr>
              <a:t>Org-wide chat answers questions across all documents</a:t>
            </a:r>
            <a:endParaRPr lang="en-US" sz="1400" dirty="0"/>
          </a:p>
        </p:txBody>
      </p:sp>
      <p:sp>
        <p:nvSpPr>
          <p:cNvPr id="9" name="Met card #8"/>
          <p:cNvSpPr/>
          <p:nvPr/>
        </p:nvSpPr>
        <p:spPr>
          <a:xfrm>
            <a:off x="3390824" y="1417320"/>
            <a:ext cx="2567864" cy="2286000"/>
          </a:xfrm>
          <a:prstGeom prst="roundRect">
            <a:avLst>
              <a:gd name="adj" fmla="val 3200"/>
            </a:avLst>
          </a:prstGeom>
          <a:solidFill>
            <a:schemeClr val="bg2"/>
          </a:solidFill>
          <a:ln/>
        </p:spPr>
      </p:sp>
      <p:sp>
        <p:nvSpPr>
          <p:cNvPr id="10" name="Cited, permission-aware circle"/>
          <p:cNvSpPr/>
          <p:nvPr/>
        </p:nvSpPr>
        <p:spPr>
          <a:xfrm>
            <a:off x="3619424" y="1645920"/>
            <a:ext cx="548640" cy="548640"/>
          </a:xfrm>
          <a:prstGeom prst="ellipse">
            <a:avLst/>
          </a:prstGeom>
          <a:solidFill>
            <a:schemeClr val="accent3"/>
          </a:solidFill>
          <a:ln/>
        </p:spPr>
      </p:sp>
      <p:pic>
        <p:nvPicPr>
          <p:cNvPr id="11" name="Cited, permission-aware icon" descr="Cited, permission-aware">    </p:cNvPr>
          <p:cNvPicPr>
            <a:picLocks noChangeAspect="1"/>
          </p:cNvPicPr>
          <p:nvPr/>
        </p:nvPicPr>
        <p:blipFill>
          <a:blip r:embed="rId2"/>
          <a:stretch>
            <a:fillRect/>
          </a:stretch>
        </p:blipFill>
        <p:spPr>
          <a:xfrm>
            <a:off x="3756584" y="1783080"/>
            <a:ext cx="274320" cy="274320"/>
          </a:xfrm>
          <a:prstGeom prst="rect">
            <a:avLst/>
          </a:prstGeom>
        </p:spPr>
      </p:pic>
      <p:sp>
        <p:nvSpPr>
          <p:cNvPr id="12" name="Text 8"/>
          <p:cNvSpPr txBox="1"/>
          <p:nvPr/>
        </p:nvSpPr>
        <p:spPr>
          <a:xfrm>
            <a:off x="5181448" y="16916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#8</a:t>
            </a:r>
            <a:endParaRPr lang="en-US" sz="1200" dirty="0"/>
          </a:p>
        </p:txBody>
      </p:sp>
      <p:sp>
        <p:nvSpPr>
          <p:cNvPr id="13" name="Text 9"/>
          <p:cNvSpPr txBox="1"/>
          <p:nvPr/>
        </p:nvSpPr>
        <p:spPr>
          <a:xfrm>
            <a:off x="3619424" y="2286000"/>
            <a:ext cx="2110664" cy="548640"/>
          </a:xfrm>
          <a:prstGeom prst="rect">
            <a:avLst/>
          </a:prstGeom>
          <a:noFill/>
          <a:ln/>
        </p:spPr>
        <p:txBody>
          <a:bodyPr wrap="square" lIns="0" tIns="0" rIns="0" bIns="0" rtlCol="0" anchor="t"/>
          <a:lstStyle/>
          <a:p>
            <a:pPr indent="0" marL="0">
              <a:buNone/>
            </a:pPr>
            <a:r>
              <a:rPr lang="en-US" sz="1600" b="1" dirty="0">
                <a:solidFill>
                  <a:schemeClr val="tx2"/>
                </a:solidFill>
              </a:rPr>
              <a:t>Cited, permission-aware</a:t>
            </a:r>
            <a:endParaRPr lang="en-US" sz="1600" dirty="0"/>
          </a:p>
        </p:txBody>
      </p:sp>
      <p:sp>
        <p:nvSpPr>
          <p:cNvPr id="14" name="Text 10"/>
          <p:cNvSpPr txBox="1"/>
          <p:nvPr/>
        </p:nvSpPr>
        <p:spPr>
          <a:xfrm>
            <a:off x="3619424" y="2880360"/>
            <a:ext cx="2110664" cy="731520"/>
          </a:xfrm>
          <a:prstGeom prst="rect">
            <a:avLst/>
          </a:prstGeom>
          <a:noFill/>
          <a:ln/>
        </p:spPr>
        <p:txBody>
          <a:bodyPr wrap="square" lIns="0" tIns="0" rIns="0" bIns="0" rtlCol="0" anchor="t"/>
          <a:lstStyle/>
          <a:p>
            <a:pPr indent="0" marL="0">
              <a:buNone/>
            </a:pPr>
            <a:r>
              <a:rPr lang="en-US" sz="1400" dirty="0">
                <a:solidFill>
                  <a:schemeClr val="tx1"/>
                </a:solidFill>
              </a:rPr>
              <a:t>Every answer cites sources; roles applied before generation</a:t>
            </a:r>
            <a:endParaRPr lang="en-US" sz="1400" dirty="0"/>
          </a:p>
        </p:txBody>
      </p:sp>
      <p:sp>
        <p:nvSpPr>
          <p:cNvPr id="15" name="Met card #9"/>
          <p:cNvSpPr/>
          <p:nvPr/>
        </p:nvSpPr>
        <p:spPr>
          <a:xfrm>
            <a:off x="6233008" y="1417320"/>
            <a:ext cx="2567864" cy="2286000"/>
          </a:xfrm>
          <a:prstGeom prst="roundRect">
            <a:avLst>
              <a:gd name="adj" fmla="val 3200"/>
            </a:avLst>
          </a:prstGeom>
          <a:solidFill>
            <a:schemeClr val="bg2"/>
          </a:solidFill>
          <a:ln/>
        </p:spPr>
      </p:sp>
      <p:sp>
        <p:nvSpPr>
          <p:cNvPr id="16" name="Conversational follow-ups circle"/>
          <p:cNvSpPr/>
          <p:nvPr/>
        </p:nvSpPr>
        <p:spPr>
          <a:xfrm>
            <a:off x="6461608" y="1645920"/>
            <a:ext cx="548640" cy="548640"/>
          </a:xfrm>
          <a:prstGeom prst="ellipse">
            <a:avLst/>
          </a:prstGeom>
          <a:solidFill>
            <a:schemeClr val="accent3"/>
          </a:solidFill>
          <a:ln/>
        </p:spPr>
      </p:sp>
      <p:pic>
        <p:nvPicPr>
          <p:cNvPr id="17" name="Conversational follow-ups icon" descr="Conversational follow-ups">    </p:cNvPr>
          <p:cNvPicPr>
            <a:picLocks noChangeAspect="1"/>
          </p:cNvPicPr>
          <p:nvPr/>
        </p:nvPicPr>
        <p:blipFill>
          <a:blip r:embed="rId3"/>
          <a:stretch>
            <a:fillRect/>
          </a:stretch>
        </p:blipFill>
        <p:spPr>
          <a:xfrm>
            <a:off x="6598768" y="1783080"/>
            <a:ext cx="274320" cy="274320"/>
          </a:xfrm>
          <a:prstGeom prst="rect">
            <a:avLst/>
          </a:prstGeom>
        </p:spPr>
      </p:pic>
      <p:sp>
        <p:nvSpPr>
          <p:cNvPr id="18" name="Text 13"/>
          <p:cNvSpPr txBox="1"/>
          <p:nvPr/>
        </p:nvSpPr>
        <p:spPr>
          <a:xfrm>
            <a:off x="8023631" y="16916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#9</a:t>
            </a:r>
            <a:endParaRPr lang="en-US" sz="1200" dirty="0"/>
          </a:p>
        </p:txBody>
      </p:sp>
      <p:sp>
        <p:nvSpPr>
          <p:cNvPr id="19" name="Text 14"/>
          <p:cNvSpPr txBox="1"/>
          <p:nvPr/>
        </p:nvSpPr>
        <p:spPr>
          <a:xfrm>
            <a:off x="6461608" y="2286000"/>
            <a:ext cx="2110664" cy="548640"/>
          </a:xfrm>
          <a:prstGeom prst="rect">
            <a:avLst/>
          </a:prstGeom>
          <a:noFill/>
          <a:ln/>
        </p:spPr>
        <p:txBody>
          <a:bodyPr wrap="square" lIns="0" tIns="0" rIns="0" bIns="0" rtlCol="0" anchor="t"/>
          <a:lstStyle/>
          <a:p>
            <a:pPr indent="0" marL="0">
              <a:buNone/>
            </a:pPr>
            <a:r>
              <a:rPr lang="en-US" sz="1600" b="1" dirty="0">
                <a:solidFill>
                  <a:schemeClr val="tx2"/>
                </a:solidFill>
              </a:rPr>
              <a:t>Conversational follow-ups</a:t>
            </a:r>
            <a:endParaRPr lang="en-US" sz="1600" dirty="0"/>
          </a:p>
        </p:txBody>
      </p:sp>
      <p:sp>
        <p:nvSpPr>
          <p:cNvPr id="20" name="Text 15"/>
          <p:cNvSpPr txBox="1"/>
          <p:nvPr/>
        </p:nvSpPr>
        <p:spPr>
          <a:xfrm>
            <a:off x="6461608" y="2880360"/>
            <a:ext cx="2110664" cy="731520"/>
          </a:xfrm>
          <a:prstGeom prst="rect">
            <a:avLst/>
          </a:prstGeom>
          <a:noFill/>
          <a:ln/>
        </p:spPr>
        <p:txBody>
          <a:bodyPr wrap="square" lIns="0" tIns="0" rIns="0" bIns="0" rtlCol="0" anchor="t"/>
          <a:lstStyle/>
          <a:p>
            <a:pPr indent="0" marL="0">
              <a:buNone/>
            </a:pPr>
            <a:r>
              <a:rPr lang="en-US" sz="1400" dirty="0">
                <a:solidFill>
                  <a:schemeClr val="tx1"/>
                </a:solidFill>
              </a:rPr>
              <a:t>Keeps conversation and topic context for refinement</a:t>
            </a:r>
            <a:endParaRPr lang="en-US" sz="1400" dirty="0"/>
          </a:p>
        </p:txBody>
      </p:sp>
      <p:sp>
        <p:nvSpPr>
          <p:cNvPr id="21" name="Met card #17"/>
          <p:cNvSpPr/>
          <p:nvPr/>
        </p:nvSpPr>
        <p:spPr>
          <a:xfrm>
            <a:off x="9075191" y="1417320"/>
            <a:ext cx="2567864" cy="2286000"/>
          </a:xfrm>
          <a:prstGeom prst="roundRect">
            <a:avLst>
              <a:gd name="adj" fmla="val 3200"/>
            </a:avLst>
          </a:prstGeom>
          <a:solidFill>
            <a:schemeClr val="bg2"/>
          </a:solidFill>
          <a:ln/>
        </p:spPr>
      </p:sp>
      <p:sp>
        <p:nvSpPr>
          <p:cNvPr id="22" name="Graph-enriched discovery circle"/>
          <p:cNvSpPr/>
          <p:nvPr/>
        </p:nvSpPr>
        <p:spPr>
          <a:xfrm>
            <a:off x="9303791" y="1645920"/>
            <a:ext cx="548640" cy="548640"/>
          </a:xfrm>
          <a:prstGeom prst="ellipse">
            <a:avLst/>
          </a:prstGeom>
          <a:solidFill>
            <a:schemeClr val="accent3"/>
          </a:solidFill>
          <a:ln/>
        </p:spPr>
      </p:sp>
      <p:pic>
        <p:nvPicPr>
          <p:cNvPr id="23" name="Graph-enriched discovery icon" descr="Graph-enriched discovery">    </p:cNvPr>
          <p:cNvPicPr>
            <a:picLocks noChangeAspect="1"/>
          </p:cNvPicPr>
          <p:nvPr/>
        </p:nvPicPr>
        <p:blipFill>
          <a:blip r:embed="rId4"/>
          <a:stretch>
            <a:fillRect/>
          </a:stretch>
        </p:blipFill>
        <p:spPr>
          <a:xfrm>
            <a:off x="9440951" y="1783080"/>
            <a:ext cx="274320" cy="274320"/>
          </a:xfrm>
          <a:prstGeom prst="rect">
            <a:avLst/>
          </a:prstGeom>
        </p:spPr>
      </p:pic>
      <p:sp>
        <p:nvSpPr>
          <p:cNvPr id="24" name="Text 18"/>
          <p:cNvSpPr txBox="1"/>
          <p:nvPr/>
        </p:nvSpPr>
        <p:spPr>
          <a:xfrm>
            <a:off x="10865815" y="16916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#17</a:t>
            </a:r>
            <a:endParaRPr lang="en-US" sz="1200" dirty="0"/>
          </a:p>
        </p:txBody>
      </p:sp>
      <p:sp>
        <p:nvSpPr>
          <p:cNvPr id="25" name="Text 19"/>
          <p:cNvSpPr txBox="1"/>
          <p:nvPr/>
        </p:nvSpPr>
        <p:spPr>
          <a:xfrm>
            <a:off x="9303791" y="2286000"/>
            <a:ext cx="2110664" cy="548640"/>
          </a:xfrm>
          <a:prstGeom prst="rect">
            <a:avLst/>
          </a:prstGeom>
          <a:noFill/>
          <a:ln/>
        </p:spPr>
        <p:txBody>
          <a:bodyPr wrap="square" lIns="0" tIns="0" rIns="0" bIns="0" rtlCol="0" anchor="t"/>
          <a:lstStyle/>
          <a:p>
            <a:pPr indent="0" marL="0">
              <a:buNone/>
            </a:pPr>
            <a:r>
              <a:rPr lang="en-US" sz="1600" b="1" dirty="0">
                <a:solidFill>
                  <a:schemeClr val="tx2"/>
                </a:solidFill>
              </a:rPr>
              <a:t>Graph-enriched discovery</a:t>
            </a:r>
            <a:endParaRPr lang="en-US" sz="1600" dirty="0"/>
          </a:p>
        </p:txBody>
      </p:sp>
      <p:sp>
        <p:nvSpPr>
          <p:cNvPr id="26" name="Text 20"/>
          <p:cNvSpPr txBox="1"/>
          <p:nvPr/>
        </p:nvSpPr>
        <p:spPr>
          <a:xfrm>
            <a:off x="9303791" y="2880360"/>
            <a:ext cx="2110664" cy="731520"/>
          </a:xfrm>
          <a:prstGeom prst="rect">
            <a:avLst/>
          </a:prstGeom>
          <a:noFill/>
          <a:ln/>
        </p:spPr>
        <p:txBody>
          <a:bodyPr wrap="square" lIns="0" tIns="0" rIns="0" bIns="0" rtlCol="0" anchor="t"/>
          <a:lstStyle/>
          <a:p>
            <a:pPr indent="0" marL="0">
              <a:buNone/>
            </a:pPr>
            <a:r>
              <a:rPr lang="en-US" sz="1400" dirty="0">
                <a:solidFill>
                  <a:schemeClr val="tx1"/>
                </a:solidFill>
              </a:rPr>
              <a:t>Knowledge graph powers search, navigation and chat</a:t>
            </a:r>
            <a:endParaRPr lang="en-US" sz="1400" dirty="0"/>
          </a:p>
        </p:txBody>
      </p:sp>
      <p:sp>
        <p:nvSpPr>
          <p:cNvPr id="27" name="Met card #6"/>
          <p:cNvSpPr/>
          <p:nvPr/>
        </p:nvSpPr>
        <p:spPr>
          <a:xfrm>
            <a:off x="548640" y="3886200"/>
            <a:ext cx="2567864" cy="2286000"/>
          </a:xfrm>
          <a:prstGeom prst="roundRect">
            <a:avLst>
              <a:gd name="adj" fmla="val 3200"/>
            </a:avLst>
          </a:prstGeom>
          <a:solidFill>
            <a:schemeClr val="bg2"/>
          </a:solidFill>
          <a:ln/>
        </p:spPr>
      </p:sp>
      <p:sp>
        <p:nvSpPr>
          <p:cNvPr id="28" name="Recommendations &amp; trending circle"/>
          <p:cNvSpPr/>
          <p:nvPr/>
        </p:nvSpPr>
        <p:spPr>
          <a:xfrm>
            <a:off x="777240" y="4114800"/>
            <a:ext cx="548640" cy="548640"/>
          </a:xfrm>
          <a:prstGeom prst="ellipse">
            <a:avLst/>
          </a:prstGeom>
          <a:solidFill>
            <a:schemeClr val="accent3"/>
          </a:solidFill>
          <a:ln/>
        </p:spPr>
      </p:sp>
      <p:pic>
        <p:nvPicPr>
          <p:cNvPr id="29" name="Recommendations &amp; trending icon" descr="Recommendations &amp; trending">    </p:cNvPr>
          <p:cNvPicPr>
            <a:picLocks noChangeAspect="1"/>
          </p:cNvPicPr>
          <p:nvPr/>
        </p:nvPicPr>
        <p:blipFill>
          <a:blip r:embed="rId5"/>
          <a:stretch>
            <a:fillRect/>
          </a:stretch>
        </p:blipFill>
        <p:spPr>
          <a:xfrm>
            <a:off x="914400" y="4251960"/>
            <a:ext cx="274320" cy="274320"/>
          </a:xfrm>
          <a:prstGeom prst="rect">
            <a:avLst/>
          </a:prstGeom>
        </p:spPr>
      </p:pic>
      <p:sp>
        <p:nvSpPr>
          <p:cNvPr id="30" name="Text 23"/>
          <p:cNvSpPr txBox="1"/>
          <p:nvPr/>
        </p:nvSpPr>
        <p:spPr>
          <a:xfrm>
            <a:off x="2339264" y="416052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#6</a:t>
            </a:r>
            <a:endParaRPr lang="en-US" sz="1200" dirty="0"/>
          </a:p>
        </p:txBody>
      </p:sp>
      <p:sp>
        <p:nvSpPr>
          <p:cNvPr id="31" name="Text 24"/>
          <p:cNvSpPr txBox="1"/>
          <p:nvPr/>
        </p:nvSpPr>
        <p:spPr>
          <a:xfrm>
            <a:off x="777240" y="4754880"/>
            <a:ext cx="2110664" cy="548640"/>
          </a:xfrm>
          <a:prstGeom prst="rect">
            <a:avLst/>
          </a:prstGeom>
          <a:noFill/>
          <a:ln/>
        </p:spPr>
        <p:txBody>
          <a:bodyPr wrap="square" lIns="0" tIns="0" rIns="0" bIns="0" rtlCol="0" anchor="t"/>
          <a:lstStyle/>
          <a:p>
            <a:pPr indent="0" marL="0">
              <a:buNone/>
            </a:pPr>
            <a:r>
              <a:rPr lang="en-US" sz="1600" b="1" dirty="0">
                <a:solidFill>
                  <a:schemeClr val="tx2"/>
                </a:solidFill>
              </a:rPr>
              <a:t>Recommendations &amp; trending</a:t>
            </a:r>
            <a:endParaRPr lang="en-US" sz="1600" dirty="0"/>
          </a:p>
        </p:txBody>
      </p:sp>
      <p:sp>
        <p:nvSpPr>
          <p:cNvPr id="32" name="Text 25"/>
          <p:cNvSpPr txBox="1"/>
          <p:nvPr/>
        </p:nvSpPr>
        <p:spPr>
          <a:xfrm>
            <a:off x="777240" y="5349240"/>
            <a:ext cx="2110664" cy="731520"/>
          </a:xfrm>
          <a:prstGeom prst="rect">
            <a:avLst/>
          </a:prstGeom>
          <a:noFill/>
          <a:ln/>
        </p:spPr>
        <p:txBody>
          <a:bodyPr wrap="square" lIns="0" tIns="0" rIns="0" bIns="0" rtlCol="0" anchor="t"/>
          <a:lstStyle/>
          <a:p>
            <a:pPr indent="0" marL="0">
              <a:buNone/>
            </a:pPr>
            <a:r>
              <a:rPr lang="en-US" sz="1400" dirty="0">
                <a:solidFill>
                  <a:schemeClr val="tx1"/>
                </a:solidFill>
              </a:rPr>
              <a:t>Personal suggestions and department trending</a:t>
            </a:r>
            <a:endParaRPr lang="en-US" sz="1400" dirty="0"/>
          </a:p>
        </p:txBody>
      </p:sp>
      <p:sp>
        <p:nvSpPr>
          <p:cNvPr id="33" name="Met card #18"/>
          <p:cNvSpPr/>
          <p:nvPr/>
        </p:nvSpPr>
        <p:spPr>
          <a:xfrm>
            <a:off x="3390824" y="3886200"/>
            <a:ext cx="2567864" cy="2286000"/>
          </a:xfrm>
          <a:prstGeom prst="roundRect">
            <a:avLst>
              <a:gd name="adj" fmla="val 3200"/>
            </a:avLst>
          </a:prstGeom>
          <a:solidFill>
            <a:schemeClr val="bg2"/>
          </a:solidFill>
          <a:ln/>
        </p:spPr>
      </p:sp>
      <p:sp>
        <p:nvSpPr>
          <p:cNvPr id="34" name="Drag-and-drop upload circle"/>
          <p:cNvSpPr/>
          <p:nvPr/>
        </p:nvSpPr>
        <p:spPr>
          <a:xfrm>
            <a:off x="3619424" y="4114800"/>
            <a:ext cx="548640" cy="548640"/>
          </a:xfrm>
          <a:prstGeom prst="ellipse">
            <a:avLst/>
          </a:prstGeom>
          <a:solidFill>
            <a:schemeClr val="accent3"/>
          </a:solidFill>
          <a:ln/>
        </p:spPr>
      </p:sp>
      <p:pic>
        <p:nvPicPr>
          <p:cNvPr id="35" name="Drag-and-drop upload icon" descr="Drag-and-drop upload">    </p:cNvPr>
          <p:cNvPicPr>
            <a:picLocks noChangeAspect="1"/>
          </p:cNvPicPr>
          <p:nvPr/>
        </p:nvPicPr>
        <p:blipFill>
          <a:blip r:embed="rId6"/>
          <a:stretch>
            <a:fillRect/>
          </a:stretch>
        </p:blipFill>
        <p:spPr>
          <a:xfrm>
            <a:off x="3756584" y="4251960"/>
            <a:ext cx="274320" cy="274320"/>
          </a:xfrm>
          <a:prstGeom prst="rect">
            <a:avLst/>
          </a:prstGeom>
        </p:spPr>
      </p:pic>
      <p:sp>
        <p:nvSpPr>
          <p:cNvPr id="36" name="Text 28"/>
          <p:cNvSpPr txBox="1"/>
          <p:nvPr/>
        </p:nvSpPr>
        <p:spPr>
          <a:xfrm>
            <a:off x="5181448" y="416052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#18</a:t>
            </a:r>
            <a:endParaRPr lang="en-US" sz="1200" dirty="0"/>
          </a:p>
        </p:txBody>
      </p:sp>
      <p:sp>
        <p:nvSpPr>
          <p:cNvPr id="37" name="Text 29"/>
          <p:cNvSpPr txBox="1"/>
          <p:nvPr/>
        </p:nvSpPr>
        <p:spPr>
          <a:xfrm>
            <a:off x="3619424" y="4754880"/>
            <a:ext cx="2110664" cy="548640"/>
          </a:xfrm>
          <a:prstGeom prst="rect">
            <a:avLst/>
          </a:prstGeom>
          <a:noFill/>
          <a:ln/>
        </p:spPr>
        <p:txBody>
          <a:bodyPr wrap="square" lIns="0" tIns="0" rIns="0" bIns="0" rtlCol="0" anchor="t"/>
          <a:lstStyle/>
          <a:p>
            <a:pPr indent="0" marL="0">
              <a:buNone/>
            </a:pPr>
            <a:r>
              <a:rPr lang="en-US" sz="1600" b="1" dirty="0">
                <a:solidFill>
                  <a:schemeClr val="tx2"/>
                </a:solidFill>
              </a:rPr>
              <a:t>Drag-and-drop upload</a:t>
            </a:r>
            <a:endParaRPr lang="en-US" sz="1600" dirty="0"/>
          </a:p>
        </p:txBody>
      </p:sp>
      <p:sp>
        <p:nvSpPr>
          <p:cNvPr id="38" name="Text 30"/>
          <p:cNvSpPr txBox="1"/>
          <p:nvPr/>
        </p:nvSpPr>
        <p:spPr>
          <a:xfrm>
            <a:off x="3619424" y="5349240"/>
            <a:ext cx="2110664" cy="731520"/>
          </a:xfrm>
          <a:prstGeom prst="rect">
            <a:avLst/>
          </a:prstGeom>
          <a:noFill/>
          <a:ln/>
        </p:spPr>
        <p:txBody>
          <a:bodyPr wrap="square" lIns="0" tIns="0" rIns="0" bIns="0" rtlCol="0" anchor="t"/>
          <a:lstStyle/>
          <a:p>
            <a:pPr indent="0" marL="0">
              <a:buNone/>
            </a:pPr>
            <a:r>
              <a:rPr lang="en-US" sz="1400" dirty="0">
                <a:solidFill>
                  <a:schemeClr val="tx1"/>
                </a:solidFill>
              </a:rPr>
              <a:t>Batch upload with category and department</a:t>
            </a:r>
            <a:endParaRPr lang="en-US" sz="1400" dirty="0"/>
          </a:p>
        </p:txBody>
      </p:sp>
      <p:sp>
        <p:nvSpPr>
          <p:cNvPr id="39" name="Met card #20"/>
          <p:cNvSpPr/>
          <p:nvPr/>
        </p:nvSpPr>
        <p:spPr>
          <a:xfrm>
            <a:off x="6233008" y="3886200"/>
            <a:ext cx="2567864" cy="2286000"/>
          </a:xfrm>
          <a:prstGeom prst="roundRect">
            <a:avLst>
              <a:gd name="adj" fmla="val 3200"/>
            </a:avLst>
          </a:prstGeom>
          <a:solidFill>
            <a:schemeClr val="bg2"/>
          </a:solidFill>
          <a:ln/>
        </p:spPr>
      </p:sp>
      <p:sp>
        <p:nvSpPr>
          <p:cNvPr id="40" name="Auto-tagging with review circle"/>
          <p:cNvSpPr/>
          <p:nvPr/>
        </p:nvSpPr>
        <p:spPr>
          <a:xfrm>
            <a:off x="6461608" y="4114800"/>
            <a:ext cx="548640" cy="548640"/>
          </a:xfrm>
          <a:prstGeom prst="ellipse">
            <a:avLst/>
          </a:prstGeom>
          <a:solidFill>
            <a:schemeClr val="accent3"/>
          </a:solidFill>
          <a:ln/>
        </p:spPr>
      </p:sp>
      <p:pic>
        <p:nvPicPr>
          <p:cNvPr id="41" name="Auto-tagging with review icon" descr="Auto-tagging with review">    </p:cNvPr>
          <p:cNvPicPr>
            <a:picLocks noChangeAspect="1"/>
          </p:cNvPicPr>
          <p:nvPr/>
        </p:nvPicPr>
        <p:blipFill>
          <a:blip r:embed="rId7"/>
          <a:stretch>
            <a:fillRect/>
          </a:stretch>
        </p:blipFill>
        <p:spPr>
          <a:xfrm>
            <a:off x="6598768" y="4251960"/>
            <a:ext cx="274320" cy="274320"/>
          </a:xfrm>
          <a:prstGeom prst="rect">
            <a:avLst/>
          </a:prstGeom>
        </p:spPr>
      </p:pic>
      <p:sp>
        <p:nvSpPr>
          <p:cNvPr id="42" name="Text 33"/>
          <p:cNvSpPr txBox="1"/>
          <p:nvPr/>
        </p:nvSpPr>
        <p:spPr>
          <a:xfrm>
            <a:off x="8023631" y="416052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#20</a:t>
            </a:r>
            <a:endParaRPr lang="en-US" sz="1200" dirty="0"/>
          </a:p>
        </p:txBody>
      </p:sp>
      <p:sp>
        <p:nvSpPr>
          <p:cNvPr id="43" name="Text 34"/>
          <p:cNvSpPr txBox="1"/>
          <p:nvPr/>
        </p:nvSpPr>
        <p:spPr>
          <a:xfrm>
            <a:off x="6461608" y="4754880"/>
            <a:ext cx="2110664" cy="548640"/>
          </a:xfrm>
          <a:prstGeom prst="rect">
            <a:avLst/>
          </a:prstGeom>
          <a:noFill/>
          <a:ln/>
        </p:spPr>
        <p:txBody>
          <a:bodyPr wrap="square" lIns="0" tIns="0" rIns="0" bIns="0" rtlCol="0" anchor="t"/>
          <a:lstStyle/>
          <a:p>
            <a:pPr indent="0" marL="0">
              <a:buNone/>
            </a:pPr>
            <a:r>
              <a:rPr lang="en-US" sz="1600" b="1" dirty="0">
                <a:solidFill>
                  <a:schemeClr val="tx2"/>
                </a:solidFill>
              </a:rPr>
              <a:t>Auto-tagging with review</a:t>
            </a:r>
            <a:endParaRPr lang="en-US" sz="1600" dirty="0"/>
          </a:p>
        </p:txBody>
      </p:sp>
      <p:sp>
        <p:nvSpPr>
          <p:cNvPr id="44" name="Text 35"/>
          <p:cNvSpPr txBox="1"/>
          <p:nvPr/>
        </p:nvSpPr>
        <p:spPr>
          <a:xfrm>
            <a:off x="6461608" y="5349240"/>
            <a:ext cx="2110664" cy="731520"/>
          </a:xfrm>
          <a:prstGeom prst="rect">
            <a:avLst/>
          </a:prstGeom>
          <a:noFill/>
          <a:ln/>
        </p:spPr>
        <p:txBody>
          <a:bodyPr wrap="square" lIns="0" tIns="0" rIns="0" bIns="0" rtlCol="0" anchor="t"/>
          <a:lstStyle/>
          <a:p>
            <a:pPr indent="0" marL="0">
              <a:buNone/>
            </a:pPr>
            <a:r>
              <a:rPr lang="en-US" sz="1400" dirty="0">
                <a:solidFill>
                  <a:schemeClr val="tx1"/>
                </a:solidFill>
              </a:rPr>
              <a:t>Low-confidence items go to a Needs Review queue</a:t>
            </a:r>
            <a:endParaRPr lang="en-US" sz="1400" dirty="0"/>
          </a:p>
        </p:txBody>
      </p:sp>
      <p:sp>
        <p:nvSpPr>
          <p:cNvPr id="45" name="Met card #27"/>
          <p:cNvSpPr/>
          <p:nvPr/>
        </p:nvSpPr>
        <p:spPr>
          <a:xfrm>
            <a:off x="9075191" y="3886200"/>
            <a:ext cx="2567864" cy="2286000"/>
          </a:xfrm>
          <a:prstGeom prst="roundRect">
            <a:avLst>
              <a:gd name="adj" fmla="val 3200"/>
            </a:avLst>
          </a:prstGeom>
          <a:solidFill>
            <a:schemeClr val="bg2"/>
          </a:solidFill>
          <a:ln/>
        </p:spPr>
      </p:sp>
      <p:sp>
        <p:nvSpPr>
          <p:cNvPr id="46" name="Duplicate detection circle"/>
          <p:cNvSpPr/>
          <p:nvPr/>
        </p:nvSpPr>
        <p:spPr>
          <a:xfrm>
            <a:off x="9303791" y="4114800"/>
            <a:ext cx="548640" cy="548640"/>
          </a:xfrm>
          <a:prstGeom prst="ellipse">
            <a:avLst/>
          </a:prstGeom>
          <a:solidFill>
            <a:schemeClr val="accent3"/>
          </a:solidFill>
          <a:ln/>
        </p:spPr>
      </p:sp>
      <p:pic>
        <p:nvPicPr>
          <p:cNvPr id="47" name="Duplicate detection icon" descr="Duplicate detection">    </p:cNvPr>
          <p:cNvPicPr>
            <a:picLocks noChangeAspect="1"/>
          </p:cNvPicPr>
          <p:nvPr/>
        </p:nvPicPr>
        <p:blipFill>
          <a:blip r:embed="rId8"/>
          <a:stretch>
            <a:fillRect/>
          </a:stretch>
        </p:blipFill>
        <p:spPr>
          <a:xfrm>
            <a:off x="9440951" y="4251960"/>
            <a:ext cx="274320" cy="274320"/>
          </a:xfrm>
          <a:prstGeom prst="rect">
            <a:avLst/>
          </a:prstGeom>
        </p:spPr>
      </p:pic>
      <p:sp>
        <p:nvSpPr>
          <p:cNvPr id="48" name="Text 38"/>
          <p:cNvSpPr txBox="1"/>
          <p:nvPr/>
        </p:nvSpPr>
        <p:spPr>
          <a:xfrm>
            <a:off x="10865815" y="416052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#27</a:t>
            </a:r>
            <a:endParaRPr lang="en-US" sz="1200" dirty="0"/>
          </a:p>
        </p:txBody>
      </p:sp>
      <p:sp>
        <p:nvSpPr>
          <p:cNvPr id="49" name="Text 39"/>
          <p:cNvSpPr txBox="1"/>
          <p:nvPr/>
        </p:nvSpPr>
        <p:spPr>
          <a:xfrm>
            <a:off x="9303791" y="4754880"/>
            <a:ext cx="2110664" cy="548640"/>
          </a:xfrm>
          <a:prstGeom prst="rect">
            <a:avLst/>
          </a:prstGeom>
          <a:noFill/>
          <a:ln/>
        </p:spPr>
        <p:txBody>
          <a:bodyPr wrap="square" lIns="0" tIns="0" rIns="0" bIns="0" rtlCol="0" anchor="t"/>
          <a:lstStyle/>
          <a:p>
            <a:pPr indent="0" marL="0">
              <a:buNone/>
            </a:pPr>
            <a:r>
              <a:rPr lang="en-US" sz="1600" b="1" dirty="0">
                <a:solidFill>
                  <a:schemeClr val="tx2"/>
                </a:solidFill>
              </a:rPr>
              <a:t>Duplicate detection</a:t>
            </a:r>
            <a:endParaRPr lang="en-US" sz="1600" dirty="0"/>
          </a:p>
        </p:txBody>
      </p:sp>
      <p:sp>
        <p:nvSpPr>
          <p:cNvPr id="50" name="Text 40"/>
          <p:cNvSpPr txBox="1"/>
          <p:nvPr/>
        </p:nvSpPr>
        <p:spPr>
          <a:xfrm>
            <a:off x="9303791" y="5349240"/>
            <a:ext cx="2110664" cy="731520"/>
          </a:xfrm>
          <a:prstGeom prst="rect">
            <a:avLst/>
          </a:prstGeom>
          <a:noFill/>
          <a:ln/>
        </p:spPr>
        <p:txBody>
          <a:bodyPr wrap="square" lIns="0" tIns="0" rIns="0" bIns="0" rtlCol="0" anchor="t"/>
          <a:lstStyle/>
          <a:p>
            <a:pPr indent="0" marL="0">
              <a:buNone/>
            </a:pPr>
            <a:r>
              <a:rPr lang="en-US" sz="1400" dirty="0">
                <a:solidFill>
                  <a:schemeClr val="tx1"/>
                </a:solidFill>
              </a:rPr>
              <a:t>Exact and near-duplicates flagged, plus contradictions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We've built more than the EKP asks for</a:t>
            </a:r>
            <a:endParaRPr lang="en-US" sz="3200" dirty="0"/>
          </a:p>
        </p:txBody>
      </p:sp>
      <p:sp>
        <p:nvSpPr>
          <p:cNvPr id="3" name="Expert Discovery circle"/>
          <p:cNvSpPr/>
          <p:nvPr/>
        </p:nvSpPr>
        <p:spPr>
          <a:xfrm>
            <a:off x="548640" y="1417320"/>
            <a:ext cx="502920" cy="502920"/>
          </a:xfrm>
          <a:prstGeom prst="ellipse">
            <a:avLst/>
          </a:prstGeom>
          <a:solidFill>
            <a:schemeClr val="accent1"/>
          </a:solidFill>
          <a:ln/>
        </p:spPr>
      </p:sp>
      <p:pic>
        <p:nvPicPr>
          <p:cNvPr id="4" name="Expert Discovery icon" descr="Expert Discovery">    </p:cNvPr>
          <p:cNvPicPr>
            <a:picLocks noChangeAspect="1"/>
          </p:cNvPicPr>
          <p:nvPr/>
        </p:nvPicPr>
        <p:blipFill>
          <a:blip r:embed="rId1"/>
          <a:stretch>
            <a:fillRect/>
          </a:stretch>
        </p:blipFill>
        <p:spPr>
          <a:xfrm>
            <a:off x="674370" y="1543050"/>
            <a:ext cx="251460" cy="251460"/>
          </a:xfrm>
          <a:prstGeom prst="rect">
            <a:avLst/>
          </a:prstGeom>
        </p:spPr>
      </p:pic>
      <p:sp>
        <p:nvSpPr>
          <p:cNvPr id="5" name="Text 2"/>
          <p:cNvSpPr txBox="1"/>
          <p:nvPr/>
        </p:nvSpPr>
        <p:spPr>
          <a:xfrm>
            <a:off x="1280160" y="1371600"/>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Expert Discovery</a:t>
            </a:r>
            <a:endParaRPr lang="en-US" sz="1700" dirty="0"/>
          </a:p>
          <a:p>
            <a:pPr indent="0" marL="0">
              <a:buNone/>
            </a:pPr>
            <a:r>
              <a:rPr lang="en-US" sz="1400" dirty="0">
                <a:solidFill>
                  <a:schemeClr val="tx1"/>
                </a:solidFill>
              </a:rPr>
              <a:t>Who knows what, inferred from real activity</a:t>
            </a:r>
            <a:endParaRPr lang="en-US" sz="1700" dirty="0"/>
          </a:p>
        </p:txBody>
      </p:sp>
      <p:sp>
        <p:nvSpPr>
          <p:cNvPr id="6" name="Decision Intelligence circle"/>
          <p:cNvSpPr/>
          <p:nvPr/>
        </p:nvSpPr>
        <p:spPr>
          <a:xfrm>
            <a:off x="548640" y="2084832"/>
            <a:ext cx="502920" cy="502920"/>
          </a:xfrm>
          <a:prstGeom prst="ellipse">
            <a:avLst/>
          </a:prstGeom>
          <a:solidFill>
            <a:schemeClr val="accent1"/>
          </a:solidFill>
          <a:ln/>
        </p:spPr>
      </p:sp>
      <p:pic>
        <p:nvPicPr>
          <p:cNvPr id="7" name="Decision Intelligence icon" descr="Decision Intelligence">    </p:cNvPr>
          <p:cNvPicPr>
            <a:picLocks noChangeAspect="1"/>
          </p:cNvPicPr>
          <p:nvPr/>
        </p:nvPicPr>
        <p:blipFill>
          <a:blip r:embed="rId2"/>
          <a:stretch>
            <a:fillRect/>
          </a:stretch>
        </p:blipFill>
        <p:spPr>
          <a:xfrm>
            <a:off x="674370" y="2210562"/>
            <a:ext cx="251460" cy="251460"/>
          </a:xfrm>
          <a:prstGeom prst="rect">
            <a:avLst/>
          </a:prstGeom>
        </p:spPr>
      </p:pic>
      <p:sp>
        <p:nvSpPr>
          <p:cNvPr id="8" name="Text 4"/>
          <p:cNvSpPr txBox="1"/>
          <p:nvPr/>
        </p:nvSpPr>
        <p:spPr>
          <a:xfrm>
            <a:off x="1280160" y="2039112"/>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Decision Intelligence</a:t>
            </a:r>
            <a:endParaRPr lang="en-US" sz="1700" dirty="0"/>
          </a:p>
          <a:p>
            <a:pPr indent="0" marL="0">
              <a:buNone/>
            </a:pPr>
            <a:r>
              <a:rPr lang="en-US" sz="1400" dirty="0">
                <a:solidFill>
                  <a:schemeClr val="tx1"/>
                </a:solidFill>
              </a:rPr>
              <a:t>Extracted decisions with human review</a:t>
            </a:r>
            <a:endParaRPr lang="en-US" sz="1700" dirty="0"/>
          </a:p>
        </p:txBody>
      </p:sp>
      <p:sp>
        <p:nvSpPr>
          <p:cNvPr id="9" name="Lessons Learned circle"/>
          <p:cNvSpPr/>
          <p:nvPr/>
        </p:nvSpPr>
        <p:spPr>
          <a:xfrm>
            <a:off x="548640" y="2752344"/>
            <a:ext cx="502920" cy="502920"/>
          </a:xfrm>
          <a:prstGeom prst="ellipse">
            <a:avLst/>
          </a:prstGeom>
          <a:solidFill>
            <a:schemeClr val="accent1"/>
          </a:solidFill>
          <a:ln/>
        </p:spPr>
      </p:sp>
      <p:pic>
        <p:nvPicPr>
          <p:cNvPr id="10" name="Lessons Learned icon" descr="Lessons Learned">    </p:cNvPr>
          <p:cNvPicPr>
            <a:picLocks noChangeAspect="1"/>
          </p:cNvPicPr>
          <p:nvPr/>
        </p:nvPicPr>
        <p:blipFill>
          <a:blip r:embed="rId3"/>
          <a:stretch>
            <a:fillRect/>
          </a:stretch>
        </p:blipFill>
        <p:spPr>
          <a:xfrm>
            <a:off x="674370" y="2878074"/>
            <a:ext cx="251460" cy="251460"/>
          </a:xfrm>
          <a:prstGeom prst="rect">
            <a:avLst/>
          </a:prstGeom>
        </p:spPr>
      </p:pic>
      <p:sp>
        <p:nvSpPr>
          <p:cNvPr id="11" name="Text 6"/>
          <p:cNvSpPr txBox="1"/>
          <p:nvPr/>
        </p:nvSpPr>
        <p:spPr>
          <a:xfrm>
            <a:off x="1280160" y="2706624"/>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Lessons Learned</a:t>
            </a:r>
            <a:endParaRPr lang="en-US" sz="1700" dirty="0"/>
          </a:p>
          <a:p>
            <a:pPr indent="0" marL="0">
              <a:buNone/>
            </a:pPr>
            <a:r>
              <a:rPr lang="en-US" sz="1400" dirty="0">
                <a:solidFill>
                  <a:schemeClr val="tx1"/>
                </a:solidFill>
              </a:rPr>
              <a:t>AI-drafted lessons, published by a reviewer</a:t>
            </a:r>
            <a:endParaRPr lang="en-US" sz="1700" dirty="0"/>
          </a:p>
        </p:txBody>
      </p:sp>
      <p:sp>
        <p:nvSpPr>
          <p:cNvPr id="12" name="Contradiction detection circle"/>
          <p:cNvSpPr/>
          <p:nvPr/>
        </p:nvSpPr>
        <p:spPr>
          <a:xfrm>
            <a:off x="548640" y="3419856"/>
            <a:ext cx="502920" cy="502920"/>
          </a:xfrm>
          <a:prstGeom prst="ellipse">
            <a:avLst/>
          </a:prstGeom>
          <a:solidFill>
            <a:schemeClr val="accent1"/>
          </a:solidFill>
          <a:ln/>
        </p:spPr>
      </p:sp>
      <p:pic>
        <p:nvPicPr>
          <p:cNvPr id="13" name="Contradiction detection icon" descr="Contradiction detection">    </p:cNvPr>
          <p:cNvPicPr>
            <a:picLocks noChangeAspect="1"/>
          </p:cNvPicPr>
          <p:nvPr/>
        </p:nvPicPr>
        <p:blipFill>
          <a:blip r:embed="rId4"/>
          <a:stretch>
            <a:fillRect/>
          </a:stretch>
        </p:blipFill>
        <p:spPr>
          <a:xfrm>
            <a:off x="674370" y="3545586"/>
            <a:ext cx="251460" cy="251460"/>
          </a:xfrm>
          <a:prstGeom prst="rect">
            <a:avLst/>
          </a:prstGeom>
        </p:spPr>
      </p:pic>
      <p:sp>
        <p:nvSpPr>
          <p:cNvPr id="14" name="Text 8"/>
          <p:cNvSpPr txBox="1"/>
          <p:nvPr/>
        </p:nvSpPr>
        <p:spPr>
          <a:xfrm>
            <a:off x="1280160" y="3374136"/>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Contradiction detection</a:t>
            </a:r>
            <a:endParaRPr lang="en-US" sz="1700" dirty="0"/>
          </a:p>
          <a:p>
            <a:pPr indent="0" marL="0">
              <a:buNone/>
            </a:pPr>
            <a:r>
              <a:rPr lang="en-US" sz="1400" dirty="0">
                <a:solidFill>
                  <a:schemeClr val="tx1"/>
                </a:solidFill>
              </a:rPr>
              <a:t>Flags documents that disagree with each other</a:t>
            </a:r>
            <a:endParaRPr lang="en-US" sz="1700" dirty="0"/>
          </a:p>
        </p:txBody>
      </p:sp>
      <p:sp>
        <p:nvSpPr>
          <p:cNvPr id="15" name="Knowledge-gap detection circle"/>
          <p:cNvSpPr/>
          <p:nvPr/>
        </p:nvSpPr>
        <p:spPr>
          <a:xfrm>
            <a:off x="548640" y="4087368"/>
            <a:ext cx="502920" cy="502920"/>
          </a:xfrm>
          <a:prstGeom prst="ellipse">
            <a:avLst/>
          </a:prstGeom>
          <a:solidFill>
            <a:schemeClr val="accent1"/>
          </a:solidFill>
          <a:ln/>
        </p:spPr>
      </p:sp>
      <p:pic>
        <p:nvPicPr>
          <p:cNvPr id="16" name="Knowledge-gap detection icon" descr="Knowledge-gap detection">    </p:cNvPr>
          <p:cNvPicPr>
            <a:picLocks noChangeAspect="1"/>
          </p:cNvPicPr>
          <p:nvPr/>
        </p:nvPicPr>
        <p:blipFill>
          <a:blip r:embed="rId5"/>
          <a:stretch>
            <a:fillRect/>
          </a:stretch>
        </p:blipFill>
        <p:spPr>
          <a:xfrm>
            <a:off x="674370" y="4213098"/>
            <a:ext cx="251460" cy="251460"/>
          </a:xfrm>
          <a:prstGeom prst="rect">
            <a:avLst/>
          </a:prstGeom>
        </p:spPr>
      </p:pic>
      <p:sp>
        <p:nvSpPr>
          <p:cNvPr id="17" name="Text 10"/>
          <p:cNvSpPr txBox="1"/>
          <p:nvPr/>
        </p:nvSpPr>
        <p:spPr>
          <a:xfrm>
            <a:off x="1280160" y="4041648"/>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Knowledge-gap detection</a:t>
            </a:r>
            <a:endParaRPr lang="en-US" sz="1700" dirty="0"/>
          </a:p>
          <a:p>
            <a:pPr indent="0" marL="0">
              <a:buNone/>
            </a:pPr>
            <a:r>
              <a:rPr lang="en-US" sz="1400" dirty="0">
                <a:solidFill>
                  <a:schemeClr val="tx1"/>
                </a:solidFill>
              </a:rPr>
              <a:t>Topics people ask about but can't get answered</a:t>
            </a:r>
            <a:endParaRPr lang="en-US" sz="1700" dirty="0"/>
          </a:p>
        </p:txBody>
      </p:sp>
      <p:sp>
        <p:nvSpPr>
          <p:cNvPr id="18" name="Topic Evolution circle"/>
          <p:cNvSpPr/>
          <p:nvPr/>
        </p:nvSpPr>
        <p:spPr>
          <a:xfrm>
            <a:off x="548640" y="4754880"/>
            <a:ext cx="502920" cy="502920"/>
          </a:xfrm>
          <a:prstGeom prst="ellipse">
            <a:avLst/>
          </a:prstGeom>
          <a:solidFill>
            <a:schemeClr val="accent1"/>
          </a:solidFill>
          <a:ln/>
        </p:spPr>
      </p:sp>
      <p:pic>
        <p:nvPicPr>
          <p:cNvPr id="19" name="Topic Evolution icon" descr="Topic Evolution">    </p:cNvPr>
          <p:cNvPicPr>
            <a:picLocks noChangeAspect="1"/>
          </p:cNvPicPr>
          <p:nvPr/>
        </p:nvPicPr>
        <p:blipFill>
          <a:blip r:embed="rId6"/>
          <a:stretch>
            <a:fillRect/>
          </a:stretch>
        </p:blipFill>
        <p:spPr>
          <a:xfrm>
            <a:off x="674370" y="4880610"/>
            <a:ext cx="251460" cy="251460"/>
          </a:xfrm>
          <a:prstGeom prst="rect">
            <a:avLst/>
          </a:prstGeom>
        </p:spPr>
      </p:pic>
      <p:sp>
        <p:nvSpPr>
          <p:cNvPr id="20" name="Text 12"/>
          <p:cNvSpPr txBox="1"/>
          <p:nvPr/>
        </p:nvSpPr>
        <p:spPr>
          <a:xfrm>
            <a:off x="1280160" y="4709160"/>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Topic Evolution</a:t>
            </a:r>
            <a:endParaRPr lang="en-US" sz="1700" dirty="0"/>
          </a:p>
          <a:p>
            <a:pPr indent="0" marL="0">
              <a:buNone/>
            </a:pPr>
            <a:r>
              <a:rPr lang="en-US" sz="1400" dirty="0">
                <a:solidFill>
                  <a:schemeClr val="tx1"/>
                </a:solidFill>
              </a:rPr>
              <a:t>How organizational knowledge shifts over time</a:t>
            </a:r>
            <a:endParaRPr lang="en-US" sz="1700" dirty="0"/>
          </a:p>
        </p:txBody>
      </p:sp>
      <p:sp>
        <p:nvSpPr>
          <p:cNvPr id="21" name="Automatic topic discovery circle"/>
          <p:cNvSpPr/>
          <p:nvPr/>
        </p:nvSpPr>
        <p:spPr>
          <a:xfrm>
            <a:off x="548640" y="5422392"/>
            <a:ext cx="502920" cy="502920"/>
          </a:xfrm>
          <a:prstGeom prst="ellipse">
            <a:avLst/>
          </a:prstGeom>
          <a:solidFill>
            <a:schemeClr val="accent1"/>
          </a:solidFill>
          <a:ln/>
        </p:spPr>
      </p:sp>
      <p:pic>
        <p:nvPicPr>
          <p:cNvPr id="22" name="Automatic topic discovery icon" descr="Automatic topic discovery">    </p:cNvPr>
          <p:cNvPicPr>
            <a:picLocks noChangeAspect="1"/>
          </p:cNvPicPr>
          <p:nvPr/>
        </p:nvPicPr>
        <p:blipFill>
          <a:blip r:embed="rId7"/>
          <a:stretch>
            <a:fillRect/>
          </a:stretch>
        </p:blipFill>
        <p:spPr>
          <a:xfrm>
            <a:off x="674370" y="5548122"/>
            <a:ext cx="251460" cy="251460"/>
          </a:xfrm>
          <a:prstGeom prst="rect">
            <a:avLst/>
          </a:prstGeom>
        </p:spPr>
      </p:pic>
      <p:sp>
        <p:nvSpPr>
          <p:cNvPr id="23" name="Text 14"/>
          <p:cNvSpPr txBox="1"/>
          <p:nvPr/>
        </p:nvSpPr>
        <p:spPr>
          <a:xfrm>
            <a:off x="1280160" y="5376672"/>
            <a:ext cx="6583680" cy="621792"/>
          </a:xfrm>
          <a:prstGeom prst="rect">
            <a:avLst/>
          </a:prstGeom>
          <a:noFill/>
          <a:ln/>
        </p:spPr>
        <p:txBody>
          <a:bodyPr wrap="square" lIns="0" tIns="0" rIns="0" bIns="0" rtlCol="0" anchor="ctr"/>
          <a:lstStyle/>
          <a:p>
            <a:pPr indent="0" marL="0">
              <a:buNone/>
            </a:pPr>
            <a:r>
              <a:rPr lang="en-US" sz="1700" b="1" dirty="0">
                <a:solidFill>
                  <a:schemeClr val="tx2"/>
                </a:solidFill>
              </a:rPr>
              <a:t>Automatic topic discovery</a:t>
            </a:r>
            <a:endParaRPr lang="en-US" sz="1700" dirty="0"/>
          </a:p>
          <a:p>
            <a:pPr indent="0" marL="0">
              <a:buNone/>
            </a:pPr>
            <a:r>
              <a:rPr lang="en-US" sz="1400" dirty="0">
                <a:solidFill>
                  <a:schemeClr val="tx1"/>
                </a:solidFill>
              </a:rPr>
              <a:t>A self-organizing topic structure</a:t>
            </a:r>
            <a:endParaRPr lang="en-US" sz="1700" dirty="0"/>
          </a:p>
        </p:txBody>
      </p:sp>
      <p:sp>
        <p:nvSpPr>
          <p:cNvPr id="24" name="Callout card"/>
          <p:cNvSpPr/>
          <p:nvPr/>
        </p:nvSpPr>
        <p:spPr>
          <a:xfrm>
            <a:off x="8229600" y="1417320"/>
            <a:ext cx="3413455" cy="4526280"/>
          </a:xfrm>
          <a:prstGeom prst="roundRect">
            <a:avLst>
              <a:gd name="adj" fmla="val 2143"/>
            </a:avLst>
          </a:prstGeom>
          <a:solidFill>
            <a:schemeClr val="tx2"/>
          </a:solidFill>
          <a:ln/>
        </p:spPr>
      </p:sp>
      <p:sp>
        <p:nvSpPr>
          <p:cNvPr id="25" name="Text 16"/>
          <p:cNvSpPr txBox="1"/>
          <p:nvPr/>
        </p:nvSpPr>
        <p:spPr>
          <a:xfrm>
            <a:off x="8595360" y="1737360"/>
            <a:ext cx="2681935" cy="365760"/>
          </a:xfrm>
          <a:prstGeom prst="rect">
            <a:avLst/>
          </a:prstGeom>
          <a:noFill/>
          <a:ln/>
        </p:spPr>
        <p:txBody>
          <a:bodyPr wrap="square" lIns="0" tIns="0" rIns="0" bIns="0" rtlCol="0" anchor="t"/>
          <a:lstStyle/>
          <a:p>
            <a:pPr indent="0" marL="0">
              <a:buNone/>
            </a:pPr>
            <a:r>
              <a:rPr lang="en-US" sz="1600" dirty="0">
                <a:solidFill>
                  <a:schemeClr val="bg2"/>
                </a:solidFill>
              </a:rPr>
              <a:t>Counts toward the EKP score</a:t>
            </a:r>
            <a:endParaRPr lang="en-US" sz="1600" dirty="0"/>
          </a:p>
        </p:txBody>
      </p:sp>
      <p:sp>
        <p:nvSpPr>
          <p:cNvPr id="26" name="Text 17"/>
          <p:cNvSpPr txBox="1"/>
          <p:nvPr/>
        </p:nvSpPr>
        <p:spPr>
          <a:xfrm>
            <a:off x="8595360" y="2148840"/>
            <a:ext cx="2681935" cy="1188720"/>
          </a:xfrm>
          <a:prstGeom prst="rect">
            <a:avLst/>
          </a:prstGeom>
          <a:noFill/>
          <a:ln/>
        </p:spPr>
        <p:txBody>
          <a:bodyPr wrap="square" lIns="0" tIns="0" rIns="0" bIns="0" rtlCol="0" anchor="t"/>
          <a:lstStyle/>
          <a:p>
            <a:pPr indent="0" marL="0">
              <a:buNone/>
            </a:pPr>
            <a:r>
              <a:rPr lang="en-US" sz="8000" b="1" dirty="0">
                <a:solidFill>
                  <a:schemeClr val="accent1"/>
                </a:solidFill>
                <a:latin typeface="Cambria" pitchFamily="34" charset="0"/>
                <a:ea typeface="Cambria" pitchFamily="34" charset="-122"/>
                <a:cs typeface="Cambria" pitchFamily="34" charset="-120"/>
              </a:rPr>
              <a:t>0</a:t>
            </a:r>
            <a:endParaRPr lang="en-US" sz="8000" dirty="0"/>
          </a:p>
        </p:txBody>
      </p:sp>
      <p:sp>
        <p:nvSpPr>
          <p:cNvPr id="27" name="Text 18"/>
          <p:cNvSpPr txBox="1"/>
          <p:nvPr/>
        </p:nvSpPr>
        <p:spPr>
          <a:xfrm>
            <a:off x="8595360" y="3474720"/>
            <a:ext cx="2681935" cy="2194560"/>
          </a:xfrm>
          <a:prstGeom prst="rect">
            <a:avLst/>
          </a:prstGeom>
          <a:noFill/>
          <a:ln/>
        </p:spPr>
        <p:txBody>
          <a:bodyPr wrap="square" lIns="0" tIns="0" rIns="0" bIns="0" rtlCol="0" anchor="t"/>
          <a:lstStyle/>
          <a:p>
            <a:pPr indent="0" marL="0">
              <a:buNone/>
            </a:pPr>
            <a:r>
              <a:rPr lang="en-US" sz="1600" dirty="0">
                <a:solidFill>
                  <a:schemeClr val="bg1"/>
                </a:solidFill>
              </a:rPr>
              <a:t>These strengthen the product and our story with NYPA, but none of them closes an EKP requirement. EKP progress is measured only by the 32 requirements.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18 partials: mechanism built, depth missing</a:t>
            </a:r>
            <a:endParaRPr lang="en-US" sz="3200" dirty="0"/>
          </a:p>
        </p:txBody>
      </p:sp>
      <p:graphicFrame>
        <p:nvGraphicFramePr>
          <p:cNvPr id="9" name="Partial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4206240"/>
                <a:gridCol w="4510735"/>
              </a:tblGrid>
              <a:tr h="411480">
                <a:tc>
                  <a:txBody>
                    <a:bodyPr/>
                    <a:lstStyle/>
                    <a:p>
                      <a:pPr algn="l" indent="0" marL="0">
                        <a:buNone/>
                      </a:pPr>
                      <a:r>
                        <a:rPr lang="en-US" sz="1400" b="1" dirty="0">
                          <a:solidFill>
                            <a:srgbClr val="FFFFFF"/>
                          </a:solidFill>
                        </a:rPr>
                        <a:t>Theme</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rPr>
                        <a:t>What we have</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400" b="1" dirty="0">
                          <a:solidFill>
                            <a:srgbClr val="FFFFFF"/>
                          </a:solidFill>
                        </a:rPr>
                        <a:t>What's missing</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713232">
                <a:tc>
                  <a:txBody>
                    <a:bodyPr/>
                    <a:lstStyle/>
                    <a:p>
                      <a:pPr indent="0" marL="0">
                        <a:buNone/>
                      </a:pPr>
                      <a:r>
                        <a:rPr lang="en-US" sz="1400" b="1" dirty="0">
                          <a:solidFill>
                            <a:schemeClr val="tx2"/>
                          </a:solidFill>
                        </a:rPr>
                        <a:t>Search &amp; navigation</a:t>
                      </a:r>
                      <a:endParaRPr lang="en-US" sz="1400" dirty="0"/>
                    </a:p>
                    <a:p>
                      <a:pPr indent="0" marL="0">
                        <a:buNone/>
                      </a:pPr>
                      <a:r>
                        <a:rPr lang="en-US" sz="1200" dirty="0">
                          <a:solidFill>
                            <a:schemeClr val="accent5"/>
                          </a:solidFill>
                        </a:rPr>
                        <a:t>#2–4</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Hybrid search, SharePoint file sync, repository filters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Per-file SharePoint permissions, ontology-driven relevance, taxonomy facets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713232">
                <a:tc>
                  <a:txBody>
                    <a:bodyPr/>
                    <a:lstStyle/>
                    <a:p>
                      <a:pPr indent="0" marL="0">
                        <a:buNone/>
                      </a:pPr>
                      <a:r>
                        <a:rPr lang="en-US" sz="1400" b="1" dirty="0">
                          <a:solidFill>
                            <a:schemeClr val="tx2"/>
                          </a:solidFill>
                        </a:rPr>
                        <a:t>Governance</a:t>
                      </a:r>
                      <a:endParaRPr lang="en-US" sz="1400" dirty="0"/>
                    </a:p>
                    <a:p>
                      <a:pPr indent="0" marL="0">
                        <a:buNone/>
                      </a:pPr>
                      <a:r>
                        <a:rPr lang="en-US" sz="1200" dirty="0">
                          <a:solidFill>
                            <a:schemeClr val="accent5"/>
                          </a:solidFill>
                        </a:rPr>
                        <a:t>#22–24, #26</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Draft → publish → archive → retire; stale-content suggestions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Configurable stages and approvers, version history, owners, audit of changes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713232">
                <a:tc>
                  <a:txBody>
                    <a:bodyPr/>
                    <a:lstStyle/>
                    <a:p>
                      <a:pPr indent="0" marL="0">
                        <a:buNone/>
                      </a:pPr>
                      <a:r>
                        <a:rPr lang="en-US" sz="1400" b="1" dirty="0">
                          <a:solidFill>
                            <a:schemeClr val="tx2"/>
                          </a:solidFill>
                        </a:rPr>
                        <a:t>Metadata</a:t>
                      </a:r>
                      <a:endParaRPr lang="en-US" sz="1400" dirty="0"/>
                    </a:p>
                    <a:p>
                      <a:pPr indent="0" marL="0">
                        <a:buNone/>
                      </a:pPr>
                      <a:r>
                        <a:rPr lang="en-US" sz="1200" dirty="0">
                          <a:solidFill>
                            <a:schemeClr val="accent5"/>
                          </a:solidFill>
                        </a:rPr>
                        <a:t>#19, #21</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AI summaries; confidence-gated classification</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Human review of summaries; required-field rules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713232">
                <a:tc>
                  <a:txBody>
                    <a:bodyPr/>
                    <a:lstStyle/>
                    <a:p>
                      <a:pPr indent="0" marL="0">
                        <a:buNone/>
                      </a:pPr>
                      <a:r>
                        <a:rPr lang="en-US" sz="1400" b="1" dirty="0">
                          <a:solidFill>
                            <a:schemeClr val="tx2"/>
                          </a:solidFill>
                        </a:rPr>
                        <a:t>Analytics</a:t>
                      </a:r>
                      <a:endParaRPr lang="en-US" sz="1400" dirty="0"/>
                    </a:p>
                    <a:p>
                      <a:pPr indent="0" marL="0">
                        <a:buNone/>
                      </a:pPr>
                      <a:r>
                        <a:rPr lang="en-US" sz="1200" dirty="0">
                          <a:solidFill>
                            <a:schemeClr val="accent5"/>
                          </a:solidFill>
                        </a:rPr>
                        <a:t>#28–30</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Questions, views and knowledge gaps captured</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Usage, search-quality and content-health dashboards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713232">
                <a:tc>
                  <a:txBody>
                    <a:bodyPr/>
                    <a:lstStyle/>
                    <a:p>
                      <a:pPr indent="0" marL="0">
                        <a:buNone/>
                      </a:pPr>
                      <a:r>
                        <a:rPr lang="en-US" sz="1400" b="1" dirty="0">
                          <a:solidFill>
                            <a:schemeClr val="tx2"/>
                          </a:solidFill>
                        </a:rPr>
                        <a:t>Content</a:t>
                      </a:r>
                      <a:endParaRPr lang="en-US" sz="1400" dirty="0"/>
                    </a:p>
                    <a:p>
                      <a:pPr indent="0" marL="0">
                        <a:buNone/>
                      </a:pPr>
                      <a:r>
                        <a:rPr lang="en-US" sz="1200" dirty="0">
                          <a:solidFill>
                            <a:schemeClr val="accent5"/>
                          </a:solidFill>
                        </a:rPr>
                        <a:t>#11, #13</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PDF (with OCR), DOCX, spreadsheets, TXT; in-app viewer</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PPTX, images, video; thumbnails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713232">
                <a:tc>
                  <a:txBody>
                    <a:bodyPr/>
                    <a:lstStyle/>
                    <a:p>
                      <a:pPr indent="0" marL="0">
                        <a:buNone/>
                      </a:pPr>
                      <a:r>
                        <a:rPr lang="en-US" sz="1400" b="1" dirty="0">
                          <a:solidFill>
                            <a:schemeClr val="tx2"/>
                          </a:solidFill>
                        </a:rPr>
                        <a:t>Experience &amp; M365</a:t>
                      </a:r>
                      <a:endParaRPr lang="en-US" sz="1400" dirty="0"/>
                    </a:p>
                    <a:p>
                      <a:pPr indent="0" marL="0">
                        <a:buNone/>
                      </a:pPr>
                      <a:r>
                        <a:rPr lang="en-US" sz="1200" dirty="0">
                          <a:solidFill>
                            <a:schemeClr val="accent5"/>
                          </a:solidFill>
                        </a:rPr>
                        <a:t>#1, #5, #10, #32</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Dashboard, starred docs, confidence rating, SharePoint read access</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400" dirty="0">
                          <a:solidFill>
                            <a:schemeClr val="tx1"/>
                          </a:solidFill>
                        </a:rPr>
                        <a:t>Custom landing page, saved searches, explainable scores, SSO</a:t>
                      </a:r>
                      <a:endParaRPr lang="en-US" sz="14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6 requirements have nothing built yet</a:t>
            </a:r>
            <a:endParaRPr lang="en-US" sz="3200" dirty="0"/>
          </a:p>
        </p:txBody>
      </p:sp>
      <p:sp>
        <p:nvSpPr>
          <p:cNvPr id="3" name="Gap card #12"/>
          <p:cNvSpPr/>
          <p:nvPr/>
        </p:nvSpPr>
        <p:spPr>
          <a:xfrm>
            <a:off x="548640" y="1417320"/>
            <a:ext cx="3484778" cy="2286000"/>
          </a:xfrm>
          <a:prstGeom prst="roundRect">
            <a:avLst>
              <a:gd name="adj" fmla="val 3200"/>
            </a:avLst>
          </a:prstGeom>
          <a:solidFill>
            <a:schemeClr val="bg2"/>
          </a:solidFill>
          <a:ln/>
        </p:spPr>
      </p:sp>
      <p:sp>
        <p:nvSpPr>
          <p:cNvPr id="4" name="SharePoint site pages &amp; wikis circle"/>
          <p:cNvSpPr/>
          <p:nvPr/>
        </p:nvSpPr>
        <p:spPr>
          <a:xfrm>
            <a:off x="822960" y="1691640"/>
            <a:ext cx="548640" cy="548640"/>
          </a:xfrm>
          <a:prstGeom prst="ellipse">
            <a:avLst/>
          </a:prstGeom>
          <a:solidFill>
            <a:schemeClr val="accent4"/>
          </a:solidFill>
          <a:ln/>
        </p:spPr>
      </p:sp>
      <p:pic>
        <p:nvPicPr>
          <p:cNvPr id="5" name="SharePoint site pages &amp; wikis icon" descr="SharePoint site pages &amp; wikis">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3210458" y="173736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#12</a:t>
            </a:r>
            <a:endParaRPr lang="en-US" sz="1200" dirty="0"/>
          </a:p>
        </p:txBody>
      </p:sp>
      <p:sp>
        <p:nvSpPr>
          <p:cNvPr id="7" name="Text 4"/>
          <p:cNvSpPr txBox="1"/>
          <p:nvPr/>
        </p:nvSpPr>
        <p:spPr>
          <a:xfrm>
            <a:off x="822960" y="2331720"/>
            <a:ext cx="2936138" cy="594360"/>
          </a:xfrm>
          <a:prstGeom prst="rect">
            <a:avLst/>
          </a:prstGeom>
          <a:noFill/>
          <a:ln/>
        </p:spPr>
        <p:txBody>
          <a:bodyPr wrap="square" lIns="0" tIns="0" rIns="0" bIns="0" rtlCol="0" anchor="t"/>
          <a:lstStyle/>
          <a:p>
            <a:pPr indent="0" marL="0">
              <a:buNone/>
            </a:pPr>
            <a:r>
              <a:rPr lang="en-US" sz="1700" b="1" dirty="0">
                <a:solidFill>
                  <a:schemeClr val="tx2"/>
                </a:solidFill>
              </a:rPr>
              <a:t>SharePoint site pages &amp; wikis</a:t>
            </a:r>
            <a:endParaRPr lang="en-US" sz="1700" dirty="0"/>
          </a:p>
        </p:txBody>
      </p:sp>
      <p:sp>
        <p:nvSpPr>
          <p:cNvPr id="8" name="Text 5"/>
          <p:cNvSpPr txBox="1"/>
          <p:nvPr/>
        </p:nvSpPr>
        <p:spPr>
          <a:xfrm>
            <a:off x="822960" y="2971800"/>
            <a:ext cx="2936138" cy="640080"/>
          </a:xfrm>
          <a:prstGeom prst="rect">
            <a:avLst/>
          </a:prstGeom>
          <a:noFill/>
          <a:ln/>
        </p:spPr>
        <p:txBody>
          <a:bodyPr wrap="square" lIns="0" tIns="0" rIns="0" bIns="0" rtlCol="0" anchor="t"/>
          <a:lstStyle/>
          <a:p>
            <a:pPr indent="0" marL="0">
              <a:buNone/>
            </a:pPr>
            <a:r>
              <a:rPr lang="en-US" sz="1500" dirty="0">
                <a:solidFill>
                  <a:schemeClr val="tx1"/>
                </a:solidFill>
              </a:rPr>
              <a:t>Only SharePoint drive files are synced today</a:t>
            </a:r>
            <a:endParaRPr lang="en-US" sz="1500" dirty="0"/>
          </a:p>
        </p:txBody>
      </p:sp>
      <p:sp>
        <p:nvSpPr>
          <p:cNvPr id="9" name="Gap card #14"/>
          <p:cNvSpPr/>
          <p:nvPr/>
        </p:nvSpPr>
        <p:spPr>
          <a:xfrm>
            <a:off x="4353458" y="1417320"/>
            <a:ext cx="3484778" cy="2286000"/>
          </a:xfrm>
          <a:prstGeom prst="roundRect">
            <a:avLst>
              <a:gd name="adj" fmla="val 3200"/>
            </a:avLst>
          </a:prstGeom>
          <a:solidFill>
            <a:schemeClr val="bg2"/>
          </a:solidFill>
          <a:ln/>
        </p:spPr>
      </p:sp>
      <p:sp>
        <p:nvSpPr>
          <p:cNvPr id="10" name="Knowledge asset templates circle"/>
          <p:cNvSpPr/>
          <p:nvPr/>
        </p:nvSpPr>
        <p:spPr>
          <a:xfrm>
            <a:off x="4627778" y="1691640"/>
            <a:ext cx="548640" cy="548640"/>
          </a:xfrm>
          <a:prstGeom prst="ellipse">
            <a:avLst/>
          </a:prstGeom>
          <a:solidFill>
            <a:schemeClr val="accent4"/>
          </a:solidFill>
          <a:ln/>
        </p:spPr>
      </p:sp>
      <p:pic>
        <p:nvPicPr>
          <p:cNvPr id="11" name="Knowledge asset templates icon" descr="Knowledge asset templates">    </p:cNvPr>
          <p:cNvPicPr>
            <a:picLocks noChangeAspect="1"/>
          </p:cNvPicPr>
          <p:nvPr/>
        </p:nvPicPr>
        <p:blipFill>
          <a:blip r:embed="rId2"/>
          <a:stretch>
            <a:fillRect/>
          </a:stretch>
        </p:blipFill>
        <p:spPr>
          <a:xfrm>
            <a:off x="4764938" y="1828800"/>
            <a:ext cx="274320" cy="274320"/>
          </a:xfrm>
          <a:prstGeom prst="rect">
            <a:avLst/>
          </a:prstGeom>
        </p:spPr>
      </p:pic>
      <p:sp>
        <p:nvSpPr>
          <p:cNvPr id="12" name="Text 8"/>
          <p:cNvSpPr txBox="1"/>
          <p:nvPr/>
        </p:nvSpPr>
        <p:spPr>
          <a:xfrm>
            <a:off x="7015277" y="173736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#14</a:t>
            </a:r>
            <a:endParaRPr lang="en-US" sz="1200" dirty="0"/>
          </a:p>
        </p:txBody>
      </p:sp>
      <p:sp>
        <p:nvSpPr>
          <p:cNvPr id="13" name="Text 9"/>
          <p:cNvSpPr txBox="1"/>
          <p:nvPr/>
        </p:nvSpPr>
        <p:spPr>
          <a:xfrm>
            <a:off x="4627778" y="2331720"/>
            <a:ext cx="2936138" cy="594360"/>
          </a:xfrm>
          <a:prstGeom prst="rect">
            <a:avLst/>
          </a:prstGeom>
          <a:noFill/>
          <a:ln/>
        </p:spPr>
        <p:txBody>
          <a:bodyPr wrap="square" lIns="0" tIns="0" rIns="0" bIns="0" rtlCol="0" anchor="t"/>
          <a:lstStyle/>
          <a:p>
            <a:pPr indent="0" marL="0">
              <a:buNone/>
            </a:pPr>
            <a:r>
              <a:rPr lang="en-US" sz="1700" b="1" dirty="0">
                <a:solidFill>
                  <a:schemeClr val="tx2"/>
                </a:solidFill>
              </a:rPr>
              <a:t>Knowledge asset templates</a:t>
            </a:r>
            <a:endParaRPr lang="en-US" sz="1700" dirty="0"/>
          </a:p>
        </p:txBody>
      </p:sp>
      <p:sp>
        <p:nvSpPr>
          <p:cNvPr id="14" name="Text 10"/>
          <p:cNvSpPr txBox="1"/>
          <p:nvPr/>
        </p:nvSpPr>
        <p:spPr>
          <a:xfrm>
            <a:off x="4627778" y="2971800"/>
            <a:ext cx="2936138" cy="640080"/>
          </a:xfrm>
          <a:prstGeom prst="rect">
            <a:avLst/>
          </a:prstGeom>
          <a:noFill/>
          <a:ln/>
        </p:spPr>
        <p:txBody>
          <a:bodyPr wrap="square" lIns="0" tIns="0" rIns="0" bIns="0" rtlCol="0" anchor="t"/>
          <a:lstStyle/>
          <a:p>
            <a:pPr indent="0" marL="0">
              <a:buNone/>
            </a:pPr>
            <a:r>
              <a:rPr lang="en-US" sz="1500" dirty="0">
                <a:solidFill>
                  <a:schemeClr val="tx1"/>
                </a:solidFill>
              </a:rPr>
              <a:t>No templates for FAQs, How-To guides or SOPs</a:t>
            </a:r>
            <a:endParaRPr lang="en-US" sz="1500" dirty="0"/>
          </a:p>
        </p:txBody>
      </p:sp>
      <p:sp>
        <p:nvSpPr>
          <p:cNvPr id="15" name="Gap card #15"/>
          <p:cNvSpPr/>
          <p:nvPr/>
        </p:nvSpPr>
        <p:spPr>
          <a:xfrm>
            <a:off x="8158277" y="1417320"/>
            <a:ext cx="3484778" cy="2286000"/>
          </a:xfrm>
          <a:prstGeom prst="roundRect">
            <a:avLst>
              <a:gd name="adj" fmla="val 3200"/>
            </a:avLst>
          </a:prstGeom>
          <a:solidFill>
            <a:schemeClr val="bg2"/>
          </a:solidFill>
          <a:ln/>
        </p:spPr>
      </p:sp>
      <p:sp>
        <p:nvSpPr>
          <p:cNvPr id="16" name="Managed metadata circle"/>
          <p:cNvSpPr/>
          <p:nvPr/>
        </p:nvSpPr>
        <p:spPr>
          <a:xfrm>
            <a:off x="8432597" y="1691640"/>
            <a:ext cx="548640" cy="548640"/>
          </a:xfrm>
          <a:prstGeom prst="ellipse">
            <a:avLst/>
          </a:prstGeom>
          <a:solidFill>
            <a:schemeClr val="accent4"/>
          </a:solidFill>
          <a:ln/>
        </p:spPr>
      </p:sp>
      <p:pic>
        <p:nvPicPr>
          <p:cNvPr id="17" name="Managed metadata icon" descr="Managed metadata">    </p:cNvPr>
          <p:cNvPicPr>
            <a:picLocks noChangeAspect="1"/>
          </p:cNvPicPr>
          <p:nvPr/>
        </p:nvPicPr>
        <p:blipFill>
          <a:blip r:embed="rId3"/>
          <a:stretch>
            <a:fillRect/>
          </a:stretch>
        </p:blipFill>
        <p:spPr>
          <a:xfrm>
            <a:off x="8569757" y="1828800"/>
            <a:ext cx="274320" cy="274320"/>
          </a:xfrm>
          <a:prstGeom prst="rect">
            <a:avLst/>
          </a:prstGeom>
        </p:spPr>
      </p:pic>
      <p:sp>
        <p:nvSpPr>
          <p:cNvPr id="18" name="Text 13"/>
          <p:cNvSpPr txBox="1"/>
          <p:nvPr/>
        </p:nvSpPr>
        <p:spPr>
          <a:xfrm>
            <a:off x="10820095" y="173736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#15</a:t>
            </a:r>
            <a:endParaRPr lang="en-US" sz="1200" dirty="0"/>
          </a:p>
        </p:txBody>
      </p:sp>
      <p:sp>
        <p:nvSpPr>
          <p:cNvPr id="19" name="Text 14"/>
          <p:cNvSpPr txBox="1"/>
          <p:nvPr/>
        </p:nvSpPr>
        <p:spPr>
          <a:xfrm>
            <a:off x="8432597" y="2331720"/>
            <a:ext cx="2936138" cy="594360"/>
          </a:xfrm>
          <a:prstGeom prst="rect">
            <a:avLst/>
          </a:prstGeom>
          <a:noFill/>
          <a:ln/>
        </p:spPr>
        <p:txBody>
          <a:bodyPr wrap="square" lIns="0" tIns="0" rIns="0" bIns="0" rtlCol="0" anchor="t"/>
          <a:lstStyle/>
          <a:p>
            <a:pPr indent="0" marL="0">
              <a:buNone/>
            </a:pPr>
            <a:r>
              <a:rPr lang="en-US" sz="1700" b="1" dirty="0">
                <a:solidFill>
                  <a:schemeClr val="tx2"/>
                </a:solidFill>
              </a:rPr>
              <a:t>Managed metadata</a:t>
            </a:r>
            <a:endParaRPr lang="en-US" sz="1700" dirty="0"/>
          </a:p>
        </p:txBody>
      </p:sp>
      <p:sp>
        <p:nvSpPr>
          <p:cNvPr id="20" name="Text 15"/>
          <p:cNvSpPr txBox="1"/>
          <p:nvPr/>
        </p:nvSpPr>
        <p:spPr>
          <a:xfrm>
            <a:off x="8432597" y="2971800"/>
            <a:ext cx="2936138" cy="640080"/>
          </a:xfrm>
          <a:prstGeom prst="rect">
            <a:avLst/>
          </a:prstGeom>
          <a:noFill/>
          <a:ln/>
        </p:spPr>
        <p:txBody>
          <a:bodyPr wrap="square" lIns="0" tIns="0" rIns="0" bIns="0" rtlCol="0" anchor="t"/>
          <a:lstStyle/>
          <a:p>
            <a:pPr indent="0" marL="0">
              <a:buNone/>
            </a:pPr>
            <a:r>
              <a:rPr lang="en-US" sz="1500" dirty="0">
                <a:solidFill>
                  <a:schemeClr val="tx1"/>
                </a:solidFill>
              </a:rPr>
              <a:t>Categories are a fixed list of 7, with no hierarchy or synonyms</a:t>
            </a:r>
            <a:endParaRPr lang="en-US" sz="1500" dirty="0"/>
          </a:p>
        </p:txBody>
      </p:sp>
      <p:sp>
        <p:nvSpPr>
          <p:cNvPr id="21" name="Gap card #16"/>
          <p:cNvSpPr/>
          <p:nvPr/>
        </p:nvSpPr>
        <p:spPr>
          <a:xfrm>
            <a:off x="548640" y="3886200"/>
            <a:ext cx="3484778" cy="2286000"/>
          </a:xfrm>
          <a:prstGeom prst="roundRect">
            <a:avLst>
              <a:gd name="adj" fmla="val 3200"/>
            </a:avLst>
          </a:prstGeom>
          <a:solidFill>
            <a:schemeClr val="bg2"/>
          </a:solidFill>
          <a:ln/>
        </p:spPr>
      </p:sp>
      <p:sp>
        <p:nvSpPr>
          <p:cNvPr id="22" name="Taxonomy-tool integration circle"/>
          <p:cNvSpPr/>
          <p:nvPr/>
        </p:nvSpPr>
        <p:spPr>
          <a:xfrm>
            <a:off x="822960" y="4160520"/>
            <a:ext cx="548640" cy="548640"/>
          </a:xfrm>
          <a:prstGeom prst="ellipse">
            <a:avLst/>
          </a:prstGeom>
          <a:solidFill>
            <a:schemeClr val="accent4"/>
          </a:solidFill>
          <a:ln/>
        </p:spPr>
      </p:sp>
      <p:pic>
        <p:nvPicPr>
          <p:cNvPr id="23" name="Taxonomy-tool integration icon" descr="Taxonomy-tool integration">    </p:cNvPr>
          <p:cNvPicPr>
            <a:picLocks noChangeAspect="1"/>
          </p:cNvPicPr>
          <p:nvPr/>
        </p:nvPicPr>
        <p:blipFill>
          <a:blip r:embed="rId4"/>
          <a:stretch>
            <a:fillRect/>
          </a:stretch>
        </p:blipFill>
        <p:spPr>
          <a:xfrm>
            <a:off x="960120" y="4297680"/>
            <a:ext cx="274320" cy="274320"/>
          </a:xfrm>
          <a:prstGeom prst="rect">
            <a:avLst/>
          </a:prstGeom>
        </p:spPr>
      </p:pic>
      <p:sp>
        <p:nvSpPr>
          <p:cNvPr id="24" name="Text 18"/>
          <p:cNvSpPr txBox="1"/>
          <p:nvPr/>
        </p:nvSpPr>
        <p:spPr>
          <a:xfrm>
            <a:off x="3210458" y="42062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#16</a:t>
            </a:r>
            <a:endParaRPr lang="en-US" sz="1200" dirty="0"/>
          </a:p>
        </p:txBody>
      </p:sp>
      <p:sp>
        <p:nvSpPr>
          <p:cNvPr id="25" name="Text 19"/>
          <p:cNvSpPr txBox="1"/>
          <p:nvPr/>
        </p:nvSpPr>
        <p:spPr>
          <a:xfrm>
            <a:off x="822960" y="4800600"/>
            <a:ext cx="2936138" cy="594360"/>
          </a:xfrm>
          <a:prstGeom prst="rect">
            <a:avLst/>
          </a:prstGeom>
          <a:noFill/>
          <a:ln/>
        </p:spPr>
        <p:txBody>
          <a:bodyPr wrap="square" lIns="0" tIns="0" rIns="0" bIns="0" rtlCol="0" anchor="t"/>
          <a:lstStyle/>
          <a:p>
            <a:pPr indent="0" marL="0">
              <a:buNone/>
            </a:pPr>
            <a:r>
              <a:rPr lang="en-US" sz="1700" b="1" dirty="0">
                <a:solidFill>
                  <a:schemeClr val="tx2"/>
                </a:solidFill>
              </a:rPr>
              <a:t>Taxonomy-tool integration</a:t>
            </a:r>
            <a:endParaRPr lang="en-US" sz="1700" dirty="0"/>
          </a:p>
        </p:txBody>
      </p:sp>
      <p:sp>
        <p:nvSpPr>
          <p:cNvPr id="26" name="Text 20"/>
          <p:cNvSpPr txBox="1"/>
          <p:nvPr/>
        </p:nvSpPr>
        <p:spPr>
          <a:xfrm>
            <a:off x="822960" y="5440680"/>
            <a:ext cx="2936138" cy="640080"/>
          </a:xfrm>
          <a:prstGeom prst="rect">
            <a:avLst/>
          </a:prstGeom>
          <a:noFill/>
          <a:ln/>
        </p:spPr>
        <p:txBody>
          <a:bodyPr wrap="square" lIns="0" tIns="0" rIns="0" bIns="0" rtlCol="0" anchor="t"/>
          <a:lstStyle/>
          <a:p>
            <a:pPr indent="0" marL="0">
              <a:buNone/>
            </a:pPr>
            <a:r>
              <a:rPr lang="en-US" sz="1500" dirty="0">
                <a:solidFill>
                  <a:schemeClr val="tx1"/>
                </a:solidFill>
              </a:rPr>
              <a:t>No link to NYPA's taxonomy or ontology tool</a:t>
            </a:r>
            <a:endParaRPr lang="en-US" sz="1500" dirty="0"/>
          </a:p>
        </p:txBody>
      </p:sp>
      <p:sp>
        <p:nvSpPr>
          <p:cNvPr id="27" name="Gap card #25"/>
          <p:cNvSpPr/>
          <p:nvPr/>
        </p:nvSpPr>
        <p:spPr>
          <a:xfrm>
            <a:off x="4353458" y="3886200"/>
            <a:ext cx="3484778" cy="2286000"/>
          </a:xfrm>
          <a:prstGeom prst="roundRect">
            <a:avLst>
              <a:gd name="adj" fmla="val 3200"/>
            </a:avLst>
          </a:prstGeom>
          <a:solidFill>
            <a:schemeClr val="bg2"/>
          </a:solidFill>
          <a:ln/>
        </p:spPr>
      </p:sp>
      <p:sp>
        <p:nvSpPr>
          <p:cNvPr id="28" name="Configurable review workflows circle"/>
          <p:cNvSpPr/>
          <p:nvPr/>
        </p:nvSpPr>
        <p:spPr>
          <a:xfrm>
            <a:off x="4627778" y="4160520"/>
            <a:ext cx="548640" cy="548640"/>
          </a:xfrm>
          <a:prstGeom prst="ellipse">
            <a:avLst/>
          </a:prstGeom>
          <a:solidFill>
            <a:schemeClr val="accent4"/>
          </a:solidFill>
          <a:ln/>
        </p:spPr>
      </p:sp>
      <p:pic>
        <p:nvPicPr>
          <p:cNvPr id="29" name="Configurable review workflows icon" descr="Configurable review workflows">    </p:cNvPr>
          <p:cNvPicPr>
            <a:picLocks noChangeAspect="1"/>
          </p:cNvPicPr>
          <p:nvPr/>
        </p:nvPicPr>
        <p:blipFill>
          <a:blip r:embed="rId5"/>
          <a:stretch>
            <a:fillRect/>
          </a:stretch>
        </p:blipFill>
        <p:spPr>
          <a:xfrm>
            <a:off x="4764938" y="4297680"/>
            <a:ext cx="274320" cy="274320"/>
          </a:xfrm>
          <a:prstGeom prst="rect">
            <a:avLst/>
          </a:prstGeom>
        </p:spPr>
      </p:pic>
      <p:sp>
        <p:nvSpPr>
          <p:cNvPr id="30" name="Text 23"/>
          <p:cNvSpPr txBox="1"/>
          <p:nvPr/>
        </p:nvSpPr>
        <p:spPr>
          <a:xfrm>
            <a:off x="7015277" y="42062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#25</a:t>
            </a:r>
            <a:endParaRPr lang="en-US" sz="1200" dirty="0"/>
          </a:p>
        </p:txBody>
      </p:sp>
      <p:sp>
        <p:nvSpPr>
          <p:cNvPr id="31" name="Text 24"/>
          <p:cNvSpPr txBox="1"/>
          <p:nvPr/>
        </p:nvSpPr>
        <p:spPr>
          <a:xfrm>
            <a:off x="4627778" y="4800600"/>
            <a:ext cx="2936138" cy="594360"/>
          </a:xfrm>
          <a:prstGeom prst="rect">
            <a:avLst/>
          </a:prstGeom>
          <a:noFill/>
          <a:ln/>
        </p:spPr>
        <p:txBody>
          <a:bodyPr wrap="square" lIns="0" tIns="0" rIns="0" bIns="0" rtlCol="0" anchor="t"/>
          <a:lstStyle/>
          <a:p>
            <a:pPr indent="0" marL="0">
              <a:buNone/>
            </a:pPr>
            <a:r>
              <a:rPr lang="en-US" sz="1700" b="1" dirty="0">
                <a:solidFill>
                  <a:schemeClr val="tx2"/>
                </a:solidFill>
              </a:rPr>
              <a:t>Configurable review workflows</a:t>
            </a:r>
            <a:endParaRPr lang="en-US" sz="1700" dirty="0"/>
          </a:p>
        </p:txBody>
      </p:sp>
      <p:sp>
        <p:nvSpPr>
          <p:cNvPr id="32" name="Text 25"/>
          <p:cNvSpPr txBox="1"/>
          <p:nvPr/>
        </p:nvSpPr>
        <p:spPr>
          <a:xfrm>
            <a:off x="4627778" y="5440680"/>
            <a:ext cx="2936138" cy="640080"/>
          </a:xfrm>
          <a:prstGeom prst="rect">
            <a:avLst/>
          </a:prstGeom>
          <a:noFill/>
          <a:ln/>
        </p:spPr>
        <p:txBody>
          <a:bodyPr wrap="square" lIns="0" tIns="0" rIns="0" bIns="0" rtlCol="0" anchor="t"/>
          <a:lstStyle/>
          <a:p>
            <a:pPr indent="0" marL="0">
              <a:buNone/>
            </a:pPr>
            <a:r>
              <a:rPr lang="en-US" sz="1500" dirty="0">
                <a:solidFill>
                  <a:schemeClr val="tx1"/>
                </a:solidFill>
              </a:rPr>
              <a:t>Review flows are fixed in code</a:t>
            </a:r>
            <a:endParaRPr lang="en-US" sz="1500" dirty="0"/>
          </a:p>
        </p:txBody>
      </p:sp>
      <p:sp>
        <p:nvSpPr>
          <p:cNvPr id="33" name="Gap card #31"/>
          <p:cNvSpPr/>
          <p:nvPr/>
        </p:nvSpPr>
        <p:spPr>
          <a:xfrm>
            <a:off x="8158277" y="3886200"/>
            <a:ext cx="3484778" cy="2286000"/>
          </a:xfrm>
          <a:prstGeom prst="roundRect">
            <a:avLst>
              <a:gd name="adj" fmla="val 3200"/>
            </a:avLst>
          </a:prstGeom>
          <a:solidFill>
            <a:schemeClr val="bg2"/>
          </a:solidFill>
          <a:ln/>
        </p:spPr>
      </p:sp>
      <p:sp>
        <p:nvSpPr>
          <p:cNvPr id="34" name="Governance metrics circle"/>
          <p:cNvSpPr/>
          <p:nvPr/>
        </p:nvSpPr>
        <p:spPr>
          <a:xfrm>
            <a:off x="8432597" y="4160520"/>
            <a:ext cx="548640" cy="548640"/>
          </a:xfrm>
          <a:prstGeom prst="ellipse">
            <a:avLst/>
          </a:prstGeom>
          <a:solidFill>
            <a:schemeClr val="accent4"/>
          </a:solidFill>
          <a:ln/>
        </p:spPr>
      </p:sp>
      <p:pic>
        <p:nvPicPr>
          <p:cNvPr id="35" name="Governance metrics icon" descr="Governance metrics">    </p:cNvPr>
          <p:cNvPicPr>
            <a:picLocks noChangeAspect="1"/>
          </p:cNvPicPr>
          <p:nvPr/>
        </p:nvPicPr>
        <p:blipFill>
          <a:blip r:embed="rId6"/>
          <a:stretch>
            <a:fillRect/>
          </a:stretch>
        </p:blipFill>
        <p:spPr>
          <a:xfrm>
            <a:off x="8569757" y="4297680"/>
            <a:ext cx="274320" cy="274320"/>
          </a:xfrm>
          <a:prstGeom prst="rect">
            <a:avLst/>
          </a:prstGeom>
        </p:spPr>
      </p:pic>
      <p:sp>
        <p:nvSpPr>
          <p:cNvPr id="36" name="Text 28"/>
          <p:cNvSpPr txBox="1"/>
          <p:nvPr/>
        </p:nvSpPr>
        <p:spPr>
          <a:xfrm>
            <a:off x="10820095" y="4206240"/>
            <a:ext cx="548640" cy="274320"/>
          </a:xfrm>
          <a:prstGeom prst="rect">
            <a:avLst/>
          </a:prstGeom>
          <a:noFill/>
          <a:ln/>
        </p:spPr>
        <p:txBody>
          <a:bodyPr wrap="square" lIns="0" tIns="0" rIns="0" bIns="0" rtlCol="0" anchor="t"/>
          <a:lstStyle/>
          <a:p>
            <a:pPr algn="r" indent="0" marL="0">
              <a:buNone/>
            </a:pPr>
            <a:r>
              <a:rPr lang="en-US" sz="1200" b="1" dirty="0">
                <a:solidFill>
                  <a:schemeClr val="accent5"/>
                </a:solidFill>
              </a:rPr>
              <a:t>#31</a:t>
            </a:r>
            <a:endParaRPr lang="en-US" sz="1200" dirty="0"/>
          </a:p>
        </p:txBody>
      </p:sp>
      <p:sp>
        <p:nvSpPr>
          <p:cNvPr id="37" name="Text 29"/>
          <p:cNvSpPr txBox="1"/>
          <p:nvPr/>
        </p:nvSpPr>
        <p:spPr>
          <a:xfrm>
            <a:off x="8432597" y="4800600"/>
            <a:ext cx="2936138" cy="594360"/>
          </a:xfrm>
          <a:prstGeom prst="rect">
            <a:avLst/>
          </a:prstGeom>
          <a:noFill/>
          <a:ln/>
        </p:spPr>
        <p:txBody>
          <a:bodyPr wrap="square" lIns="0" tIns="0" rIns="0" bIns="0" rtlCol="0" anchor="t"/>
          <a:lstStyle/>
          <a:p>
            <a:pPr indent="0" marL="0">
              <a:buNone/>
            </a:pPr>
            <a:r>
              <a:rPr lang="en-US" sz="1700" b="1" dirty="0">
                <a:solidFill>
                  <a:schemeClr val="tx2"/>
                </a:solidFill>
              </a:rPr>
              <a:t>Governance metrics</a:t>
            </a:r>
            <a:endParaRPr lang="en-US" sz="1700" dirty="0"/>
          </a:p>
        </p:txBody>
      </p:sp>
      <p:sp>
        <p:nvSpPr>
          <p:cNvPr id="38" name="Text 30"/>
          <p:cNvSpPr txBox="1"/>
          <p:nvPr/>
        </p:nvSpPr>
        <p:spPr>
          <a:xfrm>
            <a:off x="8432597" y="5440680"/>
            <a:ext cx="2936138" cy="640080"/>
          </a:xfrm>
          <a:prstGeom prst="rect">
            <a:avLst/>
          </a:prstGeom>
          <a:noFill/>
          <a:ln/>
        </p:spPr>
        <p:txBody>
          <a:bodyPr wrap="square" lIns="0" tIns="0" rIns="0" bIns="0" rtlCol="0" anchor="t"/>
          <a:lstStyle/>
          <a:p>
            <a:pPr indent="0" marL="0">
              <a:buNone/>
            </a:pPr>
            <a:r>
              <a:rPr lang="en-US" sz="1500" dirty="0">
                <a:solidFill>
                  <a:schemeClr val="tx1"/>
                </a:solidFill>
              </a:rPr>
              <a:t>No reporting on review or validation compliance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Five risks would hurt most in front of NYPA</a:t>
            </a:r>
            <a:endParaRPr lang="en-US" sz="3200" dirty="0"/>
          </a:p>
        </p:txBody>
      </p:sp>
      <p:sp>
        <p:nvSpPr>
          <p:cNvPr id="3" name="Risk 1 card"/>
          <p:cNvSpPr/>
          <p:nvPr/>
        </p:nvSpPr>
        <p:spPr>
          <a:xfrm>
            <a:off x="548640" y="1371600"/>
            <a:ext cx="11094415" cy="841248"/>
          </a:xfrm>
          <a:prstGeom prst="roundRect">
            <a:avLst>
              <a:gd name="adj" fmla="val 8696"/>
            </a:avLst>
          </a:prstGeom>
          <a:solidFill>
            <a:schemeClr val="bg2"/>
          </a:solidFill>
          <a:ln/>
        </p:spPr>
      </p:sp>
      <p:sp>
        <p:nvSpPr>
          <p:cNvPr id="4" name="Risk 1 circle"/>
          <p:cNvSpPr/>
          <p:nvPr/>
        </p:nvSpPr>
        <p:spPr>
          <a:xfrm>
            <a:off x="777240" y="1517904"/>
            <a:ext cx="548640" cy="548640"/>
          </a:xfrm>
          <a:prstGeom prst="ellipse">
            <a:avLst/>
          </a:prstGeom>
          <a:solidFill>
            <a:schemeClr val="accent4"/>
          </a:solidFill>
          <a:ln/>
        </p:spPr>
      </p:sp>
      <p:sp>
        <p:nvSpPr>
          <p:cNvPr id="5" name="Risk 1 number"/>
          <p:cNvSpPr txBox="1"/>
          <p:nvPr/>
        </p:nvSpPr>
        <p:spPr>
          <a:xfrm>
            <a:off x="777240" y="15179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54480" y="1371600"/>
            <a:ext cx="3749040" cy="841248"/>
          </a:xfrm>
          <a:prstGeom prst="rect">
            <a:avLst/>
          </a:prstGeom>
          <a:noFill/>
          <a:ln/>
        </p:spPr>
        <p:txBody>
          <a:bodyPr wrap="square" lIns="0" tIns="0" rIns="0" bIns="0" rtlCol="0" anchor="ctr"/>
          <a:lstStyle/>
          <a:p>
            <a:pPr indent="0" marL="0">
              <a:buNone/>
            </a:pPr>
            <a:r>
              <a:rPr lang="en-US" sz="1800" b="1" dirty="0">
                <a:solidFill>
                  <a:schemeClr val="tx2"/>
                </a:solidFill>
              </a:rPr>
              <a:t>SharePoint permissions not inherited</a:t>
            </a:r>
            <a:endParaRPr lang="en-US" sz="1800" dirty="0"/>
          </a:p>
        </p:txBody>
      </p:sp>
      <p:sp>
        <p:nvSpPr>
          <p:cNvPr id="7" name="Text 5"/>
          <p:cNvSpPr txBox="1"/>
          <p:nvPr/>
        </p:nvSpPr>
        <p:spPr>
          <a:xfrm>
            <a:off x="5394960" y="1371600"/>
            <a:ext cx="5973775" cy="841248"/>
          </a:xfrm>
          <a:prstGeom prst="rect">
            <a:avLst/>
          </a:prstGeom>
          <a:noFill/>
          <a:ln/>
        </p:spPr>
        <p:txBody>
          <a:bodyPr wrap="square" lIns="0" tIns="0" rIns="0" bIns="0" rtlCol="0" anchor="ctr"/>
          <a:lstStyle/>
          <a:p>
            <a:pPr indent="0" marL="0">
              <a:buNone/>
            </a:pPr>
            <a:r>
              <a:rPr lang="en-US" sz="1500" dirty="0">
                <a:solidFill>
                  <a:schemeClr val="tx1"/>
                </a:solidFill>
              </a:rPr>
              <a:t>SharePoint is the only mandatory requirement, and our proposal promised permission inheritance. Today access is mapped per site, not per file.</a:t>
            </a:r>
            <a:endParaRPr lang="en-US" sz="1500" dirty="0"/>
          </a:p>
        </p:txBody>
      </p:sp>
      <p:sp>
        <p:nvSpPr>
          <p:cNvPr id="8" name="Risk 2 card"/>
          <p:cNvSpPr/>
          <p:nvPr/>
        </p:nvSpPr>
        <p:spPr>
          <a:xfrm>
            <a:off x="548640" y="2340864"/>
            <a:ext cx="11094415" cy="841248"/>
          </a:xfrm>
          <a:prstGeom prst="roundRect">
            <a:avLst>
              <a:gd name="adj" fmla="val 8696"/>
            </a:avLst>
          </a:prstGeom>
          <a:solidFill>
            <a:schemeClr val="bg2"/>
          </a:solidFill>
          <a:ln/>
        </p:spPr>
      </p:sp>
      <p:sp>
        <p:nvSpPr>
          <p:cNvPr id="9" name="Risk 2 circle"/>
          <p:cNvSpPr/>
          <p:nvPr/>
        </p:nvSpPr>
        <p:spPr>
          <a:xfrm>
            <a:off x="777240" y="2487168"/>
            <a:ext cx="548640" cy="548640"/>
          </a:xfrm>
          <a:prstGeom prst="ellipse">
            <a:avLst/>
          </a:prstGeom>
          <a:solidFill>
            <a:schemeClr val="accent4"/>
          </a:solidFill>
          <a:ln/>
        </p:spPr>
      </p:sp>
      <p:sp>
        <p:nvSpPr>
          <p:cNvPr id="10" name="Risk 2 number"/>
          <p:cNvSpPr txBox="1"/>
          <p:nvPr/>
        </p:nvSpPr>
        <p:spPr>
          <a:xfrm>
            <a:off x="777240" y="24871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554480" y="2340864"/>
            <a:ext cx="3749040" cy="841248"/>
          </a:xfrm>
          <a:prstGeom prst="rect">
            <a:avLst/>
          </a:prstGeom>
          <a:noFill/>
          <a:ln/>
        </p:spPr>
        <p:txBody>
          <a:bodyPr wrap="square" lIns="0" tIns="0" rIns="0" bIns="0" rtlCol="0" anchor="ctr"/>
          <a:lstStyle/>
          <a:p>
            <a:pPr indent="0" marL="0">
              <a:buNone/>
            </a:pPr>
            <a:r>
              <a:rPr lang="en-US" sz="1800" b="1" dirty="0">
                <a:solidFill>
                  <a:schemeClr val="tx2"/>
                </a:solidFill>
              </a:rPr>
              <a:t>No single sign-on</a:t>
            </a:r>
            <a:endParaRPr lang="en-US" sz="1800" dirty="0"/>
          </a:p>
        </p:txBody>
      </p:sp>
      <p:sp>
        <p:nvSpPr>
          <p:cNvPr id="12" name="Text 10"/>
          <p:cNvSpPr txBox="1"/>
          <p:nvPr/>
        </p:nvSpPr>
        <p:spPr>
          <a:xfrm>
            <a:off x="5394960" y="2340864"/>
            <a:ext cx="5973775" cy="841248"/>
          </a:xfrm>
          <a:prstGeom prst="rect">
            <a:avLst/>
          </a:prstGeom>
          <a:noFill/>
          <a:ln/>
        </p:spPr>
        <p:txBody>
          <a:bodyPr wrap="square" lIns="0" tIns="0" rIns="0" bIns="0" rtlCol="0" anchor="ctr"/>
          <a:lstStyle/>
          <a:p>
            <a:pPr indent="0" marL="0">
              <a:buNone/>
            </a:pPr>
            <a:r>
              <a:rPr lang="en-US" sz="1500" dirty="0">
                <a:solidFill>
                  <a:schemeClr val="tx1"/>
                </a:solidFill>
              </a:rPr>
              <a:t>Login is email/password or OTP. No Entra ID / M365 sign-in.</a:t>
            </a:r>
            <a:endParaRPr lang="en-US" sz="1500" dirty="0"/>
          </a:p>
        </p:txBody>
      </p:sp>
      <p:sp>
        <p:nvSpPr>
          <p:cNvPr id="13" name="Risk 3 card"/>
          <p:cNvSpPr/>
          <p:nvPr/>
        </p:nvSpPr>
        <p:spPr>
          <a:xfrm>
            <a:off x="548640" y="3310128"/>
            <a:ext cx="11094415" cy="841248"/>
          </a:xfrm>
          <a:prstGeom prst="roundRect">
            <a:avLst>
              <a:gd name="adj" fmla="val 8696"/>
            </a:avLst>
          </a:prstGeom>
          <a:solidFill>
            <a:schemeClr val="bg2"/>
          </a:solidFill>
          <a:ln/>
        </p:spPr>
      </p:sp>
      <p:sp>
        <p:nvSpPr>
          <p:cNvPr id="14" name="Risk 3 circle"/>
          <p:cNvSpPr/>
          <p:nvPr/>
        </p:nvSpPr>
        <p:spPr>
          <a:xfrm>
            <a:off x="777240" y="3456432"/>
            <a:ext cx="548640" cy="548640"/>
          </a:xfrm>
          <a:prstGeom prst="ellipse">
            <a:avLst/>
          </a:prstGeom>
          <a:solidFill>
            <a:schemeClr val="accent4"/>
          </a:solidFill>
          <a:ln/>
        </p:spPr>
      </p:sp>
      <p:sp>
        <p:nvSpPr>
          <p:cNvPr id="15" name="Risk 3 number"/>
          <p:cNvSpPr txBox="1"/>
          <p:nvPr/>
        </p:nvSpPr>
        <p:spPr>
          <a:xfrm>
            <a:off x="777240" y="345643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554480" y="3310128"/>
            <a:ext cx="3749040" cy="841248"/>
          </a:xfrm>
          <a:prstGeom prst="rect">
            <a:avLst/>
          </a:prstGeom>
          <a:noFill/>
          <a:ln/>
        </p:spPr>
        <p:txBody>
          <a:bodyPr wrap="square" lIns="0" tIns="0" rIns="0" bIns="0" rtlCol="0" anchor="ctr"/>
          <a:lstStyle/>
          <a:p>
            <a:pPr indent="0" marL="0">
              <a:buNone/>
            </a:pPr>
            <a:r>
              <a:rPr lang="en-US" sz="1800" b="1" dirty="0">
                <a:solidFill>
                  <a:schemeClr val="tx2"/>
                </a:solidFill>
              </a:rPr>
              <a:t>Incomplete audit trail</a:t>
            </a:r>
            <a:endParaRPr lang="en-US" sz="1800" dirty="0"/>
          </a:p>
        </p:txBody>
      </p:sp>
      <p:sp>
        <p:nvSpPr>
          <p:cNvPr id="17" name="Text 15"/>
          <p:cNvSpPr txBox="1"/>
          <p:nvPr/>
        </p:nvSpPr>
        <p:spPr>
          <a:xfrm>
            <a:off x="5394960" y="3310128"/>
            <a:ext cx="5973775" cy="841248"/>
          </a:xfrm>
          <a:prstGeom prst="rect">
            <a:avLst/>
          </a:prstGeom>
          <a:noFill/>
          <a:ln/>
        </p:spPr>
        <p:txBody>
          <a:bodyPr wrap="square" lIns="0" tIns="0" rIns="0" bIns="0" rtlCol="0" anchor="ctr"/>
          <a:lstStyle/>
          <a:p>
            <a:pPr indent="0" marL="0">
              <a:buNone/>
            </a:pPr>
            <a:r>
              <a:rPr lang="en-US" sz="1500" dirty="0">
                <a:solidFill>
                  <a:schemeClr val="tx1"/>
                </a:solidFill>
              </a:rPr>
              <a:t>Document lifecycle changes and deletes aren't logged. Our proposal promised audit history.</a:t>
            </a:r>
            <a:endParaRPr lang="en-US" sz="1500" dirty="0"/>
          </a:p>
        </p:txBody>
      </p:sp>
      <p:sp>
        <p:nvSpPr>
          <p:cNvPr id="18" name="Risk 4 card"/>
          <p:cNvSpPr/>
          <p:nvPr/>
        </p:nvSpPr>
        <p:spPr>
          <a:xfrm>
            <a:off x="548640" y="4279392"/>
            <a:ext cx="11094415" cy="841248"/>
          </a:xfrm>
          <a:prstGeom prst="roundRect">
            <a:avLst>
              <a:gd name="adj" fmla="val 8696"/>
            </a:avLst>
          </a:prstGeom>
          <a:solidFill>
            <a:schemeClr val="bg2"/>
          </a:solidFill>
          <a:ln/>
        </p:spPr>
      </p:sp>
      <p:sp>
        <p:nvSpPr>
          <p:cNvPr id="19" name="Risk 4 circle"/>
          <p:cNvSpPr/>
          <p:nvPr/>
        </p:nvSpPr>
        <p:spPr>
          <a:xfrm>
            <a:off x="777240" y="4425696"/>
            <a:ext cx="548640" cy="548640"/>
          </a:xfrm>
          <a:prstGeom prst="ellipse">
            <a:avLst/>
          </a:prstGeom>
          <a:solidFill>
            <a:schemeClr val="accent4"/>
          </a:solidFill>
          <a:ln/>
        </p:spPr>
      </p:sp>
      <p:sp>
        <p:nvSpPr>
          <p:cNvPr id="20" name="Risk 4 number"/>
          <p:cNvSpPr txBox="1"/>
          <p:nvPr/>
        </p:nvSpPr>
        <p:spPr>
          <a:xfrm>
            <a:off x="777240" y="442569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554480" y="4279392"/>
            <a:ext cx="3749040" cy="841248"/>
          </a:xfrm>
          <a:prstGeom prst="rect">
            <a:avLst/>
          </a:prstGeom>
          <a:noFill/>
          <a:ln/>
        </p:spPr>
        <p:txBody>
          <a:bodyPr wrap="square" lIns="0" tIns="0" rIns="0" bIns="0" rtlCol="0" anchor="ctr"/>
          <a:lstStyle/>
          <a:p>
            <a:pPr indent="0" marL="0">
              <a:buNone/>
            </a:pPr>
            <a:r>
              <a:rPr lang="en-US" sz="1800" b="1" dirty="0">
                <a:solidFill>
                  <a:schemeClr val="tx2"/>
                </a:solidFill>
              </a:rPr>
              <a:t>No analytics</a:t>
            </a:r>
            <a:endParaRPr lang="en-US" sz="1800" dirty="0"/>
          </a:p>
        </p:txBody>
      </p:sp>
      <p:sp>
        <p:nvSpPr>
          <p:cNvPr id="22" name="Text 20"/>
          <p:cNvSpPr txBox="1"/>
          <p:nvPr/>
        </p:nvSpPr>
        <p:spPr>
          <a:xfrm>
            <a:off x="5394960" y="4279392"/>
            <a:ext cx="5973775" cy="841248"/>
          </a:xfrm>
          <a:prstGeom prst="rect">
            <a:avLst/>
          </a:prstGeom>
          <a:noFill/>
          <a:ln/>
        </p:spPr>
        <p:txBody>
          <a:bodyPr wrap="square" lIns="0" tIns="0" rIns="0" bIns="0" rtlCol="0" anchor="ctr"/>
          <a:lstStyle/>
          <a:p>
            <a:pPr indent="0" marL="0">
              <a:buNone/>
            </a:pPr>
            <a:r>
              <a:rPr lang="en-US" sz="1500" dirty="0">
                <a:solidFill>
                  <a:schemeClr val="tx1"/>
                </a:solidFill>
              </a:rPr>
              <a:t>We can't yet measure search quality, adoption or time-to-answer.</a:t>
            </a:r>
            <a:endParaRPr lang="en-US" sz="1500" dirty="0"/>
          </a:p>
        </p:txBody>
      </p:sp>
      <p:sp>
        <p:nvSpPr>
          <p:cNvPr id="23" name="Risk 5 card"/>
          <p:cNvSpPr/>
          <p:nvPr/>
        </p:nvSpPr>
        <p:spPr>
          <a:xfrm>
            <a:off x="548640" y="5248656"/>
            <a:ext cx="11094415" cy="841248"/>
          </a:xfrm>
          <a:prstGeom prst="roundRect">
            <a:avLst>
              <a:gd name="adj" fmla="val 8696"/>
            </a:avLst>
          </a:prstGeom>
          <a:solidFill>
            <a:schemeClr val="bg2"/>
          </a:solidFill>
          <a:ln/>
        </p:spPr>
      </p:sp>
      <p:sp>
        <p:nvSpPr>
          <p:cNvPr id="24" name="Risk 5 circle"/>
          <p:cNvSpPr/>
          <p:nvPr/>
        </p:nvSpPr>
        <p:spPr>
          <a:xfrm>
            <a:off x="777240" y="5394960"/>
            <a:ext cx="548640" cy="548640"/>
          </a:xfrm>
          <a:prstGeom prst="ellipse">
            <a:avLst/>
          </a:prstGeom>
          <a:solidFill>
            <a:schemeClr val="accent4"/>
          </a:solidFill>
          <a:ln/>
        </p:spPr>
      </p:sp>
      <p:sp>
        <p:nvSpPr>
          <p:cNvPr id="25" name="Risk 5 number"/>
          <p:cNvSpPr txBox="1"/>
          <p:nvPr/>
        </p:nvSpPr>
        <p:spPr>
          <a:xfrm>
            <a:off x="777240" y="5394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1554480" y="5248656"/>
            <a:ext cx="3749040" cy="841248"/>
          </a:xfrm>
          <a:prstGeom prst="rect">
            <a:avLst/>
          </a:prstGeom>
          <a:noFill/>
          <a:ln/>
        </p:spPr>
        <p:txBody>
          <a:bodyPr wrap="square" lIns="0" tIns="0" rIns="0" bIns="0" rtlCol="0" anchor="ctr"/>
          <a:lstStyle/>
          <a:p>
            <a:pPr indent="0" marL="0">
              <a:buNone/>
            </a:pPr>
            <a:r>
              <a:rPr lang="en-US" sz="1800" b="1" dirty="0">
                <a:solidFill>
                  <a:schemeClr val="tx2"/>
                </a:solidFill>
              </a:rPr>
              <a:t>Fixed taxonomy</a:t>
            </a:r>
            <a:endParaRPr lang="en-US" sz="1800" dirty="0"/>
          </a:p>
        </p:txBody>
      </p:sp>
      <p:sp>
        <p:nvSpPr>
          <p:cNvPr id="27" name="Text 25"/>
          <p:cNvSpPr txBox="1"/>
          <p:nvPr/>
        </p:nvSpPr>
        <p:spPr>
          <a:xfrm>
            <a:off x="5394960" y="5248656"/>
            <a:ext cx="5973775" cy="841248"/>
          </a:xfrm>
          <a:prstGeom prst="rect">
            <a:avLst/>
          </a:prstGeom>
          <a:noFill/>
          <a:ln/>
        </p:spPr>
        <p:txBody>
          <a:bodyPr wrap="square" lIns="0" tIns="0" rIns="0" bIns="0" rtlCol="0" anchor="ctr"/>
          <a:lstStyle/>
          <a:p>
            <a:pPr indent="0" marL="0">
              <a:buNone/>
            </a:pPr>
            <a:r>
              <a:rPr lang="en-US" sz="1500" dirty="0">
                <a:solidFill>
                  <a:schemeClr val="tx1"/>
                </a:solidFill>
              </a:rPr>
              <a:t>Seven hard-coded categories; no managed metadata or link to NYPA's taxonomy tool.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Six workstreams close all 24 remaining gaps</a:t>
            </a:r>
            <a:endParaRPr lang="en-US" sz="3200" dirty="0"/>
          </a:p>
        </p:txBody>
      </p:sp>
      <p:graphicFrame>
        <p:nvGraphicFramePr>
          <p:cNvPr id="12" name="Workstreams table"/>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4206240"/>
                <a:gridCol w="2103120"/>
                <a:gridCol w="1097280"/>
              </a:tblGrid>
              <a:tr h="512064">
                <a:tc>
                  <a:txBody>
                    <a:bodyPr/>
                    <a:lstStyle/>
                    <a:p>
                      <a:pPr algn="l" indent="0" marL="0">
                        <a:buNone/>
                      </a:pPr>
                      <a:r>
                        <a:rPr lang="en-US" sz="1500" b="1" dirty="0">
                          <a:solidFill>
                            <a:srgbClr val="FFFFFF"/>
                          </a:solidFill>
                        </a:rPr>
                        <a:t>Workstream</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500" b="1" dirty="0">
                          <a:solidFill>
                            <a:srgbClr val="FFFFFF"/>
                          </a:solidFill>
                        </a:rPr>
                        <a:t>Requirements</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500" b="1" dirty="0">
                          <a:solidFill>
                            <a:srgbClr val="FFFFFF"/>
                          </a:solidFill>
                        </a:rPr>
                        <a:t>Closes</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12064">
                <a:tc>
                  <a:txBody>
                    <a:bodyPr/>
                    <a:lstStyle/>
                    <a:p>
                      <a:pPr indent="0" marL="0">
                        <a:buNone/>
                      </a:pPr>
                      <a:r>
                        <a:rPr lang="en-US" sz="1500" b="1" dirty="0">
                          <a:solidFill>
                            <a:schemeClr val="accent1"/>
                          </a:solidFill>
                        </a:rPr>
                        <a:t>A   </a:t>
                      </a:r>
                      <a:pPr indent="0" marL="0">
                        <a:buNone/>
                      </a:pPr>
                      <a:r>
                        <a:rPr lang="en-US" sz="1500" dirty="0">
                          <a:solidFill>
                            <a:schemeClr val="tx1"/>
                          </a:solidFill>
                        </a:rPr>
                        <a:t>M365 &amp; connectors (+ single sign-on)</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#2, #12, #32</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3</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accent1"/>
                          </a:solidFill>
                        </a:rPr>
                        <a:t>B   </a:t>
                      </a:r>
                      <a:pPr indent="0" marL="0">
                        <a:buNone/>
                      </a:pPr>
                      <a:r>
                        <a:rPr lang="en-US" sz="1500" dirty="0">
                          <a:solidFill>
                            <a:schemeClr val="tx1"/>
                          </a:solidFill>
                        </a:rPr>
                        <a:t>Governance &amp; lifecycle</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#19, #21–26, #31</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8</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accent1"/>
                          </a:solidFill>
                        </a:rPr>
                        <a:t>C   </a:t>
                      </a:r>
                      <a:pPr indent="0" marL="0">
                        <a:buNone/>
                      </a:pPr>
                      <a:r>
                        <a:rPr lang="en-US" sz="1500" dirty="0">
                          <a:solidFill>
                            <a:schemeClr val="tx1"/>
                          </a:solidFill>
                        </a:rPr>
                        <a:t>Taxonomy &amp; semantic layer</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#3, #4, #15, #16</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4</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accent1"/>
                          </a:solidFill>
                        </a:rPr>
                        <a:t>D   </a:t>
                      </a:r>
                      <a:pPr indent="0" marL="0">
                        <a:buNone/>
                      </a:pPr>
                      <a:r>
                        <a:rPr lang="en-US" sz="1500" dirty="0">
                          <a:solidFill>
                            <a:schemeClr val="tx1"/>
                          </a:solidFill>
                        </a:rPr>
                        <a:t>Analytics &amp; dashboards</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#28–30</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3</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accent1"/>
                          </a:solidFill>
                        </a:rPr>
                        <a:t>E   </a:t>
                      </a:r>
                      <a:pPr indent="0" marL="0">
                        <a:buNone/>
                      </a:pPr>
                      <a:r>
                        <a:rPr lang="en-US" sz="1500" dirty="0">
                          <a:solidFill>
                            <a:schemeClr val="tx1"/>
                          </a:solidFill>
                        </a:rPr>
                        <a:t>Content coverage</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#11, #13, #14</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3</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accent1"/>
                          </a:solidFill>
                        </a:rPr>
                        <a:t>F   </a:t>
                      </a:r>
                      <a:pPr indent="0" marL="0">
                        <a:buNone/>
                      </a:pPr>
                      <a:r>
                        <a:rPr lang="en-US" sz="1500" dirty="0">
                          <a:solidFill>
                            <a:schemeClr val="tx1"/>
                          </a:solidFill>
                        </a:rPr>
                        <a:t>Personalization &amp; experience</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500" dirty="0">
                          <a:solidFill>
                            <a:schemeClr val="tx1"/>
                          </a:solidFill>
                        </a:rPr>
                        <a:t>#1, #5, #10</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500" b="1" dirty="0">
                          <a:solidFill>
                            <a:schemeClr val="tx2"/>
                          </a:solidFill>
                        </a:rPr>
                        <a:t>3</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12064">
                <a:tc>
                  <a:txBody>
                    <a:bodyPr/>
                    <a:lstStyle/>
                    <a:p>
                      <a:pPr indent="0" marL="0">
                        <a:buNone/>
                      </a:pPr>
                      <a:r>
                        <a:rPr lang="en-US" sz="1500" b="1" dirty="0">
                          <a:solidFill>
                            <a:schemeClr val="tx2"/>
                          </a:solidFill>
                        </a:rPr>
                        <a:t>Total</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F8FA"/>
                    </a:solidFill>
                  </a:tcPr>
                </a:tc>
                <a:tc>
                  <a:txBody>
                    <a:bodyPr/>
                    <a:lstStyle/>
                    <a:p>
                      <a:pPr indent="0" marL="0">
                        <a:buNone/>
                      </a:pPr>
                      <a:endParaRPr lang="en-US" sz="1500" dirty="0"/>
                    </a:p>
                  </a:txBody>
                  <a:tcPr marL="91440" marR="91440" marT="45720" marB="45720">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F8FA"/>
                    </a:solidFill>
                  </a:tcPr>
                </a:tc>
                <a:tc>
                  <a:txBody>
                    <a:bodyPr/>
                    <a:lstStyle/>
                    <a:p>
                      <a:pPr algn="ctr" indent="0" marL="0">
                        <a:buNone/>
                      </a:pPr>
                      <a:r>
                        <a:rPr lang="en-US" sz="1500" b="1" dirty="0">
                          <a:solidFill>
                            <a:schemeClr val="tx2"/>
                          </a:solidFill>
                        </a:rPr>
                        <a:t>24</a:t>
                      </a:r>
                      <a:endParaRPr lang="en-US" sz="15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F8FA"/>
                    </a:solidFill>
                  </a:tcPr>
                </a:tc>
              </a:tr>
            </a:tbl>
          </a:graphicData>
        </a:graphic>
      </p:graphicFrame>
      <p:sp>
        <p:nvSpPr>
          <p:cNvPr id="4" name="Path to 32 card"/>
          <p:cNvSpPr/>
          <p:nvPr/>
        </p:nvSpPr>
        <p:spPr>
          <a:xfrm>
            <a:off x="8321040" y="1417320"/>
            <a:ext cx="3322015" cy="4096512"/>
          </a:xfrm>
          <a:prstGeom prst="roundRect">
            <a:avLst>
              <a:gd name="adj" fmla="val 2202"/>
            </a:avLst>
          </a:prstGeom>
          <a:solidFill>
            <a:schemeClr val="tx2"/>
          </a:solidFill>
          <a:ln/>
        </p:spPr>
      </p:sp>
      <p:sp>
        <p:nvSpPr>
          <p:cNvPr id="5" name="Text 2"/>
          <p:cNvSpPr txBox="1"/>
          <p:nvPr/>
        </p:nvSpPr>
        <p:spPr>
          <a:xfrm>
            <a:off x="8686800" y="1691640"/>
            <a:ext cx="2590495" cy="68580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8</a:t>
            </a:r>
            <a:endParaRPr lang="en-US" sz="4400" dirty="0"/>
          </a:p>
        </p:txBody>
      </p:sp>
      <p:sp>
        <p:nvSpPr>
          <p:cNvPr id="6" name="Text 3"/>
          <p:cNvSpPr txBox="1"/>
          <p:nvPr/>
        </p:nvSpPr>
        <p:spPr>
          <a:xfrm>
            <a:off x="8686800" y="2377440"/>
            <a:ext cx="2590495" cy="365760"/>
          </a:xfrm>
          <a:prstGeom prst="rect">
            <a:avLst/>
          </a:prstGeom>
          <a:noFill/>
          <a:ln/>
        </p:spPr>
        <p:txBody>
          <a:bodyPr wrap="square" lIns="0" tIns="0" rIns="0" bIns="0" rtlCol="0" anchor="t"/>
          <a:lstStyle/>
          <a:p>
            <a:pPr indent="0" marL="0">
              <a:buNone/>
            </a:pPr>
            <a:r>
              <a:rPr lang="en-US" sz="1500" dirty="0">
                <a:solidFill>
                  <a:schemeClr val="bg1"/>
                </a:solidFill>
              </a:rPr>
              <a:t>met today</a:t>
            </a:r>
            <a:endParaRPr lang="en-US" sz="1500" dirty="0"/>
          </a:p>
        </p:txBody>
      </p:sp>
      <p:sp>
        <p:nvSpPr>
          <p:cNvPr id="7" name="Text 4"/>
          <p:cNvSpPr txBox="1"/>
          <p:nvPr/>
        </p:nvSpPr>
        <p:spPr>
          <a:xfrm>
            <a:off x="8686800" y="2926080"/>
            <a:ext cx="2590495" cy="6858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+ 24</a:t>
            </a:r>
            <a:endParaRPr lang="en-US" sz="4400" dirty="0"/>
          </a:p>
        </p:txBody>
      </p:sp>
      <p:sp>
        <p:nvSpPr>
          <p:cNvPr id="8" name="Text 5"/>
          <p:cNvSpPr txBox="1"/>
          <p:nvPr/>
        </p:nvSpPr>
        <p:spPr>
          <a:xfrm>
            <a:off x="8686800" y="3611880"/>
            <a:ext cx="2590495" cy="365760"/>
          </a:xfrm>
          <a:prstGeom prst="rect">
            <a:avLst/>
          </a:prstGeom>
          <a:noFill/>
          <a:ln/>
        </p:spPr>
        <p:txBody>
          <a:bodyPr wrap="square" lIns="0" tIns="0" rIns="0" bIns="0" rtlCol="0" anchor="t"/>
          <a:lstStyle/>
          <a:p>
            <a:pPr indent="0" marL="0">
              <a:buNone/>
            </a:pPr>
            <a:r>
              <a:rPr lang="en-US" sz="1500" dirty="0">
                <a:solidFill>
                  <a:schemeClr val="bg1"/>
                </a:solidFill>
              </a:rPr>
              <a:t>from the workstreams</a:t>
            </a:r>
            <a:endParaRPr lang="en-US" sz="1500" dirty="0"/>
          </a:p>
        </p:txBody>
      </p:sp>
      <p:sp>
        <p:nvSpPr>
          <p:cNvPr id="9" name="Text 6"/>
          <p:cNvSpPr txBox="1"/>
          <p:nvPr/>
        </p:nvSpPr>
        <p:spPr>
          <a:xfrm>
            <a:off x="8686800" y="4160520"/>
            <a:ext cx="2590495" cy="68580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 32</a:t>
            </a:r>
            <a:endParaRPr lang="en-US" sz="4400" dirty="0"/>
          </a:p>
        </p:txBody>
      </p:sp>
      <p:sp>
        <p:nvSpPr>
          <p:cNvPr id="10" name="Text 7"/>
          <p:cNvSpPr txBox="1"/>
          <p:nvPr/>
        </p:nvSpPr>
        <p:spPr>
          <a:xfrm>
            <a:off x="8686800" y="4846320"/>
            <a:ext cx="2590495" cy="365760"/>
          </a:xfrm>
          <a:prstGeom prst="rect">
            <a:avLst/>
          </a:prstGeom>
          <a:noFill/>
          <a:ln/>
        </p:spPr>
        <p:txBody>
          <a:bodyPr wrap="square" lIns="0" tIns="0" rIns="0" bIns="0" rtlCol="0" anchor="t"/>
          <a:lstStyle/>
          <a:p>
            <a:pPr indent="0" marL="0">
              <a:buNone/>
            </a:pPr>
            <a:r>
              <a:rPr lang="en-US" sz="1500" dirty="0">
                <a:solidFill>
                  <a:schemeClr val="bg1"/>
                </a:solidFill>
              </a:rPr>
              <a:t>of 32 requirements met</a:t>
            </a:r>
            <a:endParaRPr lang="en-US" sz="1500" dirty="0"/>
          </a:p>
        </p:txBody>
      </p:sp>
      <p:sp>
        <p:nvSpPr>
          <p:cNvPr id="11" name="Text 8"/>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400" i="1" dirty="0">
                <a:solidFill>
                  <a:schemeClr val="accent5"/>
                </a:solidFill>
              </a:rPr>
              <a:t>Most of this already sits in PRD Tier 3–4 (approval workflows, audit trail, ownership, personalized workspace). We're pulling it forward, not adding new scope.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Sequencing: biggest risks first, breadth last</a:t>
            </a:r>
            <a:endParaRPr lang="en-US" sz="3200" dirty="0"/>
          </a:p>
        </p:txBody>
      </p:sp>
      <p:sp>
        <p:nvSpPr>
          <p:cNvPr id="3" name="Phase 1 card"/>
          <p:cNvSpPr/>
          <p:nvPr/>
        </p:nvSpPr>
        <p:spPr>
          <a:xfrm>
            <a:off x="548640" y="1417320"/>
            <a:ext cx="3484778" cy="4572000"/>
          </a:xfrm>
          <a:prstGeom prst="roundRect">
            <a:avLst>
              <a:gd name="adj" fmla="val 2099"/>
            </a:avLst>
          </a:prstGeom>
          <a:solidFill>
            <a:schemeClr val="bg2"/>
          </a:solidFill>
          <a:ln/>
        </p:spPr>
      </p:sp>
      <p:sp>
        <p:nvSpPr>
          <p:cNvPr id="4" name="Phase 1 circle"/>
          <p:cNvSpPr/>
          <p:nvPr/>
        </p:nvSpPr>
        <p:spPr>
          <a:xfrm>
            <a:off x="822960" y="1645920"/>
            <a:ext cx="640080" cy="640080"/>
          </a:xfrm>
          <a:prstGeom prst="ellipse">
            <a:avLst/>
          </a:prstGeom>
          <a:solidFill>
            <a:schemeClr val="accent1"/>
          </a:solidFill>
          <a:ln/>
        </p:spPr>
      </p:sp>
      <p:sp>
        <p:nvSpPr>
          <p:cNvPr id="5" name="Phase 1 number"/>
          <p:cNvSpPr txBox="1"/>
          <p:nvPr/>
        </p:nvSpPr>
        <p:spPr>
          <a:xfrm>
            <a:off x="82296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1645920" y="1691640"/>
            <a:ext cx="2204618"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PHASE 1</a:t>
            </a:r>
            <a:endParaRPr lang="en-US" sz="1200" dirty="0"/>
          </a:p>
        </p:txBody>
      </p:sp>
      <p:sp>
        <p:nvSpPr>
          <p:cNvPr id="7" name="Text 5"/>
          <p:cNvSpPr txBox="1"/>
          <p:nvPr/>
        </p:nvSpPr>
        <p:spPr>
          <a:xfrm>
            <a:off x="1645920" y="1938528"/>
            <a:ext cx="2204618" cy="640080"/>
          </a:xfrm>
          <a:prstGeom prst="rect">
            <a:avLst/>
          </a:prstGeom>
          <a:noFill/>
          <a:ln/>
        </p:spPr>
        <p:txBody>
          <a:bodyPr wrap="square" lIns="0" tIns="0" rIns="0" bIns="0" rtlCol="0" anchor="t"/>
          <a:lstStyle/>
          <a:p>
            <a:pPr indent="0" marL="0">
              <a:buNone/>
            </a:pPr>
            <a:r>
              <a:rPr lang="en-US" sz="1800" b="1" dirty="0">
                <a:solidFill>
                  <a:schemeClr val="tx2"/>
                </a:solidFill>
              </a:rPr>
              <a:t>Remove the biggest risks</a:t>
            </a:r>
            <a:endParaRPr lang="en-US" sz="1800" dirty="0"/>
          </a:p>
        </p:txBody>
      </p:sp>
      <p:sp>
        <p:nvSpPr>
          <p:cNvPr id="8" name="Text 6"/>
          <p:cNvSpPr txBox="1"/>
          <p:nvPr/>
        </p:nvSpPr>
        <p:spPr>
          <a:xfrm>
            <a:off x="822960" y="2788920"/>
            <a:ext cx="2936138"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 · M365 &amp; connectors, single sign-on</a:t>
            </a:r>
            <a:endParaRPr lang="en-US" sz="1500" dirty="0"/>
          </a:p>
          <a:p>
            <a:pPr marL="342900" indent="-342900">
              <a:spcAft>
                <a:spcPts val="600"/>
              </a:spcAft>
              <a:buSzPct val="100000"/>
              <a:buChar char="•"/>
            </a:pPr>
            <a:r>
              <a:rPr lang="en-US" sz="1500" dirty="0">
                <a:solidFill>
                  <a:schemeClr val="tx1"/>
                </a:solidFill>
              </a:rPr>
              <a:t>B (part) · Complete the audit trail</a:t>
            </a:r>
            <a:endParaRPr lang="en-US" sz="1500" dirty="0"/>
          </a:p>
        </p:txBody>
      </p:sp>
      <p:sp>
        <p:nvSpPr>
          <p:cNvPr id="9" name="Text 7"/>
          <p:cNvSpPr txBox="1"/>
          <p:nvPr/>
        </p:nvSpPr>
        <p:spPr>
          <a:xfrm>
            <a:off x="822960" y="4480560"/>
            <a:ext cx="2936138" cy="640080"/>
          </a:xfrm>
          <a:prstGeom prst="rect">
            <a:avLst/>
          </a:prstGeom>
          <a:noFill/>
          <a:ln/>
        </p:spPr>
        <p:txBody>
          <a:bodyPr wrap="square" lIns="0" tIns="0" rIns="0" bIns="0" rtlCol="0" anchor="t"/>
          <a:lstStyle/>
          <a:p>
            <a:pPr indent="0" marL="0">
              <a:buNone/>
            </a:pPr>
            <a:r>
              <a:rPr lang="en-US" sz="1400" i="1" dirty="0">
                <a:solidFill>
                  <a:schemeClr val="accent1"/>
                </a:solidFill>
              </a:rPr>
              <a:t>SharePoint permissions, SSO, audit trail</a:t>
            </a:r>
            <a:endParaRPr lang="en-US" sz="1400" dirty="0"/>
          </a:p>
        </p:txBody>
      </p:sp>
      <p:sp>
        <p:nvSpPr>
          <p:cNvPr id="10" name="Text 8"/>
          <p:cNvSpPr txBox="1"/>
          <p:nvPr/>
        </p:nvSpPr>
        <p:spPr>
          <a:xfrm>
            <a:off x="822960" y="5440680"/>
            <a:ext cx="2936138" cy="320040"/>
          </a:xfrm>
          <a:prstGeom prst="rect">
            <a:avLst/>
          </a:prstGeom>
          <a:noFill/>
          <a:ln/>
        </p:spPr>
        <p:txBody>
          <a:bodyPr wrap="square" lIns="0" tIns="0" rIns="0" bIns="0" rtlCol="0" anchor="t"/>
          <a:lstStyle/>
          <a:p>
            <a:pPr indent="0" marL="0">
              <a:buNone/>
            </a:pPr>
            <a:r>
              <a:rPr lang="en-US" sz="1200" dirty="0">
                <a:solidFill>
                  <a:schemeClr val="accent5"/>
                </a:solidFill>
              </a:rPr>
              <a:t>Owner: TBD  ·  Target: TBD</a:t>
            </a:r>
            <a:endParaRPr lang="en-US" sz="1200" dirty="0"/>
          </a:p>
        </p:txBody>
      </p:sp>
      <p:sp>
        <p:nvSpPr>
          <p:cNvPr id="11" name="Phase 2 card"/>
          <p:cNvSpPr/>
          <p:nvPr/>
        </p:nvSpPr>
        <p:spPr>
          <a:xfrm>
            <a:off x="4353458" y="1417320"/>
            <a:ext cx="3484778" cy="4572000"/>
          </a:xfrm>
          <a:prstGeom prst="roundRect">
            <a:avLst>
              <a:gd name="adj" fmla="val 2099"/>
            </a:avLst>
          </a:prstGeom>
          <a:solidFill>
            <a:schemeClr val="bg2"/>
          </a:solidFill>
          <a:ln/>
        </p:spPr>
      </p:sp>
      <p:sp>
        <p:nvSpPr>
          <p:cNvPr id="12" name="Phase 2 circle"/>
          <p:cNvSpPr/>
          <p:nvPr/>
        </p:nvSpPr>
        <p:spPr>
          <a:xfrm>
            <a:off x="4627778" y="1645920"/>
            <a:ext cx="640080" cy="640080"/>
          </a:xfrm>
          <a:prstGeom prst="ellipse">
            <a:avLst/>
          </a:prstGeom>
          <a:solidFill>
            <a:schemeClr val="accent1"/>
          </a:solidFill>
          <a:ln/>
        </p:spPr>
      </p:sp>
      <p:sp>
        <p:nvSpPr>
          <p:cNvPr id="13" name="Phase 2 number"/>
          <p:cNvSpPr txBox="1"/>
          <p:nvPr/>
        </p:nvSpPr>
        <p:spPr>
          <a:xfrm>
            <a:off x="4627778"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Text 12"/>
          <p:cNvSpPr txBox="1"/>
          <p:nvPr/>
        </p:nvSpPr>
        <p:spPr>
          <a:xfrm>
            <a:off x="5450738" y="1691640"/>
            <a:ext cx="2204618"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PHASE 2</a:t>
            </a:r>
            <a:endParaRPr lang="en-US" sz="1200" dirty="0"/>
          </a:p>
        </p:txBody>
      </p:sp>
      <p:sp>
        <p:nvSpPr>
          <p:cNvPr id="15" name="Text 13"/>
          <p:cNvSpPr txBox="1"/>
          <p:nvPr/>
        </p:nvSpPr>
        <p:spPr>
          <a:xfrm>
            <a:off x="5450738" y="1938528"/>
            <a:ext cx="2204618" cy="640080"/>
          </a:xfrm>
          <a:prstGeom prst="rect">
            <a:avLst/>
          </a:prstGeom>
          <a:noFill/>
          <a:ln/>
        </p:spPr>
        <p:txBody>
          <a:bodyPr wrap="square" lIns="0" tIns="0" rIns="0" bIns="0" rtlCol="0" anchor="t"/>
          <a:lstStyle/>
          <a:p>
            <a:pPr indent="0" marL="0">
              <a:buNone/>
            </a:pPr>
            <a:r>
              <a:rPr lang="en-US" sz="1800" b="1" dirty="0">
                <a:solidFill>
                  <a:schemeClr val="tx2"/>
                </a:solidFill>
              </a:rPr>
              <a:t>Governance &amp; insight</a:t>
            </a:r>
            <a:endParaRPr lang="en-US" sz="1800" dirty="0"/>
          </a:p>
        </p:txBody>
      </p:sp>
      <p:sp>
        <p:nvSpPr>
          <p:cNvPr id="16" name="Text 14"/>
          <p:cNvSpPr txBox="1"/>
          <p:nvPr/>
        </p:nvSpPr>
        <p:spPr>
          <a:xfrm>
            <a:off x="4627778" y="2788920"/>
            <a:ext cx="2936138"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 · Governance &amp; lifecycle (rest)</a:t>
            </a:r>
            <a:endParaRPr lang="en-US" sz="1500" dirty="0"/>
          </a:p>
          <a:p>
            <a:pPr marL="342900" indent="-342900">
              <a:spcAft>
                <a:spcPts val="600"/>
              </a:spcAft>
              <a:buSzPct val="100000"/>
              <a:buChar char="•"/>
            </a:pPr>
            <a:r>
              <a:rPr lang="en-US" sz="1500" dirty="0">
                <a:solidFill>
                  <a:schemeClr val="tx1"/>
                </a:solidFill>
              </a:rPr>
              <a:t>C · Taxonomy &amp; semantic layer</a:t>
            </a:r>
            <a:endParaRPr lang="en-US" sz="1500" dirty="0"/>
          </a:p>
          <a:p>
            <a:pPr marL="342900" indent="-342900">
              <a:spcAft>
                <a:spcPts val="600"/>
              </a:spcAft>
              <a:buSzPct val="100000"/>
              <a:buChar char="•"/>
            </a:pPr>
            <a:r>
              <a:rPr lang="en-US" sz="1500" dirty="0">
                <a:solidFill>
                  <a:schemeClr val="tx1"/>
                </a:solidFill>
              </a:rPr>
              <a:t>D · Analytics &amp; dashboards</a:t>
            </a:r>
            <a:endParaRPr lang="en-US" sz="1500" dirty="0"/>
          </a:p>
        </p:txBody>
      </p:sp>
      <p:sp>
        <p:nvSpPr>
          <p:cNvPr id="17" name="Text 15"/>
          <p:cNvSpPr txBox="1"/>
          <p:nvPr/>
        </p:nvSpPr>
        <p:spPr>
          <a:xfrm>
            <a:off x="4627778" y="4480560"/>
            <a:ext cx="2936138" cy="640080"/>
          </a:xfrm>
          <a:prstGeom prst="rect">
            <a:avLst/>
          </a:prstGeom>
          <a:noFill/>
          <a:ln/>
        </p:spPr>
        <p:txBody>
          <a:bodyPr wrap="square" lIns="0" tIns="0" rIns="0" bIns="0" rtlCol="0" anchor="t"/>
          <a:lstStyle/>
          <a:p>
            <a:pPr indent="0" marL="0">
              <a:buNone/>
            </a:pPr>
            <a:r>
              <a:rPr lang="en-US" sz="1400" i="1" dirty="0">
                <a:solidFill>
                  <a:schemeClr val="accent1"/>
                </a:solidFill>
              </a:rPr>
              <a:t>Configurable workflows, managed metadata, dashboards</a:t>
            </a:r>
            <a:endParaRPr lang="en-US" sz="1400" dirty="0"/>
          </a:p>
        </p:txBody>
      </p:sp>
      <p:sp>
        <p:nvSpPr>
          <p:cNvPr id="18" name="Text 16"/>
          <p:cNvSpPr txBox="1"/>
          <p:nvPr/>
        </p:nvSpPr>
        <p:spPr>
          <a:xfrm>
            <a:off x="4627778" y="5440680"/>
            <a:ext cx="2936138" cy="320040"/>
          </a:xfrm>
          <a:prstGeom prst="rect">
            <a:avLst/>
          </a:prstGeom>
          <a:noFill/>
          <a:ln/>
        </p:spPr>
        <p:txBody>
          <a:bodyPr wrap="square" lIns="0" tIns="0" rIns="0" bIns="0" rtlCol="0" anchor="t"/>
          <a:lstStyle/>
          <a:p>
            <a:pPr indent="0" marL="0">
              <a:buNone/>
            </a:pPr>
            <a:r>
              <a:rPr lang="en-US" sz="1200" dirty="0">
                <a:solidFill>
                  <a:schemeClr val="accent5"/>
                </a:solidFill>
              </a:rPr>
              <a:t>Owner: TBD  ·  Target: TBD</a:t>
            </a:r>
            <a:endParaRPr lang="en-US" sz="1200" dirty="0"/>
          </a:p>
        </p:txBody>
      </p:sp>
      <p:sp>
        <p:nvSpPr>
          <p:cNvPr id="19" name="Phase 3 card"/>
          <p:cNvSpPr/>
          <p:nvPr/>
        </p:nvSpPr>
        <p:spPr>
          <a:xfrm>
            <a:off x="8158277" y="1417320"/>
            <a:ext cx="3484778" cy="4572000"/>
          </a:xfrm>
          <a:prstGeom prst="roundRect">
            <a:avLst>
              <a:gd name="adj" fmla="val 2099"/>
            </a:avLst>
          </a:prstGeom>
          <a:solidFill>
            <a:schemeClr val="bg2"/>
          </a:solidFill>
          <a:ln/>
        </p:spPr>
      </p:sp>
      <p:sp>
        <p:nvSpPr>
          <p:cNvPr id="20" name="Phase 3 circle"/>
          <p:cNvSpPr/>
          <p:nvPr/>
        </p:nvSpPr>
        <p:spPr>
          <a:xfrm>
            <a:off x="8432597" y="1645920"/>
            <a:ext cx="640080" cy="640080"/>
          </a:xfrm>
          <a:prstGeom prst="ellipse">
            <a:avLst/>
          </a:prstGeom>
          <a:solidFill>
            <a:schemeClr val="accent1"/>
          </a:solidFill>
          <a:ln/>
        </p:spPr>
      </p:sp>
      <p:sp>
        <p:nvSpPr>
          <p:cNvPr id="21" name="Phase 3 number"/>
          <p:cNvSpPr txBox="1"/>
          <p:nvPr/>
        </p:nvSpPr>
        <p:spPr>
          <a:xfrm>
            <a:off x="8432597"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2" name="Text 20"/>
          <p:cNvSpPr txBox="1"/>
          <p:nvPr/>
        </p:nvSpPr>
        <p:spPr>
          <a:xfrm>
            <a:off x="9255557" y="1691640"/>
            <a:ext cx="2204618"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PHASE 3</a:t>
            </a:r>
            <a:endParaRPr lang="en-US" sz="1200" dirty="0"/>
          </a:p>
        </p:txBody>
      </p:sp>
      <p:sp>
        <p:nvSpPr>
          <p:cNvPr id="23" name="Text 21"/>
          <p:cNvSpPr txBox="1"/>
          <p:nvPr/>
        </p:nvSpPr>
        <p:spPr>
          <a:xfrm>
            <a:off x="9255557" y="1938528"/>
            <a:ext cx="2204618" cy="640080"/>
          </a:xfrm>
          <a:prstGeom prst="rect">
            <a:avLst/>
          </a:prstGeom>
          <a:noFill/>
          <a:ln/>
        </p:spPr>
        <p:txBody>
          <a:bodyPr wrap="square" lIns="0" tIns="0" rIns="0" bIns="0" rtlCol="0" anchor="t"/>
          <a:lstStyle/>
          <a:p>
            <a:pPr indent="0" marL="0">
              <a:buNone/>
            </a:pPr>
            <a:r>
              <a:rPr lang="en-US" sz="1800" b="1" dirty="0">
                <a:solidFill>
                  <a:schemeClr val="tx2"/>
                </a:solidFill>
              </a:rPr>
              <a:t>Breadth &amp; polish</a:t>
            </a:r>
            <a:endParaRPr lang="en-US" sz="1800" dirty="0"/>
          </a:p>
        </p:txBody>
      </p:sp>
      <p:sp>
        <p:nvSpPr>
          <p:cNvPr id="24" name="Text 22"/>
          <p:cNvSpPr txBox="1"/>
          <p:nvPr/>
        </p:nvSpPr>
        <p:spPr>
          <a:xfrm>
            <a:off x="8432597" y="2788920"/>
            <a:ext cx="2936138"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 · Content coverage</a:t>
            </a:r>
            <a:endParaRPr lang="en-US" sz="1500" dirty="0"/>
          </a:p>
          <a:p>
            <a:pPr marL="342900" indent="-342900">
              <a:spcAft>
                <a:spcPts val="600"/>
              </a:spcAft>
              <a:buSzPct val="100000"/>
              <a:buChar char="•"/>
            </a:pPr>
            <a:r>
              <a:rPr lang="en-US" sz="1500" dirty="0">
                <a:solidFill>
                  <a:schemeClr val="tx1"/>
                </a:solidFill>
              </a:rPr>
              <a:t>F · Personalization &amp; experience</a:t>
            </a:r>
            <a:endParaRPr lang="en-US" sz="1500" dirty="0"/>
          </a:p>
        </p:txBody>
      </p:sp>
      <p:sp>
        <p:nvSpPr>
          <p:cNvPr id="25" name="Text 23"/>
          <p:cNvSpPr txBox="1"/>
          <p:nvPr/>
        </p:nvSpPr>
        <p:spPr>
          <a:xfrm>
            <a:off x="8432597" y="4480560"/>
            <a:ext cx="2936138" cy="640080"/>
          </a:xfrm>
          <a:prstGeom prst="rect">
            <a:avLst/>
          </a:prstGeom>
          <a:noFill/>
          <a:ln/>
        </p:spPr>
        <p:txBody>
          <a:bodyPr wrap="square" lIns="0" tIns="0" rIns="0" bIns="0" rtlCol="0" anchor="t"/>
          <a:lstStyle/>
          <a:p>
            <a:pPr indent="0" marL="0">
              <a:buNone/>
            </a:pPr>
            <a:r>
              <a:rPr lang="en-US" sz="1400" i="1" dirty="0">
                <a:solidFill>
                  <a:schemeClr val="accent1"/>
                </a:solidFill>
              </a:rPr>
              <a:t>More formats, saved searches, landing page</a:t>
            </a:r>
            <a:endParaRPr lang="en-US" sz="1400" dirty="0"/>
          </a:p>
        </p:txBody>
      </p:sp>
      <p:sp>
        <p:nvSpPr>
          <p:cNvPr id="26" name="Text 24"/>
          <p:cNvSpPr txBox="1"/>
          <p:nvPr/>
        </p:nvSpPr>
        <p:spPr>
          <a:xfrm>
            <a:off x="8432597" y="5440680"/>
            <a:ext cx="2936138" cy="320040"/>
          </a:xfrm>
          <a:prstGeom prst="rect">
            <a:avLst/>
          </a:prstGeom>
          <a:noFill/>
          <a:ln/>
        </p:spPr>
        <p:txBody>
          <a:bodyPr wrap="square" lIns="0" tIns="0" rIns="0" bIns="0" rtlCol="0" anchor="t"/>
          <a:lstStyle/>
          <a:p>
            <a:pPr indent="0" marL="0">
              <a:buNone/>
            </a:pPr>
            <a:r>
              <a:rPr lang="en-US" sz="1200" dirty="0">
                <a:solidFill>
                  <a:schemeClr val="accent5"/>
                </a:solidFill>
              </a:rPr>
              <a:t>Owner: TBD  ·  Target: TBD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Quick wins we can ship next sprint</a:t>
            </a:r>
            <a:endParaRPr lang="en-US" sz="3200" dirty="0"/>
          </a:p>
        </p:txBody>
      </p:sp>
      <p:sp>
        <p:nvSpPr>
          <p:cNvPr id="3" name="Quick win 1"/>
          <p:cNvSpPr/>
          <p:nvPr/>
        </p:nvSpPr>
        <p:spPr>
          <a:xfrm>
            <a:off x="548640" y="1463040"/>
            <a:ext cx="3484778" cy="2011680"/>
          </a:xfrm>
          <a:prstGeom prst="roundRect">
            <a:avLst>
              <a:gd name="adj" fmla="val 3636"/>
            </a:avLst>
          </a:prstGeom>
          <a:solidFill>
            <a:schemeClr val="bg2"/>
          </a:solidFill>
          <a:ln/>
        </p:spPr>
      </p:sp>
      <p:sp>
        <p:nvSpPr>
          <p:cNvPr id="4" name="Audit-log lifecycle changes &amp; deletes circle"/>
          <p:cNvSpPr/>
          <p:nvPr/>
        </p:nvSpPr>
        <p:spPr>
          <a:xfrm>
            <a:off x="822960" y="1737360"/>
            <a:ext cx="548640" cy="548640"/>
          </a:xfrm>
          <a:prstGeom prst="ellipse">
            <a:avLst/>
          </a:prstGeom>
          <a:solidFill>
            <a:schemeClr val="accent1"/>
          </a:solidFill>
          <a:ln/>
        </p:spPr>
      </p:sp>
      <p:pic>
        <p:nvPicPr>
          <p:cNvPr id="5" name="Audit-log lifecycle changes &amp; deletes icon" descr="Audit-log lifecycle changes &amp; deletes">    </p:cNvPr>
          <p:cNvPicPr>
            <a:picLocks noChangeAspect="1"/>
          </p:cNvPicPr>
          <p:nvPr/>
        </p:nvPicPr>
        <p:blipFill>
          <a:blip r:embed="rId1"/>
          <a:stretch>
            <a:fillRect/>
          </a:stretch>
        </p:blipFill>
        <p:spPr>
          <a:xfrm>
            <a:off x="960120" y="1874520"/>
            <a:ext cx="274320" cy="274320"/>
          </a:xfrm>
          <a:prstGeom prst="rect">
            <a:avLst/>
          </a:prstGeom>
        </p:spPr>
      </p:pic>
      <p:sp>
        <p:nvSpPr>
          <p:cNvPr id="6" name="Text 3"/>
          <p:cNvSpPr txBox="1"/>
          <p:nvPr/>
        </p:nvSpPr>
        <p:spPr>
          <a:xfrm>
            <a:off x="822960" y="2423160"/>
            <a:ext cx="2936138" cy="594360"/>
          </a:xfrm>
          <a:prstGeom prst="rect">
            <a:avLst/>
          </a:prstGeom>
          <a:noFill/>
          <a:ln/>
        </p:spPr>
        <p:txBody>
          <a:bodyPr wrap="square" lIns="0" tIns="0" rIns="0" bIns="0" rtlCol="0" anchor="t"/>
          <a:lstStyle/>
          <a:p>
            <a:pPr indent="0" marL="0">
              <a:buNone/>
            </a:pPr>
            <a:r>
              <a:rPr lang="en-US" sz="1700" b="1" dirty="0">
                <a:solidFill>
                  <a:schemeClr val="tx2"/>
                </a:solidFill>
              </a:rPr>
              <a:t>Audit-log lifecycle changes &amp; deletes</a:t>
            </a:r>
            <a:endParaRPr lang="en-US" sz="1700" dirty="0"/>
          </a:p>
        </p:txBody>
      </p:sp>
      <p:sp>
        <p:nvSpPr>
          <p:cNvPr id="7" name="Text 4"/>
          <p:cNvSpPr txBox="1"/>
          <p:nvPr/>
        </p:nvSpPr>
        <p:spPr>
          <a:xfrm>
            <a:off x="822960" y="303580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Moves #23 · Risk 3</a:t>
            </a:r>
            <a:endParaRPr lang="en-US" sz="1300" dirty="0"/>
          </a:p>
        </p:txBody>
      </p:sp>
      <p:sp>
        <p:nvSpPr>
          <p:cNvPr id="8" name="Quick win 2"/>
          <p:cNvSpPr/>
          <p:nvPr/>
        </p:nvSpPr>
        <p:spPr>
          <a:xfrm>
            <a:off x="4353458" y="1463040"/>
            <a:ext cx="3484778" cy="2011680"/>
          </a:xfrm>
          <a:prstGeom prst="roundRect">
            <a:avLst>
              <a:gd name="adj" fmla="val 3636"/>
            </a:avLst>
          </a:prstGeom>
          <a:solidFill>
            <a:schemeClr val="bg2"/>
          </a:solidFill>
          <a:ln/>
        </p:spPr>
      </p:sp>
      <p:sp>
        <p:nvSpPr>
          <p:cNvPr id="9" name="Encrypt the stored OpenAI key circle"/>
          <p:cNvSpPr/>
          <p:nvPr/>
        </p:nvSpPr>
        <p:spPr>
          <a:xfrm>
            <a:off x="4627778" y="1737360"/>
            <a:ext cx="548640" cy="548640"/>
          </a:xfrm>
          <a:prstGeom prst="ellipse">
            <a:avLst/>
          </a:prstGeom>
          <a:solidFill>
            <a:schemeClr val="accent1"/>
          </a:solidFill>
          <a:ln/>
        </p:spPr>
      </p:sp>
      <p:pic>
        <p:nvPicPr>
          <p:cNvPr id="10" name="Encrypt the stored OpenAI key icon" descr="Encrypt the stored OpenAI key">    </p:cNvPr>
          <p:cNvPicPr>
            <a:picLocks noChangeAspect="1"/>
          </p:cNvPicPr>
          <p:nvPr/>
        </p:nvPicPr>
        <p:blipFill>
          <a:blip r:embed="rId2"/>
          <a:stretch>
            <a:fillRect/>
          </a:stretch>
        </p:blipFill>
        <p:spPr>
          <a:xfrm>
            <a:off x="4764938" y="1874520"/>
            <a:ext cx="274320" cy="274320"/>
          </a:xfrm>
          <a:prstGeom prst="rect">
            <a:avLst/>
          </a:prstGeom>
        </p:spPr>
      </p:pic>
      <p:sp>
        <p:nvSpPr>
          <p:cNvPr id="11" name="Text 7"/>
          <p:cNvSpPr txBox="1"/>
          <p:nvPr/>
        </p:nvSpPr>
        <p:spPr>
          <a:xfrm>
            <a:off x="4627778" y="2423160"/>
            <a:ext cx="2936138" cy="594360"/>
          </a:xfrm>
          <a:prstGeom prst="rect">
            <a:avLst/>
          </a:prstGeom>
          <a:noFill/>
          <a:ln/>
        </p:spPr>
        <p:txBody>
          <a:bodyPr wrap="square" lIns="0" tIns="0" rIns="0" bIns="0" rtlCol="0" anchor="t"/>
          <a:lstStyle/>
          <a:p>
            <a:pPr indent="0" marL="0">
              <a:buNone/>
            </a:pPr>
            <a:r>
              <a:rPr lang="en-US" sz="1700" b="1" dirty="0">
                <a:solidFill>
                  <a:schemeClr val="tx2"/>
                </a:solidFill>
              </a:rPr>
              <a:t>Encrypt the stored OpenAI key</a:t>
            </a:r>
            <a:endParaRPr lang="en-US" sz="1700" dirty="0"/>
          </a:p>
        </p:txBody>
      </p:sp>
      <p:sp>
        <p:nvSpPr>
          <p:cNvPr id="12" name="Text 8"/>
          <p:cNvSpPr txBox="1"/>
          <p:nvPr/>
        </p:nvSpPr>
        <p:spPr>
          <a:xfrm>
            <a:off x="4627778" y="303580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Proposal security commitment</a:t>
            </a:r>
            <a:endParaRPr lang="en-US" sz="1300" dirty="0"/>
          </a:p>
        </p:txBody>
      </p:sp>
      <p:sp>
        <p:nvSpPr>
          <p:cNvPr id="13" name="Quick win 3"/>
          <p:cNvSpPr/>
          <p:nvPr/>
        </p:nvSpPr>
        <p:spPr>
          <a:xfrm>
            <a:off x="8158277" y="1463040"/>
            <a:ext cx="3484778" cy="2011680"/>
          </a:xfrm>
          <a:prstGeom prst="roundRect">
            <a:avLst>
              <a:gd name="adj" fmla="val 3636"/>
            </a:avLst>
          </a:prstGeom>
          <a:solidFill>
            <a:schemeClr val="bg2"/>
          </a:solidFill>
          <a:ln/>
        </p:spPr>
      </p:sp>
      <p:sp>
        <p:nvSpPr>
          <p:cNvPr id="14" name="PPTX text extraction circle"/>
          <p:cNvSpPr/>
          <p:nvPr/>
        </p:nvSpPr>
        <p:spPr>
          <a:xfrm>
            <a:off x="8432597" y="1737360"/>
            <a:ext cx="548640" cy="548640"/>
          </a:xfrm>
          <a:prstGeom prst="ellipse">
            <a:avLst/>
          </a:prstGeom>
          <a:solidFill>
            <a:schemeClr val="accent1"/>
          </a:solidFill>
          <a:ln/>
        </p:spPr>
      </p:sp>
      <p:pic>
        <p:nvPicPr>
          <p:cNvPr id="15" name="PPTX text extraction icon" descr="PPTX text extraction">    </p:cNvPr>
          <p:cNvPicPr>
            <a:picLocks noChangeAspect="1"/>
          </p:cNvPicPr>
          <p:nvPr/>
        </p:nvPicPr>
        <p:blipFill>
          <a:blip r:embed="rId3"/>
          <a:stretch>
            <a:fillRect/>
          </a:stretch>
        </p:blipFill>
        <p:spPr>
          <a:xfrm>
            <a:off x="8569757" y="1874520"/>
            <a:ext cx="274320" cy="274320"/>
          </a:xfrm>
          <a:prstGeom prst="rect">
            <a:avLst/>
          </a:prstGeom>
        </p:spPr>
      </p:pic>
      <p:sp>
        <p:nvSpPr>
          <p:cNvPr id="16" name="Text 11"/>
          <p:cNvSpPr txBox="1"/>
          <p:nvPr/>
        </p:nvSpPr>
        <p:spPr>
          <a:xfrm>
            <a:off x="8432597" y="2423160"/>
            <a:ext cx="2936138" cy="594360"/>
          </a:xfrm>
          <a:prstGeom prst="rect">
            <a:avLst/>
          </a:prstGeom>
          <a:noFill/>
          <a:ln/>
        </p:spPr>
        <p:txBody>
          <a:bodyPr wrap="square" lIns="0" tIns="0" rIns="0" bIns="0" rtlCol="0" anchor="t"/>
          <a:lstStyle/>
          <a:p>
            <a:pPr indent="0" marL="0">
              <a:buNone/>
            </a:pPr>
            <a:r>
              <a:rPr lang="en-US" sz="1700" b="1" dirty="0">
                <a:solidFill>
                  <a:schemeClr val="tx2"/>
                </a:solidFill>
              </a:rPr>
              <a:t>PPTX text extraction</a:t>
            </a:r>
            <a:endParaRPr lang="en-US" sz="1700" dirty="0"/>
          </a:p>
        </p:txBody>
      </p:sp>
      <p:sp>
        <p:nvSpPr>
          <p:cNvPr id="17" name="Text 12"/>
          <p:cNvSpPr txBox="1"/>
          <p:nvPr/>
        </p:nvSpPr>
        <p:spPr>
          <a:xfrm>
            <a:off x="8432597" y="303580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Moves #11</a:t>
            </a:r>
            <a:endParaRPr lang="en-US" sz="1300" dirty="0"/>
          </a:p>
        </p:txBody>
      </p:sp>
      <p:sp>
        <p:nvSpPr>
          <p:cNvPr id="18" name="Quick win 4"/>
          <p:cNvSpPr/>
          <p:nvPr/>
        </p:nvSpPr>
        <p:spPr>
          <a:xfrm>
            <a:off x="548640" y="3794760"/>
            <a:ext cx="3484778" cy="2011680"/>
          </a:xfrm>
          <a:prstGeom prst="roundRect">
            <a:avLst>
              <a:gd name="adj" fmla="val 3636"/>
            </a:avLst>
          </a:prstGeom>
          <a:solidFill>
            <a:schemeClr val="bg2"/>
          </a:solidFill>
          <a:ln/>
        </p:spPr>
      </p:sp>
      <p:sp>
        <p:nvSpPr>
          <p:cNvPr id="19" name="Log search queries &amp; no-results circle"/>
          <p:cNvSpPr/>
          <p:nvPr/>
        </p:nvSpPr>
        <p:spPr>
          <a:xfrm>
            <a:off x="822960" y="4069080"/>
            <a:ext cx="548640" cy="548640"/>
          </a:xfrm>
          <a:prstGeom prst="ellipse">
            <a:avLst/>
          </a:prstGeom>
          <a:solidFill>
            <a:schemeClr val="accent1"/>
          </a:solidFill>
          <a:ln/>
        </p:spPr>
      </p:sp>
      <p:pic>
        <p:nvPicPr>
          <p:cNvPr id="20" name="Log search queries &amp; no-results icon" descr="Log search queries &amp; no-results">    </p:cNvPr>
          <p:cNvPicPr>
            <a:picLocks noChangeAspect="1"/>
          </p:cNvPicPr>
          <p:nvPr/>
        </p:nvPicPr>
        <p:blipFill>
          <a:blip r:embed="rId4"/>
          <a:stretch>
            <a:fillRect/>
          </a:stretch>
        </p:blipFill>
        <p:spPr>
          <a:xfrm>
            <a:off x="960120" y="4206240"/>
            <a:ext cx="274320" cy="274320"/>
          </a:xfrm>
          <a:prstGeom prst="rect">
            <a:avLst/>
          </a:prstGeom>
        </p:spPr>
      </p:pic>
      <p:sp>
        <p:nvSpPr>
          <p:cNvPr id="21" name="Text 15"/>
          <p:cNvSpPr txBox="1"/>
          <p:nvPr/>
        </p:nvSpPr>
        <p:spPr>
          <a:xfrm>
            <a:off x="822960" y="4754880"/>
            <a:ext cx="2936138" cy="594360"/>
          </a:xfrm>
          <a:prstGeom prst="rect">
            <a:avLst/>
          </a:prstGeom>
          <a:noFill/>
          <a:ln/>
        </p:spPr>
        <p:txBody>
          <a:bodyPr wrap="square" lIns="0" tIns="0" rIns="0" bIns="0" rtlCol="0" anchor="t"/>
          <a:lstStyle/>
          <a:p>
            <a:pPr indent="0" marL="0">
              <a:buNone/>
            </a:pPr>
            <a:r>
              <a:rPr lang="en-US" sz="1700" b="1" dirty="0">
                <a:solidFill>
                  <a:schemeClr val="tx2"/>
                </a:solidFill>
              </a:rPr>
              <a:t>Log search queries &amp; no-results</a:t>
            </a:r>
            <a:endParaRPr lang="en-US" sz="1700" dirty="0"/>
          </a:p>
        </p:txBody>
      </p:sp>
      <p:sp>
        <p:nvSpPr>
          <p:cNvPr id="22" name="Text 16"/>
          <p:cNvSpPr txBox="1"/>
          <p:nvPr/>
        </p:nvSpPr>
        <p:spPr>
          <a:xfrm>
            <a:off x="822960" y="536752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Moves #29, #30</a:t>
            </a:r>
            <a:endParaRPr lang="en-US" sz="1300" dirty="0"/>
          </a:p>
        </p:txBody>
      </p:sp>
      <p:sp>
        <p:nvSpPr>
          <p:cNvPr id="23" name="Quick win 5"/>
          <p:cNvSpPr/>
          <p:nvPr/>
        </p:nvSpPr>
        <p:spPr>
          <a:xfrm>
            <a:off x="4353458" y="3794760"/>
            <a:ext cx="3484778" cy="2011680"/>
          </a:xfrm>
          <a:prstGeom prst="roundRect">
            <a:avLst>
              <a:gd name="adj" fmla="val 3636"/>
            </a:avLst>
          </a:prstGeom>
          <a:solidFill>
            <a:schemeClr val="bg2"/>
          </a:solidFill>
          <a:ln/>
        </p:spPr>
      </p:sp>
      <p:sp>
        <p:nvSpPr>
          <p:cNvPr id="24" name="Schedule stale-content, gap &amp; sync jobs circle"/>
          <p:cNvSpPr/>
          <p:nvPr/>
        </p:nvSpPr>
        <p:spPr>
          <a:xfrm>
            <a:off x="4627778" y="4069080"/>
            <a:ext cx="548640" cy="548640"/>
          </a:xfrm>
          <a:prstGeom prst="ellipse">
            <a:avLst/>
          </a:prstGeom>
          <a:solidFill>
            <a:schemeClr val="accent1"/>
          </a:solidFill>
          <a:ln/>
        </p:spPr>
      </p:sp>
      <p:pic>
        <p:nvPicPr>
          <p:cNvPr id="25" name="Schedule stale-content, gap &amp; sync jobs icon" descr="Schedule stale-content, gap &amp; sync jobs">    </p:cNvPr>
          <p:cNvPicPr>
            <a:picLocks noChangeAspect="1"/>
          </p:cNvPicPr>
          <p:nvPr/>
        </p:nvPicPr>
        <p:blipFill>
          <a:blip r:embed="rId5"/>
          <a:stretch>
            <a:fillRect/>
          </a:stretch>
        </p:blipFill>
        <p:spPr>
          <a:xfrm>
            <a:off x="4764938" y="4206240"/>
            <a:ext cx="274320" cy="274320"/>
          </a:xfrm>
          <a:prstGeom prst="rect">
            <a:avLst/>
          </a:prstGeom>
        </p:spPr>
      </p:pic>
      <p:sp>
        <p:nvSpPr>
          <p:cNvPr id="26" name="Text 19"/>
          <p:cNvSpPr txBox="1"/>
          <p:nvPr/>
        </p:nvSpPr>
        <p:spPr>
          <a:xfrm>
            <a:off x="4627778" y="4754880"/>
            <a:ext cx="2936138" cy="594360"/>
          </a:xfrm>
          <a:prstGeom prst="rect">
            <a:avLst/>
          </a:prstGeom>
          <a:noFill/>
          <a:ln/>
        </p:spPr>
        <p:txBody>
          <a:bodyPr wrap="square" lIns="0" tIns="0" rIns="0" bIns="0" rtlCol="0" anchor="t"/>
          <a:lstStyle/>
          <a:p>
            <a:pPr indent="0" marL="0">
              <a:buNone/>
            </a:pPr>
            <a:r>
              <a:rPr lang="en-US" sz="1700" b="1" dirty="0">
                <a:solidFill>
                  <a:schemeClr val="tx2"/>
                </a:solidFill>
              </a:rPr>
              <a:t>Schedule stale-content, gap &amp; sync jobs</a:t>
            </a:r>
            <a:endParaRPr lang="en-US" sz="1700" dirty="0"/>
          </a:p>
        </p:txBody>
      </p:sp>
      <p:sp>
        <p:nvSpPr>
          <p:cNvPr id="27" name="Text 20"/>
          <p:cNvSpPr txBox="1"/>
          <p:nvPr/>
        </p:nvSpPr>
        <p:spPr>
          <a:xfrm>
            <a:off x="4627778" y="536752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Moves #2, #26</a:t>
            </a:r>
            <a:endParaRPr lang="en-US" sz="1300" dirty="0"/>
          </a:p>
        </p:txBody>
      </p:sp>
      <p:sp>
        <p:nvSpPr>
          <p:cNvPr id="28" name="Quick win 6"/>
          <p:cNvSpPr/>
          <p:nvPr/>
        </p:nvSpPr>
        <p:spPr>
          <a:xfrm>
            <a:off x="8158277" y="3794760"/>
            <a:ext cx="3484778" cy="2011680"/>
          </a:xfrm>
          <a:prstGeom prst="roundRect">
            <a:avLst>
              <a:gd name="adj" fmla="val 3636"/>
            </a:avLst>
          </a:prstGeom>
          <a:solidFill>
            <a:schemeClr val="bg2"/>
          </a:solidFill>
          <a:ln/>
        </p:spPr>
      </p:sp>
      <p:sp>
        <p:nvSpPr>
          <p:cNvPr id="29" name="Answer box on the search page circle"/>
          <p:cNvSpPr/>
          <p:nvPr/>
        </p:nvSpPr>
        <p:spPr>
          <a:xfrm>
            <a:off x="8432597" y="4069080"/>
            <a:ext cx="548640" cy="548640"/>
          </a:xfrm>
          <a:prstGeom prst="ellipse">
            <a:avLst/>
          </a:prstGeom>
          <a:solidFill>
            <a:schemeClr val="accent1"/>
          </a:solidFill>
          <a:ln/>
        </p:spPr>
      </p:sp>
      <p:pic>
        <p:nvPicPr>
          <p:cNvPr id="30" name="Answer box on the search page icon" descr="Answer box on the search page">    </p:cNvPr>
          <p:cNvPicPr>
            <a:picLocks noChangeAspect="1"/>
          </p:cNvPicPr>
          <p:nvPr/>
        </p:nvPicPr>
        <p:blipFill>
          <a:blip r:embed="rId6"/>
          <a:stretch>
            <a:fillRect/>
          </a:stretch>
        </p:blipFill>
        <p:spPr>
          <a:xfrm>
            <a:off x="8569757" y="4206240"/>
            <a:ext cx="274320" cy="274320"/>
          </a:xfrm>
          <a:prstGeom prst="rect">
            <a:avLst/>
          </a:prstGeom>
        </p:spPr>
      </p:pic>
      <p:sp>
        <p:nvSpPr>
          <p:cNvPr id="31" name="Text 23"/>
          <p:cNvSpPr txBox="1"/>
          <p:nvPr/>
        </p:nvSpPr>
        <p:spPr>
          <a:xfrm>
            <a:off x="8432597" y="4754880"/>
            <a:ext cx="2936138" cy="594360"/>
          </a:xfrm>
          <a:prstGeom prst="rect">
            <a:avLst/>
          </a:prstGeom>
          <a:noFill/>
          <a:ln/>
        </p:spPr>
        <p:txBody>
          <a:bodyPr wrap="square" lIns="0" tIns="0" rIns="0" bIns="0" rtlCol="0" anchor="t"/>
          <a:lstStyle/>
          <a:p>
            <a:pPr indent="0" marL="0">
              <a:buNone/>
            </a:pPr>
            <a:r>
              <a:rPr lang="en-US" sz="1700" b="1" dirty="0">
                <a:solidFill>
                  <a:schemeClr val="tx2"/>
                </a:solidFill>
              </a:rPr>
              <a:t>Answer box on the search page</a:t>
            </a:r>
            <a:endParaRPr lang="en-US" sz="1700" dirty="0"/>
          </a:p>
        </p:txBody>
      </p:sp>
      <p:sp>
        <p:nvSpPr>
          <p:cNvPr id="32" name="Text 24"/>
          <p:cNvSpPr txBox="1"/>
          <p:nvPr/>
        </p:nvSpPr>
        <p:spPr>
          <a:xfrm>
            <a:off x="8432597" y="5367528"/>
            <a:ext cx="2936138" cy="320040"/>
          </a:xfrm>
          <a:prstGeom prst="rect">
            <a:avLst/>
          </a:prstGeom>
          <a:noFill/>
          <a:ln/>
        </p:spPr>
        <p:txBody>
          <a:bodyPr wrap="square" lIns="0" tIns="0" rIns="0" bIns="0" rtlCol="0" anchor="t"/>
          <a:lstStyle/>
          <a:p>
            <a:pPr indent="0" marL="0">
              <a:buNone/>
            </a:pPr>
            <a:r>
              <a:rPr lang="en-US" sz="1300" dirty="0">
                <a:solidFill>
                  <a:schemeClr val="accent5"/>
                </a:solidFill>
              </a:rPr>
              <a:t>Aligns #7 with the RFI</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bg1"/>
                </a:solidFill>
              </a:rPr>
              <a:t>Decisions needed</a:t>
            </a:r>
            <a:endParaRPr lang="en-US" sz="3200" dirty="0"/>
          </a:p>
        </p:txBody>
      </p:sp>
      <p:sp>
        <p:nvSpPr>
          <p:cNvPr id="3" name="Decision 1 circle"/>
          <p:cNvSpPr/>
          <p:nvPr/>
        </p:nvSpPr>
        <p:spPr>
          <a:xfrm>
            <a:off x="548640" y="1463040"/>
            <a:ext cx="594360" cy="594360"/>
          </a:xfrm>
          <a:prstGeom prst="ellipse">
            <a:avLst/>
          </a:prstGeom>
          <a:solidFill>
            <a:schemeClr val="accent1"/>
          </a:solidFill>
          <a:ln/>
        </p:spPr>
      </p:sp>
      <p:sp>
        <p:nvSpPr>
          <p:cNvPr id="4" name="Decision 1 number"/>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417320" y="1371600"/>
            <a:ext cx="10180015" cy="777240"/>
          </a:xfrm>
          <a:prstGeom prst="rect">
            <a:avLst/>
          </a:prstGeom>
          <a:noFill/>
          <a:ln/>
        </p:spPr>
        <p:txBody>
          <a:bodyPr wrap="square" lIns="0" tIns="0" rIns="0" bIns="0" rtlCol="0" anchor="ctr"/>
          <a:lstStyle/>
          <a:p>
            <a:pPr indent="0" marL="0">
              <a:buNone/>
            </a:pPr>
            <a:r>
              <a:rPr lang="en-US" sz="2000" b="1" dirty="0">
                <a:solidFill>
                  <a:schemeClr val="bg1"/>
                </a:solidFill>
              </a:rPr>
              <a:t>Agree the phase order and an owner per workstream</a:t>
            </a:r>
            <a:endParaRPr lang="en-US" sz="2000" dirty="0"/>
          </a:p>
        </p:txBody>
      </p:sp>
      <p:sp>
        <p:nvSpPr>
          <p:cNvPr id="6" name="Decision 2 circle"/>
          <p:cNvSpPr/>
          <p:nvPr/>
        </p:nvSpPr>
        <p:spPr>
          <a:xfrm>
            <a:off x="548640" y="2377440"/>
            <a:ext cx="594360" cy="594360"/>
          </a:xfrm>
          <a:prstGeom prst="ellipse">
            <a:avLst/>
          </a:prstGeom>
          <a:solidFill>
            <a:schemeClr val="accent1"/>
          </a:solidFill>
          <a:ln/>
        </p:spPr>
      </p:sp>
      <p:sp>
        <p:nvSpPr>
          <p:cNvPr id="7" name="Decision 2 number"/>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6"/>
          <p:cNvSpPr txBox="1"/>
          <p:nvPr/>
        </p:nvSpPr>
        <p:spPr>
          <a:xfrm>
            <a:off x="1417320" y="2286000"/>
            <a:ext cx="10180015" cy="777240"/>
          </a:xfrm>
          <a:prstGeom prst="rect">
            <a:avLst/>
          </a:prstGeom>
          <a:noFill/>
          <a:ln/>
        </p:spPr>
        <p:txBody>
          <a:bodyPr wrap="square" lIns="0" tIns="0" rIns="0" bIns="0" rtlCol="0" anchor="ctr"/>
          <a:lstStyle/>
          <a:p>
            <a:pPr indent="0" marL="0">
              <a:buNone/>
            </a:pPr>
            <a:r>
              <a:rPr lang="en-US" sz="2000" b="1" dirty="0">
                <a:solidFill>
                  <a:schemeClr val="bg1"/>
                </a:solidFill>
              </a:rPr>
              <a:t>Set a target date for 32 / 32 readiness</a:t>
            </a:r>
            <a:endParaRPr lang="en-US" sz="2000" dirty="0"/>
          </a:p>
        </p:txBody>
      </p:sp>
      <p:sp>
        <p:nvSpPr>
          <p:cNvPr id="9" name="Decision 3 circle"/>
          <p:cNvSpPr/>
          <p:nvPr/>
        </p:nvSpPr>
        <p:spPr>
          <a:xfrm>
            <a:off x="548640" y="3291840"/>
            <a:ext cx="594360" cy="594360"/>
          </a:xfrm>
          <a:prstGeom prst="ellipse">
            <a:avLst/>
          </a:prstGeom>
          <a:solidFill>
            <a:schemeClr val="accent1"/>
          </a:solidFill>
          <a:ln/>
        </p:spPr>
      </p:sp>
      <p:sp>
        <p:nvSpPr>
          <p:cNvPr id="10" name="Decision 3 number"/>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9"/>
          <p:cNvSpPr txBox="1"/>
          <p:nvPr/>
        </p:nvSpPr>
        <p:spPr>
          <a:xfrm>
            <a:off x="1417320" y="3200400"/>
            <a:ext cx="10180015" cy="777240"/>
          </a:xfrm>
          <a:prstGeom prst="rect">
            <a:avLst/>
          </a:prstGeom>
          <a:noFill/>
          <a:ln/>
        </p:spPr>
        <p:txBody>
          <a:bodyPr wrap="square" lIns="0" tIns="0" rIns="0" bIns="0" rtlCol="0" anchor="ctr"/>
          <a:lstStyle/>
          <a:p>
            <a:pPr indent="0" marL="0">
              <a:buNone/>
            </a:pPr>
            <a:r>
              <a:rPr lang="en-US" sz="2000" b="1" dirty="0">
                <a:solidFill>
                  <a:schemeClr val="bg1"/>
                </a:solidFill>
              </a:rPr>
              <a:t>Get test environments</a:t>
            </a:r>
            <a:endParaRPr lang="en-US" sz="2000" dirty="0"/>
          </a:p>
          <a:p>
            <a:pPr indent="0" marL="0">
              <a:buNone/>
            </a:pPr>
            <a:r>
              <a:rPr lang="en-US" sz="1500" dirty="0">
                <a:solidFill>
                  <a:schemeClr val="bg2"/>
                </a:solidFill>
              </a:rPr>
              <a:t>ServiceNow, Content Server, and a SharePoint tenant with per-file permissions</a:t>
            </a:r>
            <a:endParaRPr lang="en-US" sz="2000" dirty="0"/>
          </a:p>
        </p:txBody>
      </p:sp>
      <p:sp>
        <p:nvSpPr>
          <p:cNvPr id="12" name="Decision 4 circle"/>
          <p:cNvSpPr/>
          <p:nvPr/>
        </p:nvSpPr>
        <p:spPr>
          <a:xfrm>
            <a:off x="548640" y="4206240"/>
            <a:ext cx="594360" cy="594360"/>
          </a:xfrm>
          <a:prstGeom prst="ellipse">
            <a:avLst/>
          </a:prstGeom>
          <a:solidFill>
            <a:schemeClr val="accent1"/>
          </a:solidFill>
          <a:ln/>
        </p:spPr>
      </p:sp>
      <p:sp>
        <p:nvSpPr>
          <p:cNvPr id="13" name="Decision 4 number"/>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2"/>
          <p:cNvSpPr txBox="1"/>
          <p:nvPr/>
        </p:nvSpPr>
        <p:spPr>
          <a:xfrm>
            <a:off x="1417320" y="4114800"/>
            <a:ext cx="10180015" cy="777240"/>
          </a:xfrm>
          <a:prstGeom prst="rect">
            <a:avLst/>
          </a:prstGeom>
          <a:noFill/>
          <a:ln/>
        </p:spPr>
        <p:txBody>
          <a:bodyPr wrap="square" lIns="0" tIns="0" rIns="0" bIns="0" rtlCol="0" anchor="ctr"/>
          <a:lstStyle/>
          <a:p>
            <a:pPr indent="0" marL="0">
              <a:buNone/>
            </a:pPr>
            <a:r>
              <a:rPr lang="en-US" sz="2000" b="1" dirty="0">
                <a:solidFill>
                  <a:schemeClr val="bg1"/>
                </a:solidFill>
              </a:rPr>
              <a:t>Find out which taxonomy tool NYPA uses</a:t>
            </a:r>
            <a:endParaRPr lang="en-US" sz="2000" dirty="0"/>
          </a:p>
        </p:txBody>
      </p:sp>
      <p:sp>
        <p:nvSpPr>
          <p:cNvPr id="15" name="Decision 5 circle"/>
          <p:cNvSpPr/>
          <p:nvPr/>
        </p:nvSpPr>
        <p:spPr>
          <a:xfrm>
            <a:off x="548640" y="5120640"/>
            <a:ext cx="594360" cy="594360"/>
          </a:xfrm>
          <a:prstGeom prst="ellipse">
            <a:avLst/>
          </a:prstGeom>
          <a:solidFill>
            <a:schemeClr val="accent1"/>
          </a:solidFill>
          <a:ln/>
        </p:spPr>
      </p:sp>
      <p:sp>
        <p:nvSpPr>
          <p:cNvPr id="16" name="Decision 5 number"/>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Text 15"/>
          <p:cNvSpPr txBox="1"/>
          <p:nvPr/>
        </p:nvSpPr>
        <p:spPr>
          <a:xfrm>
            <a:off x="1417320" y="5029200"/>
            <a:ext cx="10180015" cy="777240"/>
          </a:xfrm>
          <a:prstGeom prst="rect">
            <a:avLst/>
          </a:prstGeom>
          <a:noFill/>
          <a:ln/>
        </p:spPr>
        <p:txBody>
          <a:bodyPr wrap="square" lIns="0" tIns="0" rIns="0" bIns="0" rtlCol="0" anchor="ctr"/>
          <a:lstStyle/>
          <a:p>
            <a:pPr indent="0" marL="0">
              <a:buNone/>
            </a:pPr>
            <a:r>
              <a:rPr lang="en-US" sz="2000" b="1" dirty="0">
                <a:solidFill>
                  <a:schemeClr val="bg1"/>
                </a:solidFill>
              </a:rPr>
              <a:t>Request RFI Attachment 2</a:t>
            </a:r>
            <a:endParaRPr lang="en-US" sz="2000" dirty="0"/>
          </a:p>
          <a:p>
            <a:pPr indent="0" marL="0">
              <a:buNone/>
            </a:pPr>
            <a:r>
              <a:rPr lang="en-US" sz="1500" dirty="0">
                <a:solidFill>
                  <a:schemeClr val="bg2"/>
                </a:solidFill>
              </a:rPr>
              <a:t>The detailed use-case form, which may add requirements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A1 · Full requirement status (1 of 4)</a:t>
            </a:r>
            <a:endParaRPr lang="en-US" sz="3200" dirty="0"/>
          </a:p>
        </p:txBody>
      </p:sp>
      <p:graphicFrame>
        <p:nvGraphicFramePr>
          <p:cNvPr id="16" name="Requirements table 1"/>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
                <a:gridCol w="4480560"/>
                <a:gridCol w="1097280"/>
                <a:gridCol w="4967935"/>
              </a:tblGrid>
              <a:tr h="384048">
                <a:tc>
                  <a:txBody>
                    <a:bodyPr/>
                    <a:lstStyle/>
                    <a:p>
                      <a:pPr algn="ctr" indent="0" marL="0">
                        <a:buNone/>
                      </a:pPr>
                      <a:r>
                        <a:rPr lang="en-US" sz="1300" b="1" dirty="0">
                          <a:solidFill>
                            <a:srgbClr val="FFFFFF"/>
                          </a:solidFill>
                        </a:rPr>
                        <a: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RFI §3.1 requirement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KMS today / what's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48640">
                <a:tc>
                  <a:txBody>
                    <a:bodyPr/>
                    <a:lstStyle/>
                    <a:p>
                      <a:pPr algn="ctr" indent="0" marL="0">
                        <a:buNone/>
                      </a:pPr>
                      <a:r>
                        <a:rPr lang="en-US" sz="1300" b="1" dirty="0">
                          <a:solidFill>
                            <a:schemeClr val="accent5"/>
                          </a:solidFill>
                        </a:rPr>
                        <a:t>1</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Customizable landing page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Org dashboard exists; no admin-configurable landing page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Unified search incl. SharePoint (mandatory), Content Server, ServiceNow; respects permissions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SharePoint file sync; permissions per site, not per file; no Content Server or ServiceNow</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3</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Hybrid keyword + ontology-driven search</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Vector + BM25 + query and graph expansion; no ontology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4</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Faceted navigation on taxonomy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Flat repository filters; no taxonomy facets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5</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Role-based discovery, saved searches, watchlists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Role-scoped discovery, starred docs; no saved searches or watchlists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6</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Recommendations and trending content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Personal recommendations and department trending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7</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Natural-language answers alongside results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Org-wide chat; answer box on search page still to add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8</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Cited, permission-respecting answers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Typed citations; roles applied before generation</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A1 · Full requirement status (2 of 4)</a:t>
            </a:r>
            <a:endParaRPr lang="en-US" sz="3200" dirty="0"/>
          </a:p>
        </p:txBody>
      </p:sp>
      <p:graphicFrame>
        <p:nvGraphicFramePr>
          <p:cNvPr id="17" name="Requirements table 2"/>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
                <a:gridCol w="4480560"/>
                <a:gridCol w="1097280"/>
                <a:gridCol w="4967935"/>
              </a:tblGrid>
              <a:tr h="384048">
                <a:tc>
                  <a:txBody>
                    <a:bodyPr/>
                    <a:lstStyle/>
                    <a:p>
                      <a:pPr algn="ctr" indent="0" marL="0">
                        <a:buNone/>
                      </a:pPr>
                      <a:r>
                        <a:rPr lang="en-US" sz="1300" b="1" dirty="0">
                          <a:solidFill>
                            <a:srgbClr val="FFFFFF"/>
                          </a:solidFill>
                        </a:rPr>
                        <a: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RFI §3.1 requirement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KMS today / what's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48640">
                <a:tc>
                  <a:txBody>
                    <a:bodyPr/>
                    <a:lstStyle/>
                    <a:p>
                      <a:pPr algn="ctr" indent="0" marL="0">
                        <a:buNone/>
                      </a:pPr>
                      <a:r>
                        <a:rPr lang="en-US" sz="1300" b="1" dirty="0">
                          <a:solidFill>
                            <a:schemeClr val="accent5"/>
                          </a:solidFill>
                        </a:rPr>
                        <a:t>9</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Follow-ups and conversational refinement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Conversation and topic context carried forward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10</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Confidence scores and explainability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High/medium/low rating; no numeric score or explanation</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11</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Formats incl. PPT, video, images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PDF (OCR), DOCX, spreadsheets, TXT only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12</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Site pages, wikis, knowledge articles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SharePoint drive files only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13</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Previews and thumbnails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In-app viewer; no thumbnails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14</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Templates for knowledge asset types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None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15</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Managed metadata: hierarchy, synonyms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Fixed 7-value category list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16</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Integrate with NYPA's taxonomy tool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None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A1 · Full requirement status (3 of 4)</a:t>
            </a:r>
            <a:endParaRPr lang="en-US" sz="3200" dirty="0"/>
          </a:p>
        </p:txBody>
      </p:sp>
      <p:graphicFrame>
        <p:nvGraphicFramePr>
          <p:cNvPr id="18" name="Requirements table 3"/>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
                <a:gridCol w="4480560"/>
                <a:gridCol w="1097280"/>
                <a:gridCol w="4967935"/>
              </a:tblGrid>
              <a:tr h="384048">
                <a:tc>
                  <a:txBody>
                    <a:bodyPr/>
                    <a:lstStyle/>
                    <a:p>
                      <a:pPr algn="ctr" indent="0" marL="0">
                        <a:buNone/>
                      </a:pPr>
                      <a:r>
                        <a:rPr lang="en-US" sz="1300" b="1" dirty="0">
                          <a:solidFill>
                            <a:srgbClr val="FFFFFF"/>
                          </a:solidFill>
                        </a:rPr>
                        <a: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RFI §3.1 requirement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KMS today / what's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48640">
                <a:tc>
                  <a:txBody>
                    <a:bodyPr/>
                    <a:lstStyle/>
                    <a:p>
                      <a:pPr algn="ctr" indent="0" marL="0">
                        <a:buNone/>
                      </a:pPr>
                      <a:r>
                        <a:rPr lang="en-US" sz="1300" b="1" dirty="0">
                          <a:solidFill>
                            <a:schemeClr val="accent5"/>
                          </a:solidFill>
                        </a:rPr>
                        <a:t>17</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Graph-enriched search, navigation, chat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Knowledge graph used in all three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18</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Drag-and-drop upload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Batch upload with category and department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19</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Auto description with human review</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AI summaries; no human review step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20</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Auto-classification with human review</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Confidence thresholds + Needs Review queue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21</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Metadata completeness before publishing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Confidence gate only; no required-field rules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22</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Configurable publishing workflow</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Fixed draft → publish state machine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23</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Archive, retire, supersede, delete with audit trail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Archive/retire exist; no supersede, versions or audit log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24</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Ownership and stewardship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Implicit owners; no steward fields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A1 · Full requirement status (4 of 4)</a:t>
            </a:r>
            <a:endParaRPr lang="en-US" sz="3200" dirty="0"/>
          </a:p>
        </p:txBody>
      </p:sp>
      <p:graphicFrame>
        <p:nvGraphicFramePr>
          <p:cNvPr id="19" name="Requirements table 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
                <a:gridCol w="4480560"/>
                <a:gridCol w="1097280"/>
                <a:gridCol w="4967935"/>
              </a:tblGrid>
              <a:tr h="384048">
                <a:tc>
                  <a:txBody>
                    <a:bodyPr/>
                    <a:lstStyle/>
                    <a:p>
                      <a:pPr algn="ctr" indent="0" marL="0">
                        <a:buNone/>
                      </a:pPr>
                      <a:r>
                        <a:rPr lang="en-US" sz="1300" b="1" dirty="0">
                          <a:solidFill>
                            <a:srgbClr val="FFFFFF"/>
                          </a:solidFill>
                        </a:rPr>
                        <a: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RFI §3.1 requirement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KMS today / what's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48640">
                <a:tc>
                  <a:txBody>
                    <a:bodyPr/>
                    <a:lstStyle/>
                    <a:p>
                      <a:pPr algn="ctr" indent="0" marL="0">
                        <a:buNone/>
                      </a:pPr>
                      <a:r>
                        <a:rPr lang="en-US" sz="1300" b="1" dirty="0">
                          <a:solidFill>
                            <a:schemeClr val="accent5"/>
                          </a:solidFill>
                        </a:rPr>
                        <a:t>25</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Configurable review workflows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Review flows fixed in code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26</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Stale content detection and review triggers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Stale suggestions via manual script; no schedule or alerts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27</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Duplicate and near-duplicate detection</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c>
                  <a:txBody>
                    <a:bodyPr/>
                    <a:lstStyle/>
                    <a:p>
                      <a:pPr indent="0" marL="0">
                        <a:buNone/>
                      </a:pPr>
                      <a:r>
                        <a:rPr lang="en-US" sz="1300" dirty="0">
                          <a:solidFill>
                            <a:schemeClr val="tx1"/>
                          </a:solidFill>
                        </a:rPr>
                        <a:t>Exact + near-duplicates, plus contradictions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28</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Content health dashboard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Health panel: confidence, conflicts, gaps only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29</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Usage and adoption dashboard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Data captured; no dashboard or search logging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30</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Search quality metrics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Knowledge gaps tracked; no no-results tracking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31</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Governance metrics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c>
                  <a:txBody>
                    <a:bodyPr/>
                    <a:lstStyle/>
                    <a:p>
                      <a:pPr indent="0" marL="0">
                        <a:buNone/>
                      </a:pPr>
                      <a:r>
                        <a:rPr lang="en-US" sz="1300" dirty="0">
                          <a:solidFill>
                            <a:schemeClr val="tx1"/>
                          </a:solidFill>
                        </a:rPr>
                        <a:t>None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548640">
                <a:tc>
                  <a:txBody>
                    <a:bodyPr/>
                    <a:lstStyle/>
                    <a:p>
                      <a:pPr algn="ctr" indent="0" marL="0">
                        <a:buNone/>
                      </a:pPr>
                      <a:r>
                        <a:rPr lang="en-US" sz="1300" b="1" dirty="0">
                          <a:solidFill>
                            <a:schemeClr val="accent5"/>
                          </a:solidFill>
                        </a:rPr>
                        <a:t>32</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M365 as single source of truth</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c>
                  <a:txBody>
                    <a:bodyPr/>
                    <a:lstStyle/>
                    <a:p>
                      <a:pPr indent="0" marL="0">
                        <a:buNone/>
                      </a:pPr>
                      <a:r>
                        <a:rPr lang="en-US" sz="1300" dirty="0">
                          <a:solidFill>
                            <a:schemeClr val="tx1"/>
                          </a:solidFill>
                        </a:rPr>
                        <a:t>Files copied from SharePoint; no SSO or write-back</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A2 · Proposal commitments vs. today</a:t>
            </a:r>
            <a:endParaRPr lang="en-US" sz="3200" dirty="0"/>
          </a:p>
        </p:txBody>
      </p:sp>
      <p:graphicFrame>
        <p:nvGraphicFramePr>
          <p:cNvPr id="20" name="Commitment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72000"/>
                <a:gridCol w="5242255"/>
                <a:gridCol w="1280160"/>
              </a:tblGrid>
              <a:tr h="384048">
                <a:tc>
                  <a:txBody>
                    <a:bodyPr/>
                    <a:lstStyle/>
                    <a:p>
                      <a:pPr algn="l" indent="0" marL="0">
                        <a:buNone/>
                      </a:pPr>
                      <a:r>
                        <a:rPr lang="en-US" sz="1300" b="1" dirty="0">
                          <a:solidFill>
                            <a:srgbClr val="FFFFFF"/>
                          </a:solidFill>
                        </a:rPr>
                        <a:t>Proposal commitment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KMS today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75488">
                <a:tc>
                  <a:txBody>
                    <a:bodyPr/>
                    <a:lstStyle/>
                    <a:p>
                      <a:pPr indent="0" marL="0">
                        <a:buNone/>
                      </a:pPr>
                      <a:r>
                        <a:rPr lang="en-US" sz="1300" b="1" dirty="0">
                          <a:solidFill>
                            <a:schemeClr val="tx1"/>
                          </a:solidFill>
                        </a:rPr>
                        <a:t>Role-based access and department segmentation</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4 roles, enforced in every query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r>
              <a:tr h="475488">
                <a:tc>
                  <a:txBody>
                    <a:bodyPr/>
                    <a:lstStyle/>
                    <a:p>
                      <a:pPr indent="0" marL="0">
                        <a:buNone/>
                      </a:pPr>
                      <a:r>
                        <a:rPr lang="en-US" sz="1300" b="1" dirty="0">
                          <a:solidFill>
                            <a:schemeClr val="tx1"/>
                          </a:solidFill>
                        </a:rPr>
                        <a:t>Permission inheritance from source systems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Mapped per SharePoint site, not per file (at risk)</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475488">
                <a:tc>
                  <a:txBody>
                    <a:bodyPr/>
                    <a:lstStyle/>
                    <a:p>
                      <a:pPr indent="0" marL="0">
                        <a:buNone/>
                      </a:pPr>
                      <a:r>
                        <a:rPr lang="en-US" sz="1300" b="1" dirty="0">
                          <a:solidFill>
                            <a:schemeClr val="tx1"/>
                          </a:solidFill>
                        </a:rPr>
                        <a:t>Audit of retrieval and AI interactions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Chat audit log, including denied attempts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r>
              <a:tr h="475488">
                <a:tc>
                  <a:txBody>
                    <a:bodyPr/>
                    <a:lstStyle/>
                    <a:p>
                      <a:pPr indent="0" marL="0">
                        <a:buNone/>
                      </a:pPr>
                      <a:r>
                        <a:rPr lang="en-US" sz="1300" b="1" dirty="0">
                          <a:solidFill>
                            <a:schemeClr val="tx1"/>
                          </a:solidFill>
                        </a:rPr>
                        <a:t>Audit of lifecycle and admin activity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Only org and department events logged (at risk)</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475488">
                <a:tc>
                  <a:txBody>
                    <a:bodyPr/>
                    <a:lstStyle/>
                    <a:p>
                      <a:pPr indent="0" marL="0">
                        <a:buNone/>
                      </a:pPr>
                      <a:r>
                        <a:rPr lang="en-US" sz="1300" b="1" dirty="0">
                          <a:solidFill>
                            <a:schemeClr val="tx1"/>
                          </a:solidFill>
                        </a:rPr>
                        <a:t>Encryption in transit and at rest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Integration tokens encrypted; OpenAI key stored in plaintext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475488">
                <a:tc>
                  <a:txBody>
                    <a:bodyPr/>
                    <a:lstStyle/>
                    <a:p>
                      <a:pPr indent="0" marL="0">
                        <a:buNone/>
                      </a:pPr>
                      <a:r>
                        <a:rPr lang="en-US" sz="1300" b="1" dirty="0">
                          <a:solidFill>
                            <a:schemeClr val="tx1"/>
                          </a:solidFill>
                        </a:rPr>
                        <a:t>Human approval workflows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Review queues exist but aren't configurable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475488">
                <a:tc>
                  <a:txBody>
                    <a:bodyPr/>
                    <a:lstStyle/>
                    <a:p>
                      <a:pPr indent="0" marL="0">
                        <a:buNone/>
                      </a:pPr>
                      <a:r>
                        <a:rPr lang="en-US" sz="1300" b="1" dirty="0">
                          <a:solidFill>
                            <a:schemeClr val="tx1"/>
                          </a:solidFill>
                        </a:rPr>
                        <a:t>Secure, source-grounded AI</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Permission-filtered retrieval; refuses unsupported answers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r>
              <a:tr h="475488">
                <a:tc>
                  <a:txBody>
                    <a:bodyPr/>
                    <a:lstStyle/>
                    <a:p>
                      <a:pPr indent="0" marL="0">
                        <a:buNone/>
                      </a:pPr>
                      <a:r>
                        <a:rPr lang="en-US" sz="1300" b="1" dirty="0">
                          <a:solidFill>
                            <a:schemeClr val="tx1"/>
                          </a:solidFill>
                        </a:rPr>
                        <a:t>Pilot measures search quality and time-to-answer</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Not instrumented yet (at risk)</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475488">
                <a:tc>
                  <a:txBody>
                    <a:bodyPr/>
                    <a:lstStyle/>
                    <a:p>
                      <a:pPr indent="0" marL="0">
                        <a:buNone/>
                      </a:pPr>
                      <a:r>
                        <a:rPr lang="en-US" sz="1300" b="1" dirty="0">
                          <a:solidFill>
                            <a:schemeClr val="tx1"/>
                          </a:solidFill>
                        </a:rPr>
                        <a:t>Enterprise single sign-on (implied)</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Email/password and OTP only</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200" b="1" dirty="0">
                <a:solidFill>
                  <a:schemeClr val="tx2"/>
                </a:solidFill>
              </a:rPr>
              <a:t>A3 · RFI §4.8 EKP deliverables readiness</a:t>
            </a:r>
            <a:endParaRPr lang="en-US" sz="3200" dirty="0"/>
          </a:p>
        </p:txBody>
      </p:sp>
      <p:graphicFrame>
        <p:nvGraphicFramePr>
          <p:cNvPr id="21"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389120"/>
                <a:gridCol w="5425135"/>
                <a:gridCol w="1280160"/>
              </a:tblGrid>
              <a:tr h="384048">
                <a:tc>
                  <a:txBody>
                    <a:bodyPr/>
                    <a:lstStyle/>
                    <a:p>
                      <a:pPr algn="l" indent="0" marL="0">
                        <a:buNone/>
                      </a:pPr>
                      <a:r>
                        <a:rPr lang="en-US" sz="1300" b="1" dirty="0">
                          <a:solidFill>
                            <a:srgbClr val="FFFFFF"/>
                          </a:solidFill>
                        </a:rPr>
                        <a:t>§4.8 deliverable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rPr>
                        <a:t>Readiness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rPr>
                        <a:t>Status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66928">
                <a:tc>
                  <a:txBody>
                    <a:bodyPr/>
                    <a:lstStyle/>
                    <a:p>
                      <a:pPr indent="0" marL="0">
                        <a:buNone/>
                      </a:pPr>
                      <a:r>
                        <a:rPr lang="en-US" sz="1300" b="1" dirty="0">
                          <a:solidFill>
                            <a:schemeClr val="tx1"/>
                          </a:solidFill>
                        </a:rPr>
                        <a:t>Permission-aware unified search integration framework</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Connector framework with SharePoint built; others and per-file permissions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566928">
                <a:tc>
                  <a:txBody>
                    <a:bodyPr/>
                    <a:lstStyle/>
                    <a:p>
                      <a:pPr indent="0" marL="0">
                        <a:buNone/>
                      </a:pPr>
                      <a:r>
                        <a:rPr lang="en-US" sz="1300" b="1" dirty="0">
                          <a:solidFill>
                            <a:schemeClr val="tx1"/>
                          </a:solidFill>
                        </a:rPr>
                        <a:t>Semantic/hybrid search pipeline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Hybrid, expansion and graph pipeline built; ontology layer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566928">
                <a:tc>
                  <a:txBody>
                    <a:bodyPr/>
                    <a:lstStyle/>
                    <a:p>
                      <a:pPr indent="0" marL="0">
                        <a:buNone/>
                      </a:pPr>
                      <a:r>
                        <a:rPr lang="en-US" sz="1300" b="1" dirty="0">
                          <a:solidFill>
                            <a:schemeClr val="tx1"/>
                          </a:solidFill>
                        </a:rPr>
                        <a:t>Knowledge graph integration approach</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Graph used in search, navigation and chat; ready to document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3"/>
                          </a:solidFill>
                        </a:rPr>
                        <a:t>Met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DDF0E4"/>
                    </a:solidFill>
                  </a:tcPr>
                </a:tc>
              </a:tr>
              <a:tr h="566928">
                <a:tc>
                  <a:txBody>
                    <a:bodyPr/>
                    <a:lstStyle/>
                    <a:p>
                      <a:pPr indent="0" marL="0">
                        <a:buNone/>
                      </a:pPr>
                      <a:r>
                        <a:rPr lang="en-US" sz="1300" b="1" dirty="0">
                          <a:solidFill>
                            <a:schemeClr val="tx1"/>
                          </a:solidFill>
                        </a:rPr>
                        <a:t>Metadata and taxonomy/ontology mapping specification</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Needs managed taxonomy first</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chemeClr val="accent4"/>
                          </a:solidFill>
                        </a:rPr>
                        <a:t>Gap</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6D9D5"/>
                    </a:solidFill>
                  </a:tcPr>
                </a:tc>
              </a:tr>
              <a:tr h="566928">
                <a:tc>
                  <a:txBody>
                    <a:bodyPr/>
                    <a:lstStyle/>
                    <a:p>
                      <a:pPr indent="0" marL="0">
                        <a:buNone/>
                      </a:pPr>
                      <a:r>
                        <a:rPr lang="en-US" sz="1300" b="1" dirty="0">
                          <a:solidFill>
                            <a:schemeClr val="tx1"/>
                          </a:solidFill>
                        </a:rPr>
                        <a:t>Ingestion and enrichment workflows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Pipeline, classification and review queue exist; completeness rules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566928">
                <a:tc>
                  <a:txBody>
                    <a:bodyPr/>
                    <a:lstStyle/>
                    <a:p>
                      <a:pPr indent="0" marL="0">
                        <a:buNone/>
                      </a:pPr>
                      <a:r>
                        <a:rPr lang="en-US" sz="1300" b="1" dirty="0">
                          <a:solidFill>
                            <a:schemeClr val="tx1"/>
                          </a:solidFill>
                        </a:rPr>
                        <a:t>Platform analytics data model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Underlying data captured; no analytics model or dashboards</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r h="566928">
                <a:tc>
                  <a:txBody>
                    <a:bodyPr/>
                    <a:lstStyle/>
                    <a:p>
                      <a:pPr indent="0" marL="0">
                        <a:buNone/>
                      </a:pPr>
                      <a:r>
                        <a:rPr lang="en-US" sz="1300" b="1" dirty="0">
                          <a:solidFill>
                            <a:schemeClr val="tx1"/>
                          </a:solidFill>
                        </a:rPr>
                        <a:t>Retrieval-augmented Q&amp;A architecture</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chemeClr val="tx1"/>
                          </a:solidFill>
                        </a:rPr>
                        <a:t>Built; answer-quality evaluation missing</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8A6400"/>
                          </a:solidFill>
                        </a:rPr>
                        <a:t>Partial</a:t>
                      </a:r>
                      <a:endParaRPr lang="en-US" sz="1300" dirty="0"/>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CEFC7"/>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KMS Readiness">
  <a:themeElements>
    <a:clrScheme name="KMS Readiness">
      <a:dk1>
        <a:srgbClr val="1B2430"/>
      </a:dk1>
      <a:lt1>
        <a:srgbClr val="FFFFFF"/>
      </a:lt1>
      <a:dk2>
        <a:srgbClr val="0B2545"/>
      </a:dk2>
      <a:lt2>
        <a:srgbClr val="EEF2F6"/>
      </a:lt2>
      <a:accent1>
        <a:srgbClr val="0E7C86"/>
      </a:accent1>
      <a:accent2>
        <a:srgbClr val="E0A100"/>
      </a:accent2>
      <a:accent3>
        <a:srgbClr val="2E8B57"/>
      </a:accent3>
      <a:accent4>
        <a:srgbClr val="C0392B"/>
      </a:accent4>
      <a:accent5>
        <a:srgbClr val="5B6B7F"/>
      </a:accent5>
      <a:accent6>
        <a:srgbClr val="13315C"/>
      </a:accent6>
      <a:hlink>
        <a:srgbClr val="0E7C86"/>
      </a:hlink>
      <a:folHlink>
        <a:srgbClr val="5B6B7F"/>
      </a:folHlink>
    </a:clrScheme>
    <a:fontScheme name="KMS Readine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KMS vs. NYPA Enterprise Knowledge Platform</dc:title>
  <dc:subject>PptxGenJS Presentation</dc:subject>
  <dc:creator>KMS Team</dc:creator>
  <cp:lastModifiedBy>KMS Team</cp:lastModifiedBy>
  <cp:revision>1</cp:revision>
  <dcterms:created xsi:type="dcterms:W3CDTF">2026-10-04T19:57:16Z</dcterms:created>
  <dcterms:modified xsi:type="dcterms:W3CDTF">2026-10-04T19:57:16Z</dcterms:modified>
</cp:coreProperties>
</file>