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10dee5-2043-8462-8e42-906b5e0fa5c1}">
          <p14:sldIdLst>
            <p14:sldId id="256"/>
            <p14:sldId id="257"/>
            <p14:sldId id="258"/>
            <p14:sldId id="259"/>
          </p14:sldIdLst>
        </p14:section>
        <p14:section name="The Platform" id="{8a2e20bf-15ba-2482-72df-13c6fe0be3fa}">
          <p14:sldIdLst>
            <p14:sldId id="260"/>
            <p14:sldId id="261"/>
            <p14:sldId id="262"/>
          </p14:sldIdLst>
        </p14:section>
        <p14:section name="Organizational Intelligence" id="{197edb78-b9ab-248d-55b6-58ec8dad6acf}">
          <p14:sldIdLst>
            <p14:sldId id="263"/>
            <p14:sldId id="264"/>
            <p14:sldId id="265"/>
            <p14:sldId id="266"/>
            <p14:sldId id="267"/>
            <p14:sldId id="268"/>
            <p14:sldId id="269"/>
            <p14:sldId id="270"/>
          </p14:sldIdLst>
        </p14:section>
        <p14:section name="Value" id="{56b13464-6655-b7fb-750b-76129b1a4bfb}">
          <p14:sldIdLst>
            <p14:sldId id="271"/>
            <p14:sldId id="272"/>
            <p14:sldId id="273"/>
          </p14:sldIdLst>
        </p14:section>
        <p14:section name="Closing" id="{8c939206-c6b4-be7b-5797-398e6701029a}">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Documents</c:v>
                </c:pt>
              </c:strCache>
            </c:strRef>
          </c:tx>
          <c:spPr>
            <a:solidFill>
              <a:srgbClr val="08ACD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Sheet1!$B$2:$B$9</c:f>
              <c:numCache>
                <c:formatCode>General</c:formatCode>
                <c:ptCount val="8"/>
                <c:pt idx="0">
                  <c:v>12</c:v>
                </c:pt>
                <c:pt idx="1">
                  <c:v>15</c:v>
                </c:pt>
                <c:pt idx="2">
                  <c:v>19</c:v>
                </c:pt>
                <c:pt idx="3">
                  <c:v>26</c:v>
                </c:pt>
                <c:pt idx="4">
                  <c:v>31</c:v>
                </c:pt>
                <c:pt idx="5">
                  <c:v>40</c:v>
                </c:pt>
                <c:pt idx="6">
                  <c:v>52</c:v>
                </c:pt>
                <c:pt idx="7">
                  <c:v>61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Experts</c:v>
                </c:pt>
              </c:strCache>
            </c:strRef>
          </c:tx>
          <c:spPr>
            <a:solidFill>
              <a:srgbClr val="1B58D8"/>
            </a:solidFill>
            <a:ln w="38100" cap="flat">
              <a:solidFill>
                <a:srgbClr val="1B58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58D8"/>
              </a:solidFill>
              <a:ln w="9525" cap="flat">
                <a:solidFill>
                  <a:srgbClr val="1B58D8"/>
                </a:solidFill>
                <a:prstDash val="solid"/>
                <a:round/>
              </a:ln>
              <a:effectLst/>
            </c:spPr>
          </c:marker>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Sheet1!$C$2:$C$9</c:f>
              <c:numCache>
                <c:formatCode>General</c:formatCode>
                <c:ptCount val="8"/>
                <c:pt idx="0">
                  <c:v>2</c:v>
                </c:pt>
                <c:pt idx="1">
                  <c:v>2</c:v>
                </c:pt>
                <c:pt idx="2">
                  <c:v>3</c:v>
                </c:pt>
                <c:pt idx="3">
                  <c:v>4</c:v>
                </c:pt>
                <c:pt idx="4">
                  <c:v>5</c:v>
                </c:pt>
                <c:pt idx="5">
                  <c:v>7</c:v>
                </c:pt>
                <c:pt idx="6">
                  <c:v>9</c:v>
                </c:pt>
                <c:pt idx="7">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9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Documents</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valAx>
        <c:axId val="2094734553"/>
        <c:scaling>
          <c:orientation val="minMax"/>
        </c:scaling>
        <c:delete val="0"/>
        <c:axPos val="r"/>
        <c:title>
          <c:tx>
            <c:rich>
              <a:bodyPr/>
              <a:lstStyle/>
              <a:p>
                <a:pPr>
                  <a:defRPr sz="1000" b="0" i="0" u="none" strike="noStrike">
                    <a:solidFill>
                      <a:srgbClr val="64748B"/>
                    </a:solidFill>
                    <a:latin typeface="Arial"/>
                  </a:defRPr>
                </a:pPr>
                <a:r>
                  <a:rPr sz="1000" b="0" i="0" u="none" strike="noStrike">
                    <a:solidFill>
                      <a:srgbClr val="64748B"/>
                    </a:solidFill>
                    <a:latin typeface="Arial"/>
                  </a:rPr>
                  <a:t>Experts</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n-lt"/>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your time.
KMS is a product of Next Generation Innovation L.L.C. Today we want to show you why we built it and what it does differently.
Key framing: KMS is not a file repository and it is not 'yet another chatbot'. It is an Enterprise Knowledge Operating System - a platform that captures, understands, connects and delivers organizational knowledge in context: documents, decisions, lessons, projects, topics and the people behind them.
Agenda: the problem, what KMS is and how it works, the organizational intelligence layer, and the outcomes it enables.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every organization has documents. The harder problem is context.
Where is the latest knowledge? Who understands it? What did we decide - and why? What did we learn last time? What else is connected?
Most organizations don't lose knowledge because documents are missing. They lose it because context is missing: who knows the topic, what is related, why decisions were made, what was learned, which project used which knowledge, and how topics are changing over time.
The visual shows the typical state: documents, conversations, projects, departments, people and decisions as disconnected islands. The cost shows up as duplicated work, repeated mistakes, slow onboarding and time lost asking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crisp mental model: KMS captures, understands, connects and delivers organizational knowledge in context.
Read the stack bottom-up:
1. Content sources - documents, repositories and connected content.
2. AI ingestion and understanding - content is chunked, embedded, summarized and classified automatically.
3. Knowledge intelligence layer - KMS builds context around the content: experts, lessons, decisions, relationships and topics.
4. User experiences - chat, semantic search, recommendations, graph exploration and project intelligence.
Governance runs through every layer: role-based access and department/project scope are applied consistently, so people only see what they are entitled to see.
And the platform learns: decisions, lessons and topic evolution feed back into the knowledge base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Differentiate KMS from two common alternatives: document management systems and basic 'chat with your PDFs' RAG tools.
A traditional repository stores files, depends on people tagging them correctly, matches keywords and returns a list of documents for the user to read. Decisions and lessons live in people's heads or in meeting notes no one finds again.
KMS understands content, classifies it automatically, retrieves by meaning even when users phrase things differently, and answers with citations back to the source. Most importantly, it connects documents to the people, projects, lessons and decisions around them.
A basic chatbot answers one question at a time. KMS builds an intelligence layer that persists and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we have the mental model, let's look at how knowledge flows through KMS and at the core platform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'how' without going deep into implementation.
1. Ingest - documents are uploaded or arrive from connected content sources; processing starts automatically.
2. Understand - content is chunked, embedded for semantic retrieval, summarized and classified into topics without manual tagging.
3. Connect - KMS detects topics, duplicates and conflicting information, extracts decisions and lessons, and discovers relationships between documents, projects and people.
4. Govern - role-based access plus department and project context are applied, so every answer, recommendation and graph view respects organizational boundaries.
5. Deliver - knowledge is served through conversational chat, semantic search, recommendations, the expert directory, the knowledge graph and project views.
The point for IT stakeholders: governance is built into the pipeline, not bolted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 1 foundation is complete and in the product today. Eight capabilities:
- Conversational Knowledge Assistant: employees ask questions in natural language and get grounded answers with citations.
- Semantic Knowledge Retrieval: finds relevant content even when users use different wording than the documents.
- Automated Knowledge Ingestion Pipeline: knowledge enters and is processed automatically, keeping the base current with no manual processing.
- Automatic Knowledge Classification: documents organize themselves into topics, reducing tagging burden and improving governance.
- Cross-Document Reasoning: answers draw on and reconcile information across multiple files.
- Knowledge Summarization: users understand large documents quickly, which drives adoption.
- Enterprise Knowledge Repository: a secure, centralized, persistent organizational memory.
- Knowledge Context Engine: understands relationships between content, which powers recommendations, the graph, experts and richer retrieval.
Customer value: employees can ask questions across the enterprise and get grounded answers, citations, summaries and related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Tier 1 gives people access to knowledge. Tier 2 turns stored information into enterprise-wide intelligence. This is where KMS separates from search tools and chatbots.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Tier 2 feel like a strategic leap, not a feature list.
The maturity ladder: Ask -&gt; Understand -&gt; Connect -&gt; Learn -&gt; Act. Tier 1 covers Ask and Understand. Tier 2 adds the next three steps, and all eight Tier 2 capabilities are implemented:
Connect - Knowledge Relationship Discovery, the Organizational Knowledge Graph, and Expert Discovery: KMS links documents, topics, projects and the people behind them.
Learn - Lessons Learned Intelligence, the Decision Intelligence Repository, and Topic Evolution Tracking: KMS remembers what happened, why it was decided, and how knowledge areas are changing.
Act - the Knowledge Recommendation Engine and Project Intelligence: KMS proactively delivers knowledge and gives every project a complete knowledge picture.
The next slides walk through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problem: knowledge often lives with people, but employees don't know who has relevant experience - so they ask around, wait, or reinvent.
What KMS does:
- Discovers experts from real activity rather than self-declared profiles: documents they upload, content that gets cited in answers, document views, lessons they contribute, and topic contribution.
- Provides a searchable expert directory organized by topic.
- Keeps humans in the loop: users and department admins can confirm or correct expertise, so the directory stays trustworthy.
- Applies access control, so expertise discovery respects organizational boundaries.
Customer value: reduces time spent asking around and helps teams reach the right person faster - especially across departments.
Visual: topics on the left, people on the right; line weight represents the strength of evidence, and the check mark shows a confirmed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problem: employees rarely know which documents are most relevant to what they are working on right now. Search only helps if you know what to ask for.
What KMS does:
- Personalized recommendations based on each user's recent activity.
- Feedback-aware ranking: helpful / not-helpful signals continuously tune what gets recommended.
- Relationship-aware recommendations that follow the connections KMS has discovered between documents.
- A department-level trending view for admins, showing what knowledge is gaining attention.
- An effectiveness summary showing whether recommendations are actually being used.
Customer value: moves knowledge from passive search to proactive delivery. (Document titles on the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title: Preserve What Happened, What Was Learned, and Why It Was Decided.
Customer problem: organizations remember outcomes, but forget the rationale and the lessons. Years later nobody knows why something was decided, so teams relitigate decisions or repeat mistakes.
What KMS does:
- Captures lessons learned as reviewed, searchable knowledge, and grounds chat answers in approved lessons.
- Extracts decisions from documents and manages them through a review workflow, so only reviewed decisions become organizational record.
- Tracks decision outcomes over time: active, reversed, or superseded.
- Links decisions to lessons and back to their source documents, preserving the full chain of reasoning.
Customer value: prevents repeated mistakes and keeps institutional reasoning available for future reviews, audits and onboarding.
Example content on the slide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problem: related knowledge is separated across departments, projects, topics and document types. Folder structures hide connections instead of revealing them.
What KMS does:
- Discovers relationships using multiple signals: semantic similarity, shared topics, shared entities, project context, decisions and lessons.
- Enriches related-document views with evidence, so users can see why two items are connected.
- Builds a bounded, permission-aware organizational knowledge graph - users only see nodes they are entitled to see.
- Represents documents, projects, topics, entities, experts, decisions, lessons and departments as connected nodes.
Customer value: helps users navigate knowledge by meaning and relationship, not folder structure. Executives get a map of how knowledge connects across the organization.
Graph content on the slide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problem: project knowledge is scattered across documents, people, lessons, timelines, decisions and related work. Onboarding someone to a project, or handing it off, usually means weeks of digging.
What KMS does:
- Brings project documents, topics, lessons, decisions, timeline, experts, related documents and graph context into a single project-centric view.
- Connects project work back to the broader organizational knowledge graph, so knowledge created in one project is discoverable by others.
- Helps teams understand what a project knows, who contributed, what decisions were made, and what knowledge is reusable.
Customer value: accelerates project onboarding, review, handoff and reuse.
The project name and counts on the slide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problem: topics evolve, but most systems only show the current state. Leaders can't see which knowledge areas are growing, which are fading, or where capability is emerging.
What KMS does:
- Captures topic snapshots over time.
- Tracks information volume (document count) and expert-count trends for each topic.
- Preserves the history of retired topics, so nothing is silently lost when the taxonomy changes.
- Provides topic trend views directly from the expert and topic experience.
Customer value: leadership and teams can identify growing knowledge areas, shifting focus and emerging institutional capability.
Chart data is illustrative: one topic growing from 12 to 61 documents and from 2 to 11 experts over eight weekly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we've seen what KMS does. Now let's bring it together - why it is different, and what it means for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buying argument clear.
Many platforms can store files. Many can add a chatbot. KMS goes further by building an intelligence layer around organizational knowledge: experts, recommendations, lessons, relationships, the graph, decisions, project intelligence and topic evolution.
The concentric circles show the progression: Documents -&gt; Knowledge -&gt; Context -&gt; Intelligence -&gt; Organizational Memory. Most tools stop at the inner rings. KMS is built to reach the outer ring.
- Not just search: semantic retrieval plus contextual answers.
- Not just chat: answers carry citations, decisions, lessons, experts and graph context.
- Not just manual taxonomy: topics are discovered and documents classified automatically.
- Not just documents: people, projects, relationships, decisions, lessons and trends are first-class.
- Not just storage: organizational intelligence that improves over time as feedback, decisions and lessons accumulate.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features back to value. This is the executive scorecard: each outcome has a measure we can track together during a pilot.
- Faster answers with trusted citations (Conversational Assistant, Semantic Retrieval, Summarization): measure time-to-answer and the share of answers with citations.
- Less duplicated work (duplicate and conflict detection, Relationship Discovery): measure duplicates detected and resolved.
- Better reuse of lessons and prior decisions (Lessons Learned, Decision Intelligence): measure how often lessons and decisions are referenced.
- Faster onboarding into teams and projects (Project Intelligence, Recommendations): measure time to productivity.
- Better expert discovery across departments (Expert Discovery): measure cross-department expert lookups.
- Stronger knowledge governance and review (review workflows, role-based access): measure reviewed content and scoped access.
- Improved visibility into knowledge health and topic change (Topic Evolution, Knowledge Graph): measure topic trends and coverage.
Suggest agreeing on 3-4 of these as success metrics for an initial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KMS helps organizations move beyond storing information toward understanding, connecting, learning from and acting on knowledge.
The result is a system that does not simply answer questions. It helps the organization remember, connect and learn.
Suggested next steps to propose: a discovery workshop to map your knowledge sources and priority use cases; a pilot with your own content in one or two departments; and agreeing on the success metrics from the outcomes slide.
Thank you - questions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MS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286000"/>
            <a:ext cx="630936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85800" y="4434840"/>
            <a:ext cx="576072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
        <p:nvSpPr>
          <p:cNvPr id="4" name="Text 0"/>
          <p:cNvSpPr/>
          <p:nvPr/>
        </p:nvSpPr>
        <p:spPr>
          <a:xfrm>
            <a:off x="685800" y="6172200"/>
            <a:ext cx="5486400" cy="274320"/>
          </a:xfrm>
          <a:prstGeom prst="rect">
            <a:avLst/>
          </a:prstGeom>
          <a:noFill/>
          <a:ln/>
        </p:spPr>
        <p:txBody>
          <a:bodyPr wrap="square" lIns="0" tIns="0" rIns="0" bIns="0" rtlCol="0" anchor="ctr"/>
          <a:lstStyle/>
          <a:p>
            <a:pPr indent="0" marL="0">
              <a:buNone/>
            </a:pPr>
            <a:r>
              <a:rPr lang="en-US" sz="1200" dirty="0">
                <a:solidFill>
                  <a:srgbClr val="94A3B8"/>
                </a:solidFill>
              </a:rPr>
              <a:t>A product of Next Generation Innovation L.L.C.</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MS Divider">
    <p:bg>
      <p:bgPr>
        <a:solidFill>
          <a:schemeClr val="tx2"/>
        </a:solidFill>
      </p:bgPr>
    </p:bg>
    <p:spTree>
      <p:nvGrpSpPr>
        <p:cNvPr id="1" name=""/>
        <p:cNvGrpSpPr/>
        <p:nvPr/>
      </p:nvGrpSpPr>
      <p:grpSpPr>
        <a:xfrm>
          <a:off x="0" y="0"/>
          <a:ext cx="0" cy="0"/>
          <a:chOff x="0" y="0"/>
          <a:chExt cx="0" cy="0"/>
        </a:xfrm>
      </p:grpSpPr>
      <p:pic>
        <p:nvPicPr>
          <p:cNvPr id="2" name="Image 0" descr="Next Generation Innovation logo">    </p:cNvPr>
          <p:cNvPicPr>
            <a:picLocks noChangeAspect="1"/>
          </p:cNvPicPr>
          <p:nvPr/>
        </p:nvPicPr>
        <p:blipFill>
          <a:blip r:embed="rId1"/>
          <a:stretch>
            <a:fillRect/>
          </a:stretch>
        </p:blipFill>
        <p:spPr>
          <a:xfrm>
            <a:off x="10378440" y="6053328"/>
            <a:ext cx="1261872" cy="681411"/>
          </a:xfrm>
          <a:prstGeom prst="rect">
            <a:avLst/>
          </a:prstGeom>
        </p:spPr>
      </p:pic>
      <p:sp>
        <p:nvSpPr>
          <p:cNvPr id="3" name="Text 0"/>
          <p:cNvSpPr/>
          <p:nvPr>
            <p:ph idx="101" type="body" hasCustomPrompt="1"/>
          </p:nvPr>
        </p:nvSpPr>
        <p:spPr>
          <a:xfrm>
            <a:off x="685800" y="2240280"/>
            <a:ext cx="5486400" cy="457200"/>
          </a:xfrm>
          <a:prstGeom prst="rect">
            <a:avLst/>
          </a:prstGeom>
          <a:noFill/>
          <a:ln/>
        </p:spPr>
        <p:txBody>
          <a:bodyPr wrap="square" rtlCol="0"/>
          <a:lstStyle>
            <a:lvl1pPr algn="l" indent="0" marL="0">
              <a:buNone/>
              <a:defRPr lang="en-US" sz="1600" b="1" spc="300" kern="0" dirty="0">
                <a:solidFill>
                  <a:schemeClr val="accent2"/>
                </a:solidFill>
              </a:defRPr>
            </a:lvl1pPr>
          </a:lstStyle>
          <a:p>
            <a:pPr algn="l" indent="0" marL="0">
              <a:buNone/>
            </a:pPr>
            <a:endParaRPr lang="en-US" sz="1600" dirty="0"/>
          </a:p>
        </p:txBody>
      </p:sp>
      <p:sp>
        <p:nvSpPr>
          <p:cNvPr id="4" name="Text 0"/>
          <p:cNvSpPr/>
          <p:nvPr>
            <p:ph idx="102" type="title" hasCustomPrompt="1"/>
          </p:nvPr>
        </p:nvSpPr>
        <p:spPr>
          <a:xfrm>
            <a:off x="685800" y="2697480"/>
            <a:ext cx="68580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0"/>
          <p:cNvSpPr/>
          <p:nvPr>
            <p:ph idx="103" type="body" hasCustomPrompt="1"/>
          </p:nvPr>
        </p:nvSpPr>
        <p:spPr>
          <a:xfrm>
            <a:off x="685800" y="3840480"/>
            <a:ext cx="6035040" cy="91440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685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MS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algn="l" indent="0" marL="0">
              <a:buNone/>
              <a:defRPr lang="en-US" sz="1200" b="1" spc="3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rPr>
              <a:t>KMS  |  Next Generation Innovation L.L.C.</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85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4.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4.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4.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589520" y="1737360"/>
            <a:ext cx="1737360" cy="1645920"/>
          </a:xfrm>
          <a:prstGeom prst="line">
            <a:avLst/>
          </a:prstGeom>
          <a:noFill/>
          <a:ln w="12700">
            <a:solidFill>
              <a:srgbClr val="2E6FD8">
                <a:alpha val="65000"/>
              </a:srgbClr>
            </a:solidFill>
            <a:prstDash val="solid"/>
          </a:ln>
        </p:spPr>
      </p:sp>
      <p:sp>
        <p:nvSpPr>
          <p:cNvPr id="3" name="Shape 1"/>
          <p:cNvSpPr/>
          <p:nvPr/>
        </p:nvSpPr>
        <p:spPr>
          <a:xfrm flipV="1">
            <a:off x="9326880" y="1371600"/>
            <a:ext cx="1645920" cy="2011680"/>
          </a:xfrm>
          <a:prstGeom prst="line">
            <a:avLst/>
          </a:prstGeom>
          <a:noFill/>
          <a:ln w="12700">
            <a:solidFill>
              <a:srgbClr val="2E6FD8">
                <a:alpha val="65000"/>
              </a:srgbClr>
            </a:solidFill>
            <a:prstDash val="solid"/>
          </a:ln>
        </p:spPr>
      </p:sp>
      <p:sp>
        <p:nvSpPr>
          <p:cNvPr id="4" name="Shape 2"/>
          <p:cNvSpPr/>
          <p:nvPr/>
        </p:nvSpPr>
        <p:spPr>
          <a:xfrm>
            <a:off x="9326880" y="3383280"/>
            <a:ext cx="1965960" cy="548640"/>
          </a:xfrm>
          <a:prstGeom prst="line">
            <a:avLst/>
          </a:prstGeom>
          <a:noFill/>
          <a:ln w="12700">
            <a:solidFill>
              <a:srgbClr val="2E6FD8">
                <a:alpha val="65000"/>
              </a:srgbClr>
            </a:solidFill>
            <a:prstDash val="solid"/>
          </a:ln>
        </p:spPr>
      </p:sp>
      <p:sp>
        <p:nvSpPr>
          <p:cNvPr id="5" name="Shape 3"/>
          <p:cNvSpPr/>
          <p:nvPr/>
        </p:nvSpPr>
        <p:spPr>
          <a:xfrm>
            <a:off x="9326880" y="3383280"/>
            <a:ext cx="914400" cy="2194560"/>
          </a:xfrm>
          <a:prstGeom prst="line">
            <a:avLst/>
          </a:prstGeom>
          <a:noFill/>
          <a:ln w="12700">
            <a:solidFill>
              <a:srgbClr val="2E6FD8">
                <a:alpha val="65000"/>
              </a:srgbClr>
            </a:solidFill>
            <a:prstDash val="solid"/>
          </a:ln>
        </p:spPr>
      </p:sp>
      <p:sp>
        <p:nvSpPr>
          <p:cNvPr id="6" name="Shape 4"/>
          <p:cNvSpPr/>
          <p:nvPr/>
        </p:nvSpPr>
        <p:spPr>
          <a:xfrm flipV="1">
            <a:off x="7772400" y="3383280"/>
            <a:ext cx="1554480" cy="1737360"/>
          </a:xfrm>
          <a:prstGeom prst="line">
            <a:avLst/>
          </a:prstGeom>
          <a:noFill/>
          <a:ln w="12700">
            <a:solidFill>
              <a:srgbClr val="2E6FD8">
                <a:alpha val="65000"/>
              </a:srgbClr>
            </a:solidFill>
            <a:prstDash val="solid"/>
          </a:ln>
        </p:spPr>
      </p:sp>
      <p:sp>
        <p:nvSpPr>
          <p:cNvPr id="7" name="Shape 5"/>
          <p:cNvSpPr/>
          <p:nvPr/>
        </p:nvSpPr>
        <p:spPr>
          <a:xfrm>
            <a:off x="6949440" y="3383280"/>
            <a:ext cx="2377440" cy="914"/>
          </a:xfrm>
          <a:prstGeom prst="line">
            <a:avLst/>
          </a:prstGeom>
          <a:noFill/>
          <a:ln w="12700">
            <a:solidFill>
              <a:srgbClr val="2E6FD8">
                <a:alpha val="65000"/>
              </a:srgbClr>
            </a:solidFill>
            <a:prstDash val="solid"/>
          </a:ln>
        </p:spPr>
      </p:sp>
      <p:sp>
        <p:nvSpPr>
          <p:cNvPr id="8" name="Shape 6"/>
          <p:cNvSpPr/>
          <p:nvPr/>
        </p:nvSpPr>
        <p:spPr>
          <a:xfrm flipV="1">
            <a:off x="6949440" y="1737360"/>
            <a:ext cx="640080" cy="1645920"/>
          </a:xfrm>
          <a:prstGeom prst="line">
            <a:avLst/>
          </a:prstGeom>
          <a:noFill/>
          <a:ln w="12700">
            <a:solidFill>
              <a:srgbClr val="2E6FD8">
                <a:alpha val="65000"/>
              </a:srgbClr>
            </a:solidFill>
            <a:prstDash val="solid"/>
          </a:ln>
        </p:spPr>
      </p:sp>
      <p:sp>
        <p:nvSpPr>
          <p:cNvPr id="9" name="Shape 7"/>
          <p:cNvSpPr/>
          <p:nvPr/>
        </p:nvSpPr>
        <p:spPr>
          <a:xfrm flipV="1">
            <a:off x="7589520" y="822960"/>
            <a:ext cx="1463040" cy="914400"/>
          </a:xfrm>
          <a:prstGeom prst="line">
            <a:avLst/>
          </a:prstGeom>
          <a:noFill/>
          <a:ln w="12700">
            <a:solidFill>
              <a:srgbClr val="2E6FD8">
                <a:alpha val="65000"/>
              </a:srgbClr>
            </a:solidFill>
            <a:prstDash val="solid"/>
          </a:ln>
        </p:spPr>
      </p:sp>
      <p:sp>
        <p:nvSpPr>
          <p:cNvPr id="10" name="Shape 8"/>
          <p:cNvSpPr/>
          <p:nvPr/>
        </p:nvSpPr>
        <p:spPr>
          <a:xfrm>
            <a:off x="9052560" y="822960"/>
            <a:ext cx="1920240" cy="548640"/>
          </a:xfrm>
          <a:prstGeom prst="line">
            <a:avLst/>
          </a:prstGeom>
          <a:noFill/>
          <a:ln w="12700">
            <a:solidFill>
              <a:srgbClr val="2E6FD8">
                <a:alpha val="65000"/>
              </a:srgbClr>
            </a:solidFill>
            <a:prstDash val="solid"/>
          </a:ln>
        </p:spPr>
      </p:sp>
      <p:sp>
        <p:nvSpPr>
          <p:cNvPr id="11" name="Shape 9"/>
          <p:cNvSpPr/>
          <p:nvPr/>
        </p:nvSpPr>
        <p:spPr>
          <a:xfrm>
            <a:off x="10972800" y="1371600"/>
            <a:ext cx="822960" cy="1280160"/>
          </a:xfrm>
          <a:prstGeom prst="line">
            <a:avLst/>
          </a:prstGeom>
          <a:noFill/>
          <a:ln w="12700">
            <a:solidFill>
              <a:srgbClr val="2E6FD8">
                <a:alpha val="65000"/>
              </a:srgbClr>
            </a:solidFill>
            <a:prstDash val="solid"/>
          </a:ln>
        </p:spPr>
      </p:sp>
      <p:sp>
        <p:nvSpPr>
          <p:cNvPr id="12" name="Shape 10"/>
          <p:cNvSpPr/>
          <p:nvPr/>
        </p:nvSpPr>
        <p:spPr>
          <a:xfrm flipV="1">
            <a:off x="11292840" y="2651760"/>
            <a:ext cx="502920" cy="1280160"/>
          </a:xfrm>
          <a:prstGeom prst="line">
            <a:avLst/>
          </a:prstGeom>
          <a:noFill/>
          <a:ln w="12700">
            <a:solidFill>
              <a:srgbClr val="2E6FD8">
                <a:alpha val="65000"/>
              </a:srgbClr>
            </a:solidFill>
            <a:prstDash val="solid"/>
          </a:ln>
        </p:spPr>
      </p:sp>
      <p:sp>
        <p:nvSpPr>
          <p:cNvPr id="13" name="Shape 11"/>
          <p:cNvSpPr/>
          <p:nvPr/>
        </p:nvSpPr>
        <p:spPr>
          <a:xfrm>
            <a:off x="11292840" y="3931920"/>
            <a:ext cx="594360" cy="1280160"/>
          </a:xfrm>
          <a:prstGeom prst="line">
            <a:avLst/>
          </a:prstGeom>
          <a:noFill/>
          <a:ln w="12700">
            <a:solidFill>
              <a:srgbClr val="2E6FD8">
                <a:alpha val="65000"/>
              </a:srgbClr>
            </a:solidFill>
            <a:prstDash val="solid"/>
          </a:ln>
        </p:spPr>
      </p:sp>
      <p:sp>
        <p:nvSpPr>
          <p:cNvPr id="14" name="Shape 12"/>
          <p:cNvSpPr/>
          <p:nvPr/>
        </p:nvSpPr>
        <p:spPr>
          <a:xfrm flipV="1">
            <a:off x="8778240" y="5577840"/>
            <a:ext cx="1463040" cy="640080"/>
          </a:xfrm>
          <a:prstGeom prst="line">
            <a:avLst/>
          </a:prstGeom>
          <a:noFill/>
          <a:ln w="12700">
            <a:solidFill>
              <a:srgbClr val="2E6FD8">
                <a:alpha val="65000"/>
              </a:srgbClr>
            </a:solidFill>
            <a:prstDash val="solid"/>
          </a:ln>
        </p:spPr>
      </p:sp>
      <p:sp>
        <p:nvSpPr>
          <p:cNvPr id="15" name="Shape 13"/>
          <p:cNvSpPr/>
          <p:nvPr/>
        </p:nvSpPr>
        <p:spPr>
          <a:xfrm>
            <a:off x="7772400" y="5120640"/>
            <a:ext cx="1005840" cy="1097280"/>
          </a:xfrm>
          <a:prstGeom prst="line">
            <a:avLst/>
          </a:prstGeom>
          <a:noFill/>
          <a:ln w="12700">
            <a:solidFill>
              <a:srgbClr val="2E6FD8">
                <a:alpha val="65000"/>
              </a:srgbClr>
            </a:solidFill>
            <a:prstDash val="solid"/>
          </a:ln>
        </p:spPr>
      </p:sp>
      <p:sp>
        <p:nvSpPr>
          <p:cNvPr id="16" name="Shape 14"/>
          <p:cNvSpPr/>
          <p:nvPr/>
        </p:nvSpPr>
        <p:spPr>
          <a:xfrm flipV="1">
            <a:off x="6400800" y="5120640"/>
            <a:ext cx="1371600" cy="822960"/>
          </a:xfrm>
          <a:prstGeom prst="line">
            <a:avLst/>
          </a:prstGeom>
          <a:noFill/>
          <a:ln w="12700">
            <a:solidFill>
              <a:srgbClr val="2E6FD8">
                <a:alpha val="65000"/>
              </a:srgbClr>
            </a:solidFill>
            <a:prstDash val="solid"/>
          </a:ln>
        </p:spPr>
      </p:sp>
      <p:sp>
        <p:nvSpPr>
          <p:cNvPr id="17" name="Shape 15"/>
          <p:cNvSpPr/>
          <p:nvPr/>
        </p:nvSpPr>
        <p:spPr>
          <a:xfrm>
            <a:off x="6583680" y="914400"/>
            <a:ext cx="365760" cy="2468880"/>
          </a:xfrm>
          <a:prstGeom prst="line">
            <a:avLst/>
          </a:prstGeom>
          <a:noFill/>
          <a:ln w="12700">
            <a:solidFill>
              <a:srgbClr val="2E6FD8">
                <a:alpha val="65000"/>
              </a:srgbClr>
            </a:solidFill>
            <a:prstDash val="solid"/>
          </a:ln>
        </p:spPr>
      </p:sp>
      <p:sp>
        <p:nvSpPr>
          <p:cNvPr id="18" name="Shape 16"/>
          <p:cNvSpPr/>
          <p:nvPr/>
        </p:nvSpPr>
        <p:spPr>
          <a:xfrm>
            <a:off x="6583680" y="914400"/>
            <a:ext cx="1005840" cy="822960"/>
          </a:xfrm>
          <a:prstGeom prst="line">
            <a:avLst/>
          </a:prstGeom>
          <a:noFill/>
          <a:ln w="12700">
            <a:solidFill>
              <a:srgbClr val="2E6FD8">
                <a:alpha val="65000"/>
              </a:srgbClr>
            </a:solidFill>
            <a:prstDash val="solid"/>
          </a:ln>
        </p:spPr>
      </p:sp>
      <p:sp>
        <p:nvSpPr>
          <p:cNvPr id="19" name="Shape 17"/>
          <p:cNvSpPr/>
          <p:nvPr/>
        </p:nvSpPr>
        <p:spPr>
          <a:xfrm flipV="1">
            <a:off x="10241280" y="3931920"/>
            <a:ext cx="1051560" cy="1645920"/>
          </a:xfrm>
          <a:prstGeom prst="line">
            <a:avLst/>
          </a:prstGeom>
          <a:noFill/>
          <a:ln w="12700">
            <a:solidFill>
              <a:srgbClr val="2E6FD8">
                <a:alpha val="65000"/>
              </a:srgbClr>
            </a:solidFill>
            <a:prstDash val="solid"/>
          </a:ln>
        </p:spPr>
      </p:sp>
      <p:sp>
        <p:nvSpPr>
          <p:cNvPr id="20" name="Shape 18"/>
          <p:cNvSpPr/>
          <p:nvPr/>
        </p:nvSpPr>
        <p:spPr>
          <a:xfrm>
            <a:off x="6949440" y="3383280"/>
            <a:ext cx="822960" cy="1737360"/>
          </a:xfrm>
          <a:prstGeom prst="line">
            <a:avLst/>
          </a:prstGeom>
          <a:noFill/>
          <a:ln w="12700">
            <a:solidFill>
              <a:srgbClr val="2E6FD8">
                <a:alpha val="65000"/>
              </a:srgbClr>
            </a:solidFill>
            <a:prstDash val="solid"/>
          </a:ln>
        </p:spPr>
      </p:sp>
      <p:sp>
        <p:nvSpPr>
          <p:cNvPr id="21" name="Shape 19"/>
          <p:cNvSpPr/>
          <p:nvPr/>
        </p:nvSpPr>
        <p:spPr>
          <a:xfrm>
            <a:off x="8869680" y="2926080"/>
            <a:ext cx="914400" cy="914400"/>
          </a:xfrm>
          <a:prstGeom prst="ellipse">
            <a:avLst/>
          </a:prstGeom>
          <a:solidFill>
            <a:srgbClr val="1B58D8"/>
          </a:solidFill>
          <a:ln w="25400">
            <a:solidFill>
              <a:srgbClr val="08ACD5"/>
            </a:solidFill>
            <a:prstDash val="solid"/>
          </a:ln>
        </p:spPr>
      </p:sp>
      <p:pic>
        <p:nvPicPr>
          <p:cNvPr id="22" name="Image 0" descr="preencoded.png">    </p:cNvPr>
          <p:cNvPicPr>
            <a:picLocks noChangeAspect="1"/>
          </p:cNvPicPr>
          <p:nvPr/>
        </p:nvPicPr>
        <p:blipFill>
          <a:blip r:embed="rId1"/>
          <a:stretch>
            <a:fillRect/>
          </a:stretch>
        </p:blipFill>
        <p:spPr>
          <a:xfrm>
            <a:off x="9098280" y="3154680"/>
            <a:ext cx="457200" cy="457200"/>
          </a:xfrm>
          <a:prstGeom prst="rect">
            <a:avLst/>
          </a:prstGeom>
        </p:spPr>
      </p:pic>
      <p:sp>
        <p:nvSpPr>
          <p:cNvPr id="23" name="Shape 20"/>
          <p:cNvSpPr/>
          <p:nvPr/>
        </p:nvSpPr>
        <p:spPr>
          <a:xfrm>
            <a:off x="7315200" y="1463040"/>
            <a:ext cx="548640" cy="548640"/>
          </a:xfrm>
          <a:prstGeom prst="ellipse">
            <a:avLst/>
          </a:prstGeom>
          <a:solidFill>
            <a:srgbClr val="12284A"/>
          </a:solidFill>
          <a:ln w="15875">
            <a:solidFill>
              <a:srgbClr val="08ACD5"/>
            </a:solidFill>
            <a:prstDash val="solid"/>
          </a:ln>
        </p:spPr>
      </p:sp>
      <p:pic>
        <p:nvPicPr>
          <p:cNvPr id="24" name="Image 1" descr="preencoded.png">    </p:cNvPr>
          <p:cNvPicPr>
            <a:picLocks noChangeAspect="1"/>
          </p:cNvPicPr>
          <p:nvPr/>
        </p:nvPicPr>
        <p:blipFill>
          <a:blip r:embed="rId2"/>
          <a:stretch>
            <a:fillRect/>
          </a:stretch>
        </p:blipFill>
        <p:spPr>
          <a:xfrm>
            <a:off x="7452360" y="1600200"/>
            <a:ext cx="274320" cy="274320"/>
          </a:xfrm>
          <a:prstGeom prst="rect">
            <a:avLst/>
          </a:prstGeom>
        </p:spPr>
      </p:pic>
      <p:sp>
        <p:nvSpPr>
          <p:cNvPr id="25" name="Shape 21"/>
          <p:cNvSpPr/>
          <p:nvPr/>
        </p:nvSpPr>
        <p:spPr>
          <a:xfrm>
            <a:off x="10716768" y="1115568"/>
            <a:ext cx="512064" cy="512064"/>
          </a:xfrm>
          <a:prstGeom prst="ellipse">
            <a:avLst/>
          </a:prstGeom>
          <a:solidFill>
            <a:srgbClr val="12284A"/>
          </a:solidFill>
          <a:ln w="15875">
            <a:solidFill>
              <a:srgbClr val="08ACD5"/>
            </a:solidFill>
            <a:prstDash val="solid"/>
          </a:ln>
        </p:spPr>
      </p:sp>
      <p:pic>
        <p:nvPicPr>
          <p:cNvPr id="26" name="Image 2" descr="preencoded.png">    </p:cNvPr>
          <p:cNvPicPr>
            <a:picLocks noChangeAspect="1"/>
          </p:cNvPicPr>
          <p:nvPr/>
        </p:nvPicPr>
        <p:blipFill>
          <a:blip r:embed="rId3"/>
          <a:stretch>
            <a:fillRect/>
          </a:stretch>
        </p:blipFill>
        <p:spPr>
          <a:xfrm>
            <a:off x="10844784" y="1243584"/>
            <a:ext cx="256032" cy="256032"/>
          </a:xfrm>
          <a:prstGeom prst="rect">
            <a:avLst/>
          </a:prstGeom>
        </p:spPr>
      </p:pic>
      <p:sp>
        <p:nvSpPr>
          <p:cNvPr id="27" name="Shape 22"/>
          <p:cNvSpPr/>
          <p:nvPr/>
        </p:nvSpPr>
        <p:spPr>
          <a:xfrm>
            <a:off x="11000232" y="3639312"/>
            <a:ext cx="585216" cy="585216"/>
          </a:xfrm>
          <a:prstGeom prst="ellipse">
            <a:avLst/>
          </a:prstGeom>
          <a:solidFill>
            <a:srgbClr val="12284A"/>
          </a:solidFill>
          <a:ln w="15875">
            <a:solidFill>
              <a:srgbClr val="08ACD5"/>
            </a:solidFill>
            <a:prstDash val="solid"/>
          </a:ln>
        </p:spPr>
      </p:sp>
      <p:pic>
        <p:nvPicPr>
          <p:cNvPr id="28" name="Image 3" descr="preencoded.png">    </p:cNvPr>
          <p:cNvPicPr>
            <a:picLocks noChangeAspect="1"/>
          </p:cNvPicPr>
          <p:nvPr/>
        </p:nvPicPr>
        <p:blipFill>
          <a:blip r:embed="rId4"/>
          <a:stretch>
            <a:fillRect/>
          </a:stretch>
        </p:blipFill>
        <p:spPr>
          <a:xfrm>
            <a:off x="11146536" y="3785616"/>
            <a:ext cx="292608" cy="292608"/>
          </a:xfrm>
          <a:prstGeom prst="rect">
            <a:avLst/>
          </a:prstGeom>
        </p:spPr>
      </p:pic>
      <p:sp>
        <p:nvSpPr>
          <p:cNvPr id="29" name="Shape 23"/>
          <p:cNvSpPr/>
          <p:nvPr/>
        </p:nvSpPr>
        <p:spPr>
          <a:xfrm>
            <a:off x="9985248" y="5321808"/>
            <a:ext cx="512064" cy="512064"/>
          </a:xfrm>
          <a:prstGeom prst="ellipse">
            <a:avLst/>
          </a:prstGeom>
          <a:solidFill>
            <a:srgbClr val="12284A"/>
          </a:solidFill>
          <a:ln w="15875">
            <a:solidFill>
              <a:srgbClr val="08ACD5"/>
            </a:solidFill>
            <a:prstDash val="solid"/>
          </a:ln>
        </p:spPr>
      </p:sp>
      <p:pic>
        <p:nvPicPr>
          <p:cNvPr id="30" name="Image 4" descr="preencoded.png">    </p:cNvPr>
          <p:cNvPicPr>
            <a:picLocks noChangeAspect="1"/>
          </p:cNvPicPr>
          <p:nvPr/>
        </p:nvPicPr>
        <p:blipFill>
          <a:blip r:embed="rId5"/>
          <a:stretch>
            <a:fillRect/>
          </a:stretch>
        </p:blipFill>
        <p:spPr>
          <a:xfrm>
            <a:off x="10113264" y="5449824"/>
            <a:ext cx="256032" cy="256032"/>
          </a:xfrm>
          <a:prstGeom prst="rect">
            <a:avLst/>
          </a:prstGeom>
        </p:spPr>
      </p:pic>
      <p:sp>
        <p:nvSpPr>
          <p:cNvPr id="31" name="Shape 24"/>
          <p:cNvSpPr/>
          <p:nvPr/>
        </p:nvSpPr>
        <p:spPr>
          <a:xfrm>
            <a:off x="7498080" y="4846320"/>
            <a:ext cx="548640" cy="548640"/>
          </a:xfrm>
          <a:prstGeom prst="ellipse">
            <a:avLst/>
          </a:prstGeom>
          <a:solidFill>
            <a:srgbClr val="12284A"/>
          </a:solidFill>
          <a:ln w="15875">
            <a:solidFill>
              <a:srgbClr val="08ACD5"/>
            </a:solidFill>
            <a:prstDash val="solid"/>
          </a:ln>
        </p:spPr>
      </p:sp>
      <p:pic>
        <p:nvPicPr>
          <p:cNvPr id="32" name="Image 5" descr="preencoded.png">    </p:cNvPr>
          <p:cNvPicPr>
            <a:picLocks noChangeAspect="1"/>
          </p:cNvPicPr>
          <p:nvPr/>
        </p:nvPicPr>
        <p:blipFill>
          <a:blip r:embed="rId6"/>
          <a:stretch>
            <a:fillRect/>
          </a:stretch>
        </p:blipFill>
        <p:spPr>
          <a:xfrm>
            <a:off x="7635240" y="4983480"/>
            <a:ext cx="274320" cy="274320"/>
          </a:xfrm>
          <a:prstGeom prst="rect">
            <a:avLst/>
          </a:prstGeom>
        </p:spPr>
      </p:pic>
      <p:sp>
        <p:nvSpPr>
          <p:cNvPr id="33" name="Shape 25"/>
          <p:cNvSpPr/>
          <p:nvPr/>
        </p:nvSpPr>
        <p:spPr>
          <a:xfrm>
            <a:off x="6720840" y="3154680"/>
            <a:ext cx="457200" cy="457200"/>
          </a:xfrm>
          <a:prstGeom prst="ellipse">
            <a:avLst/>
          </a:prstGeom>
          <a:solidFill>
            <a:srgbClr val="12284A"/>
          </a:solidFill>
          <a:ln w="15875">
            <a:solidFill>
              <a:srgbClr val="08ACD5"/>
            </a:solidFill>
            <a:prstDash val="solid"/>
          </a:ln>
        </p:spPr>
      </p:sp>
      <p:pic>
        <p:nvPicPr>
          <p:cNvPr id="34" name="Image 6" descr="preencoded.png">    </p:cNvPr>
          <p:cNvPicPr>
            <a:picLocks noChangeAspect="1"/>
          </p:cNvPicPr>
          <p:nvPr/>
        </p:nvPicPr>
        <p:blipFill>
          <a:blip r:embed="rId7"/>
          <a:stretch>
            <a:fillRect/>
          </a:stretch>
        </p:blipFill>
        <p:spPr>
          <a:xfrm>
            <a:off x="6835140" y="3268980"/>
            <a:ext cx="228600" cy="228600"/>
          </a:xfrm>
          <a:prstGeom prst="rect">
            <a:avLst/>
          </a:prstGeom>
        </p:spPr>
      </p:pic>
      <p:sp>
        <p:nvSpPr>
          <p:cNvPr id="35" name="Shape 26"/>
          <p:cNvSpPr/>
          <p:nvPr/>
        </p:nvSpPr>
        <p:spPr>
          <a:xfrm>
            <a:off x="8961120" y="731520"/>
            <a:ext cx="182880" cy="182880"/>
          </a:xfrm>
          <a:prstGeom prst="ellipse">
            <a:avLst/>
          </a:prstGeom>
          <a:solidFill>
            <a:srgbClr val="08ACD5">
              <a:alpha val="80000"/>
            </a:srgbClr>
          </a:solidFill>
          <a:ln w="12700">
            <a:solidFill>
              <a:srgbClr val="08ACD5"/>
            </a:solidFill>
            <a:prstDash val="solid"/>
          </a:ln>
        </p:spPr>
      </p:sp>
      <p:sp>
        <p:nvSpPr>
          <p:cNvPr id="36" name="Shape 27"/>
          <p:cNvSpPr/>
          <p:nvPr/>
        </p:nvSpPr>
        <p:spPr>
          <a:xfrm>
            <a:off x="11722608" y="2578608"/>
            <a:ext cx="146304" cy="146304"/>
          </a:xfrm>
          <a:prstGeom prst="ellipse">
            <a:avLst/>
          </a:prstGeom>
          <a:solidFill>
            <a:srgbClr val="08ACD5">
              <a:alpha val="80000"/>
            </a:srgbClr>
          </a:solidFill>
          <a:ln w="12700">
            <a:solidFill>
              <a:srgbClr val="08ACD5"/>
            </a:solidFill>
            <a:prstDash val="solid"/>
          </a:ln>
        </p:spPr>
      </p:sp>
      <p:sp>
        <p:nvSpPr>
          <p:cNvPr id="37" name="Shape 28"/>
          <p:cNvSpPr/>
          <p:nvPr/>
        </p:nvSpPr>
        <p:spPr>
          <a:xfrm>
            <a:off x="8686800" y="6126480"/>
            <a:ext cx="182880" cy="182880"/>
          </a:xfrm>
          <a:prstGeom prst="ellipse">
            <a:avLst/>
          </a:prstGeom>
          <a:solidFill>
            <a:srgbClr val="08ACD5">
              <a:alpha val="80000"/>
            </a:srgbClr>
          </a:solidFill>
          <a:ln w="12700">
            <a:solidFill>
              <a:srgbClr val="08ACD5"/>
            </a:solidFill>
            <a:prstDash val="solid"/>
          </a:ln>
        </p:spPr>
      </p:sp>
      <p:sp>
        <p:nvSpPr>
          <p:cNvPr id="38" name="Shape 29"/>
          <p:cNvSpPr/>
          <p:nvPr/>
        </p:nvSpPr>
        <p:spPr>
          <a:xfrm>
            <a:off x="6336792" y="5879592"/>
            <a:ext cx="128016" cy="128016"/>
          </a:xfrm>
          <a:prstGeom prst="ellipse">
            <a:avLst/>
          </a:prstGeom>
          <a:solidFill>
            <a:srgbClr val="08ACD5">
              <a:alpha val="80000"/>
            </a:srgbClr>
          </a:solidFill>
          <a:ln w="12700">
            <a:solidFill>
              <a:srgbClr val="08ACD5"/>
            </a:solidFill>
            <a:prstDash val="solid"/>
          </a:ln>
        </p:spPr>
      </p:sp>
      <p:sp>
        <p:nvSpPr>
          <p:cNvPr id="39" name="Shape 30"/>
          <p:cNvSpPr/>
          <p:nvPr/>
        </p:nvSpPr>
        <p:spPr>
          <a:xfrm>
            <a:off x="11804904" y="5129784"/>
            <a:ext cx="164592" cy="164592"/>
          </a:xfrm>
          <a:prstGeom prst="ellipse">
            <a:avLst/>
          </a:prstGeom>
          <a:solidFill>
            <a:srgbClr val="08ACD5">
              <a:alpha val="80000"/>
            </a:srgbClr>
          </a:solidFill>
          <a:ln w="12700">
            <a:solidFill>
              <a:srgbClr val="08ACD5"/>
            </a:solidFill>
            <a:prstDash val="solid"/>
          </a:ln>
        </p:spPr>
      </p:sp>
      <p:sp>
        <p:nvSpPr>
          <p:cNvPr id="40" name="Shape 31"/>
          <p:cNvSpPr/>
          <p:nvPr/>
        </p:nvSpPr>
        <p:spPr>
          <a:xfrm>
            <a:off x="6519672" y="850392"/>
            <a:ext cx="128016" cy="128016"/>
          </a:xfrm>
          <a:prstGeom prst="ellipse">
            <a:avLst/>
          </a:prstGeom>
          <a:solidFill>
            <a:srgbClr val="08ACD5">
              <a:alpha val="80000"/>
            </a:srgbClr>
          </a:solidFill>
          <a:ln w="12700">
            <a:solidFill>
              <a:srgbClr val="08ACD5"/>
            </a:solidFill>
            <a:prstDash val="solid"/>
          </a:ln>
        </p:spPr>
      </p:sp>
      <p:pic>
        <p:nvPicPr>
          <p:cNvPr id="41" name="Image 7" descr="Next Generation Innovation logo">    </p:cNvPr>
          <p:cNvPicPr>
            <a:picLocks noChangeAspect="1"/>
          </p:cNvPicPr>
          <p:nvPr/>
        </p:nvPicPr>
        <p:blipFill>
          <a:blip r:embed="rId8"/>
          <a:stretch>
            <a:fillRect/>
          </a:stretch>
        </p:blipFill>
        <p:spPr>
          <a:xfrm>
            <a:off x="685800" y="640080"/>
            <a:ext cx="2651760" cy="1431950"/>
          </a:xfrm>
          <a:prstGeom prst="rect">
            <a:avLst/>
          </a:prstGeom>
        </p:spPr>
      </p:pic>
      <p:sp>
        <p:nvSpPr>
          <p:cNvPr id="42" name="Text 0"/>
          <p:cNvSpPr/>
          <p:nvPr>
            <p:ph idx="100" type="title" hasCustomPrompt="1"/>
          </p:nvPr>
        </p:nvSpPr>
        <p:spPr>
          <a:xfrm>
            <a:off x="685800" y="2286000"/>
            <a:ext cx="6309360" cy="1920240"/>
          </a:xfrm>
          <a:prstGeom prst="rect">
            <a:avLst/>
          </a:prstGeom>
          <a:noFill/>
          <a:ln/>
        </p:spPr>
        <p:txBody>
          <a:bodyPr wrap="square" lIns="0" tIns="0" rIns="0" bIns="0" rtlCol="0" anchor="t"/>
          <a:lstStyle/>
          <a:p>
            <a:pPr algn="l" indent="0" marL="0">
              <a:buNone/>
            </a:pPr>
            <a:r>
              <a:rPr lang="en-US" sz="4000" b="1" dirty="0">
                <a:solidFill>
                  <a:schemeClr val="bg1"/>
                </a:solidFill>
              </a:rPr>
              <a:t>KMS: Enterprise Knowledge Operating System</a:t>
            </a:r>
            <a:endParaRPr lang="en-US" sz="4000" dirty="0"/>
          </a:p>
        </p:txBody>
      </p:sp>
      <p:sp>
        <p:nvSpPr>
          <p:cNvPr id="43" name="Text 0"/>
          <p:cNvSpPr/>
          <p:nvPr>
            <p:ph idx="101" type="body" hasCustomPrompt="1"/>
          </p:nvPr>
        </p:nvSpPr>
        <p:spPr>
          <a:xfrm>
            <a:off x="685800" y="4434840"/>
            <a:ext cx="5760720" cy="822960"/>
          </a:xfrm>
          <a:prstGeom prst="rect">
            <a:avLst/>
          </a:prstGeom>
          <a:noFill/>
          <a:ln/>
        </p:spPr>
        <p:txBody>
          <a:bodyPr wrap="square" lIns="0" tIns="0" rIns="0" bIns="0" rtlCol="0" anchor="t"/>
          <a:lstStyle/>
          <a:p>
            <a:pPr algn="l" indent="0" marL="0">
              <a:buNone/>
            </a:pPr>
            <a:r>
              <a:rPr lang="en-US" sz="2000" dirty="0">
                <a:solidFill>
                  <a:schemeClr val="accent2"/>
                </a:solidFill>
              </a:rPr>
              <a:t>Turning organizational knowledge into connected intelligence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THE CHALLENGE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Enterprise Knowledge Is Everywhere, But Context Is Missing</a:t>
            </a:r>
            <a:endParaRPr lang="en-US" sz="3000" dirty="0"/>
          </a:p>
        </p:txBody>
      </p:sp>
      <p:sp>
        <p:nvSpPr>
          <p:cNvPr id="4" name="Shape 2"/>
          <p:cNvSpPr/>
          <p:nvPr/>
        </p:nvSpPr>
        <p:spPr>
          <a:xfrm>
            <a:off x="548640" y="1691640"/>
            <a:ext cx="512064" cy="512064"/>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34440" y="1673352"/>
            <a:ext cx="4206240" cy="274320"/>
          </a:xfrm>
          <a:prstGeom prst="rect">
            <a:avLst/>
          </a:prstGeom>
          <a:noFill/>
          <a:ln/>
        </p:spPr>
        <p:txBody>
          <a:bodyPr wrap="square" lIns="0" tIns="0" rIns="0" bIns="0" rtlCol="0" anchor="t"/>
          <a:lstStyle/>
          <a:p>
            <a:pPr indent="0" marL="0">
              <a:buNone/>
            </a:pPr>
            <a:r>
              <a:rPr lang="en-US" sz="1600" b="1" dirty="0">
                <a:solidFill>
                  <a:schemeClr val="tx1"/>
                </a:solidFill>
              </a:rPr>
              <a:t>Scattered</a:t>
            </a:r>
            <a:endParaRPr lang="en-US" sz="1600" dirty="0"/>
          </a:p>
        </p:txBody>
      </p:sp>
      <p:sp>
        <p:nvSpPr>
          <p:cNvPr id="7" name="Text 4"/>
          <p:cNvSpPr txBox="1"/>
          <p:nvPr/>
        </p:nvSpPr>
        <p:spPr>
          <a:xfrm>
            <a:off x="1234440" y="1947672"/>
            <a:ext cx="4297680" cy="411480"/>
          </a:xfrm>
          <a:prstGeom prst="rect">
            <a:avLst/>
          </a:prstGeom>
          <a:noFill/>
          <a:ln/>
        </p:spPr>
        <p:txBody>
          <a:bodyPr wrap="square" lIns="0" tIns="0" rIns="0" bIns="0" rtlCol="0" anchor="t"/>
          <a:lstStyle/>
          <a:p>
            <a:pPr indent="0" marL="0">
              <a:buNone/>
            </a:pPr>
            <a:r>
              <a:rPr lang="en-US" sz="1300" dirty="0">
                <a:solidFill>
                  <a:srgbClr val="64748B"/>
                </a:solidFill>
              </a:rPr>
              <a:t>Knowledge spread across documents, projects, departments and people</a:t>
            </a:r>
            <a:endParaRPr lang="en-US" sz="1300" dirty="0"/>
          </a:p>
        </p:txBody>
      </p:sp>
      <p:sp>
        <p:nvSpPr>
          <p:cNvPr id="8" name="Shape 5"/>
          <p:cNvSpPr/>
          <p:nvPr/>
        </p:nvSpPr>
        <p:spPr>
          <a:xfrm>
            <a:off x="548640" y="2478024"/>
            <a:ext cx="512064" cy="512064"/>
          </a:xfrm>
          <a:prstGeom prst="ellipse">
            <a:avLst/>
          </a:prstGeom>
          <a:solidFill>
            <a:schemeClr val="tx2"/>
          </a:solidFill>
          <a:ln w="12700">
            <a:solidFill>
              <a:schemeClr val="tx2"/>
            </a:solidFill>
            <a:prstDash val="solid"/>
          </a:ln>
        </p:spPr>
      </p:sp>
      <p:pic>
        <p:nvPicPr>
          <p:cNvPr id="9" name="Image 1" descr="preencoded.png">    </p:cNvPr>
          <p:cNvPicPr>
            <a:picLocks noChangeAspect="1"/>
          </p:cNvPicPr>
          <p:nvPr/>
        </p:nvPicPr>
        <p:blipFill>
          <a:blip r:embed="rId2"/>
          <a:stretch>
            <a:fillRect/>
          </a:stretch>
        </p:blipFill>
        <p:spPr>
          <a:xfrm>
            <a:off x="676656" y="2606040"/>
            <a:ext cx="256032" cy="256032"/>
          </a:xfrm>
          <a:prstGeom prst="rect">
            <a:avLst/>
          </a:prstGeom>
        </p:spPr>
      </p:pic>
      <p:sp>
        <p:nvSpPr>
          <p:cNvPr id="10" name="Text 6"/>
          <p:cNvSpPr txBox="1"/>
          <p:nvPr/>
        </p:nvSpPr>
        <p:spPr>
          <a:xfrm>
            <a:off x="1234440" y="2459736"/>
            <a:ext cx="4206240" cy="274320"/>
          </a:xfrm>
          <a:prstGeom prst="rect">
            <a:avLst/>
          </a:prstGeom>
          <a:noFill/>
          <a:ln/>
        </p:spPr>
        <p:txBody>
          <a:bodyPr wrap="square" lIns="0" tIns="0" rIns="0" bIns="0" rtlCol="0" anchor="t"/>
          <a:lstStyle/>
          <a:p>
            <a:pPr indent="0" marL="0">
              <a:buNone/>
            </a:pPr>
            <a:r>
              <a:rPr lang="en-US" sz="1600" b="1" dirty="0">
                <a:solidFill>
                  <a:schemeClr val="tx1"/>
                </a:solidFill>
              </a:rPr>
              <a:t>Shallow search</a:t>
            </a:r>
            <a:endParaRPr lang="en-US" sz="1600" dirty="0"/>
          </a:p>
        </p:txBody>
      </p:sp>
      <p:sp>
        <p:nvSpPr>
          <p:cNvPr id="11" name="Text 7"/>
          <p:cNvSpPr txBox="1"/>
          <p:nvPr/>
        </p:nvSpPr>
        <p:spPr>
          <a:xfrm>
            <a:off x="1234440" y="2734056"/>
            <a:ext cx="4297680" cy="411480"/>
          </a:xfrm>
          <a:prstGeom prst="rect">
            <a:avLst/>
          </a:prstGeom>
          <a:noFill/>
          <a:ln/>
        </p:spPr>
        <p:txBody>
          <a:bodyPr wrap="square" lIns="0" tIns="0" rIns="0" bIns="0" rtlCol="0" anchor="t"/>
          <a:lstStyle/>
          <a:p>
            <a:pPr indent="0" marL="0">
              <a:buNone/>
            </a:pPr>
            <a:r>
              <a:rPr lang="en-US" sz="1300" dirty="0">
                <a:solidFill>
                  <a:srgbClr val="64748B"/>
                </a:solidFill>
              </a:rPr>
              <a:t>Search finds files, but not always meaning</a:t>
            </a:r>
            <a:endParaRPr lang="en-US" sz="1300" dirty="0"/>
          </a:p>
        </p:txBody>
      </p:sp>
      <p:sp>
        <p:nvSpPr>
          <p:cNvPr id="12" name="Shape 8"/>
          <p:cNvSpPr/>
          <p:nvPr/>
        </p:nvSpPr>
        <p:spPr>
          <a:xfrm>
            <a:off x="548640" y="3264408"/>
            <a:ext cx="512064" cy="512064"/>
          </a:xfrm>
          <a:prstGeom prst="ellipse">
            <a:avLst/>
          </a:prstGeom>
          <a:solidFill>
            <a:schemeClr val="tx2"/>
          </a:solidFill>
          <a:ln w="12700">
            <a:solidFill>
              <a:schemeClr val="tx2"/>
            </a:solidFill>
            <a:prstDash val="solid"/>
          </a:ln>
        </p:spPr>
      </p:sp>
      <p:pic>
        <p:nvPicPr>
          <p:cNvPr id="13" name="Image 2" descr="preencoded.png">    </p:cNvPr>
          <p:cNvPicPr>
            <a:picLocks noChangeAspect="1"/>
          </p:cNvPicPr>
          <p:nvPr/>
        </p:nvPicPr>
        <p:blipFill>
          <a:blip r:embed="rId3"/>
          <a:stretch>
            <a:fillRect/>
          </a:stretch>
        </p:blipFill>
        <p:spPr>
          <a:xfrm>
            <a:off x="676656" y="3392424"/>
            <a:ext cx="256032" cy="256032"/>
          </a:xfrm>
          <a:prstGeom prst="rect">
            <a:avLst/>
          </a:prstGeom>
        </p:spPr>
      </p:pic>
      <p:sp>
        <p:nvSpPr>
          <p:cNvPr id="14" name="Text 9"/>
          <p:cNvSpPr txBox="1"/>
          <p:nvPr/>
        </p:nvSpPr>
        <p:spPr>
          <a:xfrm>
            <a:off x="1234440" y="3246120"/>
            <a:ext cx="4206240" cy="274320"/>
          </a:xfrm>
          <a:prstGeom prst="rect">
            <a:avLst/>
          </a:prstGeom>
          <a:noFill/>
          <a:ln/>
        </p:spPr>
        <p:txBody>
          <a:bodyPr wrap="square" lIns="0" tIns="0" rIns="0" bIns="0" rtlCol="0" anchor="t"/>
          <a:lstStyle/>
          <a:p>
            <a:pPr indent="0" marL="0">
              <a:buNone/>
            </a:pPr>
            <a:r>
              <a:rPr lang="en-US" sz="1600" b="1" dirty="0">
                <a:solidFill>
                  <a:schemeClr val="tx1"/>
                </a:solidFill>
              </a:rPr>
              <a:t>Buried reasoning</a:t>
            </a:r>
            <a:endParaRPr lang="en-US" sz="1600" dirty="0"/>
          </a:p>
        </p:txBody>
      </p:sp>
      <p:sp>
        <p:nvSpPr>
          <p:cNvPr id="15" name="Text 10"/>
          <p:cNvSpPr txBox="1"/>
          <p:nvPr/>
        </p:nvSpPr>
        <p:spPr>
          <a:xfrm>
            <a:off x="1234440" y="3520440"/>
            <a:ext cx="4297680" cy="411480"/>
          </a:xfrm>
          <a:prstGeom prst="rect">
            <a:avLst/>
          </a:prstGeom>
          <a:noFill/>
          <a:ln/>
        </p:spPr>
        <p:txBody>
          <a:bodyPr wrap="square" lIns="0" tIns="0" rIns="0" bIns="0" rtlCol="0" anchor="t"/>
          <a:lstStyle/>
          <a:p>
            <a:pPr indent="0" marL="0">
              <a:buNone/>
            </a:pPr>
            <a:r>
              <a:rPr lang="en-US" sz="1300" dirty="0">
                <a:solidFill>
                  <a:srgbClr val="64748B"/>
                </a:solidFill>
              </a:rPr>
              <a:t>Decisions get made, but the rationale disappears</a:t>
            </a:r>
            <a:endParaRPr lang="en-US" sz="1300" dirty="0"/>
          </a:p>
        </p:txBody>
      </p:sp>
      <p:sp>
        <p:nvSpPr>
          <p:cNvPr id="16" name="Shape 11"/>
          <p:cNvSpPr/>
          <p:nvPr/>
        </p:nvSpPr>
        <p:spPr>
          <a:xfrm>
            <a:off x="548640" y="4050792"/>
            <a:ext cx="512064" cy="512064"/>
          </a:xfrm>
          <a:prstGeom prst="ellipse">
            <a:avLst/>
          </a:prstGeom>
          <a:solidFill>
            <a:schemeClr val="tx2"/>
          </a:solidFill>
          <a:ln w="12700">
            <a:solidFill>
              <a:schemeClr val="tx2"/>
            </a:solidFill>
            <a:prstDash val="solid"/>
          </a:ln>
        </p:spPr>
      </p:sp>
      <p:pic>
        <p:nvPicPr>
          <p:cNvPr id="17" name="Image 3" descr="preencoded.png">    </p:cNvPr>
          <p:cNvPicPr>
            <a:picLocks noChangeAspect="1"/>
          </p:cNvPicPr>
          <p:nvPr/>
        </p:nvPicPr>
        <p:blipFill>
          <a:blip r:embed="rId4"/>
          <a:stretch>
            <a:fillRect/>
          </a:stretch>
        </p:blipFill>
        <p:spPr>
          <a:xfrm>
            <a:off x="676656" y="4178808"/>
            <a:ext cx="256032" cy="256032"/>
          </a:xfrm>
          <a:prstGeom prst="rect">
            <a:avLst/>
          </a:prstGeom>
        </p:spPr>
      </p:pic>
      <p:sp>
        <p:nvSpPr>
          <p:cNvPr id="18" name="Text 12"/>
          <p:cNvSpPr txBox="1"/>
          <p:nvPr/>
        </p:nvSpPr>
        <p:spPr>
          <a:xfrm>
            <a:off x="1234440" y="4032504"/>
            <a:ext cx="4206240" cy="274320"/>
          </a:xfrm>
          <a:prstGeom prst="rect">
            <a:avLst/>
          </a:prstGeom>
          <a:noFill/>
          <a:ln/>
        </p:spPr>
        <p:txBody>
          <a:bodyPr wrap="square" lIns="0" tIns="0" rIns="0" bIns="0" rtlCol="0" anchor="t"/>
          <a:lstStyle/>
          <a:p>
            <a:pPr indent="0" marL="0">
              <a:buNone/>
            </a:pPr>
            <a:r>
              <a:rPr lang="en-US" sz="1600" b="1" dirty="0">
                <a:solidFill>
                  <a:schemeClr val="tx1"/>
                </a:solidFill>
              </a:rPr>
              <a:t>Lost lessons</a:t>
            </a:r>
            <a:endParaRPr lang="en-US" sz="1600" dirty="0"/>
          </a:p>
        </p:txBody>
      </p:sp>
      <p:sp>
        <p:nvSpPr>
          <p:cNvPr id="19" name="Text 13"/>
          <p:cNvSpPr txBox="1"/>
          <p:nvPr/>
        </p:nvSpPr>
        <p:spPr>
          <a:xfrm>
            <a:off x="1234440" y="4306824"/>
            <a:ext cx="4297680" cy="411480"/>
          </a:xfrm>
          <a:prstGeom prst="rect">
            <a:avLst/>
          </a:prstGeom>
          <a:noFill/>
          <a:ln/>
        </p:spPr>
        <p:txBody>
          <a:bodyPr wrap="square" lIns="0" tIns="0" rIns="0" bIns="0" rtlCol="0" anchor="t"/>
          <a:lstStyle/>
          <a:p>
            <a:pPr indent="0" marL="0">
              <a:buNone/>
            </a:pPr>
            <a:r>
              <a:rPr lang="en-US" sz="1300" dirty="0">
                <a:solidFill>
                  <a:srgbClr val="64748B"/>
                </a:solidFill>
              </a:rPr>
              <a:t>Lessons are learned, but rarely reused</a:t>
            </a:r>
            <a:endParaRPr lang="en-US" sz="1300" dirty="0"/>
          </a:p>
        </p:txBody>
      </p:sp>
      <p:sp>
        <p:nvSpPr>
          <p:cNvPr id="20" name="Shape 14"/>
          <p:cNvSpPr/>
          <p:nvPr/>
        </p:nvSpPr>
        <p:spPr>
          <a:xfrm>
            <a:off x="548640" y="4837176"/>
            <a:ext cx="512064" cy="512064"/>
          </a:xfrm>
          <a:prstGeom prst="ellipse">
            <a:avLst/>
          </a:prstGeom>
          <a:solidFill>
            <a:schemeClr val="tx2"/>
          </a:solidFill>
          <a:ln w="12700">
            <a:solidFill>
              <a:schemeClr val="tx2"/>
            </a:solidFill>
            <a:prstDash val="solid"/>
          </a:ln>
        </p:spPr>
      </p:sp>
      <p:pic>
        <p:nvPicPr>
          <p:cNvPr id="21" name="Image 4" descr="preencoded.png">    </p:cNvPr>
          <p:cNvPicPr>
            <a:picLocks noChangeAspect="1"/>
          </p:cNvPicPr>
          <p:nvPr/>
        </p:nvPicPr>
        <p:blipFill>
          <a:blip r:embed="rId5"/>
          <a:stretch>
            <a:fillRect/>
          </a:stretch>
        </p:blipFill>
        <p:spPr>
          <a:xfrm>
            <a:off x="676656" y="4965192"/>
            <a:ext cx="256032" cy="256032"/>
          </a:xfrm>
          <a:prstGeom prst="rect">
            <a:avLst/>
          </a:prstGeom>
        </p:spPr>
      </p:pic>
      <p:sp>
        <p:nvSpPr>
          <p:cNvPr id="22" name="Text 15"/>
          <p:cNvSpPr txBox="1"/>
          <p:nvPr/>
        </p:nvSpPr>
        <p:spPr>
          <a:xfrm>
            <a:off x="1234440" y="4818888"/>
            <a:ext cx="4206240" cy="274320"/>
          </a:xfrm>
          <a:prstGeom prst="rect">
            <a:avLst/>
          </a:prstGeom>
          <a:noFill/>
          <a:ln/>
        </p:spPr>
        <p:txBody>
          <a:bodyPr wrap="square" lIns="0" tIns="0" rIns="0" bIns="0" rtlCol="0" anchor="t"/>
          <a:lstStyle/>
          <a:p>
            <a:pPr indent="0" marL="0">
              <a:buNone/>
            </a:pPr>
            <a:r>
              <a:rPr lang="en-US" sz="1600" b="1" dirty="0">
                <a:solidFill>
                  <a:schemeClr val="tx1"/>
                </a:solidFill>
              </a:rPr>
              <a:t>Hidden experts</a:t>
            </a:r>
            <a:endParaRPr lang="en-US" sz="1600" dirty="0"/>
          </a:p>
        </p:txBody>
      </p:sp>
      <p:sp>
        <p:nvSpPr>
          <p:cNvPr id="23" name="Text 16"/>
          <p:cNvSpPr txBox="1"/>
          <p:nvPr/>
        </p:nvSpPr>
        <p:spPr>
          <a:xfrm>
            <a:off x="1234440" y="5093208"/>
            <a:ext cx="4297680" cy="411480"/>
          </a:xfrm>
          <a:prstGeom prst="rect">
            <a:avLst/>
          </a:prstGeom>
          <a:noFill/>
          <a:ln/>
        </p:spPr>
        <p:txBody>
          <a:bodyPr wrap="square" lIns="0" tIns="0" rIns="0" bIns="0" rtlCol="0" anchor="t"/>
          <a:lstStyle/>
          <a:p>
            <a:pPr indent="0" marL="0">
              <a:buNone/>
            </a:pPr>
            <a:r>
              <a:rPr lang="en-US" sz="1300" dirty="0">
                <a:solidFill>
                  <a:srgbClr val="64748B"/>
                </a:solidFill>
              </a:rPr>
              <a:t>Experts exist, but people don't know who to ask</a:t>
            </a:r>
            <a:endParaRPr lang="en-US" sz="1300" dirty="0"/>
          </a:p>
        </p:txBody>
      </p:sp>
      <p:sp>
        <p:nvSpPr>
          <p:cNvPr id="24" name="Shape 17"/>
          <p:cNvSpPr/>
          <p:nvPr/>
        </p:nvSpPr>
        <p:spPr>
          <a:xfrm>
            <a:off x="5943600" y="1600200"/>
            <a:ext cx="5696712" cy="4206240"/>
          </a:xfrm>
          <a:prstGeom prst="roundRect">
            <a:avLst>
              <a:gd name="adj" fmla="val 2609"/>
            </a:avLst>
          </a:prstGeom>
          <a:solidFill>
            <a:schemeClr val="bg2"/>
          </a:solidFill>
          <a:ln w="12700">
            <a:solidFill>
              <a:schemeClr val="bg2"/>
            </a:solidFill>
            <a:prstDash val="solid"/>
          </a:ln>
        </p:spPr>
      </p:sp>
      <p:sp>
        <p:nvSpPr>
          <p:cNvPr id="25" name="Shape 18"/>
          <p:cNvSpPr/>
          <p:nvPr/>
        </p:nvSpPr>
        <p:spPr>
          <a:xfrm>
            <a:off x="7178040" y="2377440"/>
            <a:ext cx="531495" cy="445770"/>
          </a:xfrm>
          <a:prstGeom prst="line">
            <a:avLst/>
          </a:prstGeom>
          <a:noFill/>
          <a:ln w="15875">
            <a:solidFill>
              <a:srgbClr val="94A3B8"/>
            </a:solidFill>
            <a:prstDash val="dash"/>
          </a:ln>
        </p:spPr>
      </p:sp>
      <p:sp>
        <p:nvSpPr>
          <p:cNvPr id="26" name="Shape 19"/>
          <p:cNvSpPr/>
          <p:nvPr/>
        </p:nvSpPr>
        <p:spPr>
          <a:xfrm>
            <a:off x="8063865" y="3120390"/>
            <a:ext cx="531495" cy="445770"/>
          </a:xfrm>
          <a:prstGeom prst="line">
            <a:avLst/>
          </a:prstGeom>
          <a:noFill/>
          <a:ln w="15875">
            <a:solidFill>
              <a:srgbClr val="94A3B8"/>
            </a:solidFill>
            <a:prstDash val="dash"/>
          </a:ln>
        </p:spPr>
      </p:sp>
      <p:sp>
        <p:nvSpPr>
          <p:cNvPr id="27" name="Shape 20"/>
          <p:cNvSpPr/>
          <p:nvPr/>
        </p:nvSpPr>
        <p:spPr>
          <a:xfrm>
            <a:off x="10241280" y="2286000"/>
            <a:ext cx="240030" cy="531495"/>
          </a:xfrm>
          <a:prstGeom prst="line">
            <a:avLst/>
          </a:prstGeom>
          <a:noFill/>
          <a:ln w="15875">
            <a:solidFill>
              <a:srgbClr val="94A3B8"/>
            </a:solidFill>
            <a:prstDash val="dash"/>
          </a:ln>
        </p:spPr>
      </p:sp>
      <p:sp>
        <p:nvSpPr>
          <p:cNvPr id="28" name="Shape 21"/>
          <p:cNvSpPr/>
          <p:nvPr/>
        </p:nvSpPr>
        <p:spPr>
          <a:xfrm>
            <a:off x="10641330" y="3171825"/>
            <a:ext cx="240030" cy="531495"/>
          </a:xfrm>
          <a:prstGeom prst="line">
            <a:avLst/>
          </a:prstGeom>
          <a:noFill/>
          <a:ln w="15875">
            <a:solidFill>
              <a:srgbClr val="94A3B8"/>
            </a:solidFill>
            <a:prstDash val="dash"/>
          </a:ln>
        </p:spPr>
      </p:sp>
      <p:sp>
        <p:nvSpPr>
          <p:cNvPr id="29" name="Shape 22"/>
          <p:cNvSpPr/>
          <p:nvPr/>
        </p:nvSpPr>
        <p:spPr>
          <a:xfrm flipV="1">
            <a:off x="8046720" y="3566160"/>
            <a:ext cx="548640" cy="462915"/>
          </a:xfrm>
          <a:prstGeom prst="line">
            <a:avLst/>
          </a:prstGeom>
          <a:noFill/>
          <a:ln w="15875">
            <a:solidFill>
              <a:srgbClr val="94A3B8"/>
            </a:solidFill>
            <a:prstDash val="dash"/>
          </a:ln>
        </p:spPr>
      </p:sp>
      <p:sp>
        <p:nvSpPr>
          <p:cNvPr id="30" name="Shape 23"/>
          <p:cNvSpPr/>
          <p:nvPr/>
        </p:nvSpPr>
        <p:spPr>
          <a:xfrm flipV="1">
            <a:off x="7132320" y="4337685"/>
            <a:ext cx="548640" cy="462915"/>
          </a:xfrm>
          <a:prstGeom prst="line">
            <a:avLst/>
          </a:prstGeom>
          <a:noFill/>
          <a:ln w="15875">
            <a:solidFill>
              <a:srgbClr val="94A3B8"/>
            </a:solidFill>
            <a:prstDash val="dash"/>
          </a:ln>
        </p:spPr>
      </p:sp>
      <p:sp>
        <p:nvSpPr>
          <p:cNvPr id="31" name="Shape 24"/>
          <p:cNvSpPr/>
          <p:nvPr/>
        </p:nvSpPr>
        <p:spPr>
          <a:xfrm>
            <a:off x="8595360" y="3566160"/>
            <a:ext cx="497205" cy="497205"/>
          </a:xfrm>
          <a:prstGeom prst="line">
            <a:avLst/>
          </a:prstGeom>
          <a:noFill/>
          <a:ln w="15875">
            <a:solidFill>
              <a:srgbClr val="94A3B8"/>
            </a:solidFill>
            <a:prstDash val="dash"/>
          </a:ln>
        </p:spPr>
      </p:sp>
      <p:sp>
        <p:nvSpPr>
          <p:cNvPr id="32" name="Shape 25"/>
          <p:cNvSpPr/>
          <p:nvPr/>
        </p:nvSpPr>
        <p:spPr>
          <a:xfrm>
            <a:off x="9424035" y="4394835"/>
            <a:ext cx="497205" cy="497205"/>
          </a:xfrm>
          <a:prstGeom prst="line">
            <a:avLst/>
          </a:prstGeom>
          <a:noFill/>
          <a:ln w="15875">
            <a:solidFill>
              <a:srgbClr val="94A3B8"/>
            </a:solidFill>
            <a:prstDash val="dash"/>
          </a:ln>
        </p:spPr>
      </p:sp>
      <p:sp>
        <p:nvSpPr>
          <p:cNvPr id="33" name="Shape 26"/>
          <p:cNvSpPr/>
          <p:nvPr/>
        </p:nvSpPr>
        <p:spPr>
          <a:xfrm flipV="1">
            <a:off x="7178040" y="2343150"/>
            <a:ext cx="1148715" cy="34290"/>
          </a:xfrm>
          <a:prstGeom prst="line">
            <a:avLst/>
          </a:prstGeom>
          <a:noFill/>
          <a:ln w="15875">
            <a:solidFill>
              <a:srgbClr val="94A3B8"/>
            </a:solidFill>
            <a:prstDash val="dash"/>
          </a:ln>
        </p:spPr>
      </p:sp>
      <p:sp>
        <p:nvSpPr>
          <p:cNvPr id="34" name="Shape 27"/>
          <p:cNvSpPr/>
          <p:nvPr/>
        </p:nvSpPr>
        <p:spPr>
          <a:xfrm flipV="1">
            <a:off x="9092565" y="2286000"/>
            <a:ext cx="1148715" cy="34290"/>
          </a:xfrm>
          <a:prstGeom prst="line">
            <a:avLst/>
          </a:prstGeom>
          <a:noFill/>
          <a:ln w="15875">
            <a:solidFill>
              <a:srgbClr val="94A3B8"/>
            </a:solidFill>
            <a:prstDash val="dash"/>
          </a:ln>
        </p:spPr>
      </p:sp>
      <p:sp>
        <p:nvSpPr>
          <p:cNvPr id="35" name="Shape 28"/>
          <p:cNvSpPr/>
          <p:nvPr/>
        </p:nvSpPr>
        <p:spPr>
          <a:xfrm flipV="1">
            <a:off x="10521315" y="3703320"/>
            <a:ext cx="360045" cy="445770"/>
          </a:xfrm>
          <a:prstGeom prst="line">
            <a:avLst/>
          </a:prstGeom>
          <a:noFill/>
          <a:ln w="15875">
            <a:solidFill>
              <a:srgbClr val="94A3B8"/>
            </a:solidFill>
            <a:prstDash val="dash"/>
          </a:ln>
        </p:spPr>
      </p:sp>
      <p:sp>
        <p:nvSpPr>
          <p:cNvPr id="36" name="Shape 29"/>
          <p:cNvSpPr/>
          <p:nvPr/>
        </p:nvSpPr>
        <p:spPr>
          <a:xfrm flipV="1">
            <a:off x="9921240" y="4446270"/>
            <a:ext cx="360045" cy="445770"/>
          </a:xfrm>
          <a:prstGeom prst="line">
            <a:avLst/>
          </a:prstGeom>
          <a:noFill/>
          <a:ln w="15875">
            <a:solidFill>
              <a:srgbClr val="94A3B8"/>
            </a:solidFill>
            <a:prstDash val="dash"/>
          </a:ln>
        </p:spPr>
      </p:sp>
      <p:sp>
        <p:nvSpPr>
          <p:cNvPr id="37" name="Shape 30"/>
          <p:cNvSpPr/>
          <p:nvPr/>
        </p:nvSpPr>
        <p:spPr>
          <a:xfrm>
            <a:off x="6400800" y="192024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8" name="Shape 31"/>
          <p:cNvSpPr/>
          <p:nvPr/>
        </p:nvSpPr>
        <p:spPr>
          <a:xfrm>
            <a:off x="6967728" y="2029968"/>
            <a:ext cx="420624" cy="420624"/>
          </a:xfrm>
          <a:prstGeom prst="ellipse">
            <a:avLst/>
          </a:prstGeom>
          <a:solidFill>
            <a:schemeClr val="accent1"/>
          </a:solidFill>
          <a:ln w="12700">
            <a:solidFill>
              <a:schemeClr val="accent1"/>
            </a:solidFill>
            <a:prstDash val="solid"/>
          </a:ln>
        </p:spPr>
      </p:sp>
      <p:pic>
        <p:nvPicPr>
          <p:cNvPr id="39" name="Image 5" descr="preencoded.png">    </p:cNvPr>
          <p:cNvPicPr>
            <a:picLocks noChangeAspect="1"/>
          </p:cNvPicPr>
          <p:nvPr/>
        </p:nvPicPr>
        <p:blipFill>
          <a:blip r:embed="rId6"/>
          <a:stretch>
            <a:fillRect/>
          </a:stretch>
        </p:blipFill>
        <p:spPr>
          <a:xfrm>
            <a:off x="7072884" y="2135124"/>
            <a:ext cx="210312" cy="210312"/>
          </a:xfrm>
          <a:prstGeom prst="rect">
            <a:avLst/>
          </a:prstGeom>
        </p:spPr>
      </p:pic>
      <p:sp>
        <p:nvSpPr>
          <p:cNvPr id="40" name="Text 32"/>
          <p:cNvSpPr txBox="1"/>
          <p:nvPr/>
        </p:nvSpPr>
        <p:spPr>
          <a:xfrm>
            <a:off x="6400800" y="249631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Documents</a:t>
            </a:r>
            <a:endParaRPr lang="en-US" sz="1200" dirty="0"/>
          </a:p>
        </p:txBody>
      </p:sp>
      <p:sp>
        <p:nvSpPr>
          <p:cNvPr id="41" name="Shape 33"/>
          <p:cNvSpPr/>
          <p:nvPr/>
        </p:nvSpPr>
        <p:spPr>
          <a:xfrm>
            <a:off x="9464040" y="182880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2" name="Shape 34"/>
          <p:cNvSpPr/>
          <p:nvPr/>
        </p:nvSpPr>
        <p:spPr>
          <a:xfrm>
            <a:off x="10030968" y="1938528"/>
            <a:ext cx="420624" cy="420624"/>
          </a:xfrm>
          <a:prstGeom prst="ellipse">
            <a:avLst/>
          </a:prstGeom>
          <a:solidFill>
            <a:schemeClr val="accent2"/>
          </a:solidFill>
          <a:ln w="12700">
            <a:solidFill>
              <a:schemeClr val="accent2"/>
            </a:solidFill>
            <a:prstDash val="solid"/>
          </a:ln>
        </p:spPr>
      </p:sp>
      <p:pic>
        <p:nvPicPr>
          <p:cNvPr id="43" name="Image 6" descr="preencoded.png">    </p:cNvPr>
          <p:cNvPicPr>
            <a:picLocks noChangeAspect="1"/>
          </p:cNvPicPr>
          <p:nvPr/>
        </p:nvPicPr>
        <p:blipFill>
          <a:blip r:embed="rId7"/>
          <a:stretch>
            <a:fillRect/>
          </a:stretch>
        </p:blipFill>
        <p:spPr>
          <a:xfrm>
            <a:off x="10136124" y="2043684"/>
            <a:ext cx="210312" cy="210312"/>
          </a:xfrm>
          <a:prstGeom prst="rect">
            <a:avLst/>
          </a:prstGeom>
        </p:spPr>
      </p:pic>
      <p:sp>
        <p:nvSpPr>
          <p:cNvPr id="44" name="Text 35"/>
          <p:cNvSpPr txBox="1"/>
          <p:nvPr/>
        </p:nvSpPr>
        <p:spPr>
          <a:xfrm>
            <a:off x="9464040" y="240487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Conversations</a:t>
            </a:r>
            <a:endParaRPr lang="en-US" sz="1200" dirty="0"/>
          </a:p>
        </p:txBody>
      </p:sp>
      <p:sp>
        <p:nvSpPr>
          <p:cNvPr id="45" name="Shape 36"/>
          <p:cNvSpPr/>
          <p:nvPr/>
        </p:nvSpPr>
        <p:spPr>
          <a:xfrm>
            <a:off x="7818120" y="310896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6" name="Shape 37"/>
          <p:cNvSpPr/>
          <p:nvPr/>
        </p:nvSpPr>
        <p:spPr>
          <a:xfrm>
            <a:off x="8385048" y="3218688"/>
            <a:ext cx="420624" cy="420624"/>
          </a:xfrm>
          <a:prstGeom prst="ellipse">
            <a:avLst/>
          </a:prstGeom>
          <a:solidFill>
            <a:schemeClr val="accent3"/>
          </a:solidFill>
          <a:ln w="12700">
            <a:solidFill>
              <a:schemeClr val="accent3"/>
            </a:solidFill>
            <a:prstDash val="solid"/>
          </a:ln>
        </p:spPr>
      </p:sp>
      <p:pic>
        <p:nvPicPr>
          <p:cNvPr id="47" name="Image 7" descr="preencoded.png">    </p:cNvPr>
          <p:cNvPicPr>
            <a:picLocks noChangeAspect="1"/>
          </p:cNvPicPr>
          <p:nvPr/>
        </p:nvPicPr>
        <p:blipFill>
          <a:blip r:embed="rId8"/>
          <a:stretch>
            <a:fillRect/>
          </a:stretch>
        </p:blipFill>
        <p:spPr>
          <a:xfrm>
            <a:off x="8490204" y="3323844"/>
            <a:ext cx="210312" cy="210312"/>
          </a:xfrm>
          <a:prstGeom prst="rect">
            <a:avLst/>
          </a:prstGeom>
        </p:spPr>
      </p:pic>
      <p:sp>
        <p:nvSpPr>
          <p:cNvPr id="48" name="Text 38"/>
          <p:cNvSpPr txBox="1"/>
          <p:nvPr/>
        </p:nvSpPr>
        <p:spPr>
          <a:xfrm>
            <a:off x="7818120" y="368503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Projects</a:t>
            </a:r>
            <a:endParaRPr lang="en-US" sz="1200" dirty="0"/>
          </a:p>
        </p:txBody>
      </p:sp>
      <p:sp>
        <p:nvSpPr>
          <p:cNvPr id="49" name="Shape 39"/>
          <p:cNvSpPr/>
          <p:nvPr/>
        </p:nvSpPr>
        <p:spPr>
          <a:xfrm>
            <a:off x="10104120" y="324612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0" name="Shape 40"/>
          <p:cNvSpPr/>
          <p:nvPr/>
        </p:nvSpPr>
        <p:spPr>
          <a:xfrm>
            <a:off x="10671048" y="3355848"/>
            <a:ext cx="420624" cy="420624"/>
          </a:xfrm>
          <a:prstGeom prst="ellipse">
            <a:avLst/>
          </a:prstGeom>
          <a:solidFill>
            <a:schemeClr val="accent4"/>
          </a:solidFill>
          <a:ln w="12700">
            <a:solidFill>
              <a:schemeClr val="accent4"/>
            </a:solidFill>
            <a:prstDash val="solid"/>
          </a:ln>
        </p:spPr>
      </p:sp>
      <p:pic>
        <p:nvPicPr>
          <p:cNvPr id="51" name="Image 8" descr="preencoded.png">    </p:cNvPr>
          <p:cNvPicPr>
            <a:picLocks noChangeAspect="1"/>
          </p:cNvPicPr>
          <p:nvPr/>
        </p:nvPicPr>
        <p:blipFill>
          <a:blip r:embed="rId9"/>
          <a:stretch>
            <a:fillRect/>
          </a:stretch>
        </p:blipFill>
        <p:spPr>
          <a:xfrm>
            <a:off x="10776204" y="3461004"/>
            <a:ext cx="210312" cy="210312"/>
          </a:xfrm>
          <a:prstGeom prst="rect">
            <a:avLst/>
          </a:prstGeom>
        </p:spPr>
      </p:pic>
      <p:sp>
        <p:nvSpPr>
          <p:cNvPr id="52" name="Text 41"/>
          <p:cNvSpPr txBox="1"/>
          <p:nvPr/>
        </p:nvSpPr>
        <p:spPr>
          <a:xfrm>
            <a:off x="10104120" y="382219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Departments</a:t>
            </a:r>
            <a:endParaRPr lang="en-US" sz="1200" dirty="0"/>
          </a:p>
        </p:txBody>
      </p:sp>
      <p:sp>
        <p:nvSpPr>
          <p:cNvPr id="53" name="Shape 42"/>
          <p:cNvSpPr/>
          <p:nvPr/>
        </p:nvSpPr>
        <p:spPr>
          <a:xfrm>
            <a:off x="6355080" y="434340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4" name="Shape 43"/>
          <p:cNvSpPr/>
          <p:nvPr/>
        </p:nvSpPr>
        <p:spPr>
          <a:xfrm>
            <a:off x="6922008" y="4453128"/>
            <a:ext cx="420624" cy="420624"/>
          </a:xfrm>
          <a:prstGeom prst="ellipse">
            <a:avLst/>
          </a:prstGeom>
          <a:solidFill>
            <a:schemeClr val="accent6"/>
          </a:solidFill>
          <a:ln w="12700">
            <a:solidFill>
              <a:schemeClr val="accent6"/>
            </a:solidFill>
            <a:prstDash val="solid"/>
          </a:ln>
        </p:spPr>
      </p:sp>
      <p:pic>
        <p:nvPicPr>
          <p:cNvPr id="55" name="Image 9" descr="preencoded.png">    </p:cNvPr>
          <p:cNvPicPr>
            <a:picLocks noChangeAspect="1"/>
          </p:cNvPicPr>
          <p:nvPr/>
        </p:nvPicPr>
        <p:blipFill>
          <a:blip r:embed="rId10"/>
          <a:stretch>
            <a:fillRect/>
          </a:stretch>
        </p:blipFill>
        <p:spPr>
          <a:xfrm>
            <a:off x="7027164" y="4558284"/>
            <a:ext cx="210312" cy="210312"/>
          </a:xfrm>
          <a:prstGeom prst="rect">
            <a:avLst/>
          </a:prstGeom>
        </p:spPr>
      </p:pic>
      <p:sp>
        <p:nvSpPr>
          <p:cNvPr id="56" name="Text 44"/>
          <p:cNvSpPr txBox="1"/>
          <p:nvPr/>
        </p:nvSpPr>
        <p:spPr>
          <a:xfrm>
            <a:off x="6355080" y="491947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People</a:t>
            </a:r>
            <a:endParaRPr lang="en-US" sz="1200" dirty="0"/>
          </a:p>
        </p:txBody>
      </p:sp>
      <p:sp>
        <p:nvSpPr>
          <p:cNvPr id="57" name="Shape 45"/>
          <p:cNvSpPr/>
          <p:nvPr/>
        </p:nvSpPr>
        <p:spPr>
          <a:xfrm>
            <a:off x="9144000" y="4434840"/>
            <a:ext cx="155448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8" name="Shape 46"/>
          <p:cNvSpPr/>
          <p:nvPr/>
        </p:nvSpPr>
        <p:spPr>
          <a:xfrm>
            <a:off x="9710928" y="4544568"/>
            <a:ext cx="420624" cy="420624"/>
          </a:xfrm>
          <a:prstGeom prst="ellipse">
            <a:avLst/>
          </a:prstGeom>
          <a:solidFill>
            <a:schemeClr val="accent5"/>
          </a:solidFill>
          <a:ln w="12700">
            <a:solidFill>
              <a:schemeClr val="accent5"/>
            </a:solidFill>
            <a:prstDash val="solid"/>
          </a:ln>
        </p:spPr>
      </p:sp>
      <p:pic>
        <p:nvPicPr>
          <p:cNvPr id="59" name="Image 10" descr="preencoded.png">    </p:cNvPr>
          <p:cNvPicPr>
            <a:picLocks noChangeAspect="1"/>
          </p:cNvPicPr>
          <p:nvPr/>
        </p:nvPicPr>
        <p:blipFill>
          <a:blip r:embed="rId11"/>
          <a:stretch>
            <a:fillRect/>
          </a:stretch>
        </p:blipFill>
        <p:spPr>
          <a:xfrm>
            <a:off x="9816084" y="4649724"/>
            <a:ext cx="210312" cy="210312"/>
          </a:xfrm>
          <a:prstGeom prst="rect">
            <a:avLst/>
          </a:prstGeom>
        </p:spPr>
      </p:pic>
      <p:sp>
        <p:nvSpPr>
          <p:cNvPr id="60" name="Text 47"/>
          <p:cNvSpPr txBox="1"/>
          <p:nvPr/>
        </p:nvSpPr>
        <p:spPr>
          <a:xfrm>
            <a:off x="9144000" y="5010912"/>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Decisions</a:t>
            </a:r>
            <a:endParaRPr lang="en-US" sz="1200" dirty="0"/>
          </a:p>
        </p:txBody>
      </p:sp>
      <p:sp>
        <p:nvSpPr>
          <p:cNvPr id="61" name="Text 48"/>
          <p:cNvSpPr txBox="1"/>
          <p:nvPr/>
        </p:nvSpPr>
        <p:spPr>
          <a:xfrm>
            <a:off x="5943600" y="5440680"/>
            <a:ext cx="5696712" cy="274320"/>
          </a:xfrm>
          <a:prstGeom prst="rect">
            <a:avLst/>
          </a:prstGeom>
          <a:noFill/>
          <a:ln/>
        </p:spPr>
        <p:txBody>
          <a:bodyPr wrap="square" lIns="0" tIns="0" rIns="0" bIns="0" rtlCol="0" anchor="t"/>
          <a:lstStyle/>
          <a:p>
            <a:pPr algn="ctr" indent="0" marL="0">
              <a:buNone/>
            </a:pPr>
            <a:r>
              <a:rPr lang="en-US" sz="1200" i="1" dirty="0">
                <a:solidFill>
                  <a:srgbClr val="64748B"/>
                </a:solidFill>
              </a:rPr>
              <a:t>Disconnected islands of knowledge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THE PLATFORM</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KMS Is an Enterprise Knowledge Operating System</a:t>
            </a:r>
            <a:endParaRPr lang="en-US" sz="3000" dirty="0"/>
          </a:p>
        </p:txBody>
      </p:sp>
      <p:sp>
        <p:nvSpPr>
          <p:cNvPr id="4" name="Shape 2"/>
          <p:cNvSpPr/>
          <p:nvPr/>
        </p:nvSpPr>
        <p:spPr>
          <a:xfrm>
            <a:off x="548640" y="1645920"/>
            <a:ext cx="6675120" cy="841248"/>
          </a:xfrm>
          <a:prstGeom prst="roundRect">
            <a:avLst>
              <a:gd name="adj" fmla="val 8696"/>
            </a:avLst>
          </a:prstGeom>
          <a:solidFill>
            <a:schemeClr val="accent1"/>
          </a:solidFill>
          <a:ln w="12700">
            <a:solidFill>
              <a:schemeClr val="accent1"/>
            </a:solidFill>
            <a:prstDash val="solid"/>
          </a:ln>
        </p:spPr>
      </p:sp>
      <p:sp>
        <p:nvSpPr>
          <p:cNvPr id="5" name="Text 3"/>
          <p:cNvSpPr txBox="1"/>
          <p:nvPr/>
        </p:nvSpPr>
        <p:spPr>
          <a:xfrm>
            <a:off x="731520" y="1645920"/>
            <a:ext cx="1554480" cy="841248"/>
          </a:xfrm>
          <a:prstGeom prst="rect">
            <a:avLst/>
          </a:prstGeom>
          <a:noFill/>
          <a:ln/>
        </p:spPr>
        <p:txBody>
          <a:bodyPr wrap="square" lIns="0" tIns="0" rIns="0" bIns="0" rtlCol="0" anchor="ctr"/>
          <a:lstStyle/>
          <a:p>
            <a:pPr indent="0" marL="0">
              <a:buNone/>
            </a:pPr>
            <a:r>
              <a:rPr lang="en-US" sz="1300" b="1" dirty="0">
                <a:solidFill>
                  <a:schemeClr val="bg1"/>
                </a:solidFill>
              </a:rPr>
              <a:t>User experiences</a:t>
            </a:r>
            <a:endParaRPr lang="en-US" sz="1300" dirty="0"/>
          </a:p>
        </p:txBody>
      </p:sp>
      <p:sp>
        <p:nvSpPr>
          <p:cNvPr id="6" name="Shape 4"/>
          <p:cNvSpPr/>
          <p:nvPr/>
        </p:nvSpPr>
        <p:spPr>
          <a:xfrm>
            <a:off x="2286000" y="1828800"/>
            <a:ext cx="1131570" cy="475488"/>
          </a:xfrm>
          <a:prstGeom prst="roundRect">
            <a:avLst>
              <a:gd name="adj" fmla="val 11538"/>
            </a:avLst>
          </a:prstGeom>
          <a:solidFill>
            <a:schemeClr val="bg1">
              <a:alpha val="15000"/>
            </a:schemeClr>
          </a:solidFill>
          <a:ln w="9525">
            <a:solidFill>
              <a:srgbClr val="FFFFFF"/>
            </a:solidFill>
            <a:prstDash val="solid"/>
          </a:ln>
        </p:spPr>
      </p:sp>
      <p:sp>
        <p:nvSpPr>
          <p:cNvPr id="7" name="Text 5"/>
          <p:cNvSpPr txBox="1"/>
          <p:nvPr/>
        </p:nvSpPr>
        <p:spPr>
          <a:xfrm>
            <a:off x="2286000" y="1828800"/>
            <a:ext cx="1131570" cy="475488"/>
          </a:xfrm>
          <a:prstGeom prst="rect">
            <a:avLst/>
          </a:prstGeom>
          <a:noFill/>
          <a:ln/>
        </p:spPr>
        <p:txBody>
          <a:bodyPr wrap="square" lIns="0" tIns="0" rIns="0" bIns="0" rtlCol="0" anchor="ctr"/>
          <a:lstStyle/>
          <a:p>
            <a:pPr algn="ctr" indent="0" marL="0">
              <a:buNone/>
            </a:pPr>
            <a:r>
              <a:rPr lang="en-US" sz="1000" b="1" dirty="0">
                <a:solidFill>
                  <a:schemeClr val="bg1"/>
                </a:solidFill>
              </a:rPr>
              <a:t>Chat &amp; search</a:t>
            </a:r>
            <a:endParaRPr lang="en-US" sz="1000" dirty="0"/>
          </a:p>
        </p:txBody>
      </p:sp>
      <p:sp>
        <p:nvSpPr>
          <p:cNvPr id="8" name="Shape 6"/>
          <p:cNvSpPr/>
          <p:nvPr/>
        </p:nvSpPr>
        <p:spPr>
          <a:xfrm>
            <a:off x="3509010" y="1828800"/>
            <a:ext cx="1131570" cy="475488"/>
          </a:xfrm>
          <a:prstGeom prst="roundRect">
            <a:avLst>
              <a:gd name="adj" fmla="val 11538"/>
            </a:avLst>
          </a:prstGeom>
          <a:solidFill>
            <a:schemeClr val="bg1">
              <a:alpha val="15000"/>
            </a:schemeClr>
          </a:solidFill>
          <a:ln w="9525">
            <a:solidFill>
              <a:srgbClr val="FFFFFF"/>
            </a:solidFill>
            <a:prstDash val="solid"/>
          </a:ln>
        </p:spPr>
      </p:sp>
      <p:sp>
        <p:nvSpPr>
          <p:cNvPr id="9" name="Text 7"/>
          <p:cNvSpPr txBox="1"/>
          <p:nvPr/>
        </p:nvSpPr>
        <p:spPr>
          <a:xfrm>
            <a:off x="3509010" y="1828800"/>
            <a:ext cx="1131570" cy="475488"/>
          </a:xfrm>
          <a:prstGeom prst="rect">
            <a:avLst/>
          </a:prstGeom>
          <a:noFill/>
          <a:ln/>
        </p:spPr>
        <p:txBody>
          <a:bodyPr wrap="square" lIns="0" tIns="0" rIns="0" bIns="0" rtlCol="0" anchor="ctr"/>
          <a:lstStyle/>
          <a:p>
            <a:pPr algn="ctr" indent="0" marL="0">
              <a:buNone/>
            </a:pPr>
            <a:r>
              <a:rPr lang="en-US" sz="1000" b="1" dirty="0">
                <a:solidFill>
                  <a:schemeClr val="bg1"/>
                </a:solidFill>
              </a:rPr>
              <a:t>Recommendations</a:t>
            </a:r>
            <a:endParaRPr lang="en-US" sz="1000" dirty="0"/>
          </a:p>
        </p:txBody>
      </p:sp>
      <p:sp>
        <p:nvSpPr>
          <p:cNvPr id="10" name="Shape 8"/>
          <p:cNvSpPr/>
          <p:nvPr/>
        </p:nvSpPr>
        <p:spPr>
          <a:xfrm>
            <a:off x="4732020" y="1828800"/>
            <a:ext cx="1131570" cy="475488"/>
          </a:xfrm>
          <a:prstGeom prst="roundRect">
            <a:avLst>
              <a:gd name="adj" fmla="val 11538"/>
            </a:avLst>
          </a:prstGeom>
          <a:solidFill>
            <a:schemeClr val="bg1">
              <a:alpha val="15000"/>
            </a:schemeClr>
          </a:solidFill>
          <a:ln w="9525">
            <a:solidFill>
              <a:srgbClr val="FFFFFF"/>
            </a:solidFill>
            <a:prstDash val="solid"/>
          </a:ln>
        </p:spPr>
      </p:sp>
      <p:sp>
        <p:nvSpPr>
          <p:cNvPr id="11" name="Text 9"/>
          <p:cNvSpPr txBox="1"/>
          <p:nvPr/>
        </p:nvSpPr>
        <p:spPr>
          <a:xfrm>
            <a:off x="4732020" y="1828800"/>
            <a:ext cx="1131570" cy="475488"/>
          </a:xfrm>
          <a:prstGeom prst="rect">
            <a:avLst/>
          </a:prstGeom>
          <a:noFill/>
          <a:ln/>
        </p:spPr>
        <p:txBody>
          <a:bodyPr wrap="square" lIns="0" tIns="0" rIns="0" bIns="0" rtlCol="0" anchor="ctr"/>
          <a:lstStyle/>
          <a:p>
            <a:pPr algn="ctr" indent="0" marL="0">
              <a:buNone/>
            </a:pPr>
            <a:r>
              <a:rPr lang="en-US" sz="1000" b="1" dirty="0">
                <a:solidFill>
                  <a:schemeClr val="bg1"/>
                </a:solidFill>
              </a:rPr>
              <a:t>Knowledge graph</a:t>
            </a:r>
            <a:endParaRPr lang="en-US" sz="1000" dirty="0"/>
          </a:p>
        </p:txBody>
      </p:sp>
      <p:sp>
        <p:nvSpPr>
          <p:cNvPr id="12" name="Shape 10"/>
          <p:cNvSpPr/>
          <p:nvPr/>
        </p:nvSpPr>
        <p:spPr>
          <a:xfrm>
            <a:off x="5955030" y="1828800"/>
            <a:ext cx="1131570" cy="475488"/>
          </a:xfrm>
          <a:prstGeom prst="roundRect">
            <a:avLst>
              <a:gd name="adj" fmla="val 11538"/>
            </a:avLst>
          </a:prstGeom>
          <a:solidFill>
            <a:schemeClr val="bg1">
              <a:alpha val="15000"/>
            </a:schemeClr>
          </a:solidFill>
          <a:ln w="9525">
            <a:solidFill>
              <a:srgbClr val="FFFFFF"/>
            </a:solidFill>
            <a:prstDash val="solid"/>
          </a:ln>
        </p:spPr>
      </p:sp>
      <p:sp>
        <p:nvSpPr>
          <p:cNvPr id="13" name="Text 11"/>
          <p:cNvSpPr txBox="1"/>
          <p:nvPr/>
        </p:nvSpPr>
        <p:spPr>
          <a:xfrm>
            <a:off x="5955030" y="1828800"/>
            <a:ext cx="1131570" cy="475488"/>
          </a:xfrm>
          <a:prstGeom prst="rect">
            <a:avLst/>
          </a:prstGeom>
          <a:noFill/>
          <a:ln/>
        </p:spPr>
        <p:txBody>
          <a:bodyPr wrap="square" lIns="0" tIns="0" rIns="0" bIns="0" rtlCol="0" anchor="ctr"/>
          <a:lstStyle/>
          <a:p>
            <a:pPr algn="ctr" indent="0" marL="0">
              <a:buNone/>
            </a:pPr>
            <a:r>
              <a:rPr lang="en-US" sz="1000" b="1" dirty="0">
                <a:solidFill>
                  <a:schemeClr val="bg1"/>
                </a:solidFill>
              </a:rPr>
              <a:t>Project Intelligence</a:t>
            </a:r>
            <a:endParaRPr lang="en-US" sz="1000" dirty="0"/>
          </a:p>
        </p:txBody>
      </p:sp>
      <p:sp>
        <p:nvSpPr>
          <p:cNvPr id="14" name="Shape 12"/>
          <p:cNvSpPr/>
          <p:nvPr/>
        </p:nvSpPr>
        <p:spPr>
          <a:xfrm>
            <a:off x="548640" y="2633472"/>
            <a:ext cx="6675120" cy="841248"/>
          </a:xfrm>
          <a:prstGeom prst="roundRect">
            <a:avLst>
              <a:gd name="adj" fmla="val 8696"/>
            </a:avLst>
          </a:prstGeom>
          <a:solidFill>
            <a:schemeClr val="accent2"/>
          </a:solidFill>
          <a:ln w="12700">
            <a:solidFill>
              <a:schemeClr val="accent2"/>
            </a:solidFill>
            <a:prstDash val="solid"/>
          </a:ln>
        </p:spPr>
      </p:sp>
      <p:sp>
        <p:nvSpPr>
          <p:cNvPr id="15" name="Text 13"/>
          <p:cNvSpPr txBox="1"/>
          <p:nvPr/>
        </p:nvSpPr>
        <p:spPr>
          <a:xfrm>
            <a:off x="731520" y="2633472"/>
            <a:ext cx="1554480" cy="841248"/>
          </a:xfrm>
          <a:prstGeom prst="rect">
            <a:avLst/>
          </a:prstGeom>
          <a:noFill/>
          <a:ln/>
        </p:spPr>
        <p:txBody>
          <a:bodyPr wrap="square" lIns="0" tIns="0" rIns="0" bIns="0" rtlCol="0" anchor="ctr"/>
          <a:lstStyle/>
          <a:p>
            <a:pPr indent="0" marL="0">
              <a:buNone/>
            </a:pPr>
            <a:r>
              <a:rPr lang="en-US" sz="1300" b="1" dirty="0">
                <a:solidFill>
                  <a:schemeClr val="bg1"/>
                </a:solidFill>
              </a:rPr>
              <a:t>Knowledge intelligence</a:t>
            </a:r>
            <a:endParaRPr lang="en-US" sz="1300" dirty="0"/>
          </a:p>
        </p:txBody>
      </p:sp>
      <p:sp>
        <p:nvSpPr>
          <p:cNvPr id="16" name="Shape 14"/>
          <p:cNvSpPr/>
          <p:nvPr/>
        </p:nvSpPr>
        <p:spPr>
          <a:xfrm>
            <a:off x="2286000" y="2816352"/>
            <a:ext cx="886968" cy="475488"/>
          </a:xfrm>
          <a:prstGeom prst="roundRect">
            <a:avLst>
              <a:gd name="adj" fmla="val 11538"/>
            </a:avLst>
          </a:prstGeom>
          <a:solidFill>
            <a:schemeClr val="bg1">
              <a:alpha val="15000"/>
            </a:schemeClr>
          </a:solidFill>
          <a:ln w="9525">
            <a:solidFill>
              <a:srgbClr val="FFFFFF"/>
            </a:solidFill>
            <a:prstDash val="solid"/>
          </a:ln>
        </p:spPr>
      </p:sp>
      <p:sp>
        <p:nvSpPr>
          <p:cNvPr id="17" name="Text 15"/>
          <p:cNvSpPr txBox="1"/>
          <p:nvPr/>
        </p:nvSpPr>
        <p:spPr>
          <a:xfrm>
            <a:off x="2286000" y="2816352"/>
            <a:ext cx="886968" cy="475488"/>
          </a:xfrm>
          <a:prstGeom prst="rect">
            <a:avLst/>
          </a:prstGeom>
          <a:noFill/>
          <a:ln/>
        </p:spPr>
        <p:txBody>
          <a:bodyPr wrap="square" lIns="0" tIns="0" rIns="0" bIns="0" rtlCol="0" anchor="ctr"/>
          <a:lstStyle/>
          <a:p>
            <a:pPr algn="ctr" indent="0" marL="0">
              <a:buNone/>
            </a:pPr>
            <a:r>
              <a:rPr lang="en-US" sz="1000" b="1" dirty="0">
                <a:solidFill>
                  <a:schemeClr val="bg1"/>
                </a:solidFill>
              </a:rPr>
              <a:t>Experts</a:t>
            </a:r>
            <a:endParaRPr lang="en-US" sz="1000" dirty="0"/>
          </a:p>
        </p:txBody>
      </p:sp>
      <p:sp>
        <p:nvSpPr>
          <p:cNvPr id="18" name="Shape 16"/>
          <p:cNvSpPr/>
          <p:nvPr/>
        </p:nvSpPr>
        <p:spPr>
          <a:xfrm>
            <a:off x="3264408" y="2816352"/>
            <a:ext cx="886968" cy="475488"/>
          </a:xfrm>
          <a:prstGeom prst="roundRect">
            <a:avLst>
              <a:gd name="adj" fmla="val 11538"/>
            </a:avLst>
          </a:prstGeom>
          <a:solidFill>
            <a:schemeClr val="bg1">
              <a:alpha val="15000"/>
            </a:schemeClr>
          </a:solidFill>
          <a:ln w="9525">
            <a:solidFill>
              <a:srgbClr val="FFFFFF"/>
            </a:solidFill>
            <a:prstDash val="solid"/>
          </a:ln>
        </p:spPr>
      </p:sp>
      <p:sp>
        <p:nvSpPr>
          <p:cNvPr id="19" name="Text 17"/>
          <p:cNvSpPr txBox="1"/>
          <p:nvPr/>
        </p:nvSpPr>
        <p:spPr>
          <a:xfrm>
            <a:off x="3264408" y="2816352"/>
            <a:ext cx="886968" cy="475488"/>
          </a:xfrm>
          <a:prstGeom prst="rect">
            <a:avLst/>
          </a:prstGeom>
          <a:noFill/>
          <a:ln/>
        </p:spPr>
        <p:txBody>
          <a:bodyPr wrap="square" lIns="0" tIns="0" rIns="0" bIns="0" rtlCol="0" anchor="ctr"/>
          <a:lstStyle/>
          <a:p>
            <a:pPr algn="ctr" indent="0" marL="0">
              <a:buNone/>
            </a:pPr>
            <a:r>
              <a:rPr lang="en-US" sz="1000" b="1" dirty="0">
                <a:solidFill>
                  <a:schemeClr val="bg1"/>
                </a:solidFill>
              </a:rPr>
              <a:t>Lessons</a:t>
            </a:r>
            <a:endParaRPr lang="en-US" sz="1000" dirty="0"/>
          </a:p>
        </p:txBody>
      </p:sp>
      <p:sp>
        <p:nvSpPr>
          <p:cNvPr id="20" name="Shape 18"/>
          <p:cNvSpPr/>
          <p:nvPr/>
        </p:nvSpPr>
        <p:spPr>
          <a:xfrm>
            <a:off x="4242816" y="2816352"/>
            <a:ext cx="886968" cy="475488"/>
          </a:xfrm>
          <a:prstGeom prst="roundRect">
            <a:avLst>
              <a:gd name="adj" fmla="val 11538"/>
            </a:avLst>
          </a:prstGeom>
          <a:solidFill>
            <a:schemeClr val="bg1">
              <a:alpha val="15000"/>
            </a:schemeClr>
          </a:solidFill>
          <a:ln w="9525">
            <a:solidFill>
              <a:srgbClr val="FFFFFF"/>
            </a:solidFill>
            <a:prstDash val="solid"/>
          </a:ln>
        </p:spPr>
      </p:sp>
      <p:sp>
        <p:nvSpPr>
          <p:cNvPr id="21" name="Text 19"/>
          <p:cNvSpPr txBox="1"/>
          <p:nvPr/>
        </p:nvSpPr>
        <p:spPr>
          <a:xfrm>
            <a:off x="4242816" y="2816352"/>
            <a:ext cx="886968" cy="475488"/>
          </a:xfrm>
          <a:prstGeom prst="rect">
            <a:avLst/>
          </a:prstGeom>
          <a:noFill/>
          <a:ln/>
        </p:spPr>
        <p:txBody>
          <a:bodyPr wrap="square" lIns="0" tIns="0" rIns="0" bIns="0" rtlCol="0" anchor="ctr"/>
          <a:lstStyle/>
          <a:p>
            <a:pPr algn="ctr" indent="0" marL="0">
              <a:buNone/>
            </a:pPr>
            <a:r>
              <a:rPr lang="en-US" sz="1000" b="1" dirty="0">
                <a:solidFill>
                  <a:schemeClr val="bg1"/>
                </a:solidFill>
              </a:rPr>
              <a:t>Decisions</a:t>
            </a:r>
            <a:endParaRPr lang="en-US" sz="1000" dirty="0"/>
          </a:p>
        </p:txBody>
      </p:sp>
      <p:sp>
        <p:nvSpPr>
          <p:cNvPr id="22" name="Shape 20"/>
          <p:cNvSpPr/>
          <p:nvPr/>
        </p:nvSpPr>
        <p:spPr>
          <a:xfrm>
            <a:off x="5221224" y="2816352"/>
            <a:ext cx="886968" cy="475488"/>
          </a:xfrm>
          <a:prstGeom prst="roundRect">
            <a:avLst>
              <a:gd name="adj" fmla="val 11538"/>
            </a:avLst>
          </a:prstGeom>
          <a:solidFill>
            <a:schemeClr val="bg1">
              <a:alpha val="15000"/>
            </a:schemeClr>
          </a:solidFill>
          <a:ln w="9525">
            <a:solidFill>
              <a:srgbClr val="FFFFFF"/>
            </a:solidFill>
            <a:prstDash val="solid"/>
          </a:ln>
        </p:spPr>
      </p:sp>
      <p:sp>
        <p:nvSpPr>
          <p:cNvPr id="23" name="Text 21"/>
          <p:cNvSpPr txBox="1"/>
          <p:nvPr/>
        </p:nvSpPr>
        <p:spPr>
          <a:xfrm>
            <a:off x="5221224" y="2816352"/>
            <a:ext cx="886968" cy="475488"/>
          </a:xfrm>
          <a:prstGeom prst="rect">
            <a:avLst/>
          </a:prstGeom>
          <a:noFill/>
          <a:ln/>
        </p:spPr>
        <p:txBody>
          <a:bodyPr wrap="square" lIns="0" tIns="0" rIns="0" bIns="0" rtlCol="0" anchor="ctr"/>
          <a:lstStyle/>
          <a:p>
            <a:pPr algn="ctr" indent="0" marL="0">
              <a:buNone/>
            </a:pPr>
            <a:r>
              <a:rPr lang="en-US" sz="1000" b="1" dirty="0">
                <a:solidFill>
                  <a:schemeClr val="bg1"/>
                </a:solidFill>
              </a:rPr>
              <a:t>Relationships</a:t>
            </a:r>
            <a:endParaRPr lang="en-US" sz="1000" dirty="0"/>
          </a:p>
        </p:txBody>
      </p:sp>
      <p:sp>
        <p:nvSpPr>
          <p:cNvPr id="24" name="Shape 22"/>
          <p:cNvSpPr/>
          <p:nvPr/>
        </p:nvSpPr>
        <p:spPr>
          <a:xfrm>
            <a:off x="6199632" y="2816352"/>
            <a:ext cx="886968" cy="475488"/>
          </a:xfrm>
          <a:prstGeom prst="roundRect">
            <a:avLst>
              <a:gd name="adj" fmla="val 11538"/>
            </a:avLst>
          </a:prstGeom>
          <a:solidFill>
            <a:schemeClr val="bg1">
              <a:alpha val="15000"/>
            </a:schemeClr>
          </a:solidFill>
          <a:ln w="9525">
            <a:solidFill>
              <a:srgbClr val="FFFFFF"/>
            </a:solidFill>
            <a:prstDash val="solid"/>
          </a:ln>
        </p:spPr>
      </p:sp>
      <p:sp>
        <p:nvSpPr>
          <p:cNvPr id="25" name="Text 23"/>
          <p:cNvSpPr txBox="1"/>
          <p:nvPr/>
        </p:nvSpPr>
        <p:spPr>
          <a:xfrm>
            <a:off x="6199632" y="2816352"/>
            <a:ext cx="886968" cy="475488"/>
          </a:xfrm>
          <a:prstGeom prst="rect">
            <a:avLst/>
          </a:prstGeom>
          <a:noFill/>
          <a:ln/>
        </p:spPr>
        <p:txBody>
          <a:bodyPr wrap="square" lIns="0" tIns="0" rIns="0" bIns="0" rtlCol="0" anchor="ctr"/>
          <a:lstStyle/>
          <a:p>
            <a:pPr algn="ctr" indent="0" marL="0">
              <a:buNone/>
            </a:pPr>
            <a:r>
              <a:rPr lang="en-US" sz="1000" b="1" dirty="0">
                <a:solidFill>
                  <a:schemeClr val="bg1"/>
                </a:solidFill>
              </a:rPr>
              <a:t>Topics</a:t>
            </a:r>
            <a:endParaRPr lang="en-US" sz="1000" dirty="0"/>
          </a:p>
        </p:txBody>
      </p:sp>
      <p:sp>
        <p:nvSpPr>
          <p:cNvPr id="26" name="Shape 24"/>
          <p:cNvSpPr/>
          <p:nvPr/>
        </p:nvSpPr>
        <p:spPr>
          <a:xfrm>
            <a:off x="548640" y="3621024"/>
            <a:ext cx="6675120" cy="841248"/>
          </a:xfrm>
          <a:prstGeom prst="roundRect">
            <a:avLst>
              <a:gd name="adj" fmla="val 8696"/>
            </a:avLst>
          </a:prstGeom>
          <a:solidFill>
            <a:srgbClr val="DCEFFB"/>
          </a:solidFill>
          <a:ln w="12700">
            <a:solidFill>
              <a:srgbClr val="DCEFFB"/>
            </a:solidFill>
            <a:prstDash val="solid"/>
          </a:ln>
        </p:spPr>
      </p:sp>
      <p:sp>
        <p:nvSpPr>
          <p:cNvPr id="27" name="Text 25"/>
          <p:cNvSpPr txBox="1"/>
          <p:nvPr/>
        </p:nvSpPr>
        <p:spPr>
          <a:xfrm>
            <a:off x="731520" y="3621024"/>
            <a:ext cx="1554480" cy="841248"/>
          </a:xfrm>
          <a:prstGeom prst="rect">
            <a:avLst/>
          </a:prstGeom>
          <a:noFill/>
          <a:ln/>
        </p:spPr>
        <p:txBody>
          <a:bodyPr wrap="square" lIns="0" tIns="0" rIns="0" bIns="0" rtlCol="0" anchor="ctr"/>
          <a:lstStyle/>
          <a:p>
            <a:pPr indent="0" marL="0">
              <a:buNone/>
            </a:pPr>
            <a:r>
              <a:rPr lang="en-US" sz="1300" b="1" dirty="0">
                <a:solidFill>
                  <a:schemeClr val="tx2"/>
                </a:solidFill>
              </a:rPr>
              <a:t>AI ingestion &amp; understanding</a:t>
            </a:r>
            <a:endParaRPr lang="en-US" sz="1300" dirty="0"/>
          </a:p>
        </p:txBody>
      </p:sp>
      <p:sp>
        <p:nvSpPr>
          <p:cNvPr id="28" name="Shape 26"/>
          <p:cNvSpPr/>
          <p:nvPr/>
        </p:nvSpPr>
        <p:spPr>
          <a:xfrm>
            <a:off x="2286000" y="3803904"/>
            <a:ext cx="1131570" cy="475488"/>
          </a:xfrm>
          <a:prstGeom prst="roundRect">
            <a:avLst>
              <a:gd name="adj" fmla="val 11538"/>
            </a:avLst>
          </a:prstGeom>
          <a:solidFill>
            <a:schemeClr val="bg1"/>
          </a:solidFill>
          <a:ln w="9525">
            <a:solidFill>
              <a:srgbClr val="D5DCE6"/>
            </a:solidFill>
            <a:prstDash val="solid"/>
          </a:ln>
        </p:spPr>
      </p:sp>
      <p:sp>
        <p:nvSpPr>
          <p:cNvPr id="29" name="Text 27"/>
          <p:cNvSpPr txBox="1"/>
          <p:nvPr/>
        </p:nvSpPr>
        <p:spPr>
          <a:xfrm>
            <a:off x="2286000" y="3803904"/>
            <a:ext cx="1131570" cy="475488"/>
          </a:xfrm>
          <a:prstGeom prst="rect">
            <a:avLst/>
          </a:prstGeom>
          <a:noFill/>
          <a:ln/>
        </p:spPr>
        <p:txBody>
          <a:bodyPr wrap="square" lIns="0" tIns="0" rIns="0" bIns="0" rtlCol="0" anchor="ctr"/>
          <a:lstStyle/>
          <a:p>
            <a:pPr algn="ctr" indent="0" marL="0">
              <a:buNone/>
            </a:pPr>
            <a:r>
              <a:rPr lang="en-US" sz="1000" b="1" dirty="0">
                <a:solidFill>
                  <a:schemeClr val="tx2"/>
                </a:solidFill>
              </a:rPr>
              <a:t>Chunk</a:t>
            </a:r>
            <a:endParaRPr lang="en-US" sz="1000" dirty="0"/>
          </a:p>
        </p:txBody>
      </p:sp>
      <p:sp>
        <p:nvSpPr>
          <p:cNvPr id="30" name="Shape 28"/>
          <p:cNvSpPr/>
          <p:nvPr/>
        </p:nvSpPr>
        <p:spPr>
          <a:xfrm>
            <a:off x="3509010" y="3803904"/>
            <a:ext cx="1131570" cy="475488"/>
          </a:xfrm>
          <a:prstGeom prst="roundRect">
            <a:avLst>
              <a:gd name="adj" fmla="val 11538"/>
            </a:avLst>
          </a:prstGeom>
          <a:solidFill>
            <a:schemeClr val="bg1"/>
          </a:solidFill>
          <a:ln w="9525">
            <a:solidFill>
              <a:srgbClr val="D5DCE6"/>
            </a:solidFill>
            <a:prstDash val="solid"/>
          </a:ln>
        </p:spPr>
      </p:sp>
      <p:sp>
        <p:nvSpPr>
          <p:cNvPr id="31" name="Text 29"/>
          <p:cNvSpPr txBox="1"/>
          <p:nvPr/>
        </p:nvSpPr>
        <p:spPr>
          <a:xfrm>
            <a:off x="3509010" y="3803904"/>
            <a:ext cx="1131570" cy="475488"/>
          </a:xfrm>
          <a:prstGeom prst="rect">
            <a:avLst/>
          </a:prstGeom>
          <a:noFill/>
          <a:ln/>
        </p:spPr>
        <p:txBody>
          <a:bodyPr wrap="square" lIns="0" tIns="0" rIns="0" bIns="0" rtlCol="0" anchor="ctr"/>
          <a:lstStyle/>
          <a:p>
            <a:pPr algn="ctr" indent="0" marL="0">
              <a:buNone/>
            </a:pPr>
            <a:r>
              <a:rPr lang="en-US" sz="1000" b="1" dirty="0">
                <a:solidFill>
                  <a:schemeClr val="tx2"/>
                </a:solidFill>
              </a:rPr>
              <a:t>Embed</a:t>
            </a:r>
            <a:endParaRPr lang="en-US" sz="1000" dirty="0"/>
          </a:p>
        </p:txBody>
      </p:sp>
      <p:sp>
        <p:nvSpPr>
          <p:cNvPr id="32" name="Shape 30"/>
          <p:cNvSpPr/>
          <p:nvPr/>
        </p:nvSpPr>
        <p:spPr>
          <a:xfrm>
            <a:off x="4732020" y="3803904"/>
            <a:ext cx="1131570" cy="475488"/>
          </a:xfrm>
          <a:prstGeom prst="roundRect">
            <a:avLst>
              <a:gd name="adj" fmla="val 11538"/>
            </a:avLst>
          </a:prstGeom>
          <a:solidFill>
            <a:schemeClr val="bg1"/>
          </a:solidFill>
          <a:ln w="9525">
            <a:solidFill>
              <a:srgbClr val="D5DCE6"/>
            </a:solidFill>
            <a:prstDash val="solid"/>
          </a:ln>
        </p:spPr>
      </p:sp>
      <p:sp>
        <p:nvSpPr>
          <p:cNvPr id="33" name="Text 31"/>
          <p:cNvSpPr txBox="1"/>
          <p:nvPr/>
        </p:nvSpPr>
        <p:spPr>
          <a:xfrm>
            <a:off x="4732020" y="3803904"/>
            <a:ext cx="1131570" cy="475488"/>
          </a:xfrm>
          <a:prstGeom prst="rect">
            <a:avLst/>
          </a:prstGeom>
          <a:noFill/>
          <a:ln/>
        </p:spPr>
        <p:txBody>
          <a:bodyPr wrap="square" lIns="0" tIns="0" rIns="0" bIns="0" rtlCol="0" anchor="ctr"/>
          <a:lstStyle/>
          <a:p>
            <a:pPr algn="ctr" indent="0" marL="0">
              <a:buNone/>
            </a:pPr>
            <a:r>
              <a:rPr lang="en-US" sz="1000" b="1" dirty="0">
                <a:solidFill>
                  <a:schemeClr val="tx2"/>
                </a:solidFill>
              </a:rPr>
              <a:t>Summarize</a:t>
            </a:r>
            <a:endParaRPr lang="en-US" sz="1000" dirty="0"/>
          </a:p>
        </p:txBody>
      </p:sp>
      <p:sp>
        <p:nvSpPr>
          <p:cNvPr id="34" name="Shape 32"/>
          <p:cNvSpPr/>
          <p:nvPr/>
        </p:nvSpPr>
        <p:spPr>
          <a:xfrm>
            <a:off x="5955030" y="3803904"/>
            <a:ext cx="1131570" cy="475488"/>
          </a:xfrm>
          <a:prstGeom prst="roundRect">
            <a:avLst>
              <a:gd name="adj" fmla="val 11538"/>
            </a:avLst>
          </a:prstGeom>
          <a:solidFill>
            <a:schemeClr val="bg1"/>
          </a:solidFill>
          <a:ln w="9525">
            <a:solidFill>
              <a:srgbClr val="D5DCE6"/>
            </a:solidFill>
            <a:prstDash val="solid"/>
          </a:ln>
        </p:spPr>
      </p:sp>
      <p:sp>
        <p:nvSpPr>
          <p:cNvPr id="35" name="Text 33"/>
          <p:cNvSpPr txBox="1"/>
          <p:nvPr/>
        </p:nvSpPr>
        <p:spPr>
          <a:xfrm>
            <a:off x="5955030" y="3803904"/>
            <a:ext cx="1131570" cy="475488"/>
          </a:xfrm>
          <a:prstGeom prst="rect">
            <a:avLst/>
          </a:prstGeom>
          <a:noFill/>
          <a:ln/>
        </p:spPr>
        <p:txBody>
          <a:bodyPr wrap="square" lIns="0" tIns="0" rIns="0" bIns="0" rtlCol="0" anchor="ctr"/>
          <a:lstStyle/>
          <a:p>
            <a:pPr algn="ctr" indent="0" marL="0">
              <a:buNone/>
            </a:pPr>
            <a:r>
              <a:rPr lang="en-US" sz="1000" b="1" dirty="0">
                <a:solidFill>
                  <a:schemeClr val="tx2"/>
                </a:solidFill>
              </a:rPr>
              <a:t>Classify</a:t>
            </a:r>
            <a:endParaRPr lang="en-US" sz="1000" dirty="0"/>
          </a:p>
        </p:txBody>
      </p:sp>
      <p:sp>
        <p:nvSpPr>
          <p:cNvPr id="36" name="Shape 34"/>
          <p:cNvSpPr/>
          <p:nvPr/>
        </p:nvSpPr>
        <p:spPr>
          <a:xfrm>
            <a:off x="548640" y="4608576"/>
            <a:ext cx="6675120" cy="841248"/>
          </a:xfrm>
          <a:prstGeom prst="roundRect">
            <a:avLst>
              <a:gd name="adj" fmla="val 8696"/>
            </a:avLst>
          </a:prstGeom>
          <a:solidFill>
            <a:schemeClr val="bg2"/>
          </a:solidFill>
          <a:ln w="12700">
            <a:solidFill>
              <a:schemeClr val="bg2"/>
            </a:solidFill>
            <a:prstDash val="solid"/>
          </a:ln>
        </p:spPr>
      </p:sp>
      <p:sp>
        <p:nvSpPr>
          <p:cNvPr id="37" name="Text 35"/>
          <p:cNvSpPr txBox="1"/>
          <p:nvPr/>
        </p:nvSpPr>
        <p:spPr>
          <a:xfrm>
            <a:off x="731520" y="4608576"/>
            <a:ext cx="1554480" cy="841248"/>
          </a:xfrm>
          <a:prstGeom prst="rect">
            <a:avLst/>
          </a:prstGeom>
          <a:noFill/>
          <a:ln/>
        </p:spPr>
        <p:txBody>
          <a:bodyPr wrap="square" lIns="0" tIns="0" rIns="0" bIns="0" rtlCol="0" anchor="ctr"/>
          <a:lstStyle/>
          <a:p>
            <a:pPr indent="0" marL="0">
              <a:buNone/>
            </a:pPr>
            <a:r>
              <a:rPr lang="en-US" sz="1300" b="1" dirty="0">
                <a:solidFill>
                  <a:schemeClr val="tx2"/>
                </a:solidFill>
              </a:rPr>
              <a:t>Content sources</a:t>
            </a:r>
            <a:endParaRPr lang="en-US" sz="1300" dirty="0"/>
          </a:p>
        </p:txBody>
      </p:sp>
      <p:sp>
        <p:nvSpPr>
          <p:cNvPr id="38" name="Shape 36"/>
          <p:cNvSpPr/>
          <p:nvPr/>
        </p:nvSpPr>
        <p:spPr>
          <a:xfrm>
            <a:off x="2286000" y="4791456"/>
            <a:ext cx="1539240" cy="475488"/>
          </a:xfrm>
          <a:prstGeom prst="roundRect">
            <a:avLst>
              <a:gd name="adj" fmla="val 11538"/>
            </a:avLst>
          </a:prstGeom>
          <a:solidFill>
            <a:schemeClr val="bg1"/>
          </a:solidFill>
          <a:ln w="9525">
            <a:solidFill>
              <a:srgbClr val="D5DCE6"/>
            </a:solidFill>
            <a:prstDash val="solid"/>
          </a:ln>
        </p:spPr>
      </p:sp>
      <p:sp>
        <p:nvSpPr>
          <p:cNvPr id="39" name="Text 37"/>
          <p:cNvSpPr txBox="1"/>
          <p:nvPr/>
        </p:nvSpPr>
        <p:spPr>
          <a:xfrm>
            <a:off x="2286000" y="4791456"/>
            <a:ext cx="1539240" cy="475488"/>
          </a:xfrm>
          <a:prstGeom prst="rect">
            <a:avLst/>
          </a:prstGeom>
          <a:noFill/>
          <a:ln/>
        </p:spPr>
        <p:txBody>
          <a:bodyPr wrap="square" lIns="0" tIns="0" rIns="0" bIns="0" rtlCol="0" anchor="ctr"/>
          <a:lstStyle/>
          <a:p>
            <a:pPr algn="ctr" indent="0" marL="0">
              <a:buNone/>
            </a:pPr>
            <a:r>
              <a:rPr lang="en-US" sz="1000" b="1" dirty="0">
                <a:solidFill>
                  <a:schemeClr val="tx2"/>
                </a:solidFill>
              </a:rPr>
              <a:t>Documents</a:t>
            </a:r>
            <a:endParaRPr lang="en-US" sz="1000" dirty="0"/>
          </a:p>
        </p:txBody>
      </p:sp>
      <p:sp>
        <p:nvSpPr>
          <p:cNvPr id="40" name="Shape 38"/>
          <p:cNvSpPr/>
          <p:nvPr/>
        </p:nvSpPr>
        <p:spPr>
          <a:xfrm>
            <a:off x="3916680" y="4791456"/>
            <a:ext cx="1539240" cy="475488"/>
          </a:xfrm>
          <a:prstGeom prst="roundRect">
            <a:avLst>
              <a:gd name="adj" fmla="val 11538"/>
            </a:avLst>
          </a:prstGeom>
          <a:solidFill>
            <a:schemeClr val="bg1"/>
          </a:solidFill>
          <a:ln w="9525">
            <a:solidFill>
              <a:srgbClr val="D5DCE6"/>
            </a:solidFill>
            <a:prstDash val="solid"/>
          </a:ln>
        </p:spPr>
      </p:sp>
      <p:sp>
        <p:nvSpPr>
          <p:cNvPr id="41" name="Text 39"/>
          <p:cNvSpPr txBox="1"/>
          <p:nvPr/>
        </p:nvSpPr>
        <p:spPr>
          <a:xfrm>
            <a:off x="3916680" y="4791456"/>
            <a:ext cx="1539240" cy="475488"/>
          </a:xfrm>
          <a:prstGeom prst="rect">
            <a:avLst/>
          </a:prstGeom>
          <a:noFill/>
          <a:ln/>
        </p:spPr>
        <p:txBody>
          <a:bodyPr wrap="square" lIns="0" tIns="0" rIns="0" bIns="0" rtlCol="0" anchor="ctr"/>
          <a:lstStyle/>
          <a:p>
            <a:pPr algn="ctr" indent="0" marL="0">
              <a:buNone/>
            </a:pPr>
            <a:r>
              <a:rPr lang="en-US" sz="1000" b="1" dirty="0">
                <a:solidFill>
                  <a:schemeClr val="tx2"/>
                </a:solidFill>
              </a:rPr>
              <a:t>Repositories</a:t>
            </a:r>
            <a:endParaRPr lang="en-US" sz="1000" dirty="0"/>
          </a:p>
        </p:txBody>
      </p:sp>
      <p:sp>
        <p:nvSpPr>
          <p:cNvPr id="42" name="Shape 40"/>
          <p:cNvSpPr/>
          <p:nvPr/>
        </p:nvSpPr>
        <p:spPr>
          <a:xfrm>
            <a:off x="5547360" y="4791456"/>
            <a:ext cx="1539240" cy="475488"/>
          </a:xfrm>
          <a:prstGeom prst="roundRect">
            <a:avLst>
              <a:gd name="adj" fmla="val 11538"/>
            </a:avLst>
          </a:prstGeom>
          <a:solidFill>
            <a:schemeClr val="bg1"/>
          </a:solidFill>
          <a:ln w="9525">
            <a:solidFill>
              <a:srgbClr val="D5DCE6"/>
            </a:solidFill>
            <a:prstDash val="solid"/>
          </a:ln>
        </p:spPr>
      </p:sp>
      <p:sp>
        <p:nvSpPr>
          <p:cNvPr id="43" name="Text 41"/>
          <p:cNvSpPr txBox="1"/>
          <p:nvPr/>
        </p:nvSpPr>
        <p:spPr>
          <a:xfrm>
            <a:off x="5547360" y="4791456"/>
            <a:ext cx="1539240" cy="475488"/>
          </a:xfrm>
          <a:prstGeom prst="rect">
            <a:avLst/>
          </a:prstGeom>
          <a:noFill/>
          <a:ln/>
        </p:spPr>
        <p:txBody>
          <a:bodyPr wrap="square" lIns="0" tIns="0" rIns="0" bIns="0" rtlCol="0" anchor="ctr"/>
          <a:lstStyle/>
          <a:p>
            <a:pPr algn="ctr" indent="0" marL="0">
              <a:buNone/>
            </a:pPr>
            <a:r>
              <a:rPr lang="en-US" sz="1000" b="1" dirty="0">
                <a:solidFill>
                  <a:schemeClr val="tx2"/>
                </a:solidFill>
              </a:rPr>
              <a:t>Connected content</a:t>
            </a:r>
            <a:endParaRPr lang="en-US" sz="1000" dirty="0"/>
          </a:p>
        </p:txBody>
      </p:sp>
      <p:sp>
        <p:nvSpPr>
          <p:cNvPr id="44" name="Shape 42"/>
          <p:cNvSpPr/>
          <p:nvPr/>
        </p:nvSpPr>
        <p:spPr>
          <a:xfrm>
            <a:off x="7360920" y="1645920"/>
            <a:ext cx="502920" cy="3803904"/>
          </a:xfrm>
          <a:prstGeom prst="roundRect">
            <a:avLst>
              <a:gd name="adj" fmla="val 14545"/>
            </a:avLst>
          </a:prstGeom>
          <a:solidFill>
            <a:schemeClr val="tx2"/>
          </a:solidFill>
          <a:ln w="12700">
            <a:solidFill>
              <a:schemeClr val="tx2"/>
            </a:solidFill>
            <a:prstDash val="solid"/>
          </a:ln>
        </p:spPr>
      </p:sp>
      <p:sp>
        <p:nvSpPr>
          <p:cNvPr id="45" name="Text 43"/>
          <p:cNvSpPr txBox="1"/>
          <p:nvPr/>
        </p:nvSpPr>
        <p:spPr>
          <a:xfrm>
            <a:off x="7360920" y="1645920"/>
            <a:ext cx="502920" cy="3803904"/>
          </a:xfrm>
          <a:prstGeom prst="rect">
            <a:avLst/>
          </a:prstGeom>
          <a:noFill/>
          <a:ln/>
        </p:spPr>
        <p:txBody>
          <a:bodyPr wrap="square" lIns="0" tIns="0" rIns="0" bIns="0" rtlCol="0" anchor="ctr" vert="vert270"/>
          <a:lstStyle/>
          <a:p>
            <a:pPr algn="ctr" indent="0" marL="0">
              <a:buNone/>
            </a:pPr>
            <a:r>
              <a:rPr lang="en-US" sz="1100" b="1" spc="200" kern="0" dirty="0">
                <a:solidFill>
                  <a:schemeClr val="bg1"/>
                </a:solidFill>
              </a:rPr>
              <a:t>GOVERNANCE  ·  ROLE-BASED ACCESS</a:t>
            </a:r>
            <a:endParaRPr lang="en-US" sz="1100" dirty="0"/>
          </a:p>
        </p:txBody>
      </p:sp>
      <p:sp>
        <p:nvSpPr>
          <p:cNvPr id="46" name="Text 44"/>
          <p:cNvSpPr txBox="1"/>
          <p:nvPr/>
        </p:nvSpPr>
        <p:spPr>
          <a:xfrm>
            <a:off x="8229600" y="1645920"/>
            <a:ext cx="3410712" cy="1005840"/>
          </a:xfrm>
          <a:prstGeom prst="rect">
            <a:avLst/>
          </a:prstGeom>
          <a:noFill/>
          <a:ln/>
        </p:spPr>
        <p:txBody>
          <a:bodyPr wrap="square" lIns="0" tIns="0" rIns="0" bIns="0" rtlCol="0" anchor="t"/>
          <a:lstStyle/>
          <a:p>
            <a:pPr indent="0" marL="0">
              <a:buNone/>
            </a:pPr>
            <a:r>
              <a:rPr lang="en-US" sz="1600" b="1" dirty="0">
                <a:solidFill>
                  <a:schemeClr val="tx2"/>
                </a:solidFill>
              </a:rPr>
              <a:t>Captures, understands, connects and delivers organizational knowledge in context.</a:t>
            </a:r>
            <a:endParaRPr lang="en-US" sz="1600" dirty="0"/>
          </a:p>
        </p:txBody>
      </p:sp>
      <p:sp>
        <p:nvSpPr>
          <p:cNvPr id="47" name="Text 45"/>
          <p:cNvSpPr txBox="1"/>
          <p:nvPr/>
        </p:nvSpPr>
        <p:spPr>
          <a:xfrm>
            <a:off x="8229600" y="2816352"/>
            <a:ext cx="3410712" cy="457200"/>
          </a:xfrm>
          <a:prstGeom prst="rect">
            <a:avLst/>
          </a:prstGeom>
          <a:noFill/>
          <a:ln/>
        </p:spPr>
        <p:txBody>
          <a:bodyPr wrap="square" lIns="0" tIns="0" rIns="0" bIns="0" rtlCol="0" anchor="t"/>
          <a:lstStyle/>
          <a:p>
            <a:pPr indent="0" marL="0">
              <a:buNone/>
            </a:pPr>
            <a:r>
              <a:rPr lang="en-US" sz="1300" b="1" dirty="0">
                <a:solidFill>
                  <a:schemeClr val="accent1"/>
                </a:solidFill>
              </a:rPr>
              <a:t>Capture  </a:t>
            </a:r>
            <a:pPr indent="0" marL="0">
              <a:buNone/>
            </a:pPr>
            <a:r>
              <a:rPr lang="en-US" sz="1300" dirty="0">
                <a:solidFill>
                  <a:srgbClr val="64748B"/>
                </a:solidFill>
              </a:rPr>
              <a:t>documents &amp; repositories</a:t>
            </a:r>
            <a:endParaRPr lang="en-US" sz="1300" dirty="0"/>
          </a:p>
        </p:txBody>
      </p:sp>
      <p:sp>
        <p:nvSpPr>
          <p:cNvPr id="48" name="Text 46"/>
          <p:cNvSpPr txBox="1"/>
          <p:nvPr/>
        </p:nvSpPr>
        <p:spPr>
          <a:xfrm>
            <a:off x="8229600" y="3346704"/>
            <a:ext cx="3410712" cy="457200"/>
          </a:xfrm>
          <a:prstGeom prst="rect">
            <a:avLst/>
          </a:prstGeom>
          <a:noFill/>
          <a:ln/>
        </p:spPr>
        <p:txBody>
          <a:bodyPr wrap="square" lIns="0" tIns="0" rIns="0" bIns="0" rtlCol="0" anchor="t"/>
          <a:lstStyle/>
          <a:p>
            <a:pPr indent="0" marL="0">
              <a:buNone/>
            </a:pPr>
            <a:r>
              <a:rPr lang="en-US" sz="1300" b="1" dirty="0">
                <a:solidFill>
                  <a:schemeClr val="accent1"/>
                </a:solidFill>
              </a:rPr>
              <a:t>Understand  </a:t>
            </a:r>
            <a:pPr indent="0" marL="0">
              <a:buNone/>
            </a:pPr>
            <a:r>
              <a:rPr lang="en-US" sz="1300" dirty="0">
                <a:solidFill>
                  <a:srgbClr val="64748B"/>
                </a:solidFill>
              </a:rPr>
              <a:t>classify, summarize, retrieve</a:t>
            </a:r>
            <a:endParaRPr lang="en-US" sz="1300" dirty="0"/>
          </a:p>
        </p:txBody>
      </p:sp>
      <p:sp>
        <p:nvSpPr>
          <p:cNvPr id="49" name="Text 47"/>
          <p:cNvSpPr txBox="1"/>
          <p:nvPr/>
        </p:nvSpPr>
        <p:spPr>
          <a:xfrm>
            <a:off x="8229600" y="3877056"/>
            <a:ext cx="3410712" cy="457200"/>
          </a:xfrm>
          <a:prstGeom prst="rect">
            <a:avLst/>
          </a:prstGeom>
          <a:noFill/>
          <a:ln/>
        </p:spPr>
        <p:txBody>
          <a:bodyPr wrap="square" lIns="0" tIns="0" rIns="0" bIns="0" rtlCol="0" anchor="t"/>
          <a:lstStyle/>
          <a:p>
            <a:pPr indent="0" marL="0">
              <a:buNone/>
            </a:pPr>
            <a:r>
              <a:rPr lang="en-US" sz="1300" b="1" dirty="0">
                <a:solidFill>
                  <a:schemeClr val="accent1"/>
                </a:solidFill>
              </a:rPr>
              <a:t>Connect  </a:t>
            </a:r>
            <a:pPr indent="0" marL="0">
              <a:buNone/>
            </a:pPr>
            <a:r>
              <a:rPr lang="en-US" sz="1300" dirty="0">
                <a:solidFill>
                  <a:srgbClr val="64748B"/>
                </a:solidFill>
              </a:rPr>
              <a:t>people, topics, projects, decisions</a:t>
            </a:r>
            <a:endParaRPr lang="en-US" sz="1300" dirty="0"/>
          </a:p>
        </p:txBody>
      </p:sp>
      <p:sp>
        <p:nvSpPr>
          <p:cNvPr id="50" name="Text 48"/>
          <p:cNvSpPr txBox="1"/>
          <p:nvPr/>
        </p:nvSpPr>
        <p:spPr>
          <a:xfrm>
            <a:off x="8229600" y="4407408"/>
            <a:ext cx="3410712" cy="457200"/>
          </a:xfrm>
          <a:prstGeom prst="rect">
            <a:avLst/>
          </a:prstGeom>
          <a:noFill/>
          <a:ln/>
        </p:spPr>
        <p:txBody>
          <a:bodyPr wrap="square" lIns="0" tIns="0" rIns="0" bIns="0" rtlCol="0" anchor="t"/>
          <a:lstStyle/>
          <a:p>
            <a:pPr indent="0" marL="0">
              <a:buNone/>
            </a:pPr>
            <a:r>
              <a:rPr lang="en-US" sz="1300" b="1" dirty="0">
                <a:solidFill>
                  <a:schemeClr val="accent1"/>
                </a:solidFill>
              </a:rPr>
              <a:t>Deliver  </a:t>
            </a:r>
            <a:pPr indent="0" marL="0">
              <a:buNone/>
            </a:pPr>
            <a:r>
              <a:rPr lang="en-US" sz="1300" dirty="0">
                <a:solidFill>
                  <a:srgbClr val="64748B"/>
                </a:solidFill>
              </a:rPr>
              <a:t>chat, search, graph, recommendations</a:t>
            </a:r>
            <a:endParaRPr lang="en-US" sz="1300" dirty="0"/>
          </a:p>
        </p:txBody>
      </p:sp>
      <p:sp>
        <p:nvSpPr>
          <p:cNvPr id="51" name="Text 49"/>
          <p:cNvSpPr txBox="1"/>
          <p:nvPr/>
        </p:nvSpPr>
        <p:spPr>
          <a:xfrm>
            <a:off x="8229600" y="4937760"/>
            <a:ext cx="3410712" cy="457200"/>
          </a:xfrm>
          <a:prstGeom prst="rect">
            <a:avLst/>
          </a:prstGeom>
          <a:noFill/>
          <a:ln/>
        </p:spPr>
        <p:txBody>
          <a:bodyPr wrap="square" lIns="0" tIns="0" rIns="0" bIns="0" rtlCol="0" anchor="t"/>
          <a:lstStyle/>
          <a:p>
            <a:pPr indent="0" marL="0">
              <a:buNone/>
            </a:pPr>
            <a:r>
              <a:rPr lang="en-US" sz="1300" b="1" dirty="0">
                <a:solidFill>
                  <a:schemeClr val="accent1"/>
                </a:solidFill>
              </a:rPr>
              <a:t>Learn  </a:t>
            </a:r>
            <a:pPr indent="0" marL="0">
              <a:buNone/>
            </a:pPr>
            <a:r>
              <a:rPr lang="en-US" sz="1300" dirty="0">
                <a:solidFill>
                  <a:srgbClr val="64748B"/>
                </a:solidFill>
              </a:rPr>
              <a:t>decisions, lessons, topic evolution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THE DIFFERENCE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Search Finds Documents. KMS Finds Meaning.</a:t>
            </a:r>
            <a:endParaRPr lang="en-US" sz="3000" dirty="0"/>
          </a:p>
        </p:txBody>
      </p:sp>
      <p:sp>
        <p:nvSpPr>
          <p:cNvPr id="4" name="Shape 2"/>
          <p:cNvSpPr/>
          <p:nvPr/>
        </p:nvSpPr>
        <p:spPr>
          <a:xfrm>
            <a:off x="548640" y="1600200"/>
            <a:ext cx="4754880" cy="4526280"/>
          </a:xfrm>
          <a:prstGeom prst="roundRect">
            <a:avLst>
              <a:gd name="adj" fmla="val 1616"/>
            </a:avLst>
          </a:prstGeom>
          <a:solidFill>
            <a:schemeClr val="bg2"/>
          </a:solidFill>
          <a:ln w="12700">
            <a:solidFill>
              <a:schemeClr val="bg2"/>
            </a:solidFill>
            <a:prstDash val="solid"/>
          </a:ln>
        </p:spPr>
      </p:sp>
      <p:sp>
        <p:nvSpPr>
          <p:cNvPr id="5" name="Shape 3"/>
          <p:cNvSpPr/>
          <p:nvPr/>
        </p:nvSpPr>
        <p:spPr>
          <a:xfrm>
            <a:off x="6885432" y="1600200"/>
            <a:ext cx="4754880" cy="4526280"/>
          </a:xfrm>
          <a:prstGeom prst="roundRect">
            <a:avLst>
              <a:gd name="adj" fmla="val 1616"/>
            </a:avLst>
          </a:prstGeom>
          <a:solidFill>
            <a:schemeClr val="tx2"/>
          </a:solidFill>
          <a:ln w="12700">
            <a:solidFill>
              <a:schemeClr val="tx2"/>
            </a:solidFill>
            <a:prstDash val="solid"/>
          </a:ln>
          <a:effectLst>
            <a:outerShdw sx="100000" sy="100000" kx="0" ky="0" algn="bl" rotWithShape="0" blurRad="127000" dist="25400" dir="5400000">
              <a:srgbClr val="0F172A">
                <a:alpha val="12000"/>
              </a:srgbClr>
            </a:outerShdw>
          </a:effectLst>
        </p:spPr>
      </p:sp>
      <p:sp>
        <p:nvSpPr>
          <p:cNvPr id="6" name="Shape 4"/>
          <p:cNvSpPr/>
          <p:nvPr/>
        </p:nvSpPr>
        <p:spPr>
          <a:xfrm>
            <a:off x="822960" y="1810512"/>
            <a:ext cx="502920" cy="502920"/>
          </a:xfrm>
          <a:prstGeom prst="ellipse">
            <a:avLst/>
          </a:prstGeom>
          <a:solidFill>
            <a:srgbClr val="94A3B8"/>
          </a:solidFill>
          <a:ln w="12700">
            <a:solidFill>
              <a:srgbClr val="94A3B8"/>
            </a:solidFill>
            <a:prstDash val="solid"/>
          </a:ln>
        </p:spPr>
      </p:sp>
      <p:pic>
        <p:nvPicPr>
          <p:cNvPr id="7" name="Image 0" descr="preencoded.png">    </p:cNvPr>
          <p:cNvPicPr>
            <a:picLocks noChangeAspect="1"/>
          </p:cNvPicPr>
          <p:nvPr/>
        </p:nvPicPr>
        <p:blipFill>
          <a:blip r:embed="rId1"/>
          <a:stretch>
            <a:fillRect/>
          </a:stretch>
        </p:blipFill>
        <p:spPr>
          <a:xfrm>
            <a:off x="948690" y="1936242"/>
            <a:ext cx="251460" cy="251460"/>
          </a:xfrm>
          <a:prstGeom prst="rect">
            <a:avLst/>
          </a:prstGeom>
        </p:spPr>
      </p:pic>
      <p:sp>
        <p:nvSpPr>
          <p:cNvPr id="8" name="Text 5"/>
          <p:cNvSpPr txBox="1"/>
          <p:nvPr/>
        </p:nvSpPr>
        <p:spPr>
          <a:xfrm>
            <a:off x="1463040" y="1810512"/>
            <a:ext cx="3657600" cy="502920"/>
          </a:xfrm>
          <a:prstGeom prst="rect">
            <a:avLst/>
          </a:prstGeom>
          <a:noFill/>
          <a:ln/>
        </p:spPr>
        <p:txBody>
          <a:bodyPr wrap="square" lIns="0" tIns="0" rIns="0" bIns="0" rtlCol="0" anchor="ctr"/>
          <a:lstStyle/>
          <a:p>
            <a:pPr indent="0" marL="0">
              <a:buNone/>
            </a:pPr>
            <a:r>
              <a:rPr lang="en-US" sz="1800" b="1" dirty="0">
                <a:solidFill>
                  <a:srgbClr val="64748B"/>
                </a:solidFill>
              </a:rPr>
              <a:t>Traditional repository</a:t>
            </a:r>
            <a:endParaRPr lang="en-US" sz="1800" dirty="0"/>
          </a:p>
        </p:txBody>
      </p:sp>
      <p:sp>
        <p:nvSpPr>
          <p:cNvPr id="9" name="Shape 6"/>
          <p:cNvSpPr/>
          <p:nvPr/>
        </p:nvSpPr>
        <p:spPr>
          <a:xfrm>
            <a:off x="7159752" y="1810512"/>
            <a:ext cx="502920" cy="50292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7285482" y="1936242"/>
            <a:ext cx="251460" cy="251460"/>
          </a:xfrm>
          <a:prstGeom prst="rect">
            <a:avLst/>
          </a:prstGeom>
        </p:spPr>
      </p:pic>
      <p:sp>
        <p:nvSpPr>
          <p:cNvPr id="11" name="Text 7"/>
          <p:cNvSpPr txBox="1"/>
          <p:nvPr/>
        </p:nvSpPr>
        <p:spPr>
          <a:xfrm>
            <a:off x="7799832" y="1810512"/>
            <a:ext cx="3657600" cy="502920"/>
          </a:xfrm>
          <a:prstGeom prst="rect">
            <a:avLst/>
          </a:prstGeom>
          <a:noFill/>
          <a:ln/>
        </p:spPr>
        <p:txBody>
          <a:bodyPr wrap="square" lIns="0" tIns="0" rIns="0" bIns="0" rtlCol="0" anchor="ctr"/>
          <a:lstStyle/>
          <a:p>
            <a:pPr indent="0" marL="0">
              <a:buNone/>
            </a:pPr>
            <a:r>
              <a:rPr lang="en-US" sz="1800" b="1" dirty="0">
                <a:solidFill>
                  <a:schemeClr val="bg1"/>
                </a:solidFill>
              </a:rPr>
              <a:t>KMS</a:t>
            </a:r>
            <a:endParaRPr lang="en-US" sz="1800" dirty="0"/>
          </a:p>
        </p:txBody>
      </p:sp>
      <p:sp>
        <p:nvSpPr>
          <p:cNvPr id="12" name="Text 8"/>
          <p:cNvSpPr txBox="1"/>
          <p:nvPr/>
        </p:nvSpPr>
        <p:spPr>
          <a:xfrm>
            <a:off x="868680" y="2560320"/>
            <a:ext cx="4206240" cy="548640"/>
          </a:xfrm>
          <a:prstGeom prst="rect">
            <a:avLst/>
          </a:prstGeom>
          <a:noFill/>
          <a:ln/>
        </p:spPr>
        <p:txBody>
          <a:bodyPr wrap="square" lIns="0" tIns="0" rIns="0" bIns="0" rtlCol="0" anchor="ctr"/>
          <a:lstStyle/>
          <a:p>
            <a:pPr indent="0" marL="0">
              <a:buNone/>
            </a:pPr>
            <a:r>
              <a:rPr lang="en-US" sz="1500" dirty="0">
                <a:solidFill>
                  <a:srgbClr val="64748B"/>
                </a:solidFill>
              </a:rPr>
              <a:t>Stores files</a:t>
            </a:r>
            <a:endParaRPr lang="en-US" sz="1500" dirty="0"/>
          </a:p>
        </p:txBody>
      </p:sp>
      <p:pic>
        <p:nvPicPr>
          <p:cNvPr id="13" name="Image 2" descr="preencoded.png">    </p:cNvPr>
          <p:cNvPicPr>
            <a:picLocks noChangeAspect="1"/>
          </p:cNvPicPr>
          <p:nvPr/>
        </p:nvPicPr>
        <p:blipFill>
          <a:blip r:embed="rId3"/>
          <a:stretch>
            <a:fillRect/>
          </a:stretch>
        </p:blipFill>
        <p:spPr>
          <a:xfrm>
            <a:off x="5943600" y="2715768"/>
            <a:ext cx="274320" cy="237744"/>
          </a:xfrm>
          <a:prstGeom prst="rect">
            <a:avLst/>
          </a:prstGeom>
        </p:spPr>
      </p:pic>
      <p:pic>
        <p:nvPicPr>
          <p:cNvPr id="14" name="Image 3" descr="preencoded.png">    </p:cNvPr>
          <p:cNvPicPr>
            <a:picLocks noChangeAspect="1"/>
          </p:cNvPicPr>
          <p:nvPr/>
        </p:nvPicPr>
        <p:blipFill>
          <a:blip r:embed="rId4"/>
          <a:stretch>
            <a:fillRect/>
          </a:stretch>
        </p:blipFill>
        <p:spPr>
          <a:xfrm>
            <a:off x="7205472" y="2734056"/>
            <a:ext cx="201168" cy="201168"/>
          </a:xfrm>
          <a:prstGeom prst="rect">
            <a:avLst/>
          </a:prstGeom>
        </p:spPr>
      </p:pic>
      <p:sp>
        <p:nvSpPr>
          <p:cNvPr id="15" name="Text 9"/>
          <p:cNvSpPr txBox="1"/>
          <p:nvPr/>
        </p:nvSpPr>
        <p:spPr>
          <a:xfrm>
            <a:off x="7571232" y="2560320"/>
            <a:ext cx="3886200" cy="548640"/>
          </a:xfrm>
          <a:prstGeom prst="rect">
            <a:avLst/>
          </a:prstGeom>
          <a:noFill/>
          <a:ln/>
        </p:spPr>
        <p:txBody>
          <a:bodyPr wrap="square" lIns="0" tIns="0" rIns="0" bIns="0" rtlCol="0" anchor="ctr"/>
          <a:lstStyle/>
          <a:p>
            <a:pPr indent="0" marL="0">
              <a:buNone/>
            </a:pPr>
            <a:r>
              <a:rPr lang="en-US" sz="1500" b="1" dirty="0">
                <a:solidFill>
                  <a:schemeClr val="bg1"/>
                </a:solidFill>
              </a:rPr>
              <a:t>Understands documents</a:t>
            </a:r>
            <a:endParaRPr lang="en-US" sz="1500" dirty="0"/>
          </a:p>
        </p:txBody>
      </p:sp>
      <p:sp>
        <p:nvSpPr>
          <p:cNvPr id="16" name="Text 10"/>
          <p:cNvSpPr txBox="1"/>
          <p:nvPr/>
        </p:nvSpPr>
        <p:spPr>
          <a:xfrm>
            <a:off x="868680" y="3246120"/>
            <a:ext cx="4206240" cy="548640"/>
          </a:xfrm>
          <a:prstGeom prst="rect">
            <a:avLst/>
          </a:prstGeom>
          <a:noFill/>
          <a:ln/>
        </p:spPr>
        <p:txBody>
          <a:bodyPr wrap="square" lIns="0" tIns="0" rIns="0" bIns="0" rtlCol="0" anchor="ctr"/>
          <a:lstStyle/>
          <a:p>
            <a:pPr indent="0" marL="0">
              <a:buNone/>
            </a:pPr>
            <a:r>
              <a:rPr lang="en-US" sz="1500" dirty="0">
                <a:solidFill>
                  <a:srgbClr val="64748B"/>
                </a:solidFill>
              </a:rPr>
              <a:t>Relies on manual tagging</a:t>
            </a:r>
            <a:endParaRPr lang="en-US" sz="1500" dirty="0"/>
          </a:p>
        </p:txBody>
      </p:sp>
      <p:pic>
        <p:nvPicPr>
          <p:cNvPr id="17" name="Image 4" descr="preencoded.png">    </p:cNvPr>
          <p:cNvPicPr>
            <a:picLocks noChangeAspect="1"/>
          </p:cNvPicPr>
          <p:nvPr/>
        </p:nvPicPr>
        <p:blipFill>
          <a:blip r:embed="rId5"/>
          <a:stretch>
            <a:fillRect/>
          </a:stretch>
        </p:blipFill>
        <p:spPr>
          <a:xfrm>
            <a:off x="5943600" y="3401568"/>
            <a:ext cx="274320" cy="237744"/>
          </a:xfrm>
          <a:prstGeom prst="rect">
            <a:avLst/>
          </a:prstGeom>
        </p:spPr>
      </p:pic>
      <p:pic>
        <p:nvPicPr>
          <p:cNvPr id="18" name="Image 5" descr="preencoded.png">    </p:cNvPr>
          <p:cNvPicPr>
            <a:picLocks noChangeAspect="1"/>
          </p:cNvPicPr>
          <p:nvPr/>
        </p:nvPicPr>
        <p:blipFill>
          <a:blip r:embed="rId6"/>
          <a:stretch>
            <a:fillRect/>
          </a:stretch>
        </p:blipFill>
        <p:spPr>
          <a:xfrm>
            <a:off x="7205472" y="3419856"/>
            <a:ext cx="201168" cy="201168"/>
          </a:xfrm>
          <a:prstGeom prst="rect">
            <a:avLst/>
          </a:prstGeom>
        </p:spPr>
      </p:pic>
      <p:sp>
        <p:nvSpPr>
          <p:cNvPr id="19" name="Text 11"/>
          <p:cNvSpPr txBox="1"/>
          <p:nvPr/>
        </p:nvSpPr>
        <p:spPr>
          <a:xfrm>
            <a:off x="7571232" y="3246120"/>
            <a:ext cx="3886200" cy="548640"/>
          </a:xfrm>
          <a:prstGeom prst="rect">
            <a:avLst/>
          </a:prstGeom>
          <a:noFill/>
          <a:ln/>
        </p:spPr>
        <p:txBody>
          <a:bodyPr wrap="square" lIns="0" tIns="0" rIns="0" bIns="0" rtlCol="0" anchor="ctr"/>
          <a:lstStyle/>
          <a:p>
            <a:pPr indent="0" marL="0">
              <a:buNone/>
            </a:pPr>
            <a:r>
              <a:rPr lang="en-US" sz="1500" b="1" dirty="0">
                <a:solidFill>
                  <a:schemeClr val="bg1"/>
                </a:solidFill>
              </a:rPr>
              <a:t>Classifies automatically</a:t>
            </a:r>
            <a:endParaRPr lang="en-US" sz="1500" dirty="0"/>
          </a:p>
        </p:txBody>
      </p:sp>
      <p:sp>
        <p:nvSpPr>
          <p:cNvPr id="20" name="Text 12"/>
          <p:cNvSpPr txBox="1"/>
          <p:nvPr/>
        </p:nvSpPr>
        <p:spPr>
          <a:xfrm>
            <a:off x="868680" y="3931920"/>
            <a:ext cx="4206240" cy="548640"/>
          </a:xfrm>
          <a:prstGeom prst="rect">
            <a:avLst/>
          </a:prstGeom>
          <a:noFill/>
          <a:ln/>
        </p:spPr>
        <p:txBody>
          <a:bodyPr wrap="square" lIns="0" tIns="0" rIns="0" bIns="0" rtlCol="0" anchor="ctr"/>
          <a:lstStyle/>
          <a:p>
            <a:pPr indent="0" marL="0">
              <a:buNone/>
            </a:pPr>
            <a:r>
              <a:rPr lang="en-US" sz="1500" dirty="0">
                <a:solidFill>
                  <a:srgbClr val="64748B"/>
                </a:solidFill>
              </a:rPr>
              <a:t>Searches keywords</a:t>
            </a:r>
            <a:endParaRPr lang="en-US" sz="1500" dirty="0"/>
          </a:p>
        </p:txBody>
      </p:sp>
      <p:pic>
        <p:nvPicPr>
          <p:cNvPr id="21" name="Image 6" descr="preencoded.png">    </p:cNvPr>
          <p:cNvPicPr>
            <a:picLocks noChangeAspect="1"/>
          </p:cNvPicPr>
          <p:nvPr/>
        </p:nvPicPr>
        <p:blipFill>
          <a:blip r:embed="rId7"/>
          <a:stretch>
            <a:fillRect/>
          </a:stretch>
        </p:blipFill>
        <p:spPr>
          <a:xfrm>
            <a:off x="5943600" y="4087368"/>
            <a:ext cx="274320" cy="237744"/>
          </a:xfrm>
          <a:prstGeom prst="rect">
            <a:avLst/>
          </a:prstGeom>
        </p:spPr>
      </p:pic>
      <p:pic>
        <p:nvPicPr>
          <p:cNvPr id="22" name="Image 7" descr="preencoded.png">    </p:cNvPr>
          <p:cNvPicPr>
            <a:picLocks noChangeAspect="1"/>
          </p:cNvPicPr>
          <p:nvPr/>
        </p:nvPicPr>
        <p:blipFill>
          <a:blip r:embed="rId8"/>
          <a:stretch>
            <a:fillRect/>
          </a:stretch>
        </p:blipFill>
        <p:spPr>
          <a:xfrm>
            <a:off x="7205472" y="4105656"/>
            <a:ext cx="201168" cy="201168"/>
          </a:xfrm>
          <a:prstGeom prst="rect">
            <a:avLst/>
          </a:prstGeom>
        </p:spPr>
      </p:pic>
      <p:sp>
        <p:nvSpPr>
          <p:cNvPr id="23" name="Text 13"/>
          <p:cNvSpPr txBox="1"/>
          <p:nvPr/>
        </p:nvSpPr>
        <p:spPr>
          <a:xfrm>
            <a:off x="7571232" y="3931920"/>
            <a:ext cx="3886200" cy="548640"/>
          </a:xfrm>
          <a:prstGeom prst="rect">
            <a:avLst/>
          </a:prstGeom>
          <a:noFill/>
          <a:ln/>
        </p:spPr>
        <p:txBody>
          <a:bodyPr wrap="square" lIns="0" tIns="0" rIns="0" bIns="0" rtlCol="0" anchor="ctr"/>
          <a:lstStyle/>
          <a:p>
            <a:pPr indent="0" marL="0">
              <a:buNone/>
            </a:pPr>
            <a:r>
              <a:rPr lang="en-US" sz="1500" b="1" dirty="0">
                <a:solidFill>
                  <a:schemeClr val="bg1"/>
                </a:solidFill>
              </a:rPr>
              <a:t>Retrieves semantically</a:t>
            </a:r>
            <a:endParaRPr lang="en-US" sz="1500" dirty="0"/>
          </a:p>
        </p:txBody>
      </p:sp>
      <p:sp>
        <p:nvSpPr>
          <p:cNvPr id="24" name="Text 14"/>
          <p:cNvSpPr txBox="1"/>
          <p:nvPr/>
        </p:nvSpPr>
        <p:spPr>
          <a:xfrm>
            <a:off x="868680" y="4617720"/>
            <a:ext cx="4206240" cy="548640"/>
          </a:xfrm>
          <a:prstGeom prst="rect">
            <a:avLst/>
          </a:prstGeom>
          <a:noFill/>
          <a:ln/>
        </p:spPr>
        <p:txBody>
          <a:bodyPr wrap="square" lIns="0" tIns="0" rIns="0" bIns="0" rtlCol="0" anchor="ctr"/>
          <a:lstStyle/>
          <a:p>
            <a:pPr indent="0" marL="0">
              <a:buNone/>
            </a:pPr>
            <a:r>
              <a:rPr lang="en-US" sz="1500" dirty="0">
                <a:solidFill>
                  <a:srgbClr val="64748B"/>
                </a:solidFill>
              </a:rPr>
              <a:t>Returns document lists</a:t>
            </a:r>
            <a:endParaRPr lang="en-US" sz="1500" dirty="0"/>
          </a:p>
        </p:txBody>
      </p:sp>
      <p:pic>
        <p:nvPicPr>
          <p:cNvPr id="25" name="Image 8" descr="preencoded.png">    </p:cNvPr>
          <p:cNvPicPr>
            <a:picLocks noChangeAspect="1"/>
          </p:cNvPicPr>
          <p:nvPr/>
        </p:nvPicPr>
        <p:blipFill>
          <a:blip r:embed="rId9"/>
          <a:stretch>
            <a:fillRect/>
          </a:stretch>
        </p:blipFill>
        <p:spPr>
          <a:xfrm>
            <a:off x="5943600" y="4773168"/>
            <a:ext cx="274320" cy="237744"/>
          </a:xfrm>
          <a:prstGeom prst="rect">
            <a:avLst/>
          </a:prstGeom>
        </p:spPr>
      </p:pic>
      <p:pic>
        <p:nvPicPr>
          <p:cNvPr id="26" name="Image 9" descr="preencoded.png">    </p:cNvPr>
          <p:cNvPicPr>
            <a:picLocks noChangeAspect="1"/>
          </p:cNvPicPr>
          <p:nvPr/>
        </p:nvPicPr>
        <p:blipFill>
          <a:blip r:embed="rId10"/>
          <a:stretch>
            <a:fillRect/>
          </a:stretch>
        </p:blipFill>
        <p:spPr>
          <a:xfrm>
            <a:off x="7205472" y="4791456"/>
            <a:ext cx="201168" cy="201168"/>
          </a:xfrm>
          <a:prstGeom prst="rect">
            <a:avLst/>
          </a:prstGeom>
        </p:spPr>
      </p:pic>
      <p:sp>
        <p:nvSpPr>
          <p:cNvPr id="27" name="Text 15"/>
          <p:cNvSpPr txBox="1"/>
          <p:nvPr/>
        </p:nvSpPr>
        <p:spPr>
          <a:xfrm>
            <a:off x="7571232" y="4617720"/>
            <a:ext cx="3886200" cy="548640"/>
          </a:xfrm>
          <a:prstGeom prst="rect">
            <a:avLst/>
          </a:prstGeom>
          <a:noFill/>
          <a:ln/>
        </p:spPr>
        <p:txBody>
          <a:bodyPr wrap="square" lIns="0" tIns="0" rIns="0" bIns="0" rtlCol="0" anchor="ctr"/>
          <a:lstStyle/>
          <a:p>
            <a:pPr indent="0" marL="0">
              <a:buNone/>
            </a:pPr>
            <a:r>
              <a:rPr lang="en-US" sz="1500" b="1" dirty="0">
                <a:solidFill>
                  <a:schemeClr val="bg1"/>
                </a:solidFill>
              </a:rPr>
              <a:t>Answers with citations</a:t>
            </a:r>
            <a:endParaRPr lang="en-US" sz="1500" dirty="0"/>
          </a:p>
        </p:txBody>
      </p:sp>
      <p:sp>
        <p:nvSpPr>
          <p:cNvPr id="28" name="Text 16"/>
          <p:cNvSpPr txBox="1"/>
          <p:nvPr/>
        </p:nvSpPr>
        <p:spPr>
          <a:xfrm>
            <a:off x="868680" y="5303520"/>
            <a:ext cx="4206240" cy="548640"/>
          </a:xfrm>
          <a:prstGeom prst="rect">
            <a:avLst/>
          </a:prstGeom>
          <a:noFill/>
          <a:ln/>
        </p:spPr>
        <p:txBody>
          <a:bodyPr wrap="square" lIns="0" tIns="0" rIns="0" bIns="0" rtlCol="0" anchor="ctr"/>
          <a:lstStyle/>
          <a:p>
            <a:pPr indent="0" marL="0">
              <a:buNone/>
            </a:pPr>
            <a:r>
              <a:rPr lang="en-US" sz="1500" dirty="0">
                <a:solidFill>
                  <a:srgbClr val="64748B"/>
                </a:solidFill>
              </a:rPr>
              <a:t>Loses decisions and lessons</a:t>
            </a:r>
            <a:endParaRPr lang="en-US" sz="1500" dirty="0"/>
          </a:p>
        </p:txBody>
      </p:sp>
      <p:pic>
        <p:nvPicPr>
          <p:cNvPr id="29" name="Image 10" descr="preencoded.png">    </p:cNvPr>
          <p:cNvPicPr>
            <a:picLocks noChangeAspect="1"/>
          </p:cNvPicPr>
          <p:nvPr/>
        </p:nvPicPr>
        <p:blipFill>
          <a:blip r:embed="rId11"/>
          <a:stretch>
            <a:fillRect/>
          </a:stretch>
        </p:blipFill>
        <p:spPr>
          <a:xfrm>
            <a:off x="5943600" y="5458968"/>
            <a:ext cx="274320" cy="237744"/>
          </a:xfrm>
          <a:prstGeom prst="rect">
            <a:avLst/>
          </a:prstGeom>
        </p:spPr>
      </p:pic>
      <p:pic>
        <p:nvPicPr>
          <p:cNvPr id="30" name="Image 11" descr="preencoded.png">    </p:cNvPr>
          <p:cNvPicPr>
            <a:picLocks noChangeAspect="1"/>
          </p:cNvPicPr>
          <p:nvPr/>
        </p:nvPicPr>
        <p:blipFill>
          <a:blip r:embed="rId12"/>
          <a:stretch>
            <a:fillRect/>
          </a:stretch>
        </p:blipFill>
        <p:spPr>
          <a:xfrm>
            <a:off x="7205472" y="5477256"/>
            <a:ext cx="201168" cy="201168"/>
          </a:xfrm>
          <a:prstGeom prst="rect">
            <a:avLst/>
          </a:prstGeom>
        </p:spPr>
      </p:pic>
      <p:sp>
        <p:nvSpPr>
          <p:cNvPr id="31" name="Text 17"/>
          <p:cNvSpPr txBox="1"/>
          <p:nvPr/>
        </p:nvSpPr>
        <p:spPr>
          <a:xfrm>
            <a:off x="7571232" y="5303520"/>
            <a:ext cx="3886200" cy="548640"/>
          </a:xfrm>
          <a:prstGeom prst="rect">
            <a:avLst/>
          </a:prstGeom>
          <a:noFill/>
          <a:ln/>
        </p:spPr>
        <p:txBody>
          <a:bodyPr wrap="square" lIns="0" tIns="0" rIns="0" bIns="0" rtlCol="0" anchor="ctr"/>
          <a:lstStyle/>
          <a:p>
            <a:pPr indent="0" marL="0">
              <a:buNone/>
            </a:pPr>
            <a:r>
              <a:rPr lang="en-US" sz="1500" b="1" dirty="0">
                <a:solidFill>
                  <a:schemeClr val="bg1"/>
                </a:solidFill>
              </a:rPr>
              <a:t>Connects documents, people, projects, lessons and decisions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124444" y="1984248"/>
            <a:ext cx="1476756" cy="1399032"/>
          </a:xfrm>
          <a:prstGeom prst="line">
            <a:avLst/>
          </a:prstGeom>
          <a:noFill/>
          <a:ln w="12700">
            <a:solidFill>
              <a:srgbClr val="2E6FD8">
                <a:alpha val="10000"/>
              </a:srgbClr>
            </a:solidFill>
            <a:prstDash val="solid"/>
          </a:ln>
        </p:spPr>
      </p:sp>
      <p:sp>
        <p:nvSpPr>
          <p:cNvPr id="3" name="Shape 1"/>
          <p:cNvSpPr/>
          <p:nvPr/>
        </p:nvSpPr>
        <p:spPr>
          <a:xfrm flipV="1">
            <a:off x="9601200" y="1673352"/>
            <a:ext cx="1399032" cy="1709928"/>
          </a:xfrm>
          <a:prstGeom prst="line">
            <a:avLst/>
          </a:prstGeom>
          <a:noFill/>
          <a:ln w="12700">
            <a:solidFill>
              <a:srgbClr val="2E6FD8">
                <a:alpha val="10000"/>
              </a:srgbClr>
            </a:solidFill>
            <a:prstDash val="solid"/>
          </a:ln>
        </p:spPr>
      </p:sp>
      <p:sp>
        <p:nvSpPr>
          <p:cNvPr id="4" name="Shape 2"/>
          <p:cNvSpPr/>
          <p:nvPr/>
        </p:nvSpPr>
        <p:spPr>
          <a:xfrm>
            <a:off x="9601200" y="3383280"/>
            <a:ext cx="1671066" cy="466344"/>
          </a:xfrm>
          <a:prstGeom prst="line">
            <a:avLst/>
          </a:prstGeom>
          <a:noFill/>
          <a:ln w="12700">
            <a:solidFill>
              <a:srgbClr val="2E6FD8">
                <a:alpha val="10000"/>
              </a:srgbClr>
            </a:solidFill>
            <a:prstDash val="solid"/>
          </a:ln>
        </p:spPr>
      </p:sp>
      <p:sp>
        <p:nvSpPr>
          <p:cNvPr id="5" name="Shape 3"/>
          <p:cNvSpPr/>
          <p:nvPr/>
        </p:nvSpPr>
        <p:spPr>
          <a:xfrm>
            <a:off x="9601200" y="3383280"/>
            <a:ext cx="777240" cy="1865376"/>
          </a:xfrm>
          <a:prstGeom prst="line">
            <a:avLst/>
          </a:prstGeom>
          <a:noFill/>
          <a:ln w="12700">
            <a:solidFill>
              <a:srgbClr val="2E6FD8">
                <a:alpha val="10000"/>
              </a:srgbClr>
            </a:solidFill>
            <a:prstDash val="solid"/>
          </a:ln>
        </p:spPr>
      </p:sp>
      <p:sp>
        <p:nvSpPr>
          <p:cNvPr id="6" name="Shape 4"/>
          <p:cNvSpPr/>
          <p:nvPr/>
        </p:nvSpPr>
        <p:spPr>
          <a:xfrm flipV="1">
            <a:off x="8279892" y="3383280"/>
            <a:ext cx="1321308" cy="1476756"/>
          </a:xfrm>
          <a:prstGeom prst="line">
            <a:avLst/>
          </a:prstGeom>
          <a:noFill/>
          <a:ln w="12700">
            <a:solidFill>
              <a:srgbClr val="2E6FD8">
                <a:alpha val="10000"/>
              </a:srgbClr>
            </a:solidFill>
            <a:prstDash val="solid"/>
          </a:ln>
        </p:spPr>
      </p:sp>
      <p:sp>
        <p:nvSpPr>
          <p:cNvPr id="7" name="Shape 5"/>
          <p:cNvSpPr/>
          <p:nvPr/>
        </p:nvSpPr>
        <p:spPr>
          <a:xfrm>
            <a:off x="7580376" y="3383280"/>
            <a:ext cx="2020824" cy="914"/>
          </a:xfrm>
          <a:prstGeom prst="line">
            <a:avLst/>
          </a:prstGeom>
          <a:noFill/>
          <a:ln w="12700">
            <a:solidFill>
              <a:srgbClr val="2E6FD8">
                <a:alpha val="10000"/>
              </a:srgbClr>
            </a:solidFill>
            <a:prstDash val="solid"/>
          </a:ln>
        </p:spPr>
      </p:sp>
      <p:sp>
        <p:nvSpPr>
          <p:cNvPr id="8" name="Shape 6"/>
          <p:cNvSpPr/>
          <p:nvPr/>
        </p:nvSpPr>
        <p:spPr>
          <a:xfrm flipV="1">
            <a:off x="7580376" y="1984248"/>
            <a:ext cx="544068" cy="1399032"/>
          </a:xfrm>
          <a:prstGeom prst="line">
            <a:avLst/>
          </a:prstGeom>
          <a:noFill/>
          <a:ln w="12700">
            <a:solidFill>
              <a:srgbClr val="2E6FD8">
                <a:alpha val="10000"/>
              </a:srgbClr>
            </a:solidFill>
            <a:prstDash val="solid"/>
          </a:ln>
        </p:spPr>
      </p:sp>
      <p:sp>
        <p:nvSpPr>
          <p:cNvPr id="9" name="Shape 7"/>
          <p:cNvSpPr/>
          <p:nvPr/>
        </p:nvSpPr>
        <p:spPr>
          <a:xfrm flipV="1">
            <a:off x="8124444" y="1207008"/>
            <a:ext cx="1243584" cy="777240"/>
          </a:xfrm>
          <a:prstGeom prst="line">
            <a:avLst/>
          </a:prstGeom>
          <a:noFill/>
          <a:ln w="12700">
            <a:solidFill>
              <a:srgbClr val="2E6FD8">
                <a:alpha val="10000"/>
              </a:srgbClr>
            </a:solidFill>
            <a:prstDash val="solid"/>
          </a:ln>
        </p:spPr>
      </p:sp>
      <p:sp>
        <p:nvSpPr>
          <p:cNvPr id="10" name="Shape 8"/>
          <p:cNvSpPr/>
          <p:nvPr/>
        </p:nvSpPr>
        <p:spPr>
          <a:xfrm>
            <a:off x="9368028" y="1207008"/>
            <a:ext cx="1632204" cy="466344"/>
          </a:xfrm>
          <a:prstGeom prst="line">
            <a:avLst/>
          </a:prstGeom>
          <a:noFill/>
          <a:ln w="12700">
            <a:solidFill>
              <a:srgbClr val="2E6FD8">
                <a:alpha val="10000"/>
              </a:srgbClr>
            </a:solidFill>
            <a:prstDash val="solid"/>
          </a:ln>
        </p:spPr>
      </p:sp>
      <p:sp>
        <p:nvSpPr>
          <p:cNvPr id="11" name="Shape 9"/>
          <p:cNvSpPr/>
          <p:nvPr/>
        </p:nvSpPr>
        <p:spPr>
          <a:xfrm>
            <a:off x="11000232" y="1673352"/>
            <a:ext cx="699516" cy="1088136"/>
          </a:xfrm>
          <a:prstGeom prst="line">
            <a:avLst/>
          </a:prstGeom>
          <a:noFill/>
          <a:ln w="12700">
            <a:solidFill>
              <a:srgbClr val="2E6FD8">
                <a:alpha val="10000"/>
              </a:srgbClr>
            </a:solidFill>
            <a:prstDash val="solid"/>
          </a:ln>
        </p:spPr>
      </p:sp>
      <p:sp>
        <p:nvSpPr>
          <p:cNvPr id="12" name="Shape 10"/>
          <p:cNvSpPr/>
          <p:nvPr/>
        </p:nvSpPr>
        <p:spPr>
          <a:xfrm flipV="1">
            <a:off x="11272266" y="2761488"/>
            <a:ext cx="427482" cy="1088136"/>
          </a:xfrm>
          <a:prstGeom prst="line">
            <a:avLst/>
          </a:prstGeom>
          <a:noFill/>
          <a:ln w="12700">
            <a:solidFill>
              <a:srgbClr val="2E6FD8">
                <a:alpha val="10000"/>
              </a:srgbClr>
            </a:solidFill>
            <a:prstDash val="solid"/>
          </a:ln>
        </p:spPr>
      </p:sp>
      <p:sp>
        <p:nvSpPr>
          <p:cNvPr id="13" name="Shape 11"/>
          <p:cNvSpPr/>
          <p:nvPr/>
        </p:nvSpPr>
        <p:spPr>
          <a:xfrm>
            <a:off x="11272266" y="3849624"/>
            <a:ext cx="505206" cy="1088136"/>
          </a:xfrm>
          <a:prstGeom prst="line">
            <a:avLst/>
          </a:prstGeom>
          <a:noFill/>
          <a:ln w="12700">
            <a:solidFill>
              <a:srgbClr val="2E6FD8">
                <a:alpha val="10000"/>
              </a:srgbClr>
            </a:solidFill>
            <a:prstDash val="solid"/>
          </a:ln>
        </p:spPr>
      </p:sp>
      <p:sp>
        <p:nvSpPr>
          <p:cNvPr id="14" name="Shape 12"/>
          <p:cNvSpPr/>
          <p:nvPr/>
        </p:nvSpPr>
        <p:spPr>
          <a:xfrm flipV="1">
            <a:off x="9134856" y="5248656"/>
            <a:ext cx="1243584" cy="544068"/>
          </a:xfrm>
          <a:prstGeom prst="line">
            <a:avLst/>
          </a:prstGeom>
          <a:noFill/>
          <a:ln w="12700">
            <a:solidFill>
              <a:srgbClr val="2E6FD8">
                <a:alpha val="10000"/>
              </a:srgbClr>
            </a:solidFill>
            <a:prstDash val="solid"/>
          </a:ln>
        </p:spPr>
      </p:sp>
      <p:sp>
        <p:nvSpPr>
          <p:cNvPr id="15" name="Shape 13"/>
          <p:cNvSpPr/>
          <p:nvPr/>
        </p:nvSpPr>
        <p:spPr>
          <a:xfrm>
            <a:off x="8279892" y="4860036"/>
            <a:ext cx="854964" cy="932688"/>
          </a:xfrm>
          <a:prstGeom prst="line">
            <a:avLst/>
          </a:prstGeom>
          <a:noFill/>
          <a:ln w="12700">
            <a:solidFill>
              <a:srgbClr val="2E6FD8">
                <a:alpha val="10000"/>
              </a:srgbClr>
            </a:solidFill>
            <a:prstDash val="solid"/>
          </a:ln>
        </p:spPr>
      </p:sp>
      <p:sp>
        <p:nvSpPr>
          <p:cNvPr id="16" name="Shape 14"/>
          <p:cNvSpPr/>
          <p:nvPr/>
        </p:nvSpPr>
        <p:spPr>
          <a:xfrm flipV="1">
            <a:off x="7114032" y="4860036"/>
            <a:ext cx="1165860" cy="699516"/>
          </a:xfrm>
          <a:prstGeom prst="line">
            <a:avLst/>
          </a:prstGeom>
          <a:noFill/>
          <a:ln w="12700">
            <a:solidFill>
              <a:srgbClr val="2E6FD8">
                <a:alpha val="10000"/>
              </a:srgbClr>
            </a:solidFill>
            <a:prstDash val="solid"/>
          </a:ln>
        </p:spPr>
      </p:sp>
      <p:sp>
        <p:nvSpPr>
          <p:cNvPr id="17" name="Shape 15"/>
          <p:cNvSpPr/>
          <p:nvPr/>
        </p:nvSpPr>
        <p:spPr>
          <a:xfrm>
            <a:off x="7269480" y="1284732"/>
            <a:ext cx="310896" cy="2098548"/>
          </a:xfrm>
          <a:prstGeom prst="line">
            <a:avLst/>
          </a:prstGeom>
          <a:noFill/>
          <a:ln w="12700">
            <a:solidFill>
              <a:srgbClr val="2E6FD8">
                <a:alpha val="10000"/>
              </a:srgbClr>
            </a:solidFill>
            <a:prstDash val="solid"/>
          </a:ln>
        </p:spPr>
      </p:sp>
      <p:sp>
        <p:nvSpPr>
          <p:cNvPr id="18" name="Shape 16"/>
          <p:cNvSpPr/>
          <p:nvPr/>
        </p:nvSpPr>
        <p:spPr>
          <a:xfrm>
            <a:off x="7269480" y="1284732"/>
            <a:ext cx="854964" cy="699516"/>
          </a:xfrm>
          <a:prstGeom prst="line">
            <a:avLst/>
          </a:prstGeom>
          <a:noFill/>
          <a:ln w="12700">
            <a:solidFill>
              <a:srgbClr val="2E6FD8">
                <a:alpha val="10000"/>
              </a:srgbClr>
            </a:solidFill>
            <a:prstDash val="solid"/>
          </a:ln>
        </p:spPr>
      </p:sp>
      <p:sp>
        <p:nvSpPr>
          <p:cNvPr id="19" name="Shape 17"/>
          <p:cNvSpPr/>
          <p:nvPr/>
        </p:nvSpPr>
        <p:spPr>
          <a:xfrm flipV="1">
            <a:off x="10378440" y="3849624"/>
            <a:ext cx="893826" cy="1399032"/>
          </a:xfrm>
          <a:prstGeom prst="line">
            <a:avLst/>
          </a:prstGeom>
          <a:noFill/>
          <a:ln w="12700">
            <a:solidFill>
              <a:srgbClr val="2E6FD8">
                <a:alpha val="10000"/>
              </a:srgbClr>
            </a:solidFill>
            <a:prstDash val="solid"/>
          </a:ln>
        </p:spPr>
      </p:sp>
      <p:sp>
        <p:nvSpPr>
          <p:cNvPr id="20" name="Shape 18"/>
          <p:cNvSpPr/>
          <p:nvPr/>
        </p:nvSpPr>
        <p:spPr>
          <a:xfrm>
            <a:off x="7580376" y="3383280"/>
            <a:ext cx="699516" cy="1476756"/>
          </a:xfrm>
          <a:prstGeom prst="line">
            <a:avLst/>
          </a:prstGeom>
          <a:noFill/>
          <a:ln w="12700">
            <a:solidFill>
              <a:srgbClr val="2E6FD8">
                <a:alpha val="10000"/>
              </a:srgbClr>
            </a:solidFill>
            <a:prstDash val="solid"/>
          </a:ln>
        </p:spPr>
      </p:sp>
      <p:sp>
        <p:nvSpPr>
          <p:cNvPr id="21" name="Shape 19"/>
          <p:cNvSpPr/>
          <p:nvPr/>
        </p:nvSpPr>
        <p:spPr>
          <a:xfrm>
            <a:off x="9212580" y="2994660"/>
            <a:ext cx="777240" cy="777240"/>
          </a:xfrm>
          <a:prstGeom prst="ellipse">
            <a:avLst/>
          </a:prstGeom>
          <a:solidFill>
            <a:srgbClr val="1B58D8">
              <a:alpha val="45000"/>
            </a:srgbClr>
          </a:solidFill>
          <a:ln w="25400">
            <a:solidFill>
              <a:srgbClr val="08ACD5">
                <a:alpha val="45000"/>
              </a:srgbClr>
            </a:solidFill>
            <a:prstDash val="solid"/>
          </a:ln>
        </p:spPr>
      </p:sp>
      <p:pic>
        <p:nvPicPr>
          <p:cNvPr id="22" name="Image 0" descr="preencoded.png">    </p:cNvPr>
          <p:cNvPicPr>
            <a:picLocks noChangeAspect="1"/>
          </p:cNvPicPr>
          <p:nvPr/>
        </p:nvPicPr>
        <p:blipFill>
          <a:blip r:embed="rId1">
            <a:alphaModFix amt="45000"/>
          </a:blip>
          <a:stretch>
            <a:fillRect/>
          </a:stretch>
        </p:blipFill>
        <p:spPr>
          <a:xfrm>
            <a:off x="9406890" y="3188970"/>
            <a:ext cx="388620" cy="388620"/>
          </a:xfrm>
          <a:prstGeom prst="rect">
            <a:avLst/>
          </a:prstGeom>
        </p:spPr>
      </p:pic>
      <p:sp>
        <p:nvSpPr>
          <p:cNvPr id="23" name="Shape 20"/>
          <p:cNvSpPr/>
          <p:nvPr/>
        </p:nvSpPr>
        <p:spPr>
          <a:xfrm>
            <a:off x="7891272" y="1751076"/>
            <a:ext cx="466344" cy="466344"/>
          </a:xfrm>
          <a:prstGeom prst="ellipse">
            <a:avLst/>
          </a:prstGeom>
          <a:solidFill>
            <a:srgbClr val="12284A">
              <a:alpha val="45000"/>
            </a:srgbClr>
          </a:solidFill>
          <a:ln w="15875">
            <a:solidFill>
              <a:srgbClr val="08ACD5">
                <a:alpha val="45000"/>
              </a:srgbClr>
            </a:solidFill>
            <a:prstDash val="solid"/>
          </a:ln>
        </p:spPr>
      </p:sp>
      <p:pic>
        <p:nvPicPr>
          <p:cNvPr id="24" name="Image 1" descr="preencoded.png">    </p:cNvPr>
          <p:cNvPicPr>
            <a:picLocks noChangeAspect="1"/>
          </p:cNvPicPr>
          <p:nvPr/>
        </p:nvPicPr>
        <p:blipFill>
          <a:blip r:embed="rId2">
            <a:alphaModFix amt="45000"/>
          </a:blip>
          <a:stretch>
            <a:fillRect/>
          </a:stretch>
        </p:blipFill>
        <p:spPr>
          <a:xfrm>
            <a:off x="8007858" y="1867662"/>
            <a:ext cx="233172" cy="233172"/>
          </a:xfrm>
          <a:prstGeom prst="rect">
            <a:avLst/>
          </a:prstGeom>
        </p:spPr>
      </p:pic>
      <p:sp>
        <p:nvSpPr>
          <p:cNvPr id="25" name="Shape 21"/>
          <p:cNvSpPr/>
          <p:nvPr/>
        </p:nvSpPr>
        <p:spPr>
          <a:xfrm>
            <a:off x="10782605" y="1455725"/>
            <a:ext cx="435254" cy="435254"/>
          </a:xfrm>
          <a:prstGeom prst="ellipse">
            <a:avLst/>
          </a:prstGeom>
          <a:solidFill>
            <a:srgbClr val="12284A">
              <a:alpha val="45000"/>
            </a:srgbClr>
          </a:solidFill>
          <a:ln w="15875">
            <a:solidFill>
              <a:srgbClr val="08ACD5">
                <a:alpha val="45000"/>
              </a:srgbClr>
            </a:solidFill>
            <a:prstDash val="solid"/>
          </a:ln>
        </p:spPr>
      </p:sp>
      <p:pic>
        <p:nvPicPr>
          <p:cNvPr id="26" name="Image 2" descr="preencoded.png">    </p:cNvPr>
          <p:cNvPicPr>
            <a:picLocks noChangeAspect="1"/>
          </p:cNvPicPr>
          <p:nvPr/>
        </p:nvPicPr>
        <p:blipFill>
          <a:blip r:embed="rId3">
            <a:alphaModFix amt="45000"/>
          </a:blip>
          <a:stretch>
            <a:fillRect/>
          </a:stretch>
        </p:blipFill>
        <p:spPr>
          <a:xfrm>
            <a:off x="10891418" y="1564538"/>
            <a:ext cx="217627" cy="217627"/>
          </a:xfrm>
          <a:prstGeom prst="rect">
            <a:avLst/>
          </a:prstGeom>
        </p:spPr>
      </p:pic>
      <p:sp>
        <p:nvSpPr>
          <p:cNvPr id="27" name="Shape 22"/>
          <p:cNvSpPr/>
          <p:nvPr/>
        </p:nvSpPr>
        <p:spPr>
          <a:xfrm>
            <a:off x="11023549" y="3600907"/>
            <a:ext cx="497434" cy="497434"/>
          </a:xfrm>
          <a:prstGeom prst="ellipse">
            <a:avLst/>
          </a:prstGeom>
          <a:solidFill>
            <a:srgbClr val="12284A">
              <a:alpha val="45000"/>
            </a:srgbClr>
          </a:solidFill>
          <a:ln w="15875">
            <a:solidFill>
              <a:srgbClr val="08ACD5">
                <a:alpha val="45000"/>
              </a:srgbClr>
            </a:solidFill>
            <a:prstDash val="solid"/>
          </a:ln>
        </p:spPr>
      </p:sp>
      <p:pic>
        <p:nvPicPr>
          <p:cNvPr id="28" name="Image 3" descr="preencoded.png">    </p:cNvPr>
          <p:cNvPicPr>
            <a:picLocks noChangeAspect="1"/>
          </p:cNvPicPr>
          <p:nvPr/>
        </p:nvPicPr>
        <p:blipFill>
          <a:blip r:embed="rId4">
            <a:alphaModFix amt="45000"/>
          </a:blip>
          <a:stretch>
            <a:fillRect/>
          </a:stretch>
        </p:blipFill>
        <p:spPr>
          <a:xfrm>
            <a:off x="11147908" y="3725266"/>
            <a:ext cx="248717" cy="248717"/>
          </a:xfrm>
          <a:prstGeom prst="rect">
            <a:avLst/>
          </a:prstGeom>
        </p:spPr>
      </p:pic>
      <p:sp>
        <p:nvSpPr>
          <p:cNvPr id="29" name="Shape 23"/>
          <p:cNvSpPr/>
          <p:nvPr/>
        </p:nvSpPr>
        <p:spPr>
          <a:xfrm>
            <a:off x="10160813" y="5031029"/>
            <a:ext cx="435254" cy="435254"/>
          </a:xfrm>
          <a:prstGeom prst="ellipse">
            <a:avLst/>
          </a:prstGeom>
          <a:solidFill>
            <a:srgbClr val="12284A">
              <a:alpha val="45000"/>
            </a:srgbClr>
          </a:solidFill>
          <a:ln w="15875">
            <a:solidFill>
              <a:srgbClr val="08ACD5">
                <a:alpha val="45000"/>
              </a:srgbClr>
            </a:solidFill>
            <a:prstDash val="solid"/>
          </a:ln>
        </p:spPr>
      </p:sp>
      <p:pic>
        <p:nvPicPr>
          <p:cNvPr id="30" name="Image 4" descr="preencoded.png">    </p:cNvPr>
          <p:cNvPicPr>
            <a:picLocks noChangeAspect="1"/>
          </p:cNvPicPr>
          <p:nvPr/>
        </p:nvPicPr>
        <p:blipFill>
          <a:blip r:embed="rId5">
            <a:alphaModFix amt="45000"/>
          </a:blip>
          <a:stretch>
            <a:fillRect/>
          </a:stretch>
        </p:blipFill>
        <p:spPr>
          <a:xfrm>
            <a:off x="10269626" y="5139842"/>
            <a:ext cx="217627" cy="217627"/>
          </a:xfrm>
          <a:prstGeom prst="rect">
            <a:avLst/>
          </a:prstGeom>
        </p:spPr>
      </p:pic>
      <p:sp>
        <p:nvSpPr>
          <p:cNvPr id="31" name="Shape 24"/>
          <p:cNvSpPr/>
          <p:nvPr/>
        </p:nvSpPr>
        <p:spPr>
          <a:xfrm>
            <a:off x="8046720" y="4626864"/>
            <a:ext cx="466344" cy="466344"/>
          </a:xfrm>
          <a:prstGeom prst="ellipse">
            <a:avLst/>
          </a:prstGeom>
          <a:solidFill>
            <a:srgbClr val="12284A">
              <a:alpha val="45000"/>
            </a:srgbClr>
          </a:solidFill>
          <a:ln w="15875">
            <a:solidFill>
              <a:srgbClr val="08ACD5">
                <a:alpha val="45000"/>
              </a:srgbClr>
            </a:solidFill>
            <a:prstDash val="solid"/>
          </a:ln>
        </p:spPr>
      </p:sp>
      <p:pic>
        <p:nvPicPr>
          <p:cNvPr id="32" name="Image 5" descr="preencoded.png">    </p:cNvPr>
          <p:cNvPicPr>
            <a:picLocks noChangeAspect="1"/>
          </p:cNvPicPr>
          <p:nvPr/>
        </p:nvPicPr>
        <p:blipFill>
          <a:blip r:embed="rId6">
            <a:alphaModFix amt="45000"/>
          </a:blip>
          <a:stretch>
            <a:fillRect/>
          </a:stretch>
        </p:blipFill>
        <p:spPr>
          <a:xfrm>
            <a:off x="8163306" y="4743450"/>
            <a:ext cx="233172" cy="233172"/>
          </a:xfrm>
          <a:prstGeom prst="rect">
            <a:avLst/>
          </a:prstGeom>
        </p:spPr>
      </p:pic>
      <p:sp>
        <p:nvSpPr>
          <p:cNvPr id="33" name="Shape 25"/>
          <p:cNvSpPr/>
          <p:nvPr/>
        </p:nvSpPr>
        <p:spPr>
          <a:xfrm>
            <a:off x="7386066" y="3188970"/>
            <a:ext cx="388620" cy="388620"/>
          </a:xfrm>
          <a:prstGeom prst="ellipse">
            <a:avLst/>
          </a:prstGeom>
          <a:solidFill>
            <a:srgbClr val="12284A">
              <a:alpha val="45000"/>
            </a:srgbClr>
          </a:solidFill>
          <a:ln w="15875">
            <a:solidFill>
              <a:srgbClr val="08ACD5">
                <a:alpha val="45000"/>
              </a:srgbClr>
            </a:solidFill>
            <a:prstDash val="solid"/>
          </a:ln>
        </p:spPr>
      </p:sp>
      <p:pic>
        <p:nvPicPr>
          <p:cNvPr id="34" name="Image 6" descr="preencoded.png">    </p:cNvPr>
          <p:cNvPicPr>
            <a:picLocks noChangeAspect="1"/>
          </p:cNvPicPr>
          <p:nvPr/>
        </p:nvPicPr>
        <p:blipFill>
          <a:blip r:embed="rId7">
            <a:alphaModFix amt="45000"/>
          </a:blip>
          <a:stretch>
            <a:fillRect/>
          </a:stretch>
        </p:blipFill>
        <p:spPr>
          <a:xfrm>
            <a:off x="7483221" y="3286125"/>
            <a:ext cx="194310" cy="194310"/>
          </a:xfrm>
          <a:prstGeom prst="rect">
            <a:avLst/>
          </a:prstGeom>
        </p:spPr>
      </p:pic>
      <p:sp>
        <p:nvSpPr>
          <p:cNvPr id="35" name="Shape 26"/>
          <p:cNvSpPr/>
          <p:nvPr/>
        </p:nvSpPr>
        <p:spPr>
          <a:xfrm>
            <a:off x="9290304" y="1129284"/>
            <a:ext cx="155448" cy="155448"/>
          </a:xfrm>
          <a:prstGeom prst="ellipse">
            <a:avLst/>
          </a:prstGeom>
          <a:solidFill>
            <a:srgbClr val="08ACD5">
              <a:alpha val="25000"/>
            </a:srgbClr>
          </a:solidFill>
          <a:ln w="12700">
            <a:solidFill>
              <a:srgbClr val="08ACD5"/>
            </a:solidFill>
            <a:prstDash val="solid"/>
          </a:ln>
        </p:spPr>
      </p:sp>
      <p:sp>
        <p:nvSpPr>
          <p:cNvPr id="36" name="Shape 27"/>
          <p:cNvSpPr/>
          <p:nvPr/>
        </p:nvSpPr>
        <p:spPr>
          <a:xfrm>
            <a:off x="11637569" y="2699309"/>
            <a:ext cx="124358" cy="124358"/>
          </a:xfrm>
          <a:prstGeom prst="ellipse">
            <a:avLst/>
          </a:prstGeom>
          <a:solidFill>
            <a:srgbClr val="08ACD5">
              <a:alpha val="25000"/>
            </a:srgbClr>
          </a:solidFill>
          <a:ln w="12700">
            <a:solidFill>
              <a:srgbClr val="08ACD5"/>
            </a:solidFill>
            <a:prstDash val="solid"/>
          </a:ln>
        </p:spPr>
      </p:sp>
      <p:sp>
        <p:nvSpPr>
          <p:cNvPr id="37" name="Shape 28"/>
          <p:cNvSpPr/>
          <p:nvPr/>
        </p:nvSpPr>
        <p:spPr>
          <a:xfrm>
            <a:off x="9057132" y="5715000"/>
            <a:ext cx="155448" cy="155448"/>
          </a:xfrm>
          <a:prstGeom prst="ellipse">
            <a:avLst/>
          </a:prstGeom>
          <a:solidFill>
            <a:srgbClr val="08ACD5">
              <a:alpha val="25000"/>
            </a:srgbClr>
          </a:solidFill>
          <a:ln w="12700">
            <a:solidFill>
              <a:srgbClr val="08ACD5"/>
            </a:solidFill>
            <a:prstDash val="solid"/>
          </a:ln>
        </p:spPr>
      </p:sp>
      <p:sp>
        <p:nvSpPr>
          <p:cNvPr id="38" name="Shape 29"/>
          <p:cNvSpPr/>
          <p:nvPr/>
        </p:nvSpPr>
        <p:spPr>
          <a:xfrm>
            <a:off x="7059625" y="5505145"/>
            <a:ext cx="108814" cy="108814"/>
          </a:xfrm>
          <a:prstGeom prst="ellipse">
            <a:avLst/>
          </a:prstGeom>
          <a:solidFill>
            <a:srgbClr val="08ACD5">
              <a:alpha val="25000"/>
            </a:srgbClr>
          </a:solidFill>
          <a:ln w="12700">
            <a:solidFill>
              <a:srgbClr val="08ACD5"/>
            </a:solidFill>
            <a:prstDash val="solid"/>
          </a:ln>
        </p:spPr>
      </p:sp>
      <p:sp>
        <p:nvSpPr>
          <p:cNvPr id="39" name="Shape 30"/>
          <p:cNvSpPr/>
          <p:nvPr/>
        </p:nvSpPr>
        <p:spPr>
          <a:xfrm>
            <a:off x="11707520" y="4867808"/>
            <a:ext cx="139903" cy="139903"/>
          </a:xfrm>
          <a:prstGeom prst="ellipse">
            <a:avLst/>
          </a:prstGeom>
          <a:solidFill>
            <a:srgbClr val="08ACD5">
              <a:alpha val="25000"/>
            </a:srgbClr>
          </a:solidFill>
          <a:ln w="12700">
            <a:solidFill>
              <a:srgbClr val="08ACD5"/>
            </a:solidFill>
            <a:prstDash val="solid"/>
          </a:ln>
        </p:spPr>
      </p:sp>
      <p:sp>
        <p:nvSpPr>
          <p:cNvPr id="40" name="Shape 31"/>
          <p:cNvSpPr/>
          <p:nvPr/>
        </p:nvSpPr>
        <p:spPr>
          <a:xfrm>
            <a:off x="7215073" y="1230325"/>
            <a:ext cx="108814" cy="108814"/>
          </a:xfrm>
          <a:prstGeom prst="ellipse">
            <a:avLst/>
          </a:prstGeom>
          <a:solidFill>
            <a:srgbClr val="08ACD5">
              <a:alpha val="25000"/>
            </a:srgbClr>
          </a:solidFill>
          <a:ln w="12700">
            <a:solidFill>
              <a:srgbClr val="08ACD5"/>
            </a:solidFill>
            <a:prstDash val="solid"/>
          </a:ln>
        </p:spPr>
      </p:sp>
      <p:sp>
        <p:nvSpPr>
          <p:cNvPr id="41" name="Text 0"/>
          <p:cNvSpPr/>
          <p:nvPr>
            <p:ph idx="101" type="body" hasCustomPrompt="1"/>
          </p:nvPr>
        </p:nvSpPr>
        <p:spPr>
          <a:xfrm>
            <a:off x="685800" y="2240280"/>
            <a:ext cx="5486400" cy="457200"/>
          </a:xfrm>
          <a:prstGeom prst="rect">
            <a:avLst/>
          </a:prstGeom>
          <a:noFill/>
          <a:ln/>
        </p:spPr>
        <p:txBody>
          <a:bodyPr wrap="square" lIns="0" tIns="0" rIns="0" bIns="0" rtlCol="0"/>
          <a:lstStyle/>
          <a:p>
            <a:pPr algn="l" indent="0" marL="0">
              <a:buNone/>
            </a:pPr>
            <a:r>
              <a:rPr lang="en-US" sz="1600" b="1" spc="300" kern="0" dirty="0">
                <a:solidFill>
                  <a:schemeClr val="accent2"/>
                </a:solidFill>
              </a:rPr>
              <a:t>01  ·  THE PLATFORM</a:t>
            </a:r>
            <a:endParaRPr lang="en-US" sz="1600" dirty="0"/>
          </a:p>
        </p:txBody>
      </p:sp>
      <p:sp>
        <p:nvSpPr>
          <p:cNvPr id="42" name="Text 0"/>
          <p:cNvSpPr/>
          <p:nvPr>
            <p:ph idx="102" type="title" hasCustomPrompt="1"/>
          </p:nvPr>
        </p:nvSpPr>
        <p:spPr>
          <a:xfrm>
            <a:off x="685800" y="269748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rPr>
              <a:t>How KMS Works</a:t>
            </a:r>
            <a:endParaRPr lang="en-US" sz="4400" dirty="0"/>
          </a:p>
        </p:txBody>
      </p:sp>
      <p:sp>
        <p:nvSpPr>
          <p:cNvPr id="43" name="Text 0"/>
          <p:cNvSpPr/>
          <p:nvPr>
            <p:ph idx="103" type="body" hasCustomPrompt="1"/>
          </p:nvPr>
        </p:nvSpPr>
        <p:spPr>
          <a:xfrm>
            <a:off x="685800" y="3840480"/>
            <a:ext cx="6035040" cy="914400"/>
          </a:xfrm>
          <a:prstGeom prst="rect">
            <a:avLst/>
          </a:prstGeom>
          <a:noFill/>
          <a:ln/>
        </p:spPr>
        <p:txBody>
          <a:bodyPr wrap="square" lIns="0" tIns="0" rIns="0" bIns="0" rtlCol="0" anchor="t"/>
          <a:lstStyle/>
          <a:p>
            <a:pPr algn="l" indent="0" marL="0">
              <a:buNone/>
            </a:pPr>
            <a:r>
              <a:rPr lang="en-US" sz="1800" dirty="0">
                <a:solidFill>
                  <a:srgbClr val="CBD5E1"/>
                </a:solidFill>
              </a:rPr>
              <a:t>From upload to organizational intelligence, on a complete knowledge core</a:t>
            </a:r>
            <a:endParaRPr lang="en-US" sz="1800" dirty="0"/>
          </a:p>
        </p:txBody>
      </p:sp>
      <p:sp>
        <p:nvSpPr>
          <p:cNvPr id="25" name="Slide Number Placeholder 0"/>
          <p:cNvSpPr>
            <a:spLocks noGrp="1"/>
          </p:cNvSpPr>
          <p:nvPr>
            <p:ph type="sldNum" sz="quarter" idx="4294967295"/>
          </p:nvPr>
        </p:nvSpPr>
        <p:spPr>
          <a:xfrm>
            <a:off x="685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HOW IT WORKS</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From Upload to Organizational Intelligence</a:t>
            </a:r>
            <a:endParaRPr lang="en-US" sz="3000" dirty="0"/>
          </a:p>
        </p:txBody>
      </p:sp>
      <p:sp>
        <p:nvSpPr>
          <p:cNvPr id="4" name="Shape 2"/>
          <p:cNvSpPr/>
          <p:nvPr/>
        </p:nvSpPr>
        <p:spPr>
          <a:xfrm>
            <a:off x="548640" y="1783080"/>
            <a:ext cx="2194560" cy="914400"/>
          </a:xfrm>
          <a:prstGeom prst="chevron">
            <a:avLst/>
          </a:prstGeom>
          <a:solidFill>
            <a:schemeClr val="tx2"/>
          </a:solidFill>
          <a:ln w="12700">
            <a:solidFill>
              <a:schemeClr val="tx2"/>
            </a:solidFill>
            <a:prstDash val="solid"/>
          </a:ln>
        </p:spPr>
      </p:sp>
      <p:sp>
        <p:nvSpPr>
          <p:cNvPr id="5" name="Text 3"/>
          <p:cNvSpPr txBox="1"/>
          <p:nvPr/>
        </p:nvSpPr>
        <p:spPr>
          <a:xfrm>
            <a:off x="1005840" y="1783080"/>
            <a:ext cx="1600200" cy="914400"/>
          </a:xfrm>
          <a:prstGeom prst="rect">
            <a:avLst/>
          </a:prstGeom>
          <a:noFill/>
          <a:ln/>
        </p:spPr>
        <p:txBody>
          <a:bodyPr wrap="square" lIns="0" tIns="0" rIns="0" bIns="0" rtlCol="0" anchor="ctr"/>
          <a:lstStyle/>
          <a:p>
            <a:pPr indent="0" marL="0">
              <a:buNone/>
            </a:pPr>
            <a:r>
              <a:rPr lang="en-US" sz="1700" b="1" dirty="0">
                <a:solidFill>
                  <a:schemeClr val="bg1"/>
                </a:solidFill>
              </a:rPr>
              <a:t>01  Ingest</a:t>
            </a:r>
            <a:endParaRPr lang="en-US" sz="1700" dirty="0"/>
          </a:p>
        </p:txBody>
      </p:sp>
      <p:sp>
        <p:nvSpPr>
          <p:cNvPr id="6" name="Shape 4"/>
          <p:cNvSpPr/>
          <p:nvPr/>
        </p:nvSpPr>
        <p:spPr>
          <a:xfrm>
            <a:off x="548640" y="3017520"/>
            <a:ext cx="2103120" cy="2514600"/>
          </a:xfrm>
          <a:prstGeom prst="roundRect">
            <a:avLst>
              <a:gd name="adj" fmla="val 3478"/>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7" name="Shape 5"/>
          <p:cNvSpPr/>
          <p:nvPr/>
        </p:nvSpPr>
        <p:spPr>
          <a:xfrm>
            <a:off x="777240" y="3246120"/>
            <a:ext cx="594360" cy="594360"/>
          </a:xfrm>
          <a:prstGeom prst="ellipse">
            <a:avLst/>
          </a:prstGeom>
          <a:solidFill>
            <a:schemeClr val="tx2"/>
          </a:solidFill>
          <a:ln w="12700">
            <a:solidFill>
              <a:schemeClr val="tx2"/>
            </a:solidFill>
            <a:prstDash val="solid"/>
          </a:ln>
        </p:spPr>
      </p:sp>
      <p:pic>
        <p:nvPicPr>
          <p:cNvPr id="8" name="Image 0" descr="preencoded.png">    </p:cNvPr>
          <p:cNvPicPr>
            <a:picLocks noChangeAspect="1"/>
          </p:cNvPicPr>
          <p:nvPr/>
        </p:nvPicPr>
        <p:blipFill>
          <a:blip r:embed="rId1"/>
          <a:stretch>
            <a:fillRect/>
          </a:stretch>
        </p:blipFill>
        <p:spPr>
          <a:xfrm>
            <a:off x="925830" y="3394710"/>
            <a:ext cx="297180" cy="297180"/>
          </a:xfrm>
          <a:prstGeom prst="rect">
            <a:avLst/>
          </a:prstGeom>
        </p:spPr>
      </p:pic>
      <p:sp>
        <p:nvSpPr>
          <p:cNvPr id="9" name="Text 6"/>
          <p:cNvSpPr txBox="1"/>
          <p:nvPr/>
        </p:nvSpPr>
        <p:spPr>
          <a:xfrm>
            <a:off x="777240" y="4023360"/>
            <a:ext cx="1691640" cy="1371600"/>
          </a:xfrm>
          <a:prstGeom prst="rect">
            <a:avLst/>
          </a:prstGeom>
          <a:noFill/>
          <a:ln/>
        </p:spPr>
        <p:txBody>
          <a:bodyPr wrap="square" lIns="0" tIns="0" rIns="0" bIns="0" rtlCol="0" anchor="t"/>
          <a:lstStyle/>
          <a:p>
            <a:pPr indent="0" marL="0">
              <a:buNone/>
            </a:pPr>
            <a:r>
              <a:rPr lang="en-US" sz="1400" dirty="0">
                <a:solidFill>
                  <a:schemeClr val="tx1"/>
                </a:solidFill>
              </a:rPr>
              <a:t>Documents and connected content enter automatically</a:t>
            </a:r>
            <a:endParaRPr lang="en-US" sz="1400" dirty="0"/>
          </a:p>
        </p:txBody>
      </p:sp>
      <p:sp>
        <p:nvSpPr>
          <p:cNvPr id="10" name="Shape 7"/>
          <p:cNvSpPr/>
          <p:nvPr/>
        </p:nvSpPr>
        <p:spPr>
          <a:xfrm>
            <a:off x="2816352" y="1783080"/>
            <a:ext cx="2194560" cy="914400"/>
          </a:xfrm>
          <a:prstGeom prst="chevron">
            <a:avLst/>
          </a:prstGeom>
          <a:solidFill>
            <a:schemeClr val="accent3"/>
          </a:solidFill>
          <a:ln w="12700">
            <a:solidFill>
              <a:schemeClr val="accent3"/>
            </a:solidFill>
            <a:prstDash val="solid"/>
          </a:ln>
        </p:spPr>
      </p:sp>
      <p:sp>
        <p:nvSpPr>
          <p:cNvPr id="11" name="Text 8"/>
          <p:cNvSpPr txBox="1"/>
          <p:nvPr/>
        </p:nvSpPr>
        <p:spPr>
          <a:xfrm>
            <a:off x="3273552" y="1783080"/>
            <a:ext cx="1600200" cy="914400"/>
          </a:xfrm>
          <a:prstGeom prst="rect">
            <a:avLst/>
          </a:prstGeom>
          <a:noFill/>
          <a:ln/>
        </p:spPr>
        <p:txBody>
          <a:bodyPr wrap="square" lIns="0" tIns="0" rIns="0" bIns="0" rtlCol="0" anchor="ctr"/>
          <a:lstStyle/>
          <a:p>
            <a:pPr indent="0" marL="0">
              <a:buNone/>
            </a:pPr>
            <a:r>
              <a:rPr lang="en-US" sz="1700" b="1" dirty="0">
                <a:solidFill>
                  <a:schemeClr val="bg1"/>
                </a:solidFill>
              </a:rPr>
              <a:t>02  Understand</a:t>
            </a:r>
            <a:endParaRPr lang="en-US" sz="1700" dirty="0"/>
          </a:p>
        </p:txBody>
      </p:sp>
      <p:sp>
        <p:nvSpPr>
          <p:cNvPr id="12" name="Shape 9"/>
          <p:cNvSpPr/>
          <p:nvPr/>
        </p:nvSpPr>
        <p:spPr>
          <a:xfrm>
            <a:off x="2816352" y="3017520"/>
            <a:ext cx="2103120" cy="2514600"/>
          </a:xfrm>
          <a:prstGeom prst="roundRect">
            <a:avLst>
              <a:gd name="adj" fmla="val 3478"/>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3" name="Shape 10"/>
          <p:cNvSpPr/>
          <p:nvPr/>
        </p:nvSpPr>
        <p:spPr>
          <a:xfrm>
            <a:off x="3044952" y="3246120"/>
            <a:ext cx="594360" cy="594360"/>
          </a:xfrm>
          <a:prstGeom prst="ellipse">
            <a:avLst/>
          </a:prstGeom>
          <a:solidFill>
            <a:schemeClr val="accent3"/>
          </a:solidFill>
          <a:ln w="12700">
            <a:solidFill>
              <a:schemeClr val="accent3"/>
            </a:solidFill>
            <a:prstDash val="solid"/>
          </a:ln>
        </p:spPr>
      </p:sp>
      <p:pic>
        <p:nvPicPr>
          <p:cNvPr id="14" name="Image 1" descr="preencoded.png">    </p:cNvPr>
          <p:cNvPicPr>
            <a:picLocks noChangeAspect="1"/>
          </p:cNvPicPr>
          <p:nvPr/>
        </p:nvPicPr>
        <p:blipFill>
          <a:blip r:embed="rId2"/>
          <a:stretch>
            <a:fillRect/>
          </a:stretch>
        </p:blipFill>
        <p:spPr>
          <a:xfrm>
            <a:off x="3193542" y="3394710"/>
            <a:ext cx="297180" cy="297180"/>
          </a:xfrm>
          <a:prstGeom prst="rect">
            <a:avLst/>
          </a:prstGeom>
        </p:spPr>
      </p:pic>
      <p:sp>
        <p:nvSpPr>
          <p:cNvPr id="15" name="Text 11"/>
          <p:cNvSpPr txBox="1"/>
          <p:nvPr/>
        </p:nvSpPr>
        <p:spPr>
          <a:xfrm>
            <a:off x="3044952" y="4023360"/>
            <a:ext cx="1691640" cy="1371600"/>
          </a:xfrm>
          <a:prstGeom prst="rect">
            <a:avLst/>
          </a:prstGeom>
          <a:noFill/>
          <a:ln/>
        </p:spPr>
        <p:txBody>
          <a:bodyPr wrap="square" lIns="0" tIns="0" rIns="0" bIns="0" rtlCol="0" anchor="t"/>
          <a:lstStyle/>
          <a:p>
            <a:pPr indent="0" marL="0">
              <a:buNone/>
            </a:pPr>
            <a:r>
              <a:rPr lang="en-US" sz="1400" dirty="0">
                <a:solidFill>
                  <a:schemeClr val="tx1"/>
                </a:solidFill>
              </a:rPr>
              <a:t>Chunk, embed, summarize and classify</a:t>
            </a:r>
            <a:endParaRPr lang="en-US" sz="1400" dirty="0"/>
          </a:p>
        </p:txBody>
      </p:sp>
      <p:sp>
        <p:nvSpPr>
          <p:cNvPr id="16" name="Shape 12"/>
          <p:cNvSpPr/>
          <p:nvPr/>
        </p:nvSpPr>
        <p:spPr>
          <a:xfrm>
            <a:off x="5084064" y="1783080"/>
            <a:ext cx="2194560" cy="914400"/>
          </a:xfrm>
          <a:prstGeom prst="chevron">
            <a:avLst/>
          </a:prstGeom>
          <a:solidFill>
            <a:schemeClr val="accent1"/>
          </a:solidFill>
          <a:ln w="12700">
            <a:solidFill>
              <a:schemeClr val="accent1"/>
            </a:solidFill>
            <a:prstDash val="solid"/>
          </a:ln>
        </p:spPr>
      </p:sp>
      <p:sp>
        <p:nvSpPr>
          <p:cNvPr id="17" name="Text 13"/>
          <p:cNvSpPr txBox="1"/>
          <p:nvPr/>
        </p:nvSpPr>
        <p:spPr>
          <a:xfrm>
            <a:off x="5541264" y="1783080"/>
            <a:ext cx="1600200" cy="914400"/>
          </a:xfrm>
          <a:prstGeom prst="rect">
            <a:avLst/>
          </a:prstGeom>
          <a:noFill/>
          <a:ln/>
        </p:spPr>
        <p:txBody>
          <a:bodyPr wrap="square" lIns="0" tIns="0" rIns="0" bIns="0" rtlCol="0" anchor="ctr"/>
          <a:lstStyle/>
          <a:p>
            <a:pPr indent="0" marL="0">
              <a:buNone/>
            </a:pPr>
            <a:r>
              <a:rPr lang="en-US" sz="1700" b="1" dirty="0">
                <a:solidFill>
                  <a:schemeClr val="bg1"/>
                </a:solidFill>
              </a:rPr>
              <a:t>03  Connect</a:t>
            </a:r>
            <a:endParaRPr lang="en-US" sz="1700" dirty="0"/>
          </a:p>
        </p:txBody>
      </p:sp>
      <p:sp>
        <p:nvSpPr>
          <p:cNvPr id="18" name="Shape 14"/>
          <p:cNvSpPr/>
          <p:nvPr/>
        </p:nvSpPr>
        <p:spPr>
          <a:xfrm>
            <a:off x="5084064" y="3017520"/>
            <a:ext cx="2103120" cy="2514600"/>
          </a:xfrm>
          <a:prstGeom prst="roundRect">
            <a:avLst>
              <a:gd name="adj" fmla="val 3478"/>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9" name="Shape 15"/>
          <p:cNvSpPr/>
          <p:nvPr/>
        </p:nvSpPr>
        <p:spPr>
          <a:xfrm>
            <a:off x="5312664" y="3246120"/>
            <a:ext cx="594360" cy="594360"/>
          </a:xfrm>
          <a:prstGeom prst="ellipse">
            <a:avLst/>
          </a:prstGeom>
          <a:solidFill>
            <a:schemeClr val="accent1"/>
          </a:solidFill>
          <a:ln w="12700">
            <a:solidFill>
              <a:schemeClr val="accent1"/>
            </a:solidFill>
            <a:prstDash val="solid"/>
          </a:ln>
        </p:spPr>
      </p:sp>
      <p:pic>
        <p:nvPicPr>
          <p:cNvPr id="20" name="Image 2" descr="preencoded.png">    </p:cNvPr>
          <p:cNvPicPr>
            <a:picLocks noChangeAspect="1"/>
          </p:cNvPicPr>
          <p:nvPr/>
        </p:nvPicPr>
        <p:blipFill>
          <a:blip r:embed="rId3"/>
          <a:stretch>
            <a:fillRect/>
          </a:stretch>
        </p:blipFill>
        <p:spPr>
          <a:xfrm>
            <a:off x="5461254" y="3394710"/>
            <a:ext cx="297180" cy="297180"/>
          </a:xfrm>
          <a:prstGeom prst="rect">
            <a:avLst/>
          </a:prstGeom>
        </p:spPr>
      </p:pic>
      <p:sp>
        <p:nvSpPr>
          <p:cNvPr id="21" name="Text 16"/>
          <p:cNvSpPr txBox="1"/>
          <p:nvPr/>
        </p:nvSpPr>
        <p:spPr>
          <a:xfrm>
            <a:off x="5312664" y="4023360"/>
            <a:ext cx="1691640" cy="1371600"/>
          </a:xfrm>
          <a:prstGeom prst="rect">
            <a:avLst/>
          </a:prstGeom>
          <a:noFill/>
          <a:ln/>
        </p:spPr>
        <p:txBody>
          <a:bodyPr wrap="square" lIns="0" tIns="0" rIns="0" bIns="0" rtlCol="0" anchor="t"/>
          <a:lstStyle/>
          <a:p>
            <a:pPr indent="0" marL="0">
              <a:buNone/>
            </a:pPr>
            <a:r>
              <a:rPr lang="en-US" sz="1400" dirty="0">
                <a:solidFill>
                  <a:schemeClr val="tx1"/>
                </a:solidFill>
              </a:rPr>
              <a:t>Topics, duplicates, conflicts, decisions, lessons, relationships</a:t>
            </a:r>
            <a:endParaRPr lang="en-US" sz="1400" dirty="0"/>
          </a:p>
        </p:txBody>
      </p:sp>
      <p:sp>
        <p:nvSpPr>
          <p:cNvPr id="22" name="Shape 17"/>
          <p:cNvSpPr/>
          <p:nvPr/>
        </p:nvSpPr>
        <p:spPr>
          <a:xfrm>
            <a:off x="7351776" y="1783080"/>
            <a:ext cx="2194560" cy="914400"/>
          </a:xfrm>
          <a:prstGeom prst="chevron">
            <a:avLst/>
          </a:prstGeom>
          <a:solidFill>
            <a:srgbClr val="1482D6"/>
          </a:solidFill>
          <a:ln w="12700">
            <a:solidFill>
              <a:srgbClr val="1482D6"/>
            </a:solidFill>
            <a:prstDash val="solid"/>
          </a:ln>
        </p:spPr>
      </p:sp>
      <p:sp>
        <p:nvSpPr>
          <p:cNvPr id="23" name="Text 18"/>
          <p:cNvSpPr txBox="1"/>
          <p:nvPr/>
        </p:nvSpPr>
        <p:spPr>
          <a:xfrm>
            <a:off x="7808976" y="1783080"/>
            <a:ext cx="1600200" cy="914400"/>
          </a:xfrm>
          <a:prstGeom prst="rect">
            <a:avLst/>
          </a:prstGeom>
          <a:noFill/>
          <a:ln/>
        </p:spPr>
        <p:txBody>
          <a:bodyPr wrap="square" lIns="0" tIns="0" rIns="0" bIns="0" rtlCol="0" anchor="ctr"/>
          <a:lstStyle/>
          <a:p>
            <a:pPr indent="0" marL="0">
              <a:buNone/>
            </a:pPr>
            <a:r>
              <a:rPr lang="en-US" sz="1700" b="1" dirty="0">
                <a:solidFill>
                  <a:schemeClr val="bg1"/>
                </a:solidFill>
              </a:rPr>
              <a:t>04  Govern</a:t>
            </a:r>
            <a:endParaRPr lang="en-US" sz="1700" dirty="0"/>
          </a:p>
        </p:txBody>
      </p:sp>
      <p:sp>
        <p:nvSpPr>
          <p:cNvPr id="24" name="Shape 19"/>
          <p:cNvSpPr/>
          <p:nvPr/>
        </p:nvSpPr>
        <p:spPr>
          <a:xfrm>
            <a:off x="7351776" y="3017520"/>
            <a:ext cx="2103120" cy="2514600"/>
          </a:xfrm>
          <a:prstGeom prst="roundRect">
            <a:avLst>
              <a:gd name="adj" fmla="val 3478"/>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5" name="Shape 20"/>
          <p:cNvSpPr/>
          <p:nvPr/>
        </p:nvSpPr>
        <p:spPr>
          <a:xfrm>
            <a:off x="7580376" y="3246120"/>
            <a:ext cx="594360" cy="594360"/>
          </a:xfrm>
          <a:prstGeom prst="ellipse">
            <a:avLst/>
          </a:prstGeom>
          <a:solidFill>
            <a:srgbClr val="1482D6"/>
          </a:solidFill>
          <a:ln w="12700">
            <a:solidFill>
              <a:srgbClr val="1482D6"/>
            </a:solidFill>
            <a:prstDash val="solid"/>
          </a:ln>
        </p:spPr>
      </p:sp>
      <p:pic>
        <p:nvPicPr>
          <p:cNvPr id="26" name="Image 3" descr="preencoded.png">    </p:cNvPr>
          <p:cNvPicPr>
            <a:picLocks noChangeAspect="1"/>
          </p:cNvPicPr>
          <p:nvPr/>
        </p:nvPicPr>
        <p:blipFill>
          <a:blip r:embed="rId4"/>
          <a:stretch>
            <a:fillRect/>
          </a:stretch>
        </p:blipFill>
        <p:spPr>
          <a:xfrm>
            <a:off x="7728966" y="3394710"/>
            <a:ext cx="297180" cy="297180"/>
          </a:xfrm>
          <a:prstGeom prst="rect">
            <a:avLst/>
          </a:prstGeom>
        </p:spPr>
      </p:pic>
      <p:sp>
        <p:nvSpPr>
          <p:cNvPr id="27" name="Text 21"/>
          <p:cNvSpPr txBox="1"/>
          <p:nvPr/>
        </p:nvSpPr>
        <p:spPr>
          <a:xfrm>
            <a:off x="7580376" y="4023360"/>
            <a:ext cx="1691640" cy="1371600"/>
          </a:xfrm>
          <a:prstGeom prst="rect">
            <a:avLst/>
          </a:prstGeom>
          <a:noFill/>
          <a:ln/>
        </p:spPr>
        <p:txBody>
          <a:bodyPr wrap="square" lIns="0" tIns="0" rIns="0" bIns="0" rtlCol="0" anchor="t"/>
          <a:lstStyle/>
          <a:p>
            <a:pPr indent="0" marL="0">
              <a:buNone/>
            </a:pPr>
            <a:r>
              <a:rPr lang="en-US" sz="1400" dirty="0">
                <a:solidFill>
                  <a:schemeClr val="tx1"/>
                </a:solidFill>
              </a:rPr>
              <a:t>Role-based access with department and project context</a:t>
            </a:r>
            <a:endParaRPr lang="en-US" sz="1400" dirty="0"/>
          </a:p>
        </p:txBody>
      </p:sp>
      <p:sp>
        <p:nvSpPr>
          <p:cNvPr id="28" name="Shape 22"/>
          <p:cNvSpPr/>
          <p:nvPr/>
        </p:nvSpPr>
        <p:spPr>
          <a:xfrm>
            <a:off x="9619488" y="1783080"/>
            <a:ext cx="2194560" cy="914400"/>
          </a:xfrm>
          <a:prstGeom prst="chevron">
            <a:avLst/>
          </a:prstGeom>
          <a:solidFill>
            <a:schemeClr val="accent2"/>
          </a:solidFill>
          <a:ln w="12700">
            <a:solidFill>
              <a:schemeClr val="accent2"/>
            </a:solidFill>
            <a:prstDash val="solid"/>
          </a:ln>
        </p:spPr>
      </p:sp>
      <p:sp>
        <p:nvSpPr>
          <p:cNvPr id="29" name="Text 23"/>
          <p:cNvSpPr txBox="1"/>
          <p:nvPr/>
        </p:nvSpPr>
        <p:spPr>
          <a:xfrm>
            <a:off x="10076688" y="1783080"/>
            <a:ext cx="1600200" cy="914400"/>
          </a:xfrm>
          <a:prstGeom prst="rect">
            <a:avLst/>
          </a:prstGeom>
          <a:noFill/>
          <a:ln/>
        </p:spPr>
        <p:txBody>
          <a:bodyPr wrap="square" lIns="0" tIns="0" rIns="0" bIns="0" rtlCol="0" anchor="ctr"/>
          <a:lstStyle/>
          <a:p>
            <a:pPr indent="0" marL="0">
              <a:buNone/>
            </a:pPr>
            <a:r>
              <a:rPr lang="en-US" sz="1700" b="1" dirty="0">
                <a:solidFill>
                  <a:schemeClr val="bg1"/>
                </a:solidFill>
              </a:rPr>
              <a:t>05  Deliver</a:t>
            </a:r>
            <a:endParaRPr lang="en-US" sz="1700" dirty="0"/>
          </a:p>
        </p:txBody>
      </p:sp>
      <p:sp>
        <p:nvSpPr>
          <p:cNvPr id="30" name="Shape 24"/>
          <p:cNvSpPr/>
          <p:nvPr/>
        </p:nvSpPr>
        <p:spPr>
          <a:xfrm>
            <a:off x="9619488" y="3017520"/>
            <a:ext cx="2103120" cy="2514600"/>
          </a:xfrm>
          <a:prstGeom prst="roundRect">
            <a:avLst>
              <a:gd name="adj" fmla="val 3478"/>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1" name="Shape 25"/>
          <p:cNvSpPr/>
          <p:nvPr/>
        </p:nvSpPr>
        <p:spPr>
          <a:xfrm>
            <a:off x="9848088" y="3246120"/>
            <a:ext cx="594360" cy="594360"/>
          </a:xfrm>
          <a:prstGeom prst="ellipse">
            <a:avLst/>
          </a:prstGeom>
          <a:solidFill>
            <a:schemeClr val="accent2"/>
          </a:solidFill>
          <a:ln w="12700">
            <a:solidFill>
              <a:schemeClr val="accent2"/>
            </a:solidFill>
            <a:prstDash val="solid"/>
          </a:ln>
        </p:spPr>
      </p:sp>
      <p:pic>
        <p:nvPicPr>
          <p:cNvPr id="32" name="Image 4" descr="preencoded.png">    </p:cNvPr>
          <p:cNvPicPr>
            <a:picLocks noChangeAspect="1"/>
          </p:cNvPicPr>
          <p:nvPr/>
        </p:nvPicPr>
        <p:blipFill>
          <a:blip r:embed="rId5"/>
          <a:stretch>
            <a:fillRect/>
          </a:stretch>
        </p:blipFill>
        <p:spPr>
          <a:xfrm>
            <a:off x="9996678" y="3394710"/>
            <a:ext cx="297180" cy="297180"/>
          </a:xfrm>
          <a:prstGeom prst="rect">
            <a:avLst/>
          </a:prstGeom>
        </p:spPr>
      </p:pic>
      <p:sp>
        <p:nvSpPr>
          <p:cNvPr id="33" name="Text 26"/>
          <p:cNvSpPr txBox="1"/>
          <p:nvPr/>
        </p:nvSpPr>
        <p:spPr>
          <a:xfrm>
            <a:off x="9848088" y="4023360"/>
            <a:ext cx="1691640" cy="1371600"/>
          </a:xfrm>
          <a:prstGeom prst="rect">
            <a:avLst/>
          </a:prstGeom>
          <a:noFill/>
          <a:ln/>
        </p:spPr>
        <p:txBody>
          <a:bodyPr wrap="square" lIns="0" tIns="0" rIns="0" bIns="0" rtlCol="0" anchor="t"/>
          <a:lstStyle/>
          <a:p>
            <a:pPr indent="0" marL="0">
              <a:buNone/>
            </a:pPr>
            <a:r>
              <a:rPr lang="en-US" sz="1400" dirty="0">
                <a:solidFill>
                  <a:schemeClr val="tx1"/>
                </a:solidFill>
              </a:rPr>
              <a:t>Chat, search, recommendations, experts, graph, project views</a:t>
            </a:r>
            <a:endParaRPr lang="en-US" sz="1400" dirty="0"/>
          </a:p>
        </p:txBody>
      </p:sp>
      <p:sp>
        <p:nvSpPr>
          <p:cNvPr id="34" name="Text 27"/>
          <p:cNvSpPr txBox="1"/>
          <p:nvPr/>
        </p:nvSpPr>
        <p:spPr>
          <a:xfrm>
            <a:off x="548640" y="5760720"/>
            <a:ext cx="11091672" cy="320040"/>
          </a:xfrm>
          <a:prstGeom prst="rect">
            <a:avLst/>
          </a:prstGeom>
          <a:noFill/>
          <a:ln/>
        </p:spPr>
        <p:txBody>
          <a:bodyPr wrap="square" lIns="0" tIns="0" rIns="0" bIns="0" rtlCol="0" anchor="t"/>
          <a:lstStyle/>
          <a:p>
            <a:pPr indent="0" marL="0">
              <a:buNone/>
            </a:pPr>
            <a:r>
              <a:rPr lang="en-US" sz="1400" i="1" dirty="0">
                <a:solidFill>
                  <a:srgbClr val="64748B"/>
                </a:solidFill>
              </a:rPr>
              <a:t>Every stage is permission-aware: users only see knowledge they are entitled to see.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TIER 1  ·  KNOWLEDGE INTELLIGENCE CORE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Tier 1: The Core Knowledge Intelligence Platform</a:t>
            </a:r>
            <a:endParaRPr lang="en-US" sz="3000" dirty="0"/>
          </a:p>
        </p:txBody>
      </p:sp>
      <p:sp>
        <p:nvSpPr>
          <p:cNvPr id="4" name="Shape 2"/>
          <p:cNvSpPr/>
          <p:nvPr/>
        </p:nvSpPr>
        <p:spPr>
          <a:xfrm>
            <a:off x="4480560" y="2057400"/>
            <a:ext cx="1615288" cy="1737360"/>
          </a:xfrm>
          <a:prstGeom prst="line">
            <a:avLst/>
          </a:prstGeom>
          <a:noFill/>
          <a:ln w="15875">
            <a:solidFill>
              <a:srgbClr val="D5DCE6"/>
            </a:solidFill>
            <a:prstDash val="solid"/>
          </a:ln>
        </p:spPr>
      </p:sp>
      <p:sp>
        <p:nvSpPr>
          <p:cNvPr id="5" name="Shape 3"/>
          <p:cNvSpPr/>
          <p:nvPr/>
        </p:nvSpPr>
        <p:spPr>
          <a:xfrm>
            <a:off x="4480560" y="3108960"/>
            <a:ext cx="1615288" cy="685800"/>
          </a:xfrm>
          <a:prstGeom prst="line">
            <a:avLst/>
          </a:prstGeom>
          <a:noFill/>
          <a:ln w="15875">
            <a:solidFill>
              <a:srgbClr val="D5DCE6"/>
            </a:solidFill>
            <a:prstDash val="solid"/>
          </a:ln>
        </p:spPr>
      </p:sp>
      <p:sp>
        <p:nvSpPr>
          <p:cNvPr id="6" name="Shape 4"/>
          <p:cNvSpPr/>
          <p:nvPr/>
        </p:nvSpPr>
        <p:spPr>
          <a:xfrm flipV="1">
            <a:off x="4480560" y="3794760"/>
            <a:ext cx="1615288" cy="365760"/>
          </a:xfrm>
          <a:prstGeom prst="line">
            <a:avLst/>
          </a:prstGeom>
          <a:noFill/>
          <a:ln w="15875">
            <a:solidFill>
              <a:srgbClr val="D5DCE6"/>
            </a:solidFill>
            <a:prstDash val="solid"/>
          </a:ln>
        </p:spPr>
      </p:sp>
      <p:sp>
        <p:nvSpPr>
          <p:cNvPr id="7" name="Shape 5"/>
          <p:cNvSpPr/>
          <p:nvPr/>
        </p:nvSpPr>
        <p:spPr>
          <a:xfrm flipV="1">
            <a:off x="4480560" y="3794760"/>
            <a:ext cx="1615288" cy="1417320"/>
          </a:xfrm>
          <a:prstGeom prst="line">
            <a:avLst/>
          </a:prstGeom>
          <a:noFill/>
          <a:ln w="15875">
            <a:solidFill>
              <a:srgbClr val="D5DCE6"/>
            </a:solidFill>
            <a:prstDash val="solid"/>
          </a:ln>
        </p:spPr>
      </p:sp>
      <p:sp>
        <p:nvSpPr>
          <p:cNvPr id="8" name="Shape 6"/>
          <p:cNvSpPr/>
          <p:nvPr/>
        </p:nvSpPr>
        <p:spPr>
          <a:xfrm flipV="1">
            <a:off x="6095848" y="2057400"/>
            <a:ext cx="1612544" cy="1737360"/>
          </a:xfrm>
          <a:prstGeom prst="line">
            <a:avLst/>
          </a:prstGeom>
          <a:noFill/>
          <a:ln w="15875">
            <a:solidFill>
              <a:srgbClr val="D5DCE6"/>
            </a:solidFill>
            <a:prstDash val="solid"/>
          </a:ln>
        </p:spPr>
      </p:sp>
      <p:sp>
        <p:nvSpPr>
          <p:cNvPr id="9" name="Shape 7"/>
          <p:cNvSpPr/>
          <p:nvPr/>
        </p:nvSpPr>
        <p:spPr>
          <a:xfrm flipV="1">
            <a:off x="6095848" y="3108960"/>
            <a:ext cx="1612544" cy="685800"/>
          </a:xfrm>
          <a:prstGeom prst="line">
            <a:avLst/>
          </a:prstGeom>
          <a:noFill/>
          <a:ln w="15875">
            <a:solidFill>
              <a:srgbClr val="D5DCE6"/>
            </a:solidFill>
            <a:prstDash val="solid"/>
          </a:ln>
        </p:spPr>
      </p:sp>
      <p:sp>
        <p:nvSpPr>
          <p:cNvPr id="10" name="Shape 8"/>
          <p:cNvSpPr/>
          <p:nvPr/>
        </p:nvSpPr>
        <p:spPr>
          <a:xfrm>
            <a:off x="6095848" y="3794760"/>
            <a:ext cx="1612544" cy="365760"/>
          </a:xfrm>
          <a:prstGeom prst="line">
            <a:avLst/>
          </a:prstGeom>
          <a:noFill/>
          <a:ln w="15875">
            <a:solidFill>
              <a:srgbClr val="D5DCE6"/>
            </a:solidFill>
            <a:prstDash val="solid"/>
          </a:ln>
        </p:spPr>
      </p:sp>
      <p:sp>
        <p:nvSpPr>
          <p:cNvPr id="11" name="Shape 9"/>
          <p:cNvSpPr/>
          <p:nvPr/>
        </p:nvSpPr>
        <p:spPr>
          <a:xfrm>
            <a:off x="6095848" y="3794760"/>
            <a:ext cx="1612544" cy="1417320"/>
          </a:xfrm>
          <a:prstGeom prst="line">
            <a:avLst/>
          </a:prstGeom>
          <a:noFill/>
          <a:ln w="15875">
            <a:solidFill>
              <a:srgbClr val="D5DCE6"/>
            </a:solidFill>
            <a:prstDash val="solid"/>
          </a:ln>
        </p:spPr>
      </p:sp>
      <p:sp>
        <p:nvSpPr>
          <p:cNvPr id="12" name="Shape 10"/>
          <p:cNvSpPr/>
          <p:nvPr/>
        </p:nvSpPr>
        <p:spPr>
          <a:xfrm>
            <a:off x="4907128" y="2606040"/>
            <a:ext cx="2377440" cy="2377440"/>
          </a:xfrm>
          <a:prstGeom prst="ellipse">
            <a:avLst/>
          </a:prstGeom>
          <a:solidFill>
            <a:schemeClr val="tx2"/>
          </a:solidFill>
          <a:ln w="38100">
            <a:solidFill>
              <a:schemeClr val="accent2"/>
            </a:solidFill>
            <a:prstDash val="solid"/>
          </a:ln>
          <a:effectLst>
            <a:outerShdw sx="100000" sy="100000" kx="0" ky="0" algn="bl" rotWithShape="0" blurRad="127000" dist="25400" dir="5400000">
              <a:srgbClr val="0F172A">
                <a:alpha val="12000"/>
              </a:srgbClr>
            </a:outerShdw>
          </a:effectLst>
        </p:spPr>
      </p:sp>
      <p:sp>
        <p:nvSpPr>
          <p:cNvPr id="13" name="Text 11"/>
          <p:cNvSpPr txBox="1"/>
          <p:nvPr/>
        </p:nvSpPr>
        <p:spPr>
          <a:xfrm>
            <a:off x="5090008" y="3017520"/>
            <a:ext cx="2011680" cy="274320"/>
          </a:xfrm>
          <a:prstGeom prst="rect">
            <a:avLst/>
          </a:prstGeom>
          <a:noFill/>
          <a:ln/>
        </p:spPr>
        <p:txBody>
          <a:bodyPr wrap="square" lIns="0" tIns="0" rIns="0" bIns="0" rtlCol="0" anchor="t"/>
          <a:lstStyle/>
          <a:p>
            <a:pPr algn="ctr" indent="0" marL="0">
              <a:buNone/>
            </a:pPr>
            <a:r>
              <a:rPr lang="en-US" sz="1100" b="1" spc="300" kern="0" dirty="0">
                <a:solidFill>
                  <a:schemeClr val="accent2"/>
                </a:solidFill>
              </a:rPr>
              <a:t>TIER 1</a:t>
            </a:r>
            <a:endParaRPr lang="en-US" sz="1100" dirty="0"/>
          </a:p>
        </p:txBody>
      </p:sp>
      <p:sp>
        <p:nvSpPr>
          <p:cNvPr id="14" name="Text 12"/>
          <p:cNvSpPr txBox="1"/>
          <p:nvPr/>
        </p:nvSpPr>
        <p:spPr>
          <a:xfrm>
            <a:off x="5135728" y="3337560"/>
            <a:ext cx="1920240" cy="1097280"/>
          </a:xfrm>
          <a:prstGeom prst="rect">
            <a:avLst/>
          </a:prstGeom>
          <a:noFill/>
          <a:ln/>
        </p:spPr>
        <p:txBody>
          <a:bodyPr wrap="square" lIns="0" tIns="0" rIns="0" bIns="0" rtlCol="0" anchor="ctr"/>
          <a:lstStyle/>
          <a:p>
            <a:pPr algn="ctr" indent="0" marL="0">
              <a:buNone/>
            </a:pPr>
            <a:r>
              <a:rPr lang="en-US" sz="1900" b="1" dirty="0">
                <a:solidFill>
                  <a:schemeClr val="bg1"/>
                </a:solidFill>
              </a:rPr>
              <a:t>Ask anything about the enterprise.</a:t>
            </a:r>
            <a:endParaRPr lang="en-US" sz="1900" dirty="0"/>
          </a:p>
        </p:txBody>
      </p:sp>
      <p:sp>
        <p:nvSpPr>
          <p:cNvPr id="15" name="Shape 13"/>
          <p:cNvSpPr/>
          <p:nvPr/>
        </p:nvSpPr>
        <p:spPr>
          <a:xfrm>
            <a:off x="548640" y="160020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6" name="Shape 14"/>
          <p:cNvSpPr/>
          <p:nvPr/>
        </p:nvSpPr>
        <p:spPr>
          <a:xfrm>
            <a:off x="731520" y="1783080"/>
            <a:ext cx="548640" cy="548640"/>
          </a:xfrm>
          <a:prstGeom prst="ellipse">
            <a:avLst/>
          </a:prstGeom>
          <a:solidFill>
            <a:schemeClr val="accent1"/>
          </a:solidFill>
          <a:ln w="12700">
            <a:solidFill>
              <a:schemeClr val="accent1"/>
            </a:solidFill>
            <a:prstDash val="solid"/>
          </a:ln>
        </p:spPr>
      </p:sp>
      <p:pic>
        <p:nvPicPr>
          <p:cNvPr id="17" name="Image 0" descr="preencoded.png">    </p:cNvPr>
          <p:cNvPicPr>
            <a:picLocks noChangeAspect="1"/>
          </p:cNvPicPr>
          <p:nvPr/>
        </p:nvPicPr>
        <p:blipFill>
          <a:blip r:embed="rId1"/>
          <a:stretch>
            <a:fillRect/>
          </a:stretch>
        </p:blipFill>
        <p:spPr>
          <a:xfrm>
            <a:off x="868680" y="1920240"/>
            <a:ext cx="274320" cy="274320"/>
          </a:xfrm>
          <a:prstGeom prst="rect">
            <a:avLst/>
          </a:prstGeom>
        </p:spPr>
      </p:pic>
      <p:sp>
        <p:nvSpPr>
          <p:cNvPr id="18" name="Text 15"/>
          <p:cNvSpPr txBox="1"/>
          <p:nvPr/>
        </p:nvSpPr>
        <p:spPr>
          <a:xfrm>
            <a:off x="1444752" y="1755648"/>
            <a:ext cx="2926080" cy="292608"/>
          </a:xfrm>
          <a:prstGeom prst="rect">
            <a:avLst/>
          </a:prstGeom>
          <a:noFill/>
          <a:ln/>
        </p:spPr>
        <p:txBody>
          <a:bodyPr wrap="square" lIns="0" tIns="0" rIns="0" bIns="0" rtlCol="0" anchor="t"/>
          <a:lstStyle/>
          <a:p>
            <a:pPr indent="0" marL="0">
              <a:buNone/>
            </a:pPr>
            <a:r>
              <a:rPr lang="en-US" sz="1400" b="1" dirty="0">
                <a:solidFill>
                  <a:schemeClr val="tx1"/>
                </a:solidFill>
              </a:rPr>
              <a:t>Conversational Knowledge Assistant</a:t>
            </a:r>
            <a:endParaRPr lang="en-US" sz="1400" dirty="0"/>
          </a:p>
        </p:txBody>
      </p:sp>
      <p:sp>
        <p:nvSpPr>
          <p:cNvPr id="19" name="Text 16"/>
          <p:cNvSpPr txBox="1"/>
          <p:nvPr/>
        </p:nvSpPr>
        <p:spPr>
          <a:xfrm>
            <a:off x="1444752" y="2075688"/>
            <a:ext cx="2926080" cy="292608"/>
          </a:xfrm>
          <a:prstGeom prst="rect">
            <a:avLst/>
          </a:prstGeom>
          <a:noFill/>
          <a:ln/>
        </p:spPr>
        <p:txBody>
          <a:bodyPr wrap="square" lIns="0" tIns="0" rIns="0" bIns="0" rtlCol="0" anchor="t"/>
          <a:lstStyle/>
          <a:p>
            <a:pPr indent="0" marL="0">
              <a:buNone/>
            </a:pPr>
            <a:r>
              <a:rPr lang="en-US" sz="1200" dirty="0">
                <a:solidFill>
                  <a:srgbClr val="64748B"/>
                </a:solidFill>
              </a:rPr>
              <a:t>Ask questions, get cited answers</a:t>
            </a:r>
            <a:endParaRPr lang="en-US" sz="1200" dirty="0"/>
          </a:p>
        </p:txBody>
      </p:sp>
      <p:sp>
        <p:nvSpPr>
          <p:cNvPr id="20" name="Shape 17"/>
          <p:cNvSpPr/>
          <p:nvPr/>
        </p:nvSpPr>
        <p:spPr>
          <a:xfrm>
            <a:off x="548640" y="265176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1" name="Shape 18"/>
          <p:cNvSpPr/>
          <p:nvPr/>
        </p:nvSpPr>
        <p:spPr>
          <a:xfrm>
            <a:off x="731520" y="2834640"/>
            <a:ext cx="548640" cy="548640"/>
          </a:xfrm>
          <a:prstGeom prst="ellipse">
            <a:avLst/>
          </a:prstGeom>
          <a:solidFill>
            <a:schemeClr val="accent2"/>
          </a:solidFill>
          <a:ln w="12700">
            <a:solidFill>
              <a:schemeClr val="accent2"/>
            </a:solidFill>
            <a:prstDash val="solid"/>
          </a:ln>
        </p:spPr>
      </p:sp>
      <p:pic>
        <p:nvPicPr>
          <p:cNvPr id="22" name="Image 1" descr="preencoded.png">    </p:cNvPr>
          <p:cNvPicPr>
            <a:picLocks noChangeAspect="1"/>
          </p:cNvPicPr>
          <p:nvPr/>
        </p:nvPicPr>
        <p:blipFill>
          <a:blip r:embed="rId2"/>
          <a:stretch>
            <a:fillRect/>
          </a:stretch>
        </p:blipFill>
        <p:spPr>
          <a:xfrm>
            <a:off x="868680" y="2971800"/>
            <a:ext cx="274320" cy="274320"/>
          </a:xfrm>
          <a:prstGeom prst="rect">
            <a:avLst/>
          </a:prstGeom>
        </p:spPr>
      </p:pic>
      <p:sp>
        <p:nvSpPr>
          <p:cNvPr id="23" name="Text 19"/>
          <p:cNvSpPr txBox="1"/>
          <p:nvPr/>
        </p:nvSpPr>
        <p:spPr>
          <a:xfrm>
            <a:off x="1444752" y="2807208"/>
            <a:ext cx="2926080" cy="292608"/>
          </a:xfrm>
          <a:prstGeom prst="rect">
            <a:avLst/>
          </a:prstGeom>
          <a:noFill/>
          <a:ln/>
        </p:spPr>
        <p:txBody>
          <a:bodyPr wrap="square" lIns="0" tIns="0" rIns="0" bIns="0" rtlCol="0" anchor="t"/>
          <a:lstStyle/>
          <a:p>
            <a:pPr indent="0" marL="0">
              <a:buNone/>
            </a:pPr>
            <a:r>
              <a:rPr lang="en-US" sz="1400" b="1" dirty="0">
                <a:solidFill>
                  <a:schemeClr val="tx1"/>
                </a:solidFill>
              </a:rPr>
              <a:t>Semantic Knowledge Retrieval</a:t>
            </a:r>
            <a:endParaRPr lang="en-US" sz="1400" dirty="0"/>
          </a:p>
        </p:txBody>
      </p:sp>
      <p:sp>
        <p:nvSpPr>
          <p:cNvPr id="24" name="Text 20"/>
          <p:cNvSpPr txBox="1"/>
          <p:nvPr/>
        </p:nvSpPr>
        <p:spPr>
          <a:xfrm>
            <a:off x="1444752" y="3127248"/>
            <a:ext cx="2926080" cy="292608"/>
          </a:xfrm>
          <a:prstGeom prst="rect">
            <a:avLst/>
          </a:prstGeom>
          <a:noFill/>
          <a:ln/>
        </p:spPr>
        <p:txBody>
          <a:bodyPr wrap="square" lIns="0" tIns="0" rIns="0" bIns="0" rtlCol="0" anchor="t"/>
          <a:lstStyle/>
          <a:p>
            <a:pPr indent="0" marL="0">
              <a:buNone/>
            </a:pPr>
            <a:r>
              <a:rPr lang="en-US" sz="1200" dirty="0">
                <a:solidFill>
                  <a:srgbClr val="64748B"/>
                </a:solidFill>
              </a:rPr>
              <a:t>Find meaning, not just keywords</a:t>
            </a:r>
            <a:endParaRPr lang="en-US" sz="1200" dirty="0"/>
          </a:p>
        </p:txBody>
      </p:sp>
      <p:sp>
        <p:nvSpPr>
          <p:cNvPr id="25" name="Shape 21"/>
          <p:cNvSpPr/>
          <p:nvPr/>
        </p:nvSpPr>
        <p:spPr>
          <a:xfrm>
            <a:off x="548640" y="370332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6" name="Shape 22"/>
          <p:cNvSpPr/>
          <p:nvPr/>
        </p:nvSpPr>
        <p:spPr>
          <a:xfrm>
            <a:off x="731520" y="3886200"/>
            <a:ext cx="548640" cy="548640"/>
          </a:xfrm>
          <a:prstGeom prst="ellipse">
            <a:avLst/>
          </a:prstGeom>
          <a:solidFill>
            <a:schemeClr val="accent1"/>
          </a:solidFill>
          <a:ln w="12700">
            <a:solidFill>
              <a:schemeClr val="accent1"/>
            </a:solidFill>
            <a:prstDash val="solid"/>
          </a:ln>
        </p:spPr>
      </p:sp>
      <p:pic>
        <p:nvPicPr>
          <p:cNvPr id="27" name="Image 2" descr="preencoded.png">    </p:cNvPr>
          <p:cNvPicPr>
            <a:picLocks noChangeAspect="1"/>
          </p:cNvPicPr>
          <p:nvPr/>
        </p:nvPicPr>
        <p:blipFill>
          <a:blip r:embed="rId3"/>
          <a:stretch>
            <a:fillRect/>
          </a:stretch>
        </p:blipFill>
        <p:spPr>
          <a:xfrm>
            <a:off x="868680" y="4023360"/>
            <a:ext cx="274320" cy="274320"/>
          </a:xfrm>
          <a:prstGeom prst="rect">
            <a:avLst/>
          </a:prstGeom>
        </p:spPr>
      </p:pic>
      <p:sp>
        <p:nvSpPr>
          <p:cNvPr id="28" name="Text 23"/>
          <p:cNvSpPr txBox="1"/>
          <p:nvPr/>
        </p:nvSpPr>
        <p:spPr>
          <a:xfrm>
            <a:off x="1444752" y="3858768"/>
            <a:ext cx="2926080" cy="292608"/>
          </a:xfrm>
          <a:prstGeom prst="rect">
            <a:avLst/>
          </a:prstGeom>
          <a:noFill/>
          <a:ln/>
        </p:spPr>
        <p:txBody>
          <a:bodyPr wrap="square" lIns="0" tIns="0" rIns="0" bIns="0" rtlCol="0" anchor="t"/>
          <a:lstStyle/>
          <a:p>
            <a:pPr indent="0" marL="0">
              <a:buNone/>
            </a:pPr>
            <a:r>
              <a:rPr lang="en-US" sz="1400" b="1" dirty="0">
                <a:solidFill>
                  <a:schemeClr val="tx1"/>
                </a:solidFill>
              </a:rPr>
              <a:t>Automated Ingestion Pipeline</a:t>
            </a:r>
            <a:endParaRPr lang="en-US" sz="1400" dirty="0"/>
          </a:p>
        </p:txBody>
      </p:sp>
      <p:sp>
        <p:nvSpPr>
          <p:cNvPr id="29" name="Text 24"/>
          <p:cNvSpPr txBox="1"/>
          <p:nvPr/>
        </p:nvSpPr>
        <p:spPr>
          <a:xfrm>
            <a:off x="1444752" y="4178808"/>
            <a:ext cx="2926080" cy="292608"/>
          </a:xfrm>
          <a:prstGeom prst="rect">
            <a:avLst/>
          </a:prstGeom>
          <a:noFill/>
          <a:ln/>
        </p:spPr>
        <p:txBody>
          <a:bodyPr wrap="square" lIns="0" tIns="0" rIns="0" bIns="0" rtlCol="0" anchor="t"/>
          <a:lstStyle/>
          <a:p>
            <a:pPr indent="0" marL="0">
              <a:buNone/>
            </a:pPr>
            <a:r>
              <a:rPr lang="en-US" sz="1200" dirty="0">
                <a:solidFill>
                  <a:srgbClr val="64748B"/>
                </a:solidFill>
              </a:rPr>
              <a:t>Content flows in and is processed</a:t>
            </a:r>
            <a:endParaRPr lang="en-US" sz="1200" dirty="0"/>
          </a:p>
        </p:txBody>
      </p:sp>
      <p:sp>
        <p:nvSpPr>
          <p:cNvPr id="30" name="Shape 25"/>
          <p:cNvSpPr/>
          <p:nvPr/>
        </p:nvSpPr>
        <p:spPr>
          <a:xfrm>
            <a:off x="548640" y="475488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1" name="Shape 26"/>
          <p:cNvSpPr/>
          <p:nvPr/>
        </p:nvSpPr>
        <p:spPr>
          <a:xfrm>
            <a:off x="731520" y="4937760"/>
            <a:ext cx="548640" cy="548640"/>
          </a:xfrm>
          <a:prstGeom prst="ellipse">
            <a:avLst/>
          </a:prstGeom>
          <a:solidFill>
            <a:schemeClr val="accent2"/>
          </a:solidFill>
          <a:ln w="12700">
            <a:solidFill>
              <a:schemeClr val="accent2"/>
            </a:solidFill>
            <a:prstDash val="solid"/>
          </a:ln>
        </p:spPr>
      </p:sp>
      <p:pic>
        <p:nvPicPr>
          <p:cNvPr id="32" name="Image 3" descr="preencoded.png">    </p:cNvPr>
          <p:cNvPicPr>
            <a:picLocks noChangeAspect="1"/>
          </p:cNvPicPr>
          <p:nvPr/>
        </p:nvPicPr>
        <p:blipFill>
          <a:blip r:embed="rId4"/>
          <a:stretch>
            <a:fillRect/>
          </a:stretch>
        </p:blipFill>
        <p:spPr>
          <a:xfrm>
            <a:off x="868680" y="5074920"/>
            <a:ext cx="274320" cy="274320"/>
          </a:xfrm>
          <a:prstGeom prst="rect">
            <a:avLst/>
          </a:prstGeom>
        </p:spPr>
      </p:pic>
      <p:sp>
        <p:nvSpPr>
          <p:cNvPr id="33" name="Text 27"/>
          <p:cNvSpPr txBox="1"/>
          <p:nvPr/>
        </p:nvSpPr>
        <p:spPr>
          <a:xfrm>
            <a:off x="1444752" y="4910328"/>
            <a:ext cx="2926080" cy="292608"/>
          </a:xfrm>
          <a:prstGeom prst="rect">
            <a:avLst/>
          </a:prstGeom>
          <a:noFill/>
          <a:ln/>
        </p:spPr>
        <p:txBody>
          <a:bodyPr wrap="square" lIns="0" tIns="0" rIns="0" bIns="0" rtlCol="0" anchor="t"/>
          <a:lstStyle/>
          <a:p>
            <a:pPr indent="0" marL="0">
              <a:buNone/>
            </a:pPr>
            <a:r>
              <a:rPr lang="en-US" sz="1400" b="1" dirty="0">
                <a:solidFill>
                  <a:schemeClr val="tx1"/>
                </a:solidFill>
              </a:rPr>
              <a:t>Automatic Classification</a:t>
            </a:r>
            <a:endParaRPr lang="en-US" sz="1400" dirty="0"/>
          </a:p>
        </p:txBody>
      </p:sp>
      <p:sp>
        <p:nvSpPr>
          <p:cNvPr id="34" name="Text 28"/>
          <p:cNvSpPr txBox="1"/>
          <p:nvPr/>
        </p:nvSpPr>
        <p:spPr>
          <a:xfrm>
            <a:off x="1444752" y="5230368"/>
            <a:ext cx="2926080" cy="292608"/>
          </a:xfrm>
          <a:prstGeom prst="rect">
            <a:avLst/>
          </a:prstGeom>
          <a:noFill/>
          <a:ln/>
        </p:spPr>
        <p:txBody>
          <a:bodyPr wrap="square" lIns="0" tIns="0" rIns="0" bIns="0" rtlCol="0" anchor="t"/>
          <a:lstStyle/>
          <a:p>
            <a:pPr indent="0" marL="0">
              <a:buNone/>
            </a:pPr>
            <a:r>
              <a:rPr lang="en-US" sz="1200" dirty="0">
                <a:solidFill>
                  <a:srgbClr val="64748B"/>
                </a:solidFill>
              </a:rPr>
              <a:t>Documents organize themselves</a:t>
            </a:r>
            <a:endParaRPr lang="en-US" sz="1200" dirty="0"/>
          </a:p>
        </p:txBody>
      </p:sp>
      <p:sp>
        <p:nvSpPr>
          <p:cNvPr id="35" name="Shape 29"/>
          <p:cNvSpPr/>
          <p:nvPr/>
        </p:nvSpPr>
        <p:spPr>
          <a:xfrm>
            <a:off x="7708392" y="160020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6" name="Shape 30"/>
          <p:cNvSpPr/>
          <p:nvPr/>
        </p:nvSpPr>
        <p:spPr>
          <a:xfrm>
            <a:off x="7891272" y="1783080"/>
            <a:ext cx="548640" cy="548640"/>
          </a:xfrm>
          <a:prstGeom prst="ellipse">
            <a:avLst/>
          </a:prstGeom>
          <a:solidFill>
            <a:schemeClr val="accent1"/>
          </a:solidFill>
          <a:ln w="12700">
            <a:solidFill>
              <a:schemeClr val="accent1"/>
            </a:solidFill>
            <a:prstDash val="solid"/>
          </a:ln>
        </p:spPr>
      </p:sp>
      <p:pic>
        <p:nvPicPr>
          <p:cNvPr id="37" name="Image 4" descr="preencoded.png">    </p:cNvPr>
          <p:cNvPicPr>
            <a:picLocks noChangeAspect="1"/>
          </p:cNvPicPr>
          <p:nvPr/>
        </p:nvPicPr>
        <p:blipFill>
          <a:blip r:embed="rId5"/>
          <a:stretch>
            <a:fillRect/>
          </a:stretch>
        </p:blipFill>
        <p:spPr>
          <a:xfrm>
            <a:off x="8028432" y="1920240"/>
            <a:ext cx="274320" cy="274320"/>
          </a:xfrm>
          <a:prstGeom prst="rect">
            <a:avLst/>
          </a:prstGeom>
        </p:spPr>
      </p:pic>
      <p:sp>
        <p:nvSpPr>
          <p:cNvPr id="38" name="Text 31"/>
          <p:cNvSpPr txBox="1"/>
          <p:nvPr/>
        </p:nvSpPr>
        <p:spPr>
          <a:xfrm>
            <a:off x="8604504" y="1755648"/>
            <a:ext cx="2926080" cy="292608"/>
          </a:xfrm>
          <a:prstGeom prst="rect">
            <a:avLst/>
          </a:prstGeom>
          <a:noFill/>
          <a:ln/>
        </p:spPr>
        <p:txBody>
          <a:bodyPr wrap="square" lIns="0" tIns="0" rIns="0" bIns="0" rtlCol="0" anchor="t"/>
          <a:lstStyle/>
          <a:p>
            <a:pPr indent="0" marL="0">
              <a:buNone/>
            </a:pPr>
            <a:r>
              <a:rPr lang="en-US" sz="1400" b="1" dirty="0">
                <a:solidFill>
                  <a:schemeClr val="tx1"/>
                </a:solidFill>
              </a:rPr>
              <a:t>Cross-Document Reasoning</a:t>
            </a:r>
            <a:endParaRPr lang="en-US" sz="1400" dirty="0"/>
          </a:p>
        </p:txBody>
      </p:sp>
      <p:sp>
        <p:nvSpPr>
          <p:cNvPr id="39" name="Text 32"/>
          <p:cNvSpPr txBox="1"/>
          <p:nvPr/>
        </p:nvSpPr>
        <p:spPr>
          <a:xfrm>
            <a:off x="8604504" y="2075688"/>
            <a:ext cx="2926080" cy="292608"/>
          </a:xfrm>
          <a:prstGeom prst="rect">
            <a:avLst/>
          </a:prstGeom>
          <a:noFill/>
          <a:ln/>
        </p:spPr>
        <p:txBody>
          <a:bodyPr wrap="square" lIns="0" tIns="0" rIns="0" bIns="0" rtlCol="0" anchor="t"/>
          <a:lstStyle/>
          <a:p>
            <a:pPr indent="0" marL="0">
              <a:buNone/>
            </a:pPr>
            <a:r>
              <a:rPr lang="en-US" sz="1200" dirty="0">
                <a:solidFill>
                  <a:srgbClr val="64748B"/>
                </a:solidFill>
              </a:rPr>
              <a:t>Answers that span many sources</a:t>
            </a:r>
            <a:endParaRPr lang="en-US" sz="1200" dirty="0"/>
          </a:p>
        </p:txBody>
      </p:sp>
      <p:sp>
        <p:nvSpPr>
          <p:cNvPr id="40" name="Shape 33"/>
          <p:cNvSpPr/>
          <p:nvPr/>
        </p:nvSpPr>
        <p:spPr>
          <a:xfrm>
            <a:off x="7708392" y="265176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1" name="Shape 34"/>
          <p:cNvSpPr/>
          <p:nvPr/>
        </p:nvSpPr>
        <p:spPr>
          <a:xfrm>
            <a:off x="7891272" y="2834640"/>
            <a:ext cx="548640" cy="548640"/>
          </a:xfrm>
          <a:prstGeom prst="ellipse">
            <a:avLst/>
          </a:prstGeom>
          <a:solidFill>
            <a:schemeClr val="accent2"/>
          </a:solidFill>
          <a:ln w="12700">
            <a:solidFill>
              <a:schemeClr val="accent2"/>
            </a:solidFill>
            <a:prstDash val="solid"/>
          </a:ln>
        </p:spPr>
      </p:sp>
      <p:pic>
        <p:nvPicPr>
          <p:cNvPr id="42" name="Image 5" descr="preencoded.png">    </p:cNvPr>
          <p:cNvPicPr>
            <a:picLocks noChangeAspect="1"/>
          </p:cNvPicPr>
          <p:nvPr/>
        </p:nvPicPr>
        <p:blipFill>
          <a:blip r:embed="rId6"/>
          <a:stretch>
            <a:fillRect/>
          </a:stretch>
        </p:blipFill>
        <p:spPr>
          <a:xfrm>
            <a:off x="8028432" y="2971800"/>
            <a:ext cx="274320" cy="274320"/>
          </a:xfrm>
          <a:prstGeom prst="rect">
            <a:avLst/>
          </a:prstGeom>
        </p:spPr>
      </p:pic>
      <p:sp>
        <p:nvSpPr>
          <p:cNvPr id="43" name="Text 35"/>
          <p:cNvSpPr txBox="1"/>
          <p:nvPr/>
        </p:nvSpPr>
        <p:spPr>
          <a:xfrm>
            <a:off x="8604504" y="2807208"/>
            <a:ext cx="2926080" cy="292608"/>
          </a:xfrm>
          <a:prstGeom prst="rect">
            <a:avLst/>
          </a:prstGeom>
          <a:noFill/>
          <a:ln/>
        </p:spPr>
        <p:txBody>
          <a:bodyPr wrap="square" lIns="0" tIns="0" rIns="0" bIns="0" rtlCol="0" anchor="t"/>
          <a:lstStyle/>
          <a:p>
            <a:pPr indent="0" marL="0">
              <a:buNone/>
            </a:pPr>
            <a:r>
              <a:rPr lang="en-US" sz="1400" b="1" dirty="0">
                <a:solidFill>
                  <a:schemeClr val="tx1"/>
                </a:solidFill>
              </a:rPr>
              <a:t>Knowledge Summarization</a:t>
            </a:r>
            <a:endParaRPr lang="en-US" sz="1400" dirty="0"/>
          </a:p>
        </p:txBody>
      </p:sp>
      <p:sp>
        <p:nvSpPr>
          <p:cNvPr id="44" name="Text 36"/>
          <p:cNvSpPr txBox="1"/>
          <p:nvPr/>
        </p:nvSpPr>
        <p:spPr>
          <a:xfrm>
            <a:off x="8604504" y="3127248"/>
            <a:ext cx="2926080" cy="292608"/>
          </a:xfrm>
          <a:prstGeom prst="rect">
            <a:avLst/>
          </a:prstGeom>
          <a:noFill/>
          <a:ln/>
        </p:spPr>
        <p:txBody>
          <a:bodyPr wrap="square" lIns="0" tIns="0" rIns="0" bIns="0" rtlCol="0" anchor="t"/>
          <a:lstStyle/>
          <a:p>
            <a:pPr indent="0" marL="0">
              <a:buNone/>
            </a:pPr>
            <a:r>
              <a:rPr lang="en-US" sz="1200" dirty="0">
                <a:solidFill>
                  <a:srgbClr val="64748B"/>
                </a:solidFill>
              </a:rPr>
              <a:t>Grasp long documents in seconds</a:t>
            </a:r>
            <a:endParaRPr lang="en-US" sz="1200" dirty="0"/>
          </a:p>
        </p:txBody>
      </p:sp>
      <p:sp>
        <p:nvSpPr>
          <p:cNvPr id="45" name="Shape 37"/>
          <p:cNvSpPr/>
          <p:nvPr/>
        </p:nvSpPr>
        <p:spPr>
          <a:xfrm>
            <a:off x="7708392" y="370332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6" name="Shape 38"/>
          <p:cNvSpPr/>
          <p:nvPr/>
        </p:nvSpPr>
        <p:spPr>
          <a:xfrm>
            <a:off x="7891272" y="3886200"/>
            <a:ext cx="548640" cy="548640"/>
          </a:xfrm>
          <a:prstGeom prst="ellipse">
            <a:avLst/>
          </a:prstGeom>
          <a:solidFill>
            <a:schemeClr val="accent1"/>
          </a:solidFill>
          <a:ln w="12700">
            <a:solidFill>
              <a:schemeClr val="accent1"/>
            </a:solidFill>
            <a:prstDash val="solid"/>
          </a:ln>
        </p:spPr>
      </p:sp>
      <p:pic>
        <p:nvPicPr>
          <p:cNvPr id="47" name="Image 6" descr="preencoded.png">    </p:cNvPr>
          <p:cNvPicPr>
            <a:picLocks noChangeAspect="1"/>
          </p:cNvPicPr>
          <p:nvPr/>
        </p:nvPicPr>
        <p:blipFill>
          <a:blip r:embed="rId7"/>
          <a:stretch>
            <a:fillRect/>
          </a:stretch>
        </p:blipFill>
        <p:spPr>
          <a:xfrm>
            <a:off x="8028432" y="4023360"/>
            <a:ext cx="274320" cy="274320"/>
          </a:xfrm>
          <a:prstGeom prst="rect">
            <a:avLst/>
          </a:prstGeom>
        </p:spPr>
      </p:pic>
      <p:sp>
        <p:nvSpPr>
          <p:cNvPr id="48" name="Text 39"/>
          <p:cNvSpPr txBox="1"/>
          <p:nvPr/>
        </p:nvSpPr>
        <p:spPr>
          <a:xfrm>
            <a:off x="8604504" y="3858768"/>
            <a:ext cx="2926080" cy="292608"/>
          </a:xfrm>
          <a:prstGeom prst="rect">
            <a:avLst/>
          </a:prstGeom>
          <a:noFill/>
          <a:ln/>
        </p:spPr>
        <p:txBody>
          <a:bodyPr wrap="square" lIns="0" tIns="0" rIns="0" bIns="0" rtlCol="0" anchor="t"/>
          <a:lstStyle/>
          <a:p>
            <a:pPr indent="0" marL="0">
              <a:buNone/>
            </a:pPr>
            <a:r>
              <a:rPr lang="en-US" sz="1400" b="1" dirty="0">
                <a:solidFill>
                  <a:schemeClr val="tx1"/>
                </a:solidFill>
              </a:rPr>
              <a:t>Enterprise Knowledge Repository</a:t>
            </a:r>
            <a:endParaRPr lang="en-US" sz="1400" dirty="0"/>
          </a:p>
        </p:txBody>
      </p:sp>
      <p:sp>
        <p:nvSpPr>
          <p:cNvPr id="49" name="Text 40"/>
          <p:cNvSpPr txBox="1"/>
          <p:nvPr/>
        </p:nvSpPr>
        <p:spPr>
          <a:xfrm>
            <a:off x="8604504" y="4178808"/>
            <a:ext cx="2926080" cy="292608"/>
          </a:xfrm>
          <a:prstGeom prst="rect">
            <a:avLst/>
          </a:prstGeom>
          <a:noFill/>
          <a:ln/>
        </p:spPr>
        <p:txBody>
          <a:bodyPr wrap="square" lIns="0" tIns="0" rIns="0" bIns="0" rtlCol="0" anchor="t"/>
          <a:lstStyle/>
          <a:p>
            <a:pPr indent="0" marL="0">
              <a:buNone/>
            </a:pPr>
            <a:r>
              <a:rPr lang="en-US" sz="1200" dirty="0">
                <a:solidFill>
                  <a:srgbClr val="64748B"/>
                </a:solidFill>
              </a:rPr>
              <a:t>Secure, centralized memory</a:t>
            </a:r>
            <a:endParaRPr lang="en-US" sz="1200" dirty="0"/>
          </a:p>
        </p:txBody>
      </p:sp>
      <p:sp>
        <p:nvSpPr>
          <p:cNvPr id="50" name="Shape 41"/>
          <p:cNvSpPr/>
          <p:nvPr/>
        </p:nvSpPr>
        <p:spPr>
          <a:xfrm>
            <a:off x="7708392" y="4754880"/>
            <a:ext cx="3931920"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1" name="Shape 42"/>
          <p:cNvSpPr/>
          <p:nvPr/>
        </p:nvSpPr>
        <p:spPr>
          <a:xfrm>
            <a:off x="7891272" y="4937760"/>
            <a:ext cx="548640" cy="548640"/>
          </a:xfrm>
          <a:prstGeom prst="ellipse">
            <a:avLst/>
          </a:prstGeom>
          <a:solidFill>
            <a:schemeClr val="accent2"/>
          </a:solidFill>
          <a:ln w="12700">
            <a:solidFill>
              <a:schemeClr val="accent2"/>
            </a:solidFill>
            <a:prstDash val="solid"/>
          </a:ln>
        </p:spPr>
      </p:sp>
      <p:pic>
        <p:nvPicPr>
          <p:cNvPr id="52" name="Image 7" descr="preencoded.png">    </p:cNvPr>
          <p:cNvPicPr>
            <a:picLocks noChangeAspect="1"/>
          </p:cNvPicPr>
          <p:nvPr/>
        </p:nvPicPr>
        <p:blipFill>
          <a:blip r:embed="rId8"/>
          <a:stretch>
            <a:fillRect/>
          </a:stretch>
        </p:blipFill>
        <p:spPr>
          <a:xfrm>
            <a:off x="8028432" y="5074920"/>
            <a:ext cx="274320" cy="274320"/>
          </a:xfrm>
          <a:prstGeom prst="rect">
            <a:avLst/>
          </a:prstGeom>
        </p:spPr>
      </p:pic>
      <p:sp>
        <p:nvSpPr>
          <p:cNvPr id="53" name="Text 43"/>
          <p:cNvSpPr txBox="1"/>
          <p:nvPr/>
        </p:nvSpPr>
        <p:spPr>
          <a:xfrm>
            <a:off x="8604504" y="4910328"/>
            <a:ext cx="2926080" cy="292608"/>
          </a:xfrm>
          <a:prstGeom prst="rect">
            <a:avLst/>
          </a:prstGeom>
          <a:noFill/>
          <a:ln/>
        </p:spPr>
        <p:txBody>
          <a:bodyPr wrap="square" lIns="0" tIns="0" rIns="0" bIns="0" rtlCol="0" anchor="t"/>
          <a:lstStyle/>
          <a:p>
            <a:pPr indent="0" marL="0">
              <a:buNone/>
            </a:pPr>
            <a:r>
              <a:rPr lang="en-US" sz="1400" b="1" dirty="0">
                <a:solidFill>
                  <a:schemeClr val="tx1"/>
                </a:solidFill>
              </a:rPr>
              <a:t>Knowledge Context Engine</a:t>
            </a:r>
            <a:endParaRPr lang="en-US" sz="1400" dirty="0"/>
          </a:p>
        </p:txBody>
      </p:sp>
      <p:sp>
        <p:nvSpPr>
          <p:cNvPr id="54" name="Text 44"/>
          <p:cNvSpPr txBox="1"/>
          <p:nvPr/>
        </p:nvSpPr>
        <p:spPr>
          <a:xfrm>
            <a:off x="8604504" y="5230368"/>
            <a:ext cx="2926080" cy="292608"/>
          </a:xfrm>
          <a:prstGeom prst="rect">
            <a:avLst/>
          </a:prstGeom>
          <a:noFill/>
          <a:ln/>
        </p:spPr>
        <p:txBody>
          <a:bodyPr wrap="square" lIns="0" tIns="0" rIns="0" bIns="0" rtlCol="0" anchor="t"/>
          <a:lstStyle/>
          <a:p>
            <a:pPr indent="0" marL="0">
              <a:buNone/>
            </a:pPr>
            <a:r>
              <a:rPr lang="en-US" sz="1200" dirty="0">
                <a:solidFill>
                  <a:srgbClr val="64748B"/>
                </a:solidFill>
              </a:rPr>
              <a:t>Understands how knowledge relates</a:t>
            </a:r>
            <a:endParaRPr lang="en-US" sz="1200" dirty="0"/>
          </a:p>
        </p:txBody>
      </p:sp>
      <p:sp>
        <p:nvSpPr>
          <p:cNvPr id="55" name="Text 45"/>
          <p:cNvSpPr txBox="1"/>
          <p:nvPr/>
        </p:nvSpPr>
        <p:spPr>
          <a:xfrm>
            <a:off x="548640" y="5852160"/>
            <a:ext cx="11091672" cy="320040"/>
          </a:xfrm>
          <a:prstGeom prst="rect">
            <a:avLst/>
          </a:prstGeom>
          <a:noFill/>
          <a:ln/>
        </p:spPr>
        <p:txBody>
          <a:bodyPr wrap="square" lIns="0" tIns="0" rIns="0" bIns="0" rtlCol="0" anchor="t"/>
          <a:lstStyle/>
          <a:p>
            <a:pPr algn="ctr" indent="0" marL="0">
              <a:buNone/>
            </a:pPr>
            <a:r>
              <a:rPr lang="en-US" sz="1400" i="1" dirty="0">
                <a:solidFill>
                  <a:srgbClr val="64748B"/>
                </a:solidFill>
              </a:rPr>
              <a:t>Grounded answers, citations, summaries and related context across the enterprise.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124444" y="1984248"/>
            <a:ext cx="1476756" cy="1399032"/>
          </a:xfrm>
          <a:prstGeom prst="line">
            <a:avLst/>
          </a:prstGeom>
          <a:noFill/>
          <a:ln w="12700">
            <a:solidFill>
              <a:srgbClr val="2E6FD8">
                <a:alpha val="10000"/>
              </a:srgbClr>
            </a:solidFill>
            <a:prstDash val="solid"/>
          </a:ln>
        </p:spPr>
      </p:sp>
      <p:sp>
        <p:nvSpPr>
          <p:cNvPr id="3" name="Shape 1"/>
          <p:cNvSpPr/>
          <p:nvPr/>
        </p:nvSpPr>
        <p:spPr>
          <a:xfrm flipV="1">
            <a:off x="9601200" y="1673352"/>
            <a:ext cx="1399032" cy="1709928"/>
          </a:xfrm>
          <a:prstGeom prst="line">
            <a:avLst/>
          </a:prstGeom>
          <a:noFill/>
          <a:ln w="12700">
            <a:solidFill>
              <a:srgbClr val="2E6FD8">
                <a:alpha val="10000"/>
              </a:srgbClr>
            </a:solidFill>
            <a:prstDash val="solid"/>
          </a:ln>
        </p:spPr>
      </p:sp>
      <p:sp>
        <p:nvSpPr>
          <p:cNvPr id="4" name="Shape 2"/>
          <p:cNvSpPr/>
          <p:nvPr/>
        </p:nvSpPr>
        <p:spPr>
          <a:xfrm>
            <a:off x="9601200" y="3383280"/>
            <a:ext cx="1671066" cy="466344"/>
          </a:xfrm>
          <a:prstGeom prst="line">
            <a:avLst/>
          </a:prstGeom>
          <a:noFill/>
          <a:ln w="12700">
            <a:solidFill>
              <a:srgbClr val="2E6FD8">
                <a:alpha val="10000"/>
              </a:srgbClr>
            </a:solidFill>
            <a:prstDash val="solid"/>
          </a:ln>
        </p:spPr>
      </p:sp>
      <p:sp>
        <p:nvSpPr>
          <p:cNvPr id="5" name="Shape 3"/>
          <p:cNvSpPr/>
          <p:nvPr/>
        </p:nvSpPr>
        <p:spPr>
          <a:xfrm>
            <a:off x="9601200" y="3383280"/>
            <a:ext cx="777240" cy="1865376"/>
          </a:xfrm>
          <a:prstGeom prst="line">
            <a:avLst/>
          </a:prstGeom>
          <a:noFill/>
          <a:ln w="12700">
            <a:solidFill>
              <a:srgbClr val="2E6FD8">
                <a:alpha val="10000"/>
              </a:srgbClr>
            </a:solidFill>
            <a:prstDash val="solid"/>
          </a:ln>
        </p:spPr>
      </p:sp>
      <p:sp>
        <p:nvSpPr>
          <p:cNvPr id="6" name="Shape 4"/>
          <p:cNvSpPr/>
          <p:nvPr/>
        </p:nvSpPr>
        <p:spPr>
          <a:xfrm flipV="1">
            <a:off x="8279892" y="3383280"/>
            <a:ext cx="1321308" cy="1476756"/>
          </a:xfrm>
          <a:prstGeom prst="line">
            <a:avLst/>
          </a:prstGeom>
          <a:noFill/>
          <a:ln w="12700">
            <a:solidFill>
              <a:srgbClr val="2E6FD8">
                <a:alpha val="10000"/>
              </a:srgbClr>
            </a:solidFill>
            <a:prstDash val="solid"/>
          </a:ln>
        </p:spPr>
      </p:sp>
      <p:sp>
        <p:nvSpPr>
          <p:cNvPr id="7" name="Shape 5"/>
          <p:cNvSpPr/>
          <p:nvPr/>
        </p:nvSpPr>
        <p:spPr>
          <a:xfrm>
            <a:off x="7580376" y="3383280"/>
            <a:ext cx="2020824" cy="914"/>
          </a:xfrm>
          <a:prstGeom prst="line">
            <a:avLst/>
          </a:prstGeom>
          <a:noFill/>
          <a:ln w="12700">
            <a:solidFill>
              <a:srgbClr val="2E6FD8">
                <a:alpha val="10000"/>
              </a:srgbClr>
            </a:solidFill>
            <a:prstDash val="solid"/>
          </a:ln>
        </p:spPr>
      </p:sp>
      <p:sp>
        <p:nvSpPr>
          <p:cNvPr id="8" name="Shape 6"/>
          <p:cNvSpPr/>
          <p:nvPr/>
        </p:nvSpPr>
        <p:spPr>
          <a:xfrm flipV="1">
            <a:off x="7580376" y="1984248"/>
            <a:ext cx="544068" cy="1399032"/>
          </a:xfrm>
          <a:prstGeom prst="line">
            <a:avLst/>
          </a:prstGeom>
          <a:noFill/>
          <a:ln w="12700">
            <a:solidFill>
              <a:srgbClr val="2E6FD8">
                <a:alpha val="10000"/>
              </a:srgbClr>
            </a:solidFill>
            <a:prstDash val="solid"/>
          </a:ln>
        </p:spPr>
      </p:sp>
      <p:sp>
        <p:nvSpPr>
          <p:cNvPr id="9" name="Shape 7"/>
          <p:cNvSpPr/>
          <p:nvPr/>
        </p:nvSpPr>
        <p:spPr>
          <a:xfrm flipV="1">
            <a:off x="8124444" y="1207008"/>
            <a:ext cx="1243584" cy="777240"/>
          </a:xfrm>
          <a:prstGeom prst="line">
            <a:avLst/>
          </a:prstGeom>
          <a:noFill/>
          <a:ln w="12700">
            <a:solidFill>
              <a:srgbClr val="2E6FD8">
                <a:alpha val="10000"/>
              </a:srgbClr>
            </a:solidFill>
            <a:prstDash val="solid"/>
          </a:ln>
        </p:spPr>
      </p:sp>
      <p:sp>
        <p:nvSpPr>
          <p:cNvPr id="10" name="Shape 8"/>
          <p:cNvSpPr/>
          <p:nvPr/>
        </p:nvSpPr>
        <p:spPr>
          <a:xfrm>
            <a:off x="9368028" y="1207008"/>
            <a:ext cx="1632204" cy="466344"/>
          </a:xfrm>
          <a:prstGeom prst="line">
            <a:avLst/>
          </a:prstGeom>
          <a:noFill/>
          <a:ln w="12700">
            <a:solidFill>
              <a:srgbClr val="2E6FD8">
                <a:alpha val="10000"/>
              </a:srgbClr>
            </a:solidFill>
            <a:prstDash val="solid"/>
          </a:ln>
        </p:spPr>
      </p:sp>
      <p:sp>
        <p:nvSpPr>
          <p:cNvPr id="11" name="Shape 9"/>
          <p:cNvSpPr/>
          <p:nvPr/>
        </p:nvSpPr>
        <p:spPr>
          <a:xfrm>
            <a:off x="11000232" y="1673352"/>
            <a:ext cx="699516" cy="1088136"/>
          </a:xfrm>
          <a:prstGeom prst="line">
            <a:avLst/>
          </a:prstGeom>
          <a:noFill/>
          <a:ln w="12700">
            <a:solidFill>
              <a:srgbClr val="2E6FD8">
                <a:alpha val="10000"/>
              </a:srgbClr>
            </a:solidFill>
            <a:prstDash val="solid"/>
          </a:ln>
        </p:spPr>
      </p:sp>
      <p:sp>
        <p:nvSpPr>
          <p:cNvPr id="12" name="Shape 10"/>
          <p:cNvSpPr/>
          <p:nvPr/>
        </p:nvSpPr>
        <p:spPr>
          <a:xfrm flipV="1">
            <a:off x="11272266" y="2761488"/>
            <a:ext cx="427482" cy="1088136"/>
          </a:xfrm>
          <a:prstGeom prst="line">
            <a:avLst/>
          </a:prstGeom>
          <a:noFill/>
          <a:ln w="12700">
            <a:solidFill>
              <a:srgbClr val="2E6FD8">
                <a:alpha val="10000"/>
              </a:srgbClr>
            </a:solidFill>
            <a:prstDash val="solid"/>
          </a:ln>
        </p:spPr>
      </p:sp>
      <p:sp>
        <p:nvSpPr>
          <p:cNvPr id="13" name="Shape 11"/>
          <p:cNvSpPr/>
          <p:nvPr/>
        </p:nvSpPr>
        <p:spPr>
          <a:xfrm>
            <a:off x="11272266" y="3849624"/>
            <a:ext cx="505206" cy="1088136"/>
          </a:xfrm>
          <a:prstGeom prst="line">
            <a:avLst/>
          </a:prstGeom>
          <a:noFill/>
          <a:ln w="12700">
            <a:solidFill>
              <a:srgbClr val="2E6FD8">
                <a:alpha val="10000"/>
              </a:srgbClr>
            </a:solidFill>
            <a:prstDash val="solid"/>
          </a:ln>
        </p:spPr>
      </p:sp>
      <p:sp>
        <p:nvSpPr>
          <p:cNvPr id="14" name="Shape 12"/>
          <p:cNvSpPr/>
          <p:nvPr/>
        </p:nvSpPr>
        <p:spPr>
          <a:xfrm flipV="1">
            <a:off x="9134856" y="5248656"/>
            <a:ext cx="1243584" cy="544068"/>
          </a:xfrm>
          <a:prstGeom prst="line">
            <a:avLst/>
          </a:prstGeom>
          <a:noFill/>
          <a:ln w="12700">
            <a:solidFill>
              <a:srgbClr val="2E6FD8">
                <a:alpha val="10000"/>
              </a:srgbClr>
            </a:solidFill>
            <a:prstDash val="solid"/>
          </a:ln>
        </p:spPr>
      </p:sp>
      <p:sp>
        <p:nvSpPr>
          <p:cNvPr id="15" name="Shape 13"/>
          <p:cNvSpPr/>
          <p:nvPr/>
        </p:nvSpPr>
        <p:spPr>
          <a:xfrm>
            <a:off x="8279892" y="4860036"/>
            <a:ext cx="854964" cy="932688"/>
          </a:xfrm>
          <a:prstGeom prst="line">
            <a:avLst/>
          </a:prstGeom>
          <a:noFill/>
          <a:ln w="12700">
            <a:solidFill>
              <a:srgbClr val="2E6FD8">
                <a:alpha val="10000"/>
              </a:srgbClr>
            </a:solidFill>
            <a:prstDash val="solid"/>
          </a:ln>
        </p:spPr>
      </p:sp>
      <p:sp>
        <p:nvSpPr>
          <p:cNvPr id="16" name="Shape 14"/>
          <p:cNvSpPr/>
          <p:nvPr/>
        </p:nvSpPr>
        <p:spPr>
          <a:xfrm flipV="1">
            <a:off x="7114032" y="4860036"/>
            <a:ext cx="1165860" cy="699516"/>
          </a:xfrm>
          <a:prstGeom prst="line">
            <a:avLst/>
          </a:prstGeom>
          <a:noFill/>
          <a:ln w="12700">
            <a:solidFill>
              <a:srgbClr val="2E6FD8">
                <a:alpha val="10000"/>
              </a:srgbClr>
            </a:solidFill>
            <a:prstDash val="solid"/>
          </a:ln>
        </p:spPr>
      </p:sp>
      <p:sp>
        <p:nvSpPr>
          <p:cNvPr id="17" name="Shape 15"/>
          <p:cNvSpPr/>
          <p:nvPr/>
        </p:nvSpPr>
        <p:spPr>
          <a:xfrm>
            <a:off x="7269480" y="1284732"/>
            <a:ext cx="310896" cy="2098548"/>
          </a:xfrm>
          <a:prstGeom prst="line">
            <a:avLst/>
          </a:prstGeom>
          <a:noFill/>
          <a:ln w="12700">
            <a:solidFill>
              <a:srgbClr val="2E6FD8">
                <a:alpha val="10000"/>
              </a:srgbClr>
            </a:solidFill>
            <a:prstDash val="solid"/>
          </a:ln>
        </p:spPr>
      </p:sp>
      <p:sp>
        <p:nvSpPr>
          <p:cNvPr id="18" name="Shape 16"/>
          <p:cNvSpPr/>
          <p:nvPr/>
        </p:nvSpPr>
        <p:spPr>
          <a:xfrm>
            <a:off x="7269480" y="1284732"/>
            <a:ext cx="854964" cy="699516"/>
          </a:xfrm>
          <a:prstGeom prst="line">
            <a:avLst/>
          </a:prstGeom>
          <a:noFill/>
          <a:ln w="12700">
            <a:solidFill>
              <a:srgbClr val="2E6FD8">
                <a:alpha val="10000"/>
              </a:srgbClr>
            </a:solidFill>
            <a:prstDash val="solid"/>
          </a:ln>
        </p:spPr>
      </p:sp>
      <p:sp>
        <p:nvSpPr>
          <p:cNvPr id="19" name="Shape 17"/>
          <p:cNvSpPr/>
          <p:nvPr/>
        </p:nvSpPr>
        <p:spPr>
          <a:xfrm flipV="1">
            <a:off x="10378440" y="3849624"/>
            <a:ext cx="893826" cy="1399032"/>
          </a:xfrm>
          <a:prstGeom prst="line">
            <a:avLst/>
          </a:prstGeom>
          <a:noFill/>
          <a:ln w="12700">
            <a:solidFill>
              <a:srgbClr val="2E6FD8">
                <a:alpha val="10000"/>
              </a:srgbClr>
            </a:solidFill>
            <a:prstDash val="solid"/>
          </a:ln>
        </p:spPr>
      </p:sp>
      <p:sp>
        <p:nvSpPr>
          <p:cNvPr id="20" name="Shape 18"/>
          <p:cNvSpPr/>
          <p:nvPr/>
        </p:nvSpPr>
        <p:spPr>
          <a:xfrm>
            <a:off x="7580376" y="3383280"/>
            <a:ext cx="699516" cy="1476756"/>
          </a:xfrm>
          <a:prstGeom prst="line">
            <a:avLst/>
          </a:prstGeom>
          <a:noFill/>
          <a:ln w="12700">
            <a:solidFill>
              <a:srgbClr val="2E6FD8">
                <a:alpha val="10000"/>
              </a:srgbClr>
            </a:solidFill>
            <a:prstDash val="solid"/>
          </a:ln>
        </p:spPr>
      </p:sp>
      <p:sp>
        <p:nvSpPr>
          <p:cNvPr id="21" name="Shape 19"/>
          <p:cNvSpPr/>
          <p:nvPr/>
        </p:nvSpPr>
        <p:spPr>
          <a:xfrm>
            <a:off x="9212580" y="2994660"/>
            <a:ext cx="777240" cy="777240"/>
          </a:xfrm>
          <a:prstGeom prst="ellipse">
            <a:avLst/>
          </a:prstGeom>
          <a:solidFill>
            <a:srgbClr val="1B58D8">
              <a:alpha val="45000"/>
            </a:srgbClr>
          </a:solidFill>
          <a:ln w="25400">
            <a:solidFill>
              <a:srgbClr val="08ACD5">
                <a:alpha val="45000"/>
              </a:srgbClr>
            </a:solidFill>
            <a:prstDash val="solid"/>
          </a:ln>
        </p:spPr>
      </p:sp>
      <p:pic>
        <p:nvPicPr>
          <p:cNvPr id="22" name="Image 0" descr="preencoded.png">    </p:cNvPr>
          <p:cNvPicPr>
            <a:picLocks noChangeAspect="1"/>
          </p:cNvPicPr>
          <p:nvPr/>
        </p:nvPicPr>
        <p:blipFill>
          <a:blip r:embed="rId1">
            <a:alphaModFix amt="45000"/>
          </a:blip>
          <a:stretch>
            <a:fillRect/>
          </a:stretch>
        </p:blipFill>
        <p:spPr>
          <a:xfrm>
            <a:off x="9406890" y="3188970"/>
            <a:ext cx="388620" cy="388620"/>
          </a:xfrm>
          <a:prstGeom prst="rect">
            <a:avLst/>
          </a:prstGeom>
        </p:spPr>
      </p:pic>
      <p:sp>
        <p:nvSpPr>
          <p:cNvPr id="23" name="Shape 20"/>
          <p:cNvSpPr/>
          <p:nvPr/>
        </p:nvSpPr>
        <p:spPr>
          <a:xfrm>
            <a:off x="7891272" y="1751076"/>
            <a:ext cx="466344" cy="466344"/>
          </a:xfrm>
          <a:prstGeom prst="ellipse">
            <a:avLst/>
          </a:prstGeom>
          <a:solidFill>
            <a:srgbClr val="12284A">
              <a:alpha val="45000"/>
            </a:srgbClr>
          </a:solidFill>
          <a:ln w="15875">
            <a:solidFill>
              <a:srgbClr val="08ACD5">
                <a:alpha val="45000"/>
              </a:srgbClr>
            </a:solidFill>
            <a:prstDash val="solid"/>
          </a:ln>
        </p:spPr>
      </p:sp>
      <p:pic>
        <p:nvPicPr>
          <p:cNvPr id="24" name="Image 1" descr="preencoded.png">    </p:cNvPr>
          <p:cNvPicPr>
            <a:picLocks noChangeAspect="1"/>
          </p:cNvPicPr>
          <p:nvPr/>
        </p:nvPicPr>
        <p:blipFill>
          <a:blip r:embed="rId2">
            <a:alphaModFix amt="45000"/>
          </a:blip>
          <a:stretch>
            <a:fillRect/>
          </a:stretch>
        </p:blipFill>
        <p:spPr>
          <a:xfrm>
            <a:off x="8007858" y="1867662"/>
            <a:ext cx="233172" cy="233172"/>
          </a:xfrm>
          <a:prstGeom prst="rect">
            <a:avLst/>
          </a:prstGeom>
        </p:spPr>
      </p:pic>
      <p:sp>
        <p:nvSpPr>
          <p:cNvPr id="25" name="Shape 21"/>
          <p:cNvSpPr/>
          <p:nvPr/>
        </p:nvSpPr>
        <p:spPr>
          <a:xfrm>
            <a:off x="10782605" y="1455725"/>
            <a:ext cx="435254" cy="435254"/>
          </a:xfrm>
          <a:prstGeom prst="ellipse">
            <a:avLst/>
          </a:prstGeom>
          <a:solidFill>
            <a:srgbClr val="12284A">
              <a:alpha val="45000"/>
            </a:srgbClr>
          </a:solidFill>
          <a:ln w="15875">
            <a:solidFill>
              <a:srgbClr val="08ACD5">
                <a:alpha val="45000"/>
              </a:srgbClr>
            </a:solidFill>
            <a:prstDash val="solid"/>
          </a:ln>
        </p:spPr>
      </p:sp>
      <p:pic>
        <p:nvPicPr>
          <p:cNvPr id="26" name="Image 2" descr="preencoded.png">    </p:cNvPr>
          <p:cNvPicPr>
            <a:picLocks noChangeAspect="1"/>
          </p:cNvPicPr>
          <p:nvPr/>
        </p:nvPicPr>
        <p:blipFill>
          <a:blip r:embed="rId3">
            <a:alphaModFix amt="45000"/>
          </a:blip>
          <a:stretch>
            <a:fillRect/>
          </a:stretch>
        </p:blipFill>
        <p:spPr>
          <a:xfrm>
            <a:off x="10891418" y="1564538"/>
            <a:ext cx="217627" cy="217627"/>
          </a:xfrm>
          <a:prstGeom prst="rect">
            <a:avLst/>
          </a:prstGeom>
        </p:spPr>
      </p:pic>
      <p:sp>
        <p:nvSpPr>
          <p:cNvPr id="27" name="Shape 22"/>
          <p:cNvSpPr/>
          <p:nvPr/>
        </p:nvSpPr>
        <p:spPr>
          <a:xfrm>
            <a:off x="11023549" y="3600907"/>
            <a:ext cx="497434" cy="497434"/>
          </a:xfrm>
          <a:prstGeom prst="ellipse">
            <a:avLst/>
          </a:prstGeom>
          <a:solidFill>
            <a:srgbClr val="12284A">
              <a:alpha val="45000"/>
            </a:srgbClr>
          </a:solidFill>
          <a:ln w="15875">
            <a:solidFill>
              <a:srgbClr val="08ACD5">
                <a:alpha val="45000"/>
              </a:srgbClr>
            </a:solidFill>
            <a:prstDash val="solid"/>
          </a:ln>
        </p:spPr>
      </p:sp>
      <p:pic>
        <p:nvPicPr>
          <p:cNvPr id="28" name="Image 3" descr="preencoded.png">    </p:cNvPr>
          <p:cNvPicPr>
            <a:picLocks noChangeAspect="1"/>
          </p:cNvPicPr>
          <p:nvPr/>
        </p:nvPicPr>
        <p:blipFill>
          <a:blip r:embed="rId4">
            <a:alphaModFix amt="45000"/>
          </a:blip>
          <a:stretch>
            <a:fillRect/>
          </a:stretch>
        </p:blipFill>
        <p:spPr>
          <a:xfrm>
            <a:off x="11147908" y="3725266"/>
            <a:ext cx="248717" cy="248717"/>
          </a:xfrm>
          <a:prstGeom prst="rect">
            <a:avLst/>
          </a:prstGeom>
        </p:spPr>
      </p:pic>
      <p:sp>
        <p:nvSpPr>
          <p:cNvPr id="29" name="Shape 23"/>
          <p:cNvSpPr/>
          <p:nvPr/>
        </p:nvSpPr>
        <p:spPr>
          <a:xfrm>
            <a:off x="10160813" y="5031029"/>
            <a:ext cx="435254" cy="435254"/>
          </a:xfrm>
          <a:prstGeom prst="ellipse">
            <a:avLst/>
          </a:prstGeom>
          <a:solidFill>
            <a:srgbClr val="12284A">
              <a:alpha val="45000"/>
            </a:srgbClr>
          </a:solidFill>
          <a:ln w="15875">
            <a:solidFill>
              <a:srgbClr val="08ACD5">
                <a:alpha val="45000"/>
              </a:srgbClr>
            </a:solidFill>
            <a:prstDash val="solid"/>
          </a:ln>
        </p:spPr>
      </p:sp>
      <p:pic>
        <p:nvPicPr>
          <p:cNvPr id="30" name="Image 4" descr="preencoded.png">    </p:cNvPr>
          <p:cNvPicPr>
            <a:picLocks noChangeAspect="1"/>
          </p:cNvPicPr>
          <p:nvPr/>
        </p:nvPicPr>
        <p:blipFill>
          <a:blip r:embed="rId5">
            <a:alphaModFix amt="45000"/>
          </a:blip>
          <a:stretch>
            <a:fillRect/>
          </a:stretch>
        </p:blipFill>
        <p:spPr>
          <a:xfrm>
            <a:off x="10269626" y="5139842"/>
            <a:ext cx="217627" cy="217627"/>
          </a:xfrm>
          <a:prstGeom prst="rect">
            <a:avLst/>
          </a:prstGeom>
        </p:spPr>
      </p:pic>
      <p:sp>
        <p:nvSpPr>
          <p:cNvPr id="31" name="Shape 24"/>
          <p:cNvSpPr/>
          <p:nvPr/>
        </p:nvSpPr>
        <p:spPr>
          <a:xfrm>
            <a:off x="8046720" y="4626864"/>
            <a:ext cx="466344" cy="466344"/>
          </a:xfrm>
          <a:prstGeom prst="ellipse">
            <a:avLst/>
          </a:prstGeom>
          <a:solidFill>
            <a:srgbClr val="12284A">
              <a:alpha val="45000"/>
            </a:srgbClr>
          </a:solidFill>
          <a:ln w="15875">
            <a:solidFill>
              <a:srgbClr val="08ACD5">
                <a:alpha val="45000"/>
              </a:srgbClr>
            </a:solidFill>
            <a:prstDash val="solid"/>
          </a:ln>
        </p:spPr>
      </p:sp>
      <p:pic>
        <p:nvPicPr>
          <p:cNvPr id="32" name="Image 5" descr="preencoded.png">    </p:cNvPr>
          <p:cNvPicPr>
            <a:picLocks noChangeAspect="1"/>
          </p:cNvPicPr>
          <p:nvPr/>
        </p:nvPicPr>
        <p:blipFill>
          <a:blip r:embed="rId6">
            <a:alphaModFix amt="45000"/>
          </a:blip>
          <a:stretch>
            <a:fillRect/>
          </a:stretch>
        </p:blipFill>
        <p:spPr>
          <a:xfrm>
            <a:off x="8163306" y="4743450"/>
            <a:ext cx="233172" cy="233172"/>
          </a:xfrm>
          <a:prstGeom prst="rect">
            <a:avLst/>
          </a:prstGeom>
        </p:spPr>
      </p:pic>
      <p:sp>
        <p:nvSpPr>
          <p:cNvPr id="33" name="Shape 25"/>
          <p:cNvSpPr/>
          <p:nvPr/>
        </p:nvSpPr>
        <p:spPr>
          <a:xfrm>
            <a:off x="7386066" y="3188970"/>
            <a:ext cx="388620" cy="388620"/>
          </a:xfrm>
          <a:prstGeom prst="ellipse">
            <a:avLst/>
          </a:prstGeom>
          <a:solidFill>
            <a:srgbClr val="12284A">
              <a:alpha val="45000"/>
            </a:srgbClr>
          </a:solidFill>
          <a:ln w="15875">
            <a:solidFill>
              <a:srgbClr val="08ACD5">
                <a:alpha val="45000"/>
              </a:srgbClr>
            </a:solidFill>
            <a:prstDash val="solid"/>
          </a:ln>
        </p:spPr>
      </p:sp>
      <p:pic>
        <p:nvPicPr>
          <p:cNvPr id="34" name="Image 6" descr="preencoded.png">    </p:cNvPr>
          <p:cNvPicPr>
            <a:picLocks noChangeAspect="1"/>
          </p:cNvPicPr>
          <p:nvPr/>
        </p:nvPicPr>
        <p:blipFill>
          <a:blip r:embed="rId7">
            <a:alphaModFix amt="45000"/>
          </a:blip>
          <a:stretch>
            <a:fillRect/>
          </a:stretch>
        </p:blipFill>
        <p:spPr>
          <a:xfrm>
            <a:off x="7483221" y="3286125"/>
            <a:ext cx="194310" cy="194310"/>
          </a:xfrm>
          <a:prstGeom prst="rect">
            <a:avLst/>
          </a:prstGeom>
        </p:spPr>
      </p:pic>
      <p:sp>
        <p:nvSpPr>
          <p:cNvPr id="35" name="Shape 26"/>
          <p:cNvSpPr/>
          <p:nvPr/>
        </p:nvSpPr>
        <p:spPr>
          <a:xfrm>
            <a:off x="9290304" y="1129284"/>
            <a:ext cx="155448" cy="155448"/>
          </a:xfrm>
          <a:prstGeom prst="ellipse">
            <a:avLst/>
          </a:prstGeom>
          <a:solidFill>
            <a:srgbClr val="08ACD5">
              <a:alpha val="25000"/>
            </a:srgbClr>
          </a:solidFill>
          <a:ln w="12700">
            <a:solidFill>
              <a:srgbClr val="08ACD5"/>
            </a:solidFill>
            <a:prstDash val="solid"/>
          </a:ln>
        </p:spPr>
      </p:sp>
      <p:sp>
        <p:nvSpPr>
          <p:cNvPr id="36" name="Shape 27"/>
          <p:cNvSpPr/>
          <p:nvPr/>
        </p:nvSpPr>
        <p:spPr>
          <a:xfrm>
            <a:off x="11637569" y="2699309"/>
            <a:ext cx="124358" cy="124358"/>
          </a:xfrm>
          <a:prstGeom prst="ellipse">
            <a:avLst/>
          </a:prstGeom>
          <a:solidFill>
            <a:srgbClr val="08ACD5">
              <a:alpha val="25000"/>
            </a:srgbClr>
          </a:solidFill>
          <a:ln w="12700">
            <a:solidFill>
              <a:srgbClr val="08ACD5"/>
            </a:solidFill>
            <a:prstDash val="solid"/>
          </a:ln>
        </p:spPr>
      </p:sp>
      <p:sp>
        <p:nvSpPr>
          <p:cNvPr id="37" name="Shape 28"/>
          <p:cNvSpPr/>
          <p:nvPr/>
        </p:nvSpPr>
        <p:spPr>
          <a:xfrm>
            <a:off x="9057132" y="5715000"/>
            <a:ext cx="155448" cy="155448"/>
          </a:xfrm>
          <a:prstGeom prst="ellipse">
            <a:avLst/>
          </a:prstGeom>
          <a:solidFill>
            <a:srgbClr val="08ACD5">
              <a:alpha val="25000"/>
            </a:srgbClr>
          </a:solidFill>
          <a:ln w="12700">
            <a:solidFill>
              <a:srgbClr val="08ACD5"/>
            </a:solidFill>
            <a:prstDash val="solid"/>
          </a:ln>
        </p:spPr>
      </p:sp>
      <p:sp>
        <p:nvSpPr>
          <p:cNvPr id="38" name="Shape 29"/>
          <p:cNvSpPr/>
          <p:nvPr/>
        </p:nvSpPr>
        <p:spPr>
          <a:xfrm>
            <a:off x="7059625" y="5505145"/>
            <a:ext cx="108814" cy="108814"/>
          </a:xfrm>
          <a:prstGeom prst="ellipse">
            <a:avLst/>
          </a:prstGeom>
          <a:solidFill>
            <a:srgbClr val="08ACD5">
              <a:alpha val="25000"/>
            </a:srgbClr>
          </a:solidFill>
          <a:ln w="12700">
            <a:solidFill>
              <a:srgbClr val="08ACD5"/>
            </a:solidFill>
            <a:prstDash val="solid"/>
          </a:ln>
        </p:spPr>
      </p:sp>
      <p:sp>
        <p:nvSpPr>
          <p:cNvPr id="39" name="Shape 30"/>
          <p:cNvSpPr/>
          <p:nvPr/>
        </p:nvSpPr>
        <p:spPr>
          <a:xfrm>
            <a:off x="11707520" y="4867808"/>
            <a:ext cx="139903" cy="139903"/>
          </a:xfrm>
          <a:prstGeom prst="ellipse">
            <a:avLst/>
          </a:prstGeom>
          <a:solidFill>
            <a:srgbClr val="08ACD5">
              <a:alpha val="25000"/>
            </a:srgbClr>
          </a:solidFill>
          <a:ln w="12700">
            <a:solidFill>
              <a:srgbClr val="08ACD5"/>
            </a:solidFill>
            <a:prstDash val="solid"/>
          </a:ln>
        </p:spPr>
      </p:sp>
      <p:sp>
        <p:nvSpPr>
          <p:cNvPr id="40" name="Shape 31"/>
          <p:cNvSpPr/>
          <p:nvPr/>
        </p:nvSpPr>
        <p:spPr>
          <a:xfrm>
            <a:off x="7215073" y="1230325"/>
            <a:ext cx="108814" cy="108814"/>
          </a:xfrm>
          <a:prstGeom prst="ellipse">
            <a:avLst/>
          </a:prstGeom>
          <a:solidFill>
            <a:srgbClr val="08ACD5">
              <a:alpha val="25000"/>
            </a:srgbClr>
          </a:solidFill>
          <a:ln w="12700">
            <a:solidFill>
              <a:srgbClr val="08ACD5"/>
            </a:solidFill>
            <a:prstDash val="solid"/>
          </a:ln>
        </p:spPr>
      </p:sp>
      <p:sp>
        <p:nvSpPr>
          <p:cNvPr id="41" name="Text 0"/>
          <p:cNvSpPr/>
          <p:nvPr>
            <p:ph idx="101" type="body" hasCustomPrompt="1"/>
          </p:nvPr>
        </p:nvSpPr>
        <p:spPr>
          <a:xfrm>
            <a:off x="685800" y="2240280"/>
            <a:ext cx="5486400" cy="457200"/>
          </a:xfrm>
          <a:prstGeom prst="rect">
            <a:avLst/>
          </a:prstGeom>
          <a:noFill/>
          <a:ln/>
        </p:spPr>
        <p:txBody>
          <a:bodyPr wrap="square" lIns="0" tIns="0" rIns="0" bIns="0" rtlCol="0"/>
          <a:lstStyle/>
          <a:p>
            <a:pPr algn="l" indent="0" marL="0">
              <a:buNone/>
            </a:pPr>
            <a:r>
              <a:rPr lang="en-US" sz="1600" b="1" spc="300" kern="0" dirty="0">
                <a:solidFill>
                  <a:schemeClr val="accent2"/>
                </a:solidFill>
              </a:rPr>
              <a:t>02  ·  ORGANIZATIONAL INTELLIGENCE</a:t>
            </a:r>
            <a:endParaRPr lang="en-US" sz="1600" dirty="0"/>
          </a:p>
        </p:txBody>
      </p:sp>
      <p:sp>
        <p:nvSpPr>
          <p:cNvPr id="42" name="Text 0"/>
          <p:cNvSpPr/>
          <p:nvPr>
            <p:ph idx="102" type="title" hasCustomPrompt="1"/>
          </p:nvPr>
        </p:nvSpPr>
        <p:spPr>
          <a:xfrm>
            <a:off x="685800" y="269748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rPr>
              <a:t>Beyond Knowledge Access</a:t>
            </a:r>
            <a:endParaRPr lang="en-US" sz="4400" dirty="0"/>
          </a:p>
        </p:txBody>
      </p:sp>
      <p:sp>
        <p:nvSpPr>
          <p:cNvPr id="43" name="Text 0"/>
          <p:cNvSpPr/>
          <p:nvPr>
            <p:ph idx="103" type="body" hasCustomPrompt="1"/>
          </p:nvPr>
        </p:nvSpPr>
        <p:spPr>
          <a:xfrm>
            <a:off x="685800" y="3840480"/>
            <a:ext cx="6035040" cy="914400"/>
          </a:xfrm>
          <a:prstGeom prst="rect">
            <a:avLst/>
          </a:prstGeom>
          <a:noFill/>
          <a:ln/>
        </p:spPr>
        <p:txBody>
          <a:bodyPr wrap="square" lIns="0" tIns="0" rIns="0" bIns="0" rtlCol="0" anchor="t"/>
          <a:lstStyle/>
          <a:p>
            <a:pPr algn="l" indent="0" marL="0">
              <a:buNone/>
            </a:pPr>
            <a:r>
              <a:rPr lang="en-US" sz="1800" dirty="0">
                <a:solidFill>
                  <a:srgbClr val="CBD5E1"/>
                </a:solidFill>
              </a:rPr>
              <a:t>Experts, recommendations, lessons, decisions, relationships, graph, projects and topic trends</a:t>
            </a:r>
            <a:endParaRPr lang="en-US" sz="1800" dirty="0"/>
          </a:p>
        </p:txBody>
      </p:sp>
      <p:sp>
        <p:nvSpPr>
          <p:cNvPr id="25" name="Slide Number Placeholder 0"/>
          <p:cNvSpPr>
            <a:spLocks noGrp="1"/>
          </p:cNvSpPr>
          <p:nvPr>
            <p:ph type="sldNum" sz="quarter" idx="4294967295"/>
          </p:nvPr>
        </p:nvSpPr>
        <p:spPr>
          <a:xfrm>
            <a:off x="685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TIER 2  ·  ORGANIZATIONAL INTELLIGENCE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Tier 2: From Knowledge Access to Organizational Intelligence</a:t>
            </a:r>
            <a:endParaRPr lang="en-US" sz="3000" dirty="0"/>
          </a:p>
        </p:txBody>
      </p:sp>
      <p:sp>
        <p:nvSpPr>
          <p:cNvPr id="4" name="Text 2"/>
          <p:cNvSpPr txBox="1"/>
          <p:nvPr/>
        </p:nvSpPr>
        <p:spPr>
          <a:xfrm>
            <a:off x="548640" y="1600200"/>
            <a:ext cx="4206240" cy="822960"/>
          </a:xfrm>
          <a:prstGeom prst="rect">
            <a:avLst/>
          </a:prstGeom>
          <a:noFill/>
          <a:ln/>
        </p:spPr>
        <p:txBody>
          <a:bodyPr wrap="square" lIns="0" tIns="0" rIns="0" bIns="0" rtlCol="0" anchor="t"/>
          <a:lstStyle/>
          <a:p>
            <a:pPr indent="0" marL="0">
              <a:buNone/>
            </a:pPr>
            <a:r>
              <a:rPr lang="en-US" sz="1800" dirty="0">
                <a:solidFill>
                  <a:srgbClr val="64748B"/>
                </a:solidFill>
              </a:rPr>
              <a:t>Tier 2 turns stored information into enterprise-wide intelligence.</a:t>
            </a:r>
            <a:endParaRPr lang="en-US" sz="1800" dirty="0"/>
          </a:p>
        </p:txBody>
      </p:sp>
      <p:sp>
        <p:nvSpPr>
          <p:cNvPr id="5" name="Shape 3"/>
          <p:cNvSpPr/>
          <p:nvPr/>
        </p:nvSpPr>
        <p:spPr>
          <a:xfrm>
            <a:off x="548640" y="4480560"/>
            <a:ext cx="2103120" cy="1188720"/>
          </a:xfrm>
          <a:prstGeom prst="roundRect">
            <a:avLst>
              <a:gd name="adj" fmla="val 6154"/>
            </a:avLst>
          </a:prstGeom>
          <a:solidFill>
            <a:srgbClr val="CBD5E1"/>
          </a:solidFill>
          <a:ln w="12700">
            <a:solidFill>
              <a:srgbClr val="CBD5E1"/>
            </a:solidFill>
            <a:prstDash val="solid"/>
          </a:ln>
        </p:spPr>
      </p:sp>
      <p:sp>
        <p:nvSpPr>
          <p:cNvPr id="6" name="Text 4"/>
          <p:cNvSpPr txBox="1"/>
          <p:nvPr/>
        </p:nvSpPr>
        <p:spPr>
          <a:xfrm>
            <a:off x="731520" y="4617720"/>
            <a:ext cx="1828800" cy="411480"/>
          </a:xfrm>
          <a:prstGeom prst="rect">
            <a:avLst/>
          </a:prstGeom>
          <a:noFill/>
          <a:ln/>
        </p:spPr>
        <p:txBody>
          <a:bodyPr wrap="square" lIns="0" tIns="0" rIns="0" bIns="0" rtlCol="0" anchor="t"/>
          <a:lstStyle/>
          <a:p>
            <a:pPr indent="0" marL="0">
              <a:buNone/>
            </a:pPr>
            <a:r>
              <a:rPr lang="en-US" sz="1300" dirty="0">
                <a:solidFill>
                  <a:schemeClr val="tx2"/>
                </a:solidFill>
              </a:rPr>
              <a:t>01  </a:t>
            </a:r>
            <a:pPr indent="0" marL="0">
              <a:buNone/>
            </a:pPr>
            <a:r>
              <a:rPr lang="en-US" sz="2000" b="1" dirty="0">
                <a:solidFill>
                  <a:schemeClr val="tx2"/>
                </a:solidFill>
              </a:rPr>
              <a:t>Ask</a:t>
            </a:r>
            <a:endParaRPr lang="en-US" sz="1400" dirty="0"/>
          </a:p>
        </p:txBody>
      </p:sp>
      <p:sp>
        <p:nvSpPr>
          <p:cNvPr id="7" name="Text 5"/>
          <p:cNvSpPr txBox="1"/>
          <p:nvPr/>
        </p:nvSpPr>
        <p:spPr>
          <a:xfrm>
            <a:off x="731520" y="5074920"/>
            <a:ext cx="1783080" cy="502920"/>
          </a:xfrm>
          <a:prstGeom prst="rect">
            <a:avLst/>
          </a:prstGeom>
          <a:noFill/>
          <a:ln/>
        </p:spPr>
        <p:txBody>
          <a:bodyPr wrap="square" lIns="0" tIns="0" rIns="0" bIns="0" rtlCol="0" anchor="t"/>
          <a:lstStyle/>
          <a:p>
            <a:pPr indent="0" marL="0">
              <a:buNone/>
            </a:pPr>
            <a:r>
              <a:rPr lang="en-US" sz="1200" dirty="0">
                <a:solidFill>
                  <a:schemeClr val="tx2"/>
                </a:solidFill>
              </a:rPr>
              <a:t>Chat · search · summaries</a:t>
            </a:r>
            <a:endParaRPr lang="en-US" sz="1200" dirty="0"/>
          </a:p>
        </p:txBody>
      </p:sp>
      <p:sp>
        <p:nvSpPr>
          <p:cNvPr id="8" name="Shape 6"/>
          <p:cNvSpPr/>
          <p:nvPr/>
        </p:nvSpPr>
        <p:spPr>
          <a:xfrm>
            <a:off x="2788920" y="4023360"/>
            <a:ext cx="2103120" cy="1645920"/>
          </a:xfrm>
          <a:prstGeom prst="roundRect">
            <a:avLst>
              <a:gd name="adj" fmla="val 4444"/>
            </a:avLst>
          </a:prstGeom>
          <a:solidFill>
            <a:srgbClr val="CBD5E1"/>
          </a:solidFill>
          <a:ln w="12700">
            <a:solidFill>
              <a:srgbClr val="CBD5E1"/>
            </a:solidFill>
            <a:prstDash val="solid"/>
          </a:ln>
        </p:spPr>
      </p:sp>
      <p:sp>
        <p:nvSpPr>
          <p:cNvPr id="9" name="Text 7"/>
          <p:cNvSpPr txBox="1"/>
          <p:nvPr/>
        </p:nvSpPr>
        <p:spPr>
          <a:xfrm>
            <a:off x="2971800" y="4160520"/>
            <a:ext cx="1828800" cy="411480"/>
          </a:xfrm>
          <a:prstGeom prst="rect">
            <a:avLst/>
          </a:prstGeom>
          <a:noFill/>
          <a:ln/>
        </p:spPr>
        <p:txBody>
          <a:bodyPr wrap="square" lIns="0" tIns="0" rIns="0" bIns="0" rtlCol="0" anchor="t"/>
          <a:lstStyle/>
          <a:p>
            <a:pPr indent="0" marL="0">
              <a:buNone/>
            </a:pPr>
            <a:r>
              <a:rPr lang="en-US" sz="1300" dirty="0">
                <a:solidFill>
                  <a:schemeClr val="tx2"/>
                </a:solidFill>
              </a:rPr>
              <a:t>02  </a:t>
            </a:r>
            <a:pPr indent="0" marL="0">
              <a:buNone/>
            </a:pPr>
            <a:r>
              <a:rPr lang="en-US" sz="2000" b="1" dirty="0">
                <a:solidFill>
                  <a:schemeClr val="tx2"/>
                </a:solidFill>
              </a:rPr>
              <a:t>Understand</a:t>
            </a:r>
            <a:endParaRPr lang="en-US" sz="1400" dirty="0"/>
          </a:p>
        </p:txBody>
      </p:sp>
      <p:sp>
        <p:nvSpPr>
          <p:cNvPr id="10" name="Text 8"/>
          <p:cNvSpPr txBox="1"/>
          <p:nvPr/>
        </p:nvSpPr>
        <p:spPr>
          <a:xfrm>
            <a:off x="2971800" y="4617720"/>
            <a:ext cx="1783080" cy="502920"/>
          </a:xfrm>
          <a:prstGeom prst="rect">
            <a:avLst/>
          </a:prstGeom>
          <a:noFill/>
          <a:ln/>
        </p:spPr>
        <p:txBody>
          <a:bodyPr wrap="square" lIns="0" tIns="0" rIns="0" bIns="0" rtlCol="0" anchor="t"/>
          <a:lstStyle/>
          <a:p>
            <a:pPr indent="0" marL="0">
              <a:buNone/>
            </a:pPr>
            <a:r>
              <a:rPr lang="en-US" sz="1200" dirty="0">
                <a:solidFill>
                  <a:schemeClr val="tx2"/>
                </a:solidFill>
              </a:rPr>
              <a:t>Classification · context · reasoning</a:t>
            </a:r>
            <a:endParaRPr lang="en-US" sz="1200" dirty="0"/>
          </a:p>
        </p:txBody>
      </p:sp>
      <p:sp>
        <p:nvSpPr>
          <p:cNvPr id="11" name="Shape 9"/>
          <p:cNvSpPr/>
          <p:nvPr/>
        </p:nvSpPr>
        <p:spPr>
          <a:xfrm>
            <a:off x="5029200" y="2926080"/>
            <a:ext cx="2103120" cy="2743200"/>
          </a:xfrm>
          <a:prstGeom prst="roundRect">
            <a:avLst>
              <a:gd name="adj" fmla="val 3478"/>
            </a:avLst>
          </a:prstGeom>
          <a:solidFill>
            <a:schemeClr val="accent2"/>
          </a:solidFill>
          <a:ln w="12700">
            <a:solidFill>
              <a:schemeClr val="accent2"/>
            </a:solidFill>
            <a:prstDash val="solid"/>
          </a:ln>
        </p:spPr>
      </p:sp>
      <p:sp>
        <p:nvSpPr>
          <p:cNvPr id="12" name="Text 10"/>
          <p:cNvSpPr txBox="1"/>
          <p:nvPr/>
        </p:nvSpPr>
        <p:spPr>
          <a:xfrm>
            <a:off x="5212080" y="3063240"/>
            <a:ext cx="1828800" cy="411480"/>
          </a:xfrm>
          <a:prstGeom prst="rect">
            <a:avLst/>
          </a:prstGeom>
          <a:noFill/>
          <a:ln/>
        </p:spPr>
        <p:txBody>
          <a:bodyPr wrap="square" lIns="0" tIns="0" rIns="0" bIns="0" rtlCol="0" anchor="t"/>
          <a:lstStyle/>
          <a:p>
            <a:pPr indent="0" marL="0">
              <a:buNone/>
            </a:pPr>
            <a:r>
              <a:rPr lang="en-US" sz="1300" dirty="0">
                <a:solidFill>
                  <a:schemeClr val="bg1"/>
                </a:solidFill>
              </a:rPr>
              <a:t>03  </a:t>
            </a:r>
            <a:pPr indent="0" marL="0">
              <a:buNone/>
            </a:pPr>
            <a:r>
              <a:rPr lang="en-US" sz="2000" b="1" dirty="0">
                <a:solidFill>
                  <a:schemeClr val="bg1"/>
                </a:solidFill>
              </a:rPr>
              <a:t>Connect</a:t>
            </a:r>
            <a:endParaRPr lang="en-US" sz="1400" dirty="0"/>
          </a:p>
        </p:txBody>
      </p:sp>
      <p:sp>
        <p:nvSpPr>
          <p:cNvPr id="13" name="Shape 11"/>
          <p:cNvSpPr/>
          <p:nvPr/>
        </p:nvSpPr>
        <p:spPr>
          <a:xfrm>
            <a:off x="5166360" y="3611880"/>
            <a:ext cx="1828800" cy="411480"/>
          </a:xfrm>
          <a:prstGeom prst="roundRect">
            <a:avLst>
              <a:gd name="adj" fmla="val 13333"/>
            </a:avLst>
          </a:prstGeom>
          <a:solidFill>
            <a:schemeClr val="bg1"/>
          </a:solidFill>
          <a:ln w="12700">
            <a:solidFill>
              <a:schemeClr val="bg1"/>
            </a:solidFill>
            <a:prstDash val="solid"/>
          </a:ln>
        </p:spPr>
      </p:sp>
      <p:sp>
        <p:nvSpPr>
          <p:cNvPr id="14" name="Text 12"/>
          <p:cNvSpPr txBox="1"/>
          <p:nvPr/>
        </p:nvSpPr>
        <p:spPr>
          <a:xfrm>
            <a:off x="5166360" y="361188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Relationship Discovery</a:t>
            </a:r>
            <a:endParaRPr lang="en-US" sz="1200" dirty="0"/>
          </a:p>
        </p:txBody>
      </p:sp>
      <p:sp>
        <p:nvSpPr>
          <p:cNvPr id="15" name="Shape 13"/>
          <p:cNvSpPr/>
          <p:nvPr/>
        </p:nvSpPr>
        <p:spPr>
          <a:xfrm>
            <a:off x="5166360" y="4114800"/>
            <a:ext cx="1828800" cy="411480"/>
          </a:xfrm>
          <a:prstGeom prst="roundRect">
            <a:avLst>
              <a:gd name="adj" fmla="val 13333"/>
            </a:avLst>
          </a:prstGeom>
          <a:solidFill>
            <a:schemeClr val="bg1"/>
          </a:solidFill>
          <a:ln w="12700">
            <a:solidFill>
              <a:schemeClr val="bg1"/>
            </a:solidFill>
            <a:prstDash val="solid"/>
          </a:ln>
        </p:spPr>
      </p:sp>
      <p:sp>
        <p:nvSpPr>
          <p:cNvPr id="16" name="Text 14"/>
          <p:cNvSpPr txBox="1"/>
          <p:nvPr/>
        </p:nvSpPr>
        <p:spPr>
          <a:xfrm>
            <a:off x="5166360" y="411480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Knowledge Graph</a:t>
            </a:r>
            <a:endParaRPr lang="en-US" sz="1200" dirty="0"/>
          </a:p>
        </p:txBody>
      </p:sp>
      <p:sp>
        <p:nvSpPr>
          <p:cNvPr id="17" name="Shape 15"/>
          <p:cNvSpPr/>
          <p:nvPr/>
        </p:nvSpPr>
        <p:spPr>
          <a:xfrm>
            <a:off x="5166360" y="4617720"/>
            <a:ext cx="1828800" cy="411480"/>
          </a:xfrm>
          <a:prstGeom prst="roundRect">
            <a:avLst>
              <a:gd name="adj" fmla="val 13333"/>
            </a:avLst>
          </a:prstGeom>
          <a:solidFill>
            <a:schemeClr val="bg1"/>
          </a:solidFill>
          <a:ln w="12700">
            <a:solidFill>
              <a:schemeClr val="bg1"/>
            </a:solidFill>
            <a:prstDash val="solid"/>
          </a:ln>
        </p:spPr>
      </p:sp>
      <p:sp>
        <p:nvSpPr>
          <p:cNvPr id="18" name="Text 16"/>
          <p:cNvSpPr txBox="1"/>
          <p:nvPr/>
        </p:nvSpPr>
        <p:spPr>
          <a:xfrm>
            <a:off x="5166360" y="461772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Expert Discovery</a:t>
            </a:r>
            <a:endParaRPr lang="en-US" sz="1200" dirty="0"/>
          </a:p>
        </p:txBody>
      </p:sp>
      <p:sp>
        <p:nvSpPr>
          <p:cNvPr id="19" name="Shape 17"/>
          <p:cNvSpPr/>
          <p:nvPr/>
        </p:nvSpPr>
        <p:spPr>
          <a:xfrm>
            <a:off x="7269480" y="2377440"/>
            <a:ext cx="2103120" cy="3291840"/>
          </a:xfrm>
          <a:prstGeom prst="roundRect">
            <a:avLst>
              <a:gd name="adj" fmla="val 3478"/>
            </a:avLst>
          </a:prstGeom>
          <a:solidFill>
            <a:srgbClr val="1482D6"/>
          </a:solidFill>
          <a:ln w="12700">
            <a:solidFill>
              <a:srgbClr val="1482D6"/>
            </a:solidFill>
            <a:prstDash val="solid"/>
          </a:ln>
        </p:spPr>
      </p:sp>
      <p:sp>
        <p:nvSpPr>
          <p:cNvPr id="20" name="Text 18"/>
          <p:cNvSpPr txBox="1"/>
          <p:nvPr/>
        </p:nvSpPr>
        <p:spPr>
          <a:xfrm>
            <a:off x="7452360" y="2514600"/>
            <a:ext cx="1828800" cy="411480"/>
          </a:xfrm>
          <a:prstGeom prst="rect">
            <a:avLst/>
          </a:prstGeom>
          <a:noFill/>
          <a:ln/>
        </p:spPr>
        <p:txBody>
          <a:bodyPr wrap="square" lIns="0" tIns="0" rIns="0" bIns="0" rtlCol="0" anchor="t"/>
          <a:lstStyle/>
          <a:p>
            <a:pPr indent="0" marL="0">
              <a:buNone/>
            </a:pPr>
            <a:r>
              <a:rPr lang="en-US" sz="1300" dirty="0">
                <a:solidFill>
                  <a:schemeClr val="bg1"/>
                </a:solidFill>
              </a:rPr>
              <a:t>04  </a:t>
            </a:r>
            <a:pPr indent="0" marL="0">
              <a:buNone/>
            </a:pPr>
            <a:r>
              <a:rPr lang="en-US" sz="2000" b="1" dirty="0">
                <a:solidFill>
                  <a:schemeClr val="bg1"/>
                </a:solidFill>
              </a:rPr>
              <a:t>Learn</a:t>
            </a:r>
            <a:endParaRPr lang="en-US" sz="1400" dirty="0"/>
          </a:p>
        </p:txBody>
      </p:sp>
      <p:sp>
        <p:nvSpPr>
          <p:cNvPr id="21" name="Shape 19"/>
          <p:cNvSpPr/>
          <p:nvPr/>
        </p:nvSpPr>
        <p:spPr>
          <a:xfrm>
            <a:off x="7406640" y="3063240"/>
            <a:ext cx="1828800" cy="411480"/>
          </a:xfrm>
          <a:prstGeom prst="roundRect">
            <a:avLst>
              <a:gd name="adj" fmla="val 13333"/>
            </a:avLst>
          </a:prstGeom>
          <a:solidFill>
            <a:schemeClr val="bg1"/>
          </a:solidFill>
          <a:ln w="12700">
            <a:solidFill>
              <a:schemeClr val="bg1"/>
            </a:solidFill>
            <a:prstDash val="solid"/>
          </a:ln>
        </p:spPr>
      </p:sp>
      <p:sp>
        <p:nvSpPr>
          <p:cNvPr id="22" name="Text 20"/>
          <p:cNvSpPr txBox="1"/>
          <p:nvPr/>
        </p:nvSpPr>
        <p:spPr>
          <a:xfrm>
            <a:off x="7406640" y="306324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Lessons Learned</a:t>
            </a:r>
            <a:endParaRPr lang="en-US" sz="1200" dirty="0"/>
          </a:p>
        </p:txBody>
      </p:sp>
      <p:sp>
        <p:nvSpPr>
          <p:cNvPr id="23" name="Shape 21"/>
          <p:cNvSpPr/>
          <p:nvPr/>
        </p:nvSpPr>
        <p:spPr>
          <a:xfrm>
            <a:off x="7406640" y="3566160"/>
            <a:ext cx="1828800" cy="411480"/>
          </a:xfrm>
          <a:prstGeom prst="roundRect">
            <a:avLst>
              <a:gd name="adj" fmla="val 13333"/>
            </a:avLst>
          </a:prstGeom>
          <a:solidFill>
            <a:schemeClr val="bg1"/>
          </a:solidFill>
          <a:ln w="12700">
            <a:solidFill>
              <a:schemeClr val="bg1"/>
            </a:solidFill>
            <a:prstDash val="solid"/>
          </a:ln>
        </p:spPr>
      </p:sp>
      <p:sp>
        <p:nvSpPr>
          <p:cNvPr id="24" name="Text 22"/>
          <p:cNvSpPr txBox="1"/>
          <p:nvPr/>
        </p:nvSpPr>
        <p:spPr>
          <a:xfrm>
            <a:off x="7406640" y="356616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Decision Intelligence</a:t>
            </a:r>
            <a:endParaRPr lang="en-US" sz="1200" dirty="0"/>
          </a:p>
        </p:txBody>
      </p:sp>
      <p:sp>
        <p:nvSpPr>
          <p:cNvPr id="25" name="Shape 23"/>
          <p:cNvSpPr/>
          <p:nvPr/>
        </p:nvSpPr>
        <p:spPr>
          <a:xfrm>
            <a:off x="7406640" y="4069080"/>
            <a:ext cx="1828800" cy="411480"/>
          </a:xfrm>
          <a:prstGeom prst="roundRect">
            <a:avLst>
              <a:gd name="adj" fmla="val 13333"/>
            </a:avLst>
          </a:prstGeom>
          <a:solidFill>
            <a:schemeClr val="bg1"/>
          </a:solidFill>
          <a:ln w="12700">
            <a:solidFill>
              <a:schemeClr val="bg1"/>
            </a:solidFill>
            <a:prstDash val="solid"/>
          </a:ln>
        </p:spPr>
      </p:sp>
      <p:sp>
        <p:nvSpPr>
          <p:cNvPr id="26" name="Text 24"/>
          <p:cNvSpPr txBox="1"/>
          <p:nvPr/>
        </p:nvSpPr>
        <p:spPr>
          <a:xfrm>
            <a:off x="7406640" y="406908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Topic Evolution</a:t>
            </a:r>
            <a:endParaRPr lang="en-US" sz="1200" dirty="0"/>
          </a:p>
        </p:txBody>
      </p:sp>
      <p:sp>
        <p:nvSpPr>
          <p:cNvPr id="27" name="Shape 25"/>
          <p:cNvSpPr/>
          <p:nvPr/>
        </p:nvSpPr>
        <p:spPr>
          <a:xfrm>
            <a:off x="9509760" y="1828800"/>
            <a:ext cx="2103120" cy="3840480"/>
          </a:xfrm>
          <a:prstGeom prst="roundRect">
            <a:avLst>
              <a:gd name="adj" fmla="val 3478"/>
            </a:avLst>
          </a:prstGeom>
          <a:solidFill>
            <a:schemeClr val="accent1"/>
          </a:solidFill>
          <a:ln w="12700">
            <a:solidFill>
              <a:schemeClr val="accent1"/>
            </a:solidFill>
            <a:prstDash val="solid"/>
          </a:ln>
        </p:spPr>
      </p:sp>
      <p:sp>
        <p:nvSpPr>
          <p:cNvPr id="28" name="Text 26"/>
          <p:cNvSpPr txBox="1"/>
          <p:nvPr/>
        </p:nvSpPr>
        <p:spPr>
          <a:xfrm>
            <a:off x="9692640" y="1965960"/>
            <a:ext cx="1828800" cy="411480"/>
          </a:xfrm>
          <a:prstGeom prst="rect">
            <a:avLst/>
          </a:prstGeom>
          <a:noFill/>
          <a:ln/>
        </p:spPr>
        <p:txBody>
          <a:bodyPr wrap="square" lIns="0" tIns="0" rIns="0" bIns="0" rtlCol="0" anchor="t"/>
          <a:lstStyle/>
          <a:p>
            <a:pPr indent="0" marL="0">
              <a:buNone/>
            </a:pPr>
            <a:r>
              <a:rPr lang="en-US" sz="1300" dirty="0">
                <a:solidFill>
                  <a:schemeClr val="bg1"/>
                </a:solidFill>
              </a:rPr>
              <a:t>05  </a:t>
            </a:r>
            <a:pPr indent="0" marL="0">
              <a:buNone/>
            </a:pPr>
            <a:r>
              <a:rPr lang="en-US" sz="2000" b="1" dirty="0">
                <a:solidFill>
                  <a:schemeClr val="bg1"/>
                </a:solidFill>
              </a:rPr>
              <a:t>Act</a:t>
            </a:r>
            <a:endParaRPr lang="en-US" sz="1400" dirty="0"/>
          </a:p>
        </p:txBody>
      </p:sp>
      <p:sp>
        <p:nvSpPr>
          <p:cNvPr id="29" name="Shape 27"/>
          <p:cNvSpPr/>
          <p:nvPr/>
        </p:nvSpPr>
        <p:spPr>
          <a:xfrm>
            <a:off x="9646920" y="2514600"/>
            <a:ext cx="1828800" cy="411480"/>
          </a:xfrm>
          <a:prstGeom prst="roundRect">
            <a:avLst>
              <a:gd name="adj" fmla="val 13333"/>
            </a:avLst>
          </a:prstGeom>
          <a:solidFill>
            <a:schemeClr val="bg1"/>
          </a:solidFill>
          <a:ln w="12700">
            <a:solidFill>
              <a:schemeClr val="bg1"/>
            </a:solidFill>
            <a:prstDash val="solid"/>
          </a:ln>
        </p:spPr>
      </p:sp>
      <p:sp>
        <p:nvSpPr>
          <p:cNvPr id="30" name="Text 28"/>
          <p:cNvSpPr txBox="1"/>
          <p:nvPr/>
        </p:nvSpPr>
        <p:spPr>
          <a:xfrm>
            <a:off x="9646920" y="251460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Recommendations</a:t>
            </a:r>
            <a:endParaRPr lang="en-US" sz="1200" dirty="0"/>
          </a:p>
        </p:txBody>
      </p:sp>
      <p:sp>
        <p:nvSpPr>
          <p:cNvPr id="31" name="Shape 29"/>
          <p:cNvSpPr/>
          <p:nvPr/>
        </p:nvSpPr>
        <p:spPr>
          <a:xfrm>
            <a:off x="9646920" y="3017520"/>
            <a:ext cx="1828800" cy="411480"/>
          </a:xfrm>
          <a:prstGeom prst="roundRect">
            <a:avLst>
              <a:gd name="adj" fmla="val 13333"/>
            </a:avLst>
          </a:prstGeom>
          <a:solidFill>
            <a:schemeClr val="bg1"/>
          </a:solidFill>
          <a:ln w="12700">
            <a:solidFill>
              <a:schemeClr val="bg1"/>
            </a:solidFill>
            <a:prstDash val="solid"/>
          </a:ln>
        </p:spPr>
      </p:sp>
      <p:sp>
        <p:nvSpPr>
          <p:cNvPr id="32" name="Text 30"/>
          <p:cNvSpPr txBox="1"/>
          <p:nvPr/>
        </p:nvSpPr>
        <p:spPr>
          <a:xfrm>
            <a:off x="9646920" y="3017520"/>
            <a:ext cx="1828800" cy="411480"/>
          </a:xfrm>
          <a:prstGeom prst="rect">
            <a:avLst/>
          </a:prstGeom>
          <a:noFill/>
          <a:ln/>
        </p:spPr>
        <p:txBody>
          <a:bodyPr wrap="square" lIns="0" tIns="0" rIns="0" bIns="0" rtlCol="0" anchor="ctr"/>
          <a:lstStyle/>
          <a:p>
            <a:pPr algn="ctr" indent="0" marL="0">
              <a:buNone/>
            </a:pPr>
            <a:r>
              <a:rPr lang="en-US" sz="1200" b="1" dirty="0">
                <a:solidFill>
                  <a:schemeClr val="tx2"/>
                </a:solidFill>
              </a:rPr>
              <a:t>Project Intelligence</a:t>
            </a:r>
            <a:endParaRPr lang="en-US" sz="1200" dirty="0"/>
          </a:p>
        </p:txBody>
      </p:sp>
      <p:sp>
        <p:nvSpPr>
          <p:cNvPr id="33" name="Shape 31"/>
          <p:cNvSpPr/>
          <p:nvPr/>
        </p:nvSpPr>
        <p:spPr>
          <a:xfrm>
            <a:off x="548640" y="5806440"/>
            <a:ext cx="4343400" cy="914"/>
          </a:xfrm>
          <a:prstGeom prst="line">
            <a:avLst/>
          </a:prstGeom>
          <a:noFill/>
          <a:ln w="12700">
            <a:solidFill>
              <a:srgbClr val="94A3B8"/>
            </a:solidFill>
            <a:prstDash val="solid"/>
          </a:ln>
        </p:spPr>
      </p:sp>
      <p:sp>
        <p:nvSpPr>
          <p:cNvPr id="34" name="Shape 32"/>
          <p:cNvSpPr/>
          <p:nvPr/>
        </p:nvSpPr>
        <p:spPr>
          <a:xfrm>
            <a:off x="5029200" y="5806440"/>
            <a:ext cx="6611112" cy="914"/>
          </a:xfrm>
          <a:prstGeom prst="line">
            <a:avLst/>
          </a:prstGeom>
          <a:noFill/>
          <a:ln w="19050">
            <a:solidFill>
              <a:schemeClr val="accent1"/>
            </a:solidFill>
            <a:prstDash val="solid"/>
          </a:ln>
        </p:spPr>
      </p:sp>
      <p:sp>
        <p:nvSpPr>
          <p:cNvPr id="35" name="Text 33"/>
          <p:cNvSpPr txBox="1"/>
          <p:nvPr/>
        </p:nvSpPr>
        <p:spPr>
          <a:xfrm>
            <a:off x="548640" y="5897880"/>
            <a:ext cx="4343400" cy="274320"/>
          </a:xfrm>
          <a:prstGeom prst="rect">
            <a:avLst/>
          </a:prstGeom>
          <a:noFill/>
          <a:ln/>
        </p:spPr>
        <p:txBody>
          <a:bodyPr wrap="square" lIns="0" tIns="0" rIns="0" bIns="0" rtlCol="0" anchor="t"/>
          <a:lstStyle/>
          <a:p>
            <a:pPr indent="0" marL="0">
              <a:buNone/>
            </a:pPr>
            <a:r>
              <a:rPr lang="en-US" sz="1100" b="1" spc="200" kern="0" dirty="0">
                <a:solidFill>
                  <a:srgbClr val="64748B"/>
                </a:solidFill>
              </a:rPr>
              <a:t>TIER 1  ·  FOUNDATION</a:t>
            </a:r>
            <a:endParaRPr lang="en-US" sz="1100" dirty="0"/>
          </a:p>
        </p:txBody>
      </p:sp>
      <p:sp>
        <p:nvSpPr>
          <p:cNvPr id="36" name="Text 34"/>
          <p:cNvSpPr txBox="1"/>
          <p:nvPr/>
        </p:nvSpPr>
        <p:spPr>
          <a:xfrm>
            <a:off x="5029200" y="5897880"/>
            <a:ext cx="6611112"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TIER 2  ·  ORGANIZATIONAL INTELLIGENCE</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EXPERT DISCOVERY</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Find the Right Expert at the Right Time</a:t>
            </a:r>
            <a:endParaRPr lang="en-US" sz="3000" dirty="0"/>
          </a:p>
        </p:txBody>
      </p:sp>
      <p:sp>
        <p:nvSpPr>
          <p:cNvPr id="4" name="Text 2"/>
          <p:cNvSpPr txBox="1"/>
          <p:nvPr/>
        </p:nvSpPr>
        <p:spPr>
          <a:xfrm>
            <a:off x="548640" y="1600200"/>
            <a:ext cx="4937760" cy="228600"/>
          </a:xfrm>
          <a:prstGeom prst="rect">
            <a:avLst/>
          </a:prstGeom>
          <a:noFill/>
          <a:ln/>
        </p:spPr>
        <p:txBody>
          <a:bodyPr wrap="square" lIns="0" tIns="0" rIns="0" bIns="0" rtlCol="0" anchor="t"/>
          <a:lstStyle/>
          <a:p>
            <a:pPr indent="0" marL="0">
              <a:buNone/>
            </a:pPr>
            <a:r>
              <a:rPr lang="en-US" sz="1100" b="1" spc="200" kern="0" dirty="0">
                <a:solidFill>
                  <a:srgbClr val="64748B"/>
                </a:solidFill>
              </a:rPr>
              <a:t>THE CHALLENGE</a:t>
            </a:r>
            <a:endParaRPr lang="en-US" sz="1100" dirty="0"/>
          </a:p>
        </p:txBody>
      </p:sp>
      <p:sp>
        <p:nvSpPr>
          <p:cNvPr id="5" name="Text 3"/>
          <p:cNvSpPr txBox="1"/>
          <p:nvPr/>
        </p:nvSpPr>
        <p:spPr>
          <a:xfrm>
            <a:off x="548640" y="1856232"/>
            <a:ext cx="4937760" cy="548640"/>
          </a:xfrm>
          <a:prstGeom prst="rect">
            <a:avLst/>
          </a:prstGeom>
          <a:noFill/>
          <a:ln/>
        </p:spPr>
        <p:txBody>
          <a:bodyPr wrap="square" lIns="0" tIns="0" rIns="0" bIns="0" rtlCol="0" anchor="t"/>
          <a:lstStyle/>
          <a:p>
            <a:pPr indent="0" marL="0">
              <a:buNone/>
            </a:pPr>
            <a:r>
              <a:rPr lang="en-US" sz="1400" dirty="0">
                <a:solidFill>
                  <a:srgbClr val="64748B"/>
                </a:solidFill>
              </a:rPr>
              <a:t>Knowledge lives with people, but employees don't know who has the experience.</a:t>
            </a:r>
            <a:endParaRPr lang="en-US" sz="1400" dirty="0"/>
          </a:p>
        </p:txBody>
      </p:sp>
      <p:sp>
        <p:nvSpPr>
          <p:cNvPr id="6" name="Text 4"/>
          <p:cNvSpPr txBox="1"/>
          <p:nvPr/>
        </p:nvSpPr>
        <p:spPr>
          <a:xfrm>
            <a:off x="548640" y="2578608"/>
            <a:ext cx="493776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WHAT KMS DOES</a:t>
            </a:r>
            <a:endParaRPr lang="en-US" sz="1100" dirty="0"/>
          </a:p>
        </p:txBody>
      </p:sp>
      <p:sp>
        <p:nvSpPr>
          <p:cNvPr id="7" name="Shape 5"/>
          <p:cNvSpPr/>
          <p:nvPr/>
        </p:nvSpPr>
        <p:spPr>
          <a:xfrm>
            <a:off x="548640" y="2889504"/>
            <a:ext cx="237744" cy="237744"/>
          </a:xfrm>
          <a:prstGeom prst="ellipse">
            <a:avLst/>
          </a:prstGeom>
          <a:solidFill>
            <a:schemeClr val="accent2"/>
          </a:solidFill>
          <a:ln w="12700">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608076" y="2948940"/>
            <a:ext cx="118872" cy="118872"/>
          </a:xfrm>
          <a:prstGeom prst="rect">
            <a:avLst/>
          </a:prstGeom>
        </p:spPr>
      </p:pic>
      <p:sp>
        <p:nvSpPr>
          <p:cNvPr id="9" name="Text 6"/>
          <p:cNvSpPr txBox="1"/>
          <p:nvPr/>
        </p:nvSpPr>
        <p:spPr>
          <a:xfrm>
            <a:off x="932688" y="2852928"/>
            <a:ext cx="4553712" cy="576072"/>
          </a:xfrm>
          <a:prstGeom prst="rect">
            <a:avLst/>
          </a:prstGeom>
          <a:noFill/>
          <a:ln/>
        </p:spPr>
        <p:txBody>
          <a:bodyPr wrap="square" lIns="0" tIns="0" rIns="0" bIns="0" rtlCol="0" anchor="t"/>
          <a:lstStyle/>
          <a:p>
            <a:pPr indent="0" marL="0">
              <a:buNone/>
            </a:pPr>
            <a:r>
              <a:rPr lang="en-US" sz="1400" dirty="0">
                <a:solidFill>
                  <a:schemeClr val="tx1"/>
                </a:solidFill>
              </a:rPr>
              <a:t>Discovers experts from real activity: uploads, citations, views, lessons, topic contribution</a:t>
            </a:r>
            <a:endParaRPr lang="en-US" sz="1400" dirty="0"/>
          </a:p>
        </p:txBody>
      </p:sp>
      <p:sp>
        <p:nvSpPr>
          <p:cNvPr id="10" name="Shape 7"/>
          <p:cNvSpPr/>
          <p:nvPr/>
        </p:nvSpPr>
        <p:spPr>
          <a:xfrm>
            <a:off x="548640" y="3511296"/>
            <a:ext cx="237744" cy="237744"/>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608076" y="3570732"/>
            <a:ext cx="118872" cy="118872"/>
          </a:xfrm>
          <a:prstGeom prst="rect">
            <a:avLst/>
          </a:prstGeom>
        </p:spPr>
      </p:pic>
      <p:sp>
        <p:nvSpPr>
          <p:cNvPr id="12" name="Text 8"/>
          <p:cNvSpPr txBox="1"/>
          <p:nvPr/>
        </p:nvSpPr>
        <p:spPr>
          <a:xfrm>
            <a:off x="932688" y="3474720"/>
            <a:ext cx="4553712" cy="576072"/>
          </a:xfrm>
          <a:prstGeom prst="rect">
            <a:avLst/>
          </a:prstGeom>
          <a:noFill/>
          <a:ln/>
        </p:spPr>
        <p:txBody>
          <a:bodyPr wrap="square" lIns="0" tIns="0" rIns="0" bIns="0" rtlCol="0" anchor="t"/>
          <a:lstStyle/>
          <a:p>
            <a:pPr indent="0" marL="0">
              <a:buNone/>
            </a:pPr>
            <a:r>
              <a:rPr lang="en-US" sz="1400" dirty="0">
                <a:solidFill>
                  <a:schemeClr val="tx1"/>
                </a:solidFill>
              </a:rPr>
              <a:t>Searchable expert directory</a:t>
            </a:r>
            <a:endParaRPr lang="en-US" sz="1400" dirty="0"/>
          </a:p>
        </p:txBody>
      </p:sp>
      <p:sp>
        <p:nvSpPr>
          <p:cNvPr id="13" name="Shape 9"/>
          <p:cNvSpPr/>
          <p:nvPr/>
        </p:nvSpPr>
        <p:spPr>
          <a:xfrm>
            <a:off x="548640" y="4133088"/>
            <a:ext cx="237744" cy="237744"/>
          </a:xfrm>
          <a:prstGeom prst="ellipse">
            <a:avLst/>
          </a:prstGeom>
          <a:solidFill>
            <a:schemeClr val="accent2"/>
          </a:solidFill>
          <a:ln w="12700">
            <a:solidFill>
              <a:schemeClr val="accent2"/>
            </a:solidFill>
            <a:prstDash val="solid"/>
          </a:ln>
        </p:spPr>
      </p:sp>
      <p:pic>
        <p:nvPicPr>
          <p:cNvPr id="14" name="Image 2" descr="preencoded.png">    </p:cNvPr>
          <p:cNvPicPr>
            <a:picLocks noChangeAspect="1"/>
          </p:cNvPicPr>
          <p:nvPr/>
        </p:nvPicPr>
        <p:blipFill>
          <a:blip r:embed="rId3"/>
          <a:stretch>
            <a:fillRect/>
          </a:stretch>
        </p:blipFill>
        <p:spPr>
          <a:xfrm>
            <a:off x="608076" y="4192524"/>
            <a:ext cx="118872" cy="118872"/>
          </a:xfrm>
          <a:prstGeom prst="rect">
            <a:avLst/>
          </a:prstGeom>
        </p:spPr>
      </p:pic>
      <p:sp>
        <p:nvSpPr>
          <p:cNvPr id="15" name="Text 10"/>
          <p:cNvSpPr txBox="1"/>
          <p:nvPr/>
        </p:nvSpPr>
        <p:spPr>
          <a:xfrm>
            <a:off x="932688" y="4096512"/>
            <a:ext cx="4553712" cy="576072"/>
          </a:xfrm>
          <a:prstGeom prst="rect">
            <a:avLst/>
          </a:prstGeom>
          <a:noFill/>
          <a:ln/>
        </p:spPr>
        <p:txBody>
          <a:bodyPr wrap="square" lIns="0" tIns="0" rIns="0" bIns="0" rtlCol="0" anchor="t"/>
          <a:lstStyle/>
          <a:p>
            <a:pPr indent="0" marL="0">
              <a:buNone/>
            </a:pPr>
            <a:r>
              <a:rPr lang="en-US" sz="1400" dirty="0">
                <a:solidFill>
                  <a:schemeClr val="tx1"/>
                </a:solidFill>
              </a:rPr>
              <a:t>Users and department admins confirm or correct expertise</a:t>
            </a:r>
            <a:endParaRPr lang="en-US" sz="1400" dirty="0"/>
          </a:p>
        </p:txBody>
      </p:sp>
      <p:sp>
        <p:nvSpPr>
          <p:cNvPr id="16" name="Shape 11"/>
          <p:cNvSpPr/>
          <p:nvPr/>
        </p:nvSpPr>
        <p:spPr>
          <a:xfrm>
            <a:off x="548640" y="4754880"/>
            <a:ext cx="237744" cy="237744"/>
          </a:xfrm>
          <a:prstGeom prst="ellipse">
            <a:avLst/>
          </a:prstGeom>
          <a:solidFill>
            <a:schemeClr val="accent2"/>
          </a:solidFill>
          <a:ln w="12700">
            <a:solidFill>
              <a:schemeClr val="accent2"/>
            </a:solidFill>
            <a:prstDash val="solid"/>
          </a:ln>
        </p:spPr>
      </p:sp>
      <p:pic>
        <p:nvPicPr>
          <p:cNvPr id="17" name="Image 3" descr="preencoded.png">    </p:cNvPr>
          <p:cNvPicPr>
            <a:picLocks noChangeAspect="1"/>
          </p:cNvPicPr>
          <p:nvPr/>
        </p:nvPicPr>
        <p:blipFill>
          <a:blip r:embed="rId4"/>
          <a:stretch>
            <a:fillRect/>
          </a:stretch>
        </p:blipFill>
        <p:spPr>
          <a:xfrm>
            <a:off x="608076" y="4814316"/>
            <a:ext cx="118872" cy="118872"/>
          </a:xfrm>
          <a:prstGeom prst="rect">
            <a:avLst/>
          </a:prstGeom>
        </p:spPr>
      </p:pic>
      <p:sp>
        <p:nvSpPr>
          <p:cNvPr id="18" name="Text 12"/>
          <p:cNvSpPr txBox="1"/>
          <p:nvPr/>
        </p:nvSpPr>
        <p:spPr>
          <a:xfrm>
            <a:off x="932688" y="4718304"/>
            <a:ext cx="4553712" cy="576072"/>
          </a:xfrm>
          <a:prstGeom prst="rect">
            <a:avLst/>
          </a:prstGeom>
          <a:noFill/>
          <a:ln/>
        </p:spPr>
        <p:txBody>
          <a:bodyPr wrap="square" lIns="0" tIns="0" rIns="0" bIns="0" rtlCol="0" anchor="t"/>
          <a:lstStyle/>
          <a:p>
            <a:pPr indent="0" marL="0">
              <a:buNone/>
            </a:pPr>
            <a:r>
              <a:rPr lang="en-US" sz="1400" dirty="0">
                <a:solidFill>
                  <a:schemeClr val="tx1"/>
                </a:solidFill>
              </a:rPr>
              <a:t>Access control respects organizational boundaries</a:t>
            </a:r>
            <a:endParaRPr lang="en-US" sz="1400" dirty="0"/>
          </a:p>
        </p:txBody>
      </p:sp>
      <p:sp>
        <p:nvSpPr>
          <p:cNvPr id="19" name="Shape 13"/>
          <p:cNvSpPr/>
          <p:nvPr/>
        </p:nvSpPr>
        <p:spPr>
          <a:xfrm>
            <a:off x="5852160" y="1600200"/>
            <a:ext cx="5788152" cy="3749040"/>
          </a:xfrm>
          <a:prstGeom prst="roundRect">
            <a:avLst>
              <a:gd name="adj" fmla="val 2927"/>
            </a:avLst>
          </a:prstGeom>
          <a:solidFill>
            <a:schemeClr val="bg2"/>
          </a:solidFill>
          <a:ln w="12700">
            <a:solidFill>
              <a:schemeClr val="bg2"/>
            </a:solidFill>
            <a:prstDash val="solid"/>
          </a:ln>
        </p:spPr>
      </p:sp>
      <p:sp>
        <p:nvSpPr>
          <p:cNvPr id="20" name="Shape 14"/>
          <p:cNvSpPr/>
          <p:nvPr/>
        </p:nvSpPr>
        <p:spPr>
          <a:xfrm flipV="1">
            <a:off x="8183880" y="2066544"/>
            <a:ext cx="1188720" cy="64008"/>
          </a:xfrm>
          <a:prstGeom prst="line">
            <a:avLst/>
          </a:prstGeom>
          <a:noFill/>
          <a:ln w="38100">
            <a:solidFill>
              <a:srgbClr val="08ACD5"/>
            </a:solidFill>
            <a:prstDash val="solid"/>
          </a:ln>
        </p:spPr>
      </p:sp>
      <p:sp>
        <p:nvSpPr>
          <p:cNvPr id="21" name="Shape 15"/>
          <p:cNvSpPr/>
          <p:nvPr/>
        </p:nvSpPr>
        <p:spPr>
          <a:xfrm>
            <a:off x="8183880" y="2130552"/>
            <a:ext cx="1188720" cy="740664"/>
          </a:xfrm>
          <a:prstGeom prst="line">
            <a:avLst/>
          </a:prstGeom>
          <a:noFill/>
          <a:ln w="19050">
            <a:solidFill>
              <a:srgbClr val="08ACD5"/>
            </a:solidFill>
            <a:prstDash val="solid"/>
          </a:ln>
        </p:spPr>
      </p:sp>
      <p:sp>
        <p:nvSpPr>
          <p:cNvPr id="22" name="Shape 16"/>
          <p:cNvSpPr/>
          <p:nvPr/>
        </p:nvSpPr>
        <p:spPr>
          <a:xfrm flipV="1">
            <a:off x="8183880" y="2871216"/>
            <a:ext cx="1188720" cy="265176"/>
          </a:xfrm>
          <a:prstGeom prst="line">
            <a:avLst/>
          </a:prstGeom>
          <a:noFill/>
          <a:ln w="38100">
            <a:solidFill>
              <a:srgbClr val="08ACD5"/>
            </a:solidFill>
            <a:prstDash val="solid"/>
          </a:ln>
        </p:spPr>
      </p:sp>
      <p:sp>
        <p:nvSpPr>
          <p:cNvPr id="23" name="Shape 17"/>
          <p:cNvSpPr/>
          <p:nvPr/>
        </p:nvSpPr>
        <p:spPr>
          <a:xfrm>
            <a:off x="8183880" y="3136392"/>
            <a:ext cx="1188720" cy="1344168"/>
          </a:xfrm>
          <a:prstGeom prst="line">
            <a:avLst/>
          </a:prstGeom>
          <a:noFill/>
          <a:ln w="19050">
            <a:solidFill>
              <a:srgbClr val="08ACD5"/>
            </a:solidFill>
            <a:prstDash val="solid"/>
          </a:ln>
        </p:spPr>
      </p:sp>
      <p:sp>
        <p:nvSpPr>
          <p:cNvPr id="24" name="Shape 18"/>
          <p:cNvSpPr/>
          <p:nvPr/>
        </p:nvSpPr>
        <p:spPr>
          <a:xfrm flipV="1">
            <a:off x="8183880" y="3675888"/>
            <a:ext cx="1188720" cy="466344"/>
          </a:xfrm>
          <a:prstGeom prst="line">
            <a:avLst/>
          </a:prstGeom>
          <a:noFill/>
          <a:ln w="38100">
            <a:solidFill>
              <a:srgbClr val="08ACD5"/>
            </a:solidFill>
            <a:prstDash val="solid"/>
          </a:ln>
        </p:spPr>
      </p:sp>
      <p:sp>
        <p:nvSpPr>
          <p:cNvPr id="25" name="Shape 19"/>
          <p:cNvSpPr/>
          <p:nvPr/>
        </p:nvSpPr>
        <p:spPr>
          <a:xfrm>
            <a:off x="8183880" y="4142232"/>
            <a:ext cx="1188720" cy="338328"/>
          </a:xfrm>
          <a:prstGeom prst="line">
            <a:avLst/>
          </a:prstGeom>
          <a:noFill/>
          <a:ln w="19050">
            <a:solidFill>
              <a:srgbClr val="08ACD5"/>
            </a:solidFill>
            <a:prstDash val="solid"/>
          </a:ln>
        </p:spPr>
      </p:sp>
      <p:sp>
        <p:nvSpPr>
          <p:cNvPr id="26" name="Shape 20"/>
          <p:cNvSpPr/>
          <p:nvPr/>
        </p:nvSpPr>
        <p:spPr>
          <a:xfrm flipV="1">
            <a:off x="8183880" y="2066544"/>
            <a:ext cx="1188720" cy="1069848"/>
          </a:xfrm>
          <a:prstGeom prst="line">
            <a:avLst/>
          </a:prstGeom>
          <a:noFill/>
          <a:ln w="12700">
            <a:solidFill>
              <a:srgbClr val="08ACD5"/>
            </a:solidFill>
            <a:prstDash val="solid"/>
          </a:ln>
        </p:spPr>
      </p:sp>
      <p:sp>
        <p:nvSpPr>
          <p:cNvPr id="27" name="Shape 21"/>
          <p:cNvSpPr/>
          <p:nvPr/>
        </p:nvSpPr>
        <p:spPr>
          <a:xfrm>
            <a:off x="6126480" y="1874520"/>
            <a:ext cx="2057400" cy="512064"/>
          </a:xfrm>
          <a:prstGeom prst="roundRect">
            <a:avLst>
              <a:gd name="adj" fmla="val 50000"/>
            </a:avLst>
          </a:prstGeom>
          <a:solidFill>
            <a:schemeClr val="accent2"/>
          </a:solidFill>
          <a:ln w="12700">
            <a:solidFill>
              <a:schemeClr val="accent2"/>
            </a:solidFill>
            <a:prstDash val="solid"/>
          </a:ln>
        </p:spPr>
      </p:sp>
      <p:sp>
        <p:nvSpPr>
          <p:cNvPr id="28" name="Text 22"/>
          <p:cNvSpPr txBox="1"/>
          <p:nvPr/>
        </p:nvSpPr>
        <p:spPr>
          <a:xfrm>
            <a:off x="6126480" y="1874520"/>
            <a:ext cx="2057400" cy="512064"/>
          </a:xfrm>
          <a:prstGeom prst="rect">
            <a:avLst/>
          </a:prstGeom>
          <a:noFill/>
          <a:ln/>
        </p:spPr>
        <p:txBody>
          <a:bodyPr wrap="square" lIns="0" tIns="0" rIns="0" bIns="0" rtlCol="0" anchor="ctr"/>
          <a:lstStyle/>
          <a:p>
            <a:pPr algn="ctr" indent="0" marL="0">
              <a:buNone/>
            </a:pPr>
            <a:r>
              <a:rPr lang="en-US" sz="1300" b="1" dirty="0">
                <a:solidFill>
                  <a:schemeClr val="bg1"/>
                </a:solidFill>
              </a:rPr>
              <a:t>Cybersecurity</a:t>
            </a:r>
            <a:endParaRPr lang="en-US" sz="1300" dirty="0"/>
          </a:p>
        </p:txBody>
      </p:sp>
      <p:sp>
        <p:nvSpPr>
          <p:cNvPr id="29" name="Shape 23"/>
          <p:cNvSpPr/>
          <p:nvPr/>
        </p:nvSpPr>
        <p:spPr>
          <a:xfrm>
            <a:off x="6126480" y="2880360"/>
            <a:ext cx="2057400" cy="512064"/>
          </a:xfrm>
          <a:prstGeom prst="roundRect">
            <a:avLst>
              <a:gd name="adj" fmla="val 50000"/>
            </a:avLst>
          </a:prstGeom>
          <a:solidFill>
            <a:schemeClr val="accent2"/>
          </a:solidFill>
          <a:ln w="12700">
            <a:solidFill>
              <a:schemeClr val="accent2"/>
            </a:solidFill>
            <a:prstDash val="solid"/>
          </a:ln>
        </p:spPr>
      </p:sp>
      <p:sp>
        <p:nvSpPr>
          <p:cNvPr id="30" name="Text 24"/>
          <p:cNvSpPr txBox="1"/>
          <p:nvPr/>
        </p:nvSpPr>
        <p:spPr>
          <a:xfrm>
            <a:off x="6126480" y="2880360"/>
            <a:ext cx="2057400" cy="512064"/>
          </a:xfrm>
          <a:prstGeom prst="rect">
            <a:avLst/>
          </a:prstGeom>
          <a:noFill/>
          <a:ln/>
        </p:spPr>
        <p:txBody>
          <a:bodyPr wrap="square" lIns="0" tIns="0" rIns="0" bIns="0" rtlCol="0" anchor="ctr"/>
          <a:lstStyle/>
          <a:p>
            <a:pPr algn="ctr" indent="0" marL="0">
              <a:buNone/>
            </a:pPr>
            <a:r>
              <a:rPr lang="en-US" sz="1300" b="1" dirty="0">
                <a:solidFill>
                  <a:schemeClr val="bg1"/>
                </a:solidFill>
              </a:rPr>
              <a:t>Asset Management</a:t>
            </a:r>
            <a:endParaRPr lang="en-US" sz="1300" dirty="0"/>
          </a:p>
        </p:txBody>
      </p:sp>
      <p:sp>
        <p:nvSpPr>
          <p:cNvPr id="31" name="Shape 25"/>
          <p:cNvSpPr/>
          <p:nvPr/>
        </p:nvSpPr>
        <p:spPr>
          <a:xfrm>
            <a:off x="6126480" y="3886200"/>
            <a:ext cx="2057400" cy="512064"/>
          </a:xfrm>
          <a:prstGeom prst="roundRect">
            <a:avLst>
              <a:gd name="adj" fmla="val 50000"/>
            </a:avLst>
          </a:prstGeom>
          <a:solidFill>
            <a:schemeClr val="accent2"/>
          </a:solidFill>
          <a:ln w="12700">
            <a:solidFill>
              <a:schemeClr val="accent2"/>
            </a:solidFill>
            <a:prstDash val="solid"/>
          </a:ln>
        </p:spPr>
      </p:sp>
      <p:sp>
        <p:nvSpPr>
          <p:cNvPr id="32" name="Text 26"/>
          <p:cNvSpPr txBox="1"/>
          <p:nvPr/>
        </p:nvSpPr>
        <p:spPr>
          <a:xfrm>
            <a:off x="6126480" y="3886200"/>
            <a:ext cx="2057400" cy="512064"/>
          </a:xfrm>
          <a:prstGeom prst="rect">
            <a:avLst/>
          </a:prstGeom>
          <a:noFill/>
          <a:ln/>
        </p:spPr>
        <p:txBody>
          <a:bodyPr wrap="square" lIns="0" tIns="0" rIns="0" bIns="0" rtlCol="0" anchor="ctr"/>
          <a:lstStyle/>
          <a:p>
            <a:pPr algn="ctr" indent="0" marL="0">
              <a:buNone/>
            </a:pPr>
            <a:r>
              <a:rPr lang="en-US" sz="1300" b="1" dirty="0">
                <a:solidFill>
                  <a:schemeClr val="bg1"/>
                </a:solidFill>
              </a:rPr>
              <a:t>Regulatory Compliance</a:t>
            </a:r>
            <a:endParaRPr lang="en-US" sz="1300" dirty="0"/>
          </a:p>
        </p:txBody>
      </p:sp>
      <p:sp>
        <p:nvSpPr>
          <p:cNvPr id="33" name="Shape 27"/>
          <p:cNvSpPr/>
          <p:nvPr/>
        </p:nvSpPr>
        <p:spPr>
          <a:xfrm>
            <a:off x="9372600" y="1737360"/>
            <a:ext cx="658368" cy="658368"/>
          </a:xfrm>
          <a:prstGeom prst="ellipse">
            <a:avLst/>
          </a:prstGeom>
          <a:solidFill>
            <a:schemeClr val="tx2"/>
          </a:solidFill>
          <a:ln w="25400">
            <a:solidFill>
              <a:schemeClr val="bg1"/>
            </a:solidFill>
            <a:prstDash val="solid"/>
          </a:ln>
        </p:spPr>
      </p:sp>
      <p:sp>
        <p:nvSpPr>
          <p:cNvPr id="34" name="Text 28"/>
          <p:cNvSpPr txBox="1"/>
          <p:nvPr/>
        </p:nvSpPr>
        <p:spPr>
          <a:xfrm>
            <a:off x="9372600" y="1737360"/>
            <a:ext cx="658368" cy="658368"/>
          </a:xfrm>
          <a:prstGeom prst="rect">
            <a:avLst/>
          </a:prstGeom>
          <a:noFill/>
          <a:ln/>
        </p:spPr>
        <p:txBody>
          <a:bodyPr wrap="square" lIns="0" tIns="0" rIns="0" bIns="0" rtlCol="0" anchor="ctr"/>
          <a:lstStyle/>
          <a:p>
            <a:pPr algn="ctr" indent="0" marL="0">
              <a:buNone/>
            </a:pPr>
            <a:r>
              <a:rPr lang="en-US" sz="1400" b="1" dirty="0">
                <a:solidFill>
                  <a:schemeClr val="bg1"/>
                </a:solidFill>
              </a:rPr>
              <a:t>JR</a:t>
            </a:r>
            <a:endParaRPr lang="en-US" sz="1400" dirty="0"/>
          </a:p>
        </p:txBody>
      </p:sp>
      <p:sp>
        <p:nvSpPr>
          <p:cNvPr id="35" name="Text 29"/>
          <p:cNvSpPr txBox="1"/>
          <p:nvPr/>
        </p:nvSpPr>
        <p:spPr>
          <a:xfrm>
            <a:off x="10131552" y="1783080"/>
            <a:ext cx="1463040" cy="566928"/>
          </a:xfrm>
          <a:prstGeom prst="rect">
            <a:avLst/>
          </a:prstGeom>
          <a:noFill/>
          <a:ln/>
        </p:spPr>
        <p:txBody>
          <a:bodyPr wrap="square" lIns="0" tIns="0" rIns="0" bIns="0" rtlCol="0" anchor="ctr"/>
          <a:lstStyle/>
          <a:p>
            <a:pPr indent="0" marL="0">
              <a:buNone/>
            </a:pPr>
            <a:r>
              <a:rPr lang="en-US" sz="1200" b="1" dirty="0">
                <a:solidFill>
                  <a:schemeClr val="tx2"/>
                </a:solidFill>
              </a:rPr>
              <a:t>Security Lead</a:t>
            </a:r>
            <a:endParaRPr lang="en-US" sz="1200" dirty="0"/>
          </a:p>
        </p:txBody>
      </p:sp>
      <p:sp>
        <p:nvSpPr>
          <p:cNvPr id="36" name="Shape 30"/>
          <p:cNvSpPr/>
          <p:nvPr/>
        </p:nvSpPr>
        <p:spPr>
          <a:xfrm>
            <a:off x="9848088" y="2194560"/>
            <a:ext cx="237744" cy="237744"/>
          </a:xfrm>
          <a:prstGeom prst="ellipse">
            <a:avLst/>
          </a:prstGeom>
          <a:solidFill>
            <a:schemeClr val="accent4"/>
          </a:solidFill>
          <a:ln w="12700">
            <a:solidFill>
              <a:schemeClr val="accent4"/>
            </a:solidFill>
            <a:prstDash val="solid"/>
          </a:ln>
        </p:spPr>
      </p:sp>
      <p:pic>
        <p:nvPicPr>
          <p:cNvPr id="37" name="Image 4" descr="preencoded.png">    </p:cNvPr>
          <p:cNvPicPr>
            <a:picLocks noChangeAspect="1"/>
          </p:cNvPicPr>
          <p:nvPr/>
        </p:nvPicPr>
        <p:blipFill>
          <a:blip r:embed="rId5"/>
          <a:stretch>
            <a:fillRect/>
          </a:stretch>
        </p:blipFill>
        <p:spPr>
          <a:xfrm>
            <a:off x="9907524" y="2253996"/>
            <a:ext cx="118872" cy="118872"/>
          </a:xfrm>
          <a:prstGeom prst="rect">
            <a:avLst/>
          </a:prstGeom>
        </p:spPr>
      </p:pic>
      <p:sp>
        <p:nvSpPr>
          <p:cNvPr id="38" name="Shape 31"/>
          <p:cNvSpPr/>
          <p:nvPr/>
        </p:nvSpPr>
        <p:spPr>
          <a:xfrm>
            <a:off x="9372600" y="2542032"/>
            <a:ext cx="658368" cy="658368"/>
          </a:xfrm>
          <a:prstGeom prst="ellipse">
            <a:avLst/>
          </a:prstGeom>
          <a:solidFill>
            <a:schemeClr val="tx2"/>
          </a:solidFill>
          <a:ln w="25400">
            <a:solidFill>
              <a:schemeClr val="bg1"/>
            </a:solidFill>
            <a:prstDash val="solid"/>
          </a:ln>
        </p:spPr>
      </p:sp>
      <p:sp>
        <p:nvSpPr>
          <p:cNvPr id="39" name="Text 32"/>
          <p:cNvSpPr txBox="1"/>
          <p:nvPr/>
        </p:nvSpPr>
        <p:spPr>
          <a:xfrm>
            <a:off x="9372600" y="2542032"/>
            <a:ext cx="658368" cy="658368"/>
          </a:xfrm>
          <a:prstGeom prst="rect">
            <a:avLst/>
          </a:prstGeom>
          <a:noFill/>
          <a:ln/>
        </p:spPr>
        <p:txBody>
          <a:bodyPr wrap="square" lIns="0" tIns="0" rIns="0" bIns="0" rtlCol="0" anchor="ctr"/>
          <a:lstStyle/>
          <a:p>
            <a:pPr algn="ctr" indent="0" marL="0">
              <a:buNone/>
            </a:pPr>
            <a:r>
              <a:rPr lang="en-US" sz="1400" b="1" dirty="0">
                <a:solidFill>
                  <a:schemeClr val="bg1"/>
                </a:solidFill>
              </a:rPr>
              <a:t>MK</a:t>
            </a:r>
            <a:endParaRPr lang="en-US" sz="1400" dirty="0"/>
          </a:p>
        </p:txBody>
      </p:sp>
      <p:sp>
        <p:nvSpPr>
          <p:cNvPr id="40" name="Text 33"/>
          <p:cNvSpPr txBox="1"/>
          <p:nvPr/>
        </p:nvSpPr>
        <p:spPr>
          <a:xfrm>
            <a:off x="10131552" y="2587752"/>
            <a:ext cx="1463040" cy="566928"/>
          </a:xfrm>
          <a:prstGeom prst="rect">
            <a:avLst/>
          </a:prstGeom>
          <a:noFill/>
          <a:ln/>
        </p:spPr>
        <p:txBody>
          <a:bodyPr wrap="square" lIns="0" tIns="0" rIns="0" bIns="0" rtlCol="0" anchor="ctr"/>
          <a:lstStyle/>
          <a:p>
            <a:pPr indent="0" marL="0">
              <a:buNone/>
            </a:pPr>
            <a:r>
              <a:rPr lang="en-US" sz="1200" b="1" dirty="0">
                <a:solidFill>
                  <a:schemeClr val="tx2"/>
                </a:solidFill>
              </a:rPr>
              <a:t>Field Engineer</a:t>
            </a:r>
            <a:endParaRPr lang="en-US" sz="1200" dirty="0"/>
          </a:p>
        </p:txBody>
      </p:sp>
      <p:sp>
        <p:nvSpPr>
          <p:cNvPr id="41" name="Shape 34"/>
          <p:cNvSpPr/>
          <p:nvPr/>
        </p:nvSpPr>
        <p:spPr>
          <a:xfrm>
            <a:off x="9372600" y="3346704"/>
            <a:ext cx="658368" cy="658368"/>
          </a:xfrm>
          <a:prstGeom prst="ellipse">
            <a:avLst/>
          </a:prstGeom>
          <a:solidFill>
            <a:schemeClr val="tx2"/>
          </a:solidFill>
          <a:ln w="25400">
            <a:solidFill>
              <a:schemeClr val="bg1"/>
            </a:solidFill>
            <a:prstDash val="solid"/>
          </a:ln>
        </p:spPr>
      </p:sp>
      <p:sp>
        <p:nvSpPr>
          <p:cNvPr id="42" name="Text 35"/>
          <p:cNvSpPr txBox="1"/>
          <p:nvPr/>
        </p:nvSpPr>
        <p:spPr>
          <a:xfrm>
            <a:off x="9372600" y="3346704"/>
            <a:ext cx="658368" cy="658368"/>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43" name="Text 36"/>
          <p:cNvSpPr txBox="1"/>
          <p:nvPr/>
        </p:nvSpPr>
        <p:spPr>
          <a:xfrm>
            <a:off x="10131552" y="3392424"/>
            <a:ext cx="1463040" cy="566928"/>
          </a:xfrm>
          <a:prstGeom prst="rect">
            <a:avLst/>
          </a:prstGeom>
          <a:noFill/>
          <a:ln/>
        </p:spPr>
        <p:txBody>
          <a:bodyPr wrap="square" lIns="0" tIns="0" rIns="0" bIns="0" rtlCol="0" anchor="ctr"/>
          <a:lstStyle/>
          <a:p>
            <a:pPr indent="0" marL="0">
              <a:buNone/>
            </a:pPr>
            <a:r>
              <a:rPr lang="en-US" sz="1200" b="1" dirty="0">
                <a:solidFill>
                  <a:schemeClr val="tx2"/>
                </a:solidFill>
              </a:rPr>
              <a:t>Compliance Analyst</a:t>
            </a:r>
            <a:endParaRPr lang="en-US" sz="1200" dirty="0"/>
          </a:p>
        </p:txBody>
      </p:sp>
      <p:sp>
        <p:nvSpPr>
          <p:cNvPr id="44" name="Shape 37"/>
          <p:cNvSpPr/>
          <p:nvPr/>
        </p:nvSpPr>
        <p:spPr>
          <a:xfrm>
            <a:off x="9372600" y="4151376"/>
            <a:ext cx="658368" cy="658368"/>
          </a:xfrm>
          <a:prstGeom prst="ellipse">
            <a:avLst/>
          </a:prstGeom>
          <a:solidFill>
            <a:schemeClr val="tx2"/>
          </a:solidFill>
          <a:ln w="25400">
            <a:solidFill>
              <a:schemeClr val="bg1"/>
            </a:solidFill>
            <a:prstDash val="solid"/>
          </a:ln>
        </p:spPr>
      </p:sp>
      <p:sp>
        <p:nvSpPr>
          <p:cNvPr id="45" name="Text 38"/>
          <p:cNvSpPr txBox="1"/>
          <p:nvPr/>
        </p:nvSpPr>
        <p:spPr>
          <a:xfrm>
            <a:off x="9372600" y="4151376"/>
            <a:ext cx="658368" cy="658368"/>
          </a:xfrm>
          <a:prstGeom prst="rect">
            <a:avLst/>
          </a:prstGeom>
          <a:noFill/>
          <a:ln/>
        </p:spPr>
        <p:txBody>
          <a:bodyPr wrap="square" lIns="0" tIns="0" rIns="0" bIns="0" rtlCol="0" anchor="ctr"/>
          <a:lstStyle/>
          <a:p>
            <a:pPr algn="ctr" indent="0" marL="0">
              <a:buNone/>
            </a:pPr>
            <a:r>
              <a:rPr lang="en-US" sz="1400" b="1" dirty="0">
                <a:solidFill>
                  <a:schemeClr val="bg1"/>
                </a:solidFill>
              </a:rPr>
              <a:t>SP</a:t>
            </a:r>
            <a:endParaRPr lang="en-US" sz="1400" dirty="0"/>
          </a:p>
        </p:txBody>
      </p:sp>
      <p:sp>
        <p:nvSpPr>
          <p:cNvPr id="46" name="Text 39"/>
          <p:cNvSpPr txBox="1"/>
          <p:nvPr/>
        </p:nvSpPr>
        <p:spPr>
          <a:xfrm>
            <a:off x="10131552" y="4197096"/>
            <a:ext cx="1463040" cy="566928"/>
          </a:xfrm>
          <a:prstGeom prst="rect">
            <a:avLst/>
          </a:prstGeom>
          <a:noFill/>
          <a:ln/>
        </p:spPr>
        <p:txBody>
          <a:bodyPr wrap="square" lIns="0" tIns="0" rIns="0" bIns="0" rtlCol="0" anchor="ctr"/>
          <a:lstStyle/>
          <a:p>
            <a:pPr indent="0" marL="0">
              <a:buNone/>
            </a:pPr>
            <a:r>
              <a:rPr lang="en-US" sz="1200" b="1" dirty="0">
                <a:solidFill>
                  <a:schemeClr val="tx2"/>
                </a:solidFill>
              </a:rPr>
              <a:t>Project Manager</a:t>
            </a:r>
            <a:endParaRPr lang="en-US" sz="1200" dirty="0"/>
          </a:p>
        </p:txBody>
      </p:sp>
      <p:sp>
        <p:nvSpPr>
          <p:cNvPr id="47" name="Text 40"/>
          <p:cNvSpPr txBox="1"/>
          <p:nvPr/>
        </p:nvSpPr>
        <p:spPr>
          <a:xfrm>
            <a:off x="6126480" y="4965192"/>
            <a:ext cx="5394960" cy="274320"/>
          </a:xfrm>
          <a:prstGeom prst="rect">
            <a:avLst/>
          </a:prstGeom>
          <a:noFill/>
          <a:ln/>
        </p:spPr>
        <p:txBody>
          <a:bodyPr wrap="square" lIns="0" tIns="0" rIns="0" bIns="0" rtlCol="0" anchor="t"/>
          <a:lstStyle/>
          <a:p>
            <a:pPr indent="0" marL="0">
              <a:buNone/>
            </a:pPr>
            <a:r>
              <a:rPr lang="en-US" sz="1100" b="1" dirty="0">
                <a:solidFill>
                  <a:schemeClr val="accent2"/>
                </a:solidFill>
              </a:rPr>
              <a:t>Topic</a:t>
            </a:r>
            <a:pPr indent="0" marL="0">
              <a:buNone/>
            </a:pPr>
            <a:r>
              <a:rPr lang="en-US" sz="1100" dirty="0">
                <a:solidFill>
                  <a:srgbClr val="64748B"/>
                </a:solidFill>
              </a:rPr>
              <a:t>  →  </a:t>
            </a:r>
            <a:pPr indent="0" marL="0">
              <a:buNone/>
            </a:pPr>
            <a:r>
              <a:rPr lang="en-US" sz="1100" b="1" dirty="0">
                <a:solidFill>
                  <a:schemeClr val="tx2"/>
                </a:solidFill>
              </a:rPr>
              <a:t>Expert</a:t>
            </a:r>
            <a:pPr indent="0" marL="0">
              <a:buNone/>
            </a:pPr>
            <a:r>
              <a:rPr lang="en-US" sz="1100" dirty="0">
                <a:solidFill>
                  <a:srgbClr val="64748B"/>
                </a:solidFill>
              </a:rPr>
              <a:t>   ·   line weight = strength of evidence   ·   ✓ confirmed</a:t>
            </a:r>
            <a:endParaRPr lang="en-US" sz="1100" dirty="0"/>
          </a:p>
        </p:txBody>
      </p:sp>
      <p:sp>
        <p:nvSpPr>
          <p:cNvPr id="48" name="Shape 41"/>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49" name="Text 42"/>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KMS does not only find documents. It helps find the people behind the knowledge.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KNOWLEDGE RECOMMENDATION ENGINE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Proactive Knowledge Delivery</a:t>
            </a:r>
            <a:endParaRPr lang="en-US" sz="3000" dirty="0"/>
          </a:p>
        </p:txBody>
      </p:sp>
      <p:sp>
        <p:nvSpPr>
          <p:cNvPr id="4" name="Shape 2"/>
          <p:cNvSpPr/>
          <p:nvPr/>
        </p:nvSpPr>
        <p:spPr>
          <a:xfrm>
            <a:off x="548640" y="1600200"/>
            <a:ext cx="6035040" cy="3749040"/>
          </a:xfrm>
          <a:prstGeom prst="roundRect">
            <a:avLst>
              <a:gd name="adj" fmla="val 2927"/>
            </a:avLst>
          </a:prstGeom>
          <a:solidFill>
            <a:schemeClr val="bg2"/>
          </a:solidFill>
          <a:ln w="12700">
            <a:solidFill>
              <a:schemeClr val="bg2"/>
            </a:solidFill>
            <a:prstDash val="solid"/>
          </a:ln>
        </p:spPr>
      </p:sp>
      <p:sp>
        <p:nvSpPr>
          <p:cNvPr id="5" name="Shape 3"/>
          <p:cNvSpPr/>
          <p:nvPr/>
        </p:nvSpPr>
        <p:spPr>
          <a:xfrm>
            <a:off x="2331720" y="2240280"/>
            <a:ext cx="1005840" cy="914400"/>
          </a:xfrm>
          <a:prstGeom prst="line">
            <a:avLst/>
          </a:prstGeom>
          <a:noFill/>
          <a:ln w="19050">
            <a:solidFill>
              <a:srgbClr val="08ACD5"/>
            </a:solidFill>
            <a:prstDash val="solid"/>
            <a:tailEnd type="triangle"/>
          </a:ln>
        </p:spPr>
      </p:sp>
      <p:sp>
        <p:nvSpPr>
          <p:cNvPr id="6" name="Shape 4"/>
          <p:cNvSpPr/>
          <p:nvPr/>
        </p:nvSpPr>
        <p:spPr>
          <a:xfrm>
            <a:off x="731520" y="1828800"/>
            <a:ext cx="160020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7" name="Shape 5"/>
          <p:cNvSpPr/>
          <p:nvPr/>
        </p:nvSpPr>
        <p:spPr>
          <a:xfrm>
            <a:off x="841248" y="2029968"/>
            <a:ext cx="420624" cy="420624"/>
          </a:xfrm>
          <a:prstGeom prst="ellipse">
            <a:avLst/>
          </a:prstGeom>
          <a:solidFill>
            <a:schemeClr val="accent1"/>
          </a:solidFill>
          <a:ln w="12700">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946404" y="2135124"/>
            <a:ext cx="210312" cy="210312"/>
          </a:xfrm>
          <a:prstGeom prst="rect">
            <a:avLst/>
          </a:prstGeom>
        </p:spPr>
      </p:pic>
      <p:sp>
        <p:nvSpPr>
          <p:cNvPr id="9" name="Text 6"/>
          <p:cNvSpPr txBox="1"/>
          <p:nvPr/>
        </p:nvSpPr>
        <p:spPr>
          <a:xfrm>
            <a:off x="1325880" y="1828800"/>
            <a:ext cx="960120" cy="822960"/>
          </a:xfrm>
          <a:prstGeom prst="rect">
            <a:avLst/>
          </a:prstGeom>
          <a:noFill/>
          <a:ln/>
        </p:spPr>
        <p:txBody>
          <a:bodyPr wrap="square" lIns="0" tIns="0" rIns="0" bIns="0" rtlCol="0" anchor="ctr"/>
          <a:lstStyle/>
          <a:p>
            <a:pPr indent="0" marL="0">
              <a:buNone/>
            </a:pPr>
            <a:r>
              <a:rPr lang="en-US" sz="1100" b="1" dirty="0">
                <a:solidFill>
                  <a:schemeClr val="tx1"/>
                </a:solidFill>
              </a:rPr>
              <a:t>Your recent activity</a:t>
            </a:r>
            <a:endParaRPr lang="en-US" sz="1100" dirty="0"/>
          </a:p>
        </p:txBody>
      </p:sp>
      <p:sp>
        <p:nvSpPr>
          <p:cNvPr id="10" name="Shape 7"/>
          <p:cNvSpPr/>
          <p:nvPr/>
        </p:nvSpPr>
        <p:spPr>
          <a:xfrm flipV="1">
            <a:off x="2331720" y="3154680"/>
            <a:ext cx="1005840" cy="228600"/>
          </a:xfrm>
          <a:prstGeom prst="line">
            <a:avLst/>
          </a:prstGeom>
          <a:noFill/>
          <a:ln w="19050">
            <a:solidFill>
              <a:srgbClr val="08ACD5"/>
            </a:solidFill>
            <a:prstDash val="solid"/>
            <a:tailEnd type="triangle"/>
          </a:ln>
        </p:spPr>
      </p:sp>
      <p:sp>
        <p:nvSpPr>
          <p:cNvPr id="11" name="Shape 8"/>
          <p:cNvSpPr/>
          <p:nvPr/>
        </p:nvSpPr>
        <p:spPr>
          <a:xfrm>
            <a:off x="731520" y="2971800"/>
            <a:ext cx="160020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2" name="Shape 9"/>
          <p:cNvSpPr/>
          <p:nvPr/>
        </p:nvSpPr>
        <p:spPr>
          <a:xfrm>
            <a:off x="841248" y="3172968"/>
            <a:ext cx="420624" cy="420624"/>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946404" y="3278124"/>
            <a:ext cx="210312" cy="210312"/>
          </a:xfrm>
          <a:prstGeom prst="rect">
            <a:avLst/>
          </a:prstGeom>
        </p:spPr>
      </p:pic>
      <p:sp>
        <p:nvSpPr>
          <p:cNvPr id="14" name="Text 10"/>
          <p:cNvSpPr txBox="1"/>
          <p:nvPr/>
        </p:nvSpPr>
        <p:spPr>
          <a:xfrm>
            <a:off x="1325880" y="2971800"/>
            <a:ext cx="960120" cy="822960"/>
          </a:xfrm>
          <a:prstGeom prst="rect">
            <a:avLst/>
          </a:prstGeom>
          <a:noFill/>
          <a:ln/>
        </p:spPr>
        <p:txBody>
          <a:bodyPr wrap="square" lIns="0" tIns="0" rIns="0" bIns="0" rtlCol="0" anchor="ctr"/>
          <a:lstStyle/>
          <a:p>
            <a:pPr indent="0" marL="0">
              <a:buNone/>
            </a:pPr>
            <a:r>
              <a:rPr lang="en-US" sz="1100" b="1" dirty="0">
                <a:solidFill>
                  <a:schemeClr val="tx1"/>
                </a:solidFill>
              </a:rPr>
              <a:t>Related documents</a:t>
            </a:r>
            <a:endParaRPr lang="en-US" sz="1100" dirty="0"/>
          </a:p>
        </p:txBody>
      </p:sp>
      <p:sp>
        <p:nvSpPr>
          <p:cNvPr id="15" name="Shape 11"/>
          <p:cNvSpPr/>
          <p:nvPr/>
        </p:nvSpPr>
        <p:spPr>
          <a:xfrm flipV="1">
            <a:off x="2331720" y="3154680"/>
            <a:ext cx="1005840" cy="1371600"/>
          </a:xfrm>
          <a:prstGeom prst="line">
            <a:avLst/>
          </a:prstGeom>
          <a:noFill/>
          <a:ln w="19050">
            <a:solidFill>
              <a:srgbClr val="08ACD5"/>
            </a:solidFill>
            <a:prstDash val="solid"/>
            <a:tailEnd type="triangle"/>
          </a:ln>
        </p:spPr>
      </p:sp>
      <p:sp>
        <p:nvSpPr>
          <p:cNvPr id="16" name="Shape 12"/>
          <p:cNvSpPr/>
          <p:nvPr/>
        </p:nvSpPr>
        <p:spPr>
          <a:xfrm>
            <a:off x="731520" y="4114800"/>
            <a:ext cx="160020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7" name="Shape 13"/>
          <p:cNvSpPr/>
          <p:nvPr/>
        </p:nvSpPr>
        <p:spPr>
          <a:xfrm>
            <a:off x="841248" y="4315968"/>
            <a:ext cx="420624" cy="420624"/>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946404" y="4421124"/>
            <a:ext cx="210312" cy="210312"/>
          </a:xfrm>
          <a:prstGeom prst="rect">
            <a:avLst/>
          </a:prstGeom>
        </p:spPr>
      </p:pic>
      <p:sp>
        <p:nvSpPr>
          <p:cNvPr id="19" name="Text 14"/>
          <p:cNvSpPr txBox="1"/>
          <p:nvPr/>
        </p:nvSpPr>
        <p:spPr>
          <a:xfrm>
            <a:off x="1325880" y="4114800"/>
            <a:ext cx="960120" cy="822960"/>
          </a:xfrm>
          <a:prstGeom prst="rect">
            <a:avLst/>
          </a:prstGeom>
          <a:noFill/>
          <a:ln/>
        </p:spPr>
        <p:txBody>
          <a:bodyPr wrap="square" lIns="0" tIns="0" rIns="0" bIns="0" rtlCol="0" anchor="ctr"/>
          <a:lstStyle/>
          <a:p>
            <a:pPr indent="0" marL="0">
              <a:buNone/>
            </a:pPr>
            <a:r>
              <a:rPr lang="en-US" sz="1100" b="1" dirty="0">
                <a:solidFill>
                  <a:schemeClr val="tx1"/>
                </a:solidFill>
              </a:rPr>
              <a:t>Department trends</a:t>
            </a:r>
            <a:endParaRPr lang="en-US" sz="1100" dirty="0"/>
          </a:p>
        </p:txBody>
      </p:sp>
      <p:sp>
        <p:nvSpPr>
          <p:cNvPr id="20" name="Shape 15"/>
          <p:cNvSpPr/>
          <p:nvPr/>
        </p:nvSpPr>
        <p:spPr>
          <a:xfrm flipV="1">
            <a:off x="3337560" y="2240280"/>
            <a:ext cx="1033272" cy="914400"/>
          </a:xfrm>
          <a:prstGeom prst="line">
            <a:avLst/>
          </a:prstGeom>
          <a:noFill/>
          <a:ln w="19050">
            <a:solidFill>
              <a:srgbClr val="1B58D8"/>
            </a:solidFill>
            <a:prstDash val="solid"/>
            <a:tailEnd type="triangle"/>
          </a:ln>
        </p:spPr>
      </p:sp>
      <p:sp>
        <p:nvSpPr>
          <p:cNvPr id="21" name="Shape 16"/>
          <p:cNvSpPr/>
          <p:nvPr/>
        </p:nvSpPr>
        <p:spPr>
          <a:xfrm>
            <a:off x="3337560" y="3154680"/>
            <a:ext cx="1033272" cy="228600"/>
          </a:xfrm>
          <a:prstGeom prst="line">
            <a:avLst/>
          </a:prstGeom>
          <a:noFill/>
          <a:ln w="19050">
            <a:solidFill>
              <a:srgbClr val="1B58D8"/>
            </a:solidFill>
            <a:prstDash val="solid"/>
            <a:tailEnd type="triangle"/>
          </a:ln>
        </p:spPr>
      </p:sp>
      <p:sp>
        <p:nvSpPr>
          <p:cNvPr id="22" name="Shape 17"/>
          <p:cNvSpPr/>
          <p:nvPr/>
        </p:nvSpPr>
        <p:spPr>
          <a:xfrm>
            <a:off x="3337560" y="3154680"/>
            <a:ext cx="1033272" cy="1371600"/>
          </a:xfrm>
          <a:prstGeom prst="line">
            <a:avLst/>
          </a:prstGeom>
          <a:noFill/>
          <a:ln w="19050">
            <a:solidFill>
              <a:srgbClr val="1B58D8"/>
            </a:solidFill>
            <a:prstDash val="solid"/>
            <a:tailEnd type="triangle"/>
          </a:ln>
        </p:spPr>
      </p:sp>
      <p:sp>
        <p:nvSpPr>
          <p:cNvPr id="23" name="Shape 18"/>
          <p:cNvSpPr/>
          <p:nvPr/>
        </p:nvSpPr>
        <p:spPr>
          <a:xfrm>
            <a:off x="2679192" y="2496312"/>
            <a:ext cx="1316736" cy="1316736"/>
          </a:xfrm>
          <a:prstGeom prst="ellipse">
            <a:avLst/>
          </a:prstGeom>
          <a:solidFill>
            <a:schemeClr val="tx2"/>
          </a:solidFill>
          <a:ln w="31750">
            <a:solidFill>
              <a:schemeClr val="accent2"/>
            </a:solidFill>
            <a:prstDash val="solid"/>
          </a:ln>
        </p:spPr>
      </p:sp>
      <p:pic>
        <p:nvPicPr>
          <p:cNvPr id="24" name="Image 3" descr="preencoded.png">    </p:cNvPr>
          <p:cNvPicPr>
            <a:picLocks noChangeAspect="1"/>
          </p:cNvPicPr>
          <p:nvPr/>
        </p:nvPicPr>
        <p:blipFill>
          <a:blip r:embed="rId4"/>
          <a:stretch>
            <a:fillRect/>
          </a:stretch>
        </p:blipFill>
        <p:spPr>
          <a:xfrm>
            <a:off x="3172968" y="2679192"/>
            <a:ext cx="365760" cy="365760"/>
          </a:xfrm>
          <a:prstGeom prst="rect">
            <a:avLst/>
          </a:prstGeom>
        </p:spPr>
      </p:pic>
      <p:sp>
        <p:nvSpPr>
          <p:cNvPr id="25" name="Text 19"/>
          <p:cNvSpPr txBox="1"/>
          <p:nvPr/>
        </p:nvSpPr>
        <p:spPr>
          <a:xfrm>
            <a:off x="2697480" y="3081528"/>
            <a:ext cx="1316736" cy="274320"/>
          </a:xfrm>
          <a:prstGeom prst="rect">
            <a:avLst/>
          </a:prstGeom>
          <a:noFill/>
          <a:ln/>
        </p:spPr>
        <p:txBody>
          <a:bodyPr wrap="square" lIns="0" tIns="0" rIns="0" bIns="0" rtlCol="0" anchor="t"/>
          <a:lstStyle/>
          <a:p>
            <a:pPr algn="ctr" indent="0" marL="0">
              <a:buNone/>
            </a:pPr>
            <a:r>
              <a:rPr lang="en-US" sz="1300" b="1" dirty="0">
                <a:solidFill>
                  <a:schemeClr val="bg1"/>
                </a:solidFill>
              </a:rPr>
              <a:t>Ranking</a:t>
            </a:r>
            <a:endParaRPr lang="en-US" sz="1300" dirty="0"/>
          </a:p>
        </p:txBody>
      </p:sp>
      <p:sp>
        <p:nvSpPr>
          <p:cNvPr id="26" name="Text 20"/>
          <p:cNvSpPr txBox="1"/>
          <p:nvPr/>
        </p:nvSpPr>
        <p:spPr>
          <a:xfrm>
            <a:off x="2697480" y="3337560"/>
            <a:ext cx="1316736" cy="274320"/>
          </a:xfrm>
          <a:prstGeom prst="rect">
            <a:avLst/>
          </a:prstGeom>
          <a:noFill/>
          <a:ln/>
        </p:spPr>
        <p:txBody>
          <a:bodyPr wrap="square" lIns="0" tIns="0" rIns="0" bIns="0" rtlCol="0" anchor="t"/>
          <a:lstStyle/>
          <a:p>
            <a:pPr algn="ctr" indent="0" marL="0">
              <a:buNone/>
            </a:pPr>
            <a:r>
              <a:rPr lang="en-US" sz="1000" dirty="0">
                <a:solidFill>
                  <a:srgbClr val="CBD5E1"/>
                </a:solidFill>
              </a:rPr>
              <a:t>feedback-aware</a:t>
            </a:r>
            <a:endParaRPr lang="en-US" sz="1000" dirty="0"/>
          </a:p>
        </p:txBody>
      </p:sp>
      <p:sp>
        <p:nvSpPr>
          <p:cNvPr id="27" name="Shape 21"/>
          <p:cNvSpPr/>
          <p:nvPr/>
        </p:nvSpPr>
        <p:spPr>
          <a:xfrm>
            <a:off x="4389120" y="1828800"/>
            <a:ext cx="201168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8" name="Text 22"/>
          <p:cNvSpPr txBox="1"/>
          <p:nvPr/>
        </p:nvSpPr>
        <p:spPr>
          <a:xfrm>
            <a:off x="4526280" y="1920240"/>
            <a:ext cx="1783080" cy="411480"/>
          </a:xfrm>
          <a:prstGeom prst="rect">
            <a:avLst/>
          </a:prstGeom>
          <a:noFill/>
          <a:ln/>
        </p:spPr>
        <p:txBody>
          <a:bodyPr wrap="square" lIns="0" tIns="0" rIns="0" bIns="0" rtlCol="0" anchor="t"/>
          <a:lstStyle/>
          <a:p>
            <a:pPr indent="0" marL="0">
              <a:buNone/>
            </a:pPr>
            <a:r>
              <a:rPr lang="en-US" sz="1100" b="1" dirty="0">
                <a:solidFill>
                  <a:schemeClr val="tx2"/>
                </a:solidFill>
              </a:rPr>
              <a:t>Substation Inspection Guide</a:t>
            </a:r>
            <a:endParaRPr lang="en-US" sz="1100" dirty="0"/>
          </a:p>
        </p:txBody>
      </p:sp>
      <p:sp>
        <p:nvSpPr>
          <p:cNvPr id="29" name="Text 23"/>
          <p:cNvSpPr txBox="1"/>
          <p:nvPr/>
        </p:nvSpPr>
        <p:spPr>
          <a:xfrm>
            <a:off x="4526280" y="2331720"/>
            <a:ext cx="1463040" cy="256032"/>
          </a:xfrm>
          <a:prstGeom prst="rect">
            <a:avLst/>
          </a:prstGeom>
          <a:noFill/>
          <a:ln/>
        </p:spPr>
        <p:txBody>
          <a:bodyPr wrap="square" lIns="0" tIns="0" rIns="0" bIns="0" rtlCol="0" anchor="t"/>
          <a:lstStyle/>
          <a:p>
            <a:pPr indent="0" marL="0">
              <a:buNone/>
            </a:pPr>
            <a:r>
              <a:rPr lang="en-US" sz="950" dirty="0">
                <a:solidFill>
                  <a:srgbClr val="64748B"/>
                </a:solidFill>
              </a:rPr>
              <a:t>Related to what you viewed</a:t>
            </a:r>
            <a:endParaRPr lang="en-US" sz="950" dirty="0"/>
          </a:p>
        </p:txBody>
      </p:sp>
      <p:pic>
        <p:nvPicPr>
          <p:cNvPr id="30" name="Image 4" descr="preencoded.png">    </p:cNvPr>
          <p:cNvPicPr>
            <a:picLocks noChangeAspect="1"/>
          </p:cNvPicPr>
          <p:nvPr/>
        </p:nvPicPr>
        <p:blipFill>
          <a:blip r:embed="rId5"/>
          <a:stretch>
            <a:fillRect/>
          </a:stretch>
        </p:blipFill>
        <p:spPr>
          <a:xfrm>
            <a:off x="6108192" y="2350008"/>
            <a:ext cx="182880" cy="182880"/>
          </a:xfrm>
          <a:prstGeom prst="rect">
            <a:avLst/>
          </a:prstGeom>
        </p:spPr>
      </p:pic>
      <p:sp>
        <p:nvSpPr>
          <p:cNvPr id="31" name="Shape 24"/>
          <p:cNvSpPr/>
          <p:nvPr/>
        </p:nvSpPr>
        <p:spPr>
          <a:xfrm>
            <a:off x="4389120" y="2971800"/>
            <a:ext cx="201168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2" name="Text 25"/>
          <p:cNvSpPr txBox="1"/>
          <p:nvPr/>
        </p:nvSpPr>
        <p:spPr>
          <a:xfrm>
            <a:off x="4526280" y="3063240"/>
            <a:ext cx="1783080" cy="411480"/>
          </a:xfrm>
          <a:prstGeom prst="rect">
            <a:avLst/>
          </a:prstGeom>
          <a:noFill/>
          <a:ln/>
        </p:spPr>
        <p:txBody>
          <a:bodyPr wrap="square" lIns="0" tIns="0" rIns="0" bIns="0" rtlCol="0" anchor="t"/>
          <a:lstStyle/>
          <a:p>
            <a:pPr indent="0" marL="0">
              <a:buNone/>
            </a:pPr>
            <a:r>
              <a:rPr lang="en-US" sz="1100" b="1" dirty="0">
                <a:solidFill>
                  <a:schemeClr val="tx2"/>
                </a:solidFill>
              </a:rPr>
              <a:t>Vendor Risk Lessons 2025</a:t>
            </a:r>
            <a:endParaRPr lang="en-US" sz="1100" dirty="0"/>
          </a:p>
        </p:txBody>
      </p:sp>
      <p:sp>
        <p:nvSpPr>
          <p:cNvPr id="33" name="Text 26"/>
          <p:cNvSpPr txBox="1"/>
          <p:nvPr/>
        </p:nvSpPr>
        <p:spPr>
          <a:xfrm>
            <a:off x="4526280" y="3474720"/>
            <a:ext cx="1463040" cy="256032"/>
          </a:xfrm>
          <a:prstGeom prst="rect">
            <a:avLst/>
          </a:prstGeom>
          <a:noFill/>
          <a:ln/>
        </p:spPr>
        <p:txBody>
          <a:bodyPr wrap="square" lIns="0" tIns="0" rIns="0" bIns="0" rtlCol="0" anchor="t"/>
          <a:lstStyle/>
          <a:p>
            <a:pPr indent="0" marL="0">
              <a:buNone/>
            </a:pPr>
            <a:r>
              <a:rPr lang="en-US" sz="950" dirty="0">
                <a:solidFill>
                  <a:srgbClr val="64748B"/>
                </a:solidFill>
              </a:rPr>
              <a:t>Trending in your department</a:t>
            </a:r>
            <a:endParaRPr lang="en-US" sz="950" dirty="0"/>
          </a:p>
        </p:txBody>
      </p:sp>
      <p:pic>
        <p:nvPicPr>
          <p:cNvPr id="34" name="Image 5" descr="preencoded.png">    </p:cNvPr>
          <p:cNvPicPr>
            <a:picLocks noChangeAspect="1"/>
          </p:cNvPicPr>
          <p:nvPr/>
        </p:nvPicPr>
        <p:blipFill>
          <a:blip r:embed="rId6"/>
          <a:stretch>
            <a:fillRect/>
          </a:stretch>
        </p:blipFill>
        <p:spPr>
          <a:xfrm>
            <a:off x="6108192" y="3493008"/>
            <a:ext cx="182880" cy="182880"/>
          </a:xfrm>
          <a:prstGeom prst="rect">
            <a:avLst/>
          </a:prstGeom>
        </p:spPr>
      </p:pic>
      <p:sp>
        <p:nvSpPr>
          <p:cNvPr id="35" name="Shape 27"/>
          <p:cNvSpPr/>
          <p:nvPr/>
        </p:nvSpPr>
        <p:spPr>
          <a:xfrm>
            <a:off x="4389120" y="4114800"/>
            <a:ext cx="201168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6" name="Text 28"/>
          <p:cNvSpPr txBox="1"/>
          <p:nvPr/>
        </p:nvSpPr>
        <p:spPr>
          <a:xfrm>
            <a:off x="4526280" y="4206240"/>
            <a:ext cx="1783080" cy="411480"/>
          </a:xfrm>
          <a:prstGeom prst="rect">
            <a:avLst/>
          </a:prstGeom>
          <a:noFill/>
          <a:ln/>
        </p:spPr>
        <p:txBody>
          <a:bodyPr wrap="square" lIns="0" tIns="0" rIns="0" bIns="0" rtlCol="0" anchor="t"/>
          <a:lstStyle/>
          <a:p>
            <a:pPr indent="0" marL="0">
              <a:buNone/>
            </a:pPr>
            <a:r>
              <a:rPr lang="en-US" sz="1100" b="1" dirty="0">
                <a:solidFill>
                  <a:schemeClr val="tx2"/>
                </a:solidFill>
              </a:rPr>
              <a:t>Grid Resilience Plan</a:t>
            </a:r>
            <a:endParaRPr lang="en-US" sz="1100" dirty="0"/>
          </a:p>
        </p:txBody>
      </p:sp>
      <p:sp>
        <p:nvSpPr>
          <p:cNvPr id="37" name="Text 29"/>
          <p:cNvSpPr txBox="1"/>
          <p:nvPr/>
        </p:nvSpPr>
        <p:spPr>
          <a:xfrm>
            <a:off x="4526280" y="4617720"/>
            <a:ext cx="1463040" cy="256032"/>
          </a:xfrm>
          <a:prstGeom prst="rect">
            <a:avLst/>
          </a:prstGeom>
          <a:noFill/>
          <a:ln/>
        </p:spPr>
        <p:txBody>
          <a:bodyPr wrap="square" lIns="0" tIns="0" rIns="0" bIns="0" rtlCol="0" anchor="t"/>
          <a:lstStyle/>
          <a:p>
            <a:pPr indent="0" marL="0">
              <a:buNone/>
            </a:pPr>
            <a:r>
              <a:rPr lang="en-US" sz="950" dirty="0">
                <a:solidFill>
                  <a:srgbClr val="64748B"/>
                </a:solidFill>
              </a:rPr>
              <a:t>Connected to your project</a:t>
            </a:r>
            <a:endParaRPr lang="en-US" sz="950" dirty="0"/>
          </a:p>
        </p:txBody>
      </p:sp>
      <p:pic>
        <p:nvPicPr>
          <p:cNvPr id="38" name="Image 6" descr="preencoded.png">    </p:cNvPr>
          <p:cNvPicPr>
            <a:picLocks noChangeAspect="1"/>
          </p:cNvPicPr>
          <p:nvPr/>
        </p:nvPicPr>
        <p:blipFill>
          <a:blip r:embed="rId7"/>
          <a:stretch>
            <a:fillRect/>
          </a:stretch>
        </p:blipFill>
        <p:spPr>
          <a:xfrm>
            <a:off x="6108192" y="4636008"/>
            <a:ext cx="182880" cy="182880"/>
          </a:xfrm>
          <a:prstGeom prst="rect">
            <a:avLst/>
          </a:prstGeom>
        </p:spPr>
      </p:pic>
      <p:sp>
        <p:nvSpPr>
          <p:cNvPr id="39" name="Text 30"/>
          <p:cNvSpPr txBox="1"/>
          <p:nvPr/>
        </p:nvSpPr>
        <p:spPr>
          <a:xfrm>
            <a:off x="6949440" y="1600200"/>
            <a:ext cx="4690872" cy="228600"/>
          </a:xfrm>
          <a:prstGeom prst="rect">
            <a:avLst/>
          </a:prstGeom>
          <a:noFill/>
          <a:ln/>
        </p:spPr>
        <p:txBody>
          <a:bodyPr wrap="square" lIns="0" tIns="0" rIns="0" bIns="0" rtlCol="0" anchor="t"/>
          <a:lstStyle/>
          <a:p>
            <a:pPr indent="0" marL="0">
              <a:buNone/>
            </a:pPr>
            <a:r>
              <a:rPr lang="en-US" sz="1100" b="1" spc="200" kern="0" dirty="0">
                <a:solidFill>
                  <a:srgbClr val="64748B"/>
                </a:solidFill>
              </a:rPr>
              <a:t>THE CHALLENGE</a:t>
            </a:r>
            <a:endParaRPr lang="en-US" sz="1100" dirty="0"/>
          </a:p>
        </p:txBody>
      </p:sp>
      <p:sp>
        <p:nvSpPr>
          <p:cNvPr id="40" name="Text 31"/>
          <p:cNvSpPr txBox="1"/>
          <p:nvPr/>
        </p:nvSpPr>
        <p:spPr>
          <a:xfrm>
            <a:off x="6949440" y="1856232"/>
            <a:ext cx="4690872" cy="548640"/>
          </a:xfrm>
          <a:prstGeom prst="rect">
            <a:avLst/>
          </a:prstGeom>
          <a:noFill/>
          <a:ln/>
        </p:spPr>
        <p:txBody>
          <a:bodyPr wrap="square" lIns="0" tIns="0" rIns="0" bIns="0" rtlCol="0" anchor="t"/>
          <a:lstStyle/>
          <a:p>
            <a:pPr indent="0" marL="0">
              <a:buNone/>
            </a:pPr>
            <a:r>
              <a:rPr lang="en-US" sz="1400" dirty="0">
                <a:solidFill>
                  <a:srgbClr val="64748B"/>
                </a:solidFill>
              </a:rPr>
              <a:t>Employees rarely know which documents matter most for what they are doing now.</a:t>
            </a:r>
            <a:endParaRPr lang="en-US" sz="1400" dirty="0"/>
          </a:p>
        </p:txBody>
      </p:sp>
      <p:sp>
        <p:nvSpPr>
          <p:cNvPr id="41" name="Text 32"/>
          <p:cNvSpPr txBox="1"/>
          <p:nvPr/>
        </p:nvSpPr>
        <p:spPr>
          <a:xfrm>
            <a:off x="6949440" y="2578608"/>
            <a:ext cx="4690872"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WHAT KMS DOES</a:t>
            </a:r>
            <a:endParaRPr lang="en-US" sz="1100" dirty="0"/>
          </a:p>
        </p:txBody>
      </p:sp>
      <p:sp>
        <p:nvSpPr>
          <p:cNvPr id="42" name="Shape 33"/>
          <p:cNvSpPr/>
          <p:nvPr/>
        </p:nvSpPr>
        <p:spPr>
          <a:xfrm>
            <a:off x="6949440" y="2889504"/>
            <a:ext cx="237744" cy="237744"/>
          </a:xfrm>
          <a:prstGeom prst="ellipse">
            <a:avLst/>
          </a:prstGeom>
          <a:solidFill>
            <a:schemeClr val="accent2"/>
          </a:solidFill>
          <a:ln w="12700">
            <a:solidFill>
              <a:schemeClr val="accent2"/>
            </a:solidFill>
            <a:prstDash val="solid"/>
          </a:ln>
        </p:spPr>
      </p:sp>
      <p:pic>
        <p:nvPicPr>
          <p:cNvPr id="43" name="Image 7" descr="preencoded.png">    </p:cNvPr>
          <p:cNvPicPr>
            <a:picLocks noChangeAspect="1"/>
          </p:cNvPicPr>
          <p:nvPr/>
        </p:nvPicPr>
        <p:blipFill>
          <a:blip r:embed="rId8"/>
          <a:stretch>
            <a:fillRect/>
          </a:stretch>
        </p:blipFill>
        <p:spPr>
          <a:xfrm>
            <a:off x="7008876" y="2948940"/>
            <a:ext cx="118872" cy="118872"/>
          </a:xfrm>
          <a:prstGeom prst="rect">
            <a:avLst/>
          </a:prstGeom>
        </p:spPr>
      </p:pic>
      <p:sp>
        <p:nvSpPr>
          <p:cNvPr id="44" name="Text 34"/>
          <p:cNvSpPr txBox="1"/>
          <p:nvPr/>
        </p:nvSpPr>
        <p:spPr>
          <a:xfrm>
            <a:off x="7333488" y="2852928"/>
            <a:ext cx="4306824" cy="457200"/>
          </a:xfrm>
          <a:prstGeom prst="rect">
            <a:avLst/>
          </a:prstGeom>
          <a:noFill/>
          <a:ln/>
        </p:spPr>
        <p:txBody>
          <a:bodyPr wrap="square" lIns="0" tIns="0" rIns="0" bIns="0" rtlCol="0" anchor="t"/>
          <a:lstStyle/>
          <a:p>
            <a:pPr indent="0" marL="0">
              <a:buNone/>
            </a:pPr>
            <a:r>
              <a:rPr lang="en-US" sz="1400" dirty="0">
                <a:solidFill>
                  <a:schemeClr val="tx1"/>
                </a:solidFill>
              </a:rPr>
              <a:t>Personalized recommendations from recent activity</a:t>
            </a:r>
            <a:endParaRPr lang="en-US" sz="1400" dirty="0"/>
          </a:p>
        </p:txBody>
      </p:sp>
      <p:sp>
        <p:nvSpPr>
          <p:cNvPr id="45" name="Shape 35"/>
          <p:cNvSpPr/>
          <p:nvPr/>
        </p:nvSpPr>
        <p:spPr>
          <a:xfrm>
            <a:off x="6949440" y="3392424"/>
            <a:ext cx="237744" cy="237744"/>
          </a:xfrm>
          <a:prstGeom prst="ellipse">
            <a:avLst/>
          </a:prstGeom>
          <a:solidFill>
            <a:schemeClr val="accent2"/>
          </a:solidFill>
          <a:ln w="12700">
            <a:solidFill>
              <a:schemeClr val="accent2"/>
            </a:solidFill>
            <a:prstDash val="solid"/>
          </a:ln>
        </p:spPr>
      </p:sp>
      <p:pic>
        <p:nvPicPr>
          <p:cNvPr id="46" name="Image 8" descr="preencoded.png">    </p:cNvPr>
          <p:cNvPicPr>
            <a:picLocks noChangeAspect="1"/>
          </p:cNvPicPr>
          <p:nvPr/>
        </p:nvPicPr>
        <p:blipFill>
          <a:blip r:embed="rId9"/>
          <a:stretch>
            <a:fillRect/>
          </a:stretch>
        </p:blipFill>
        <p:spPr>
          <a:xfrm>
            <a:off x="7008876" y="3451860"/>
            <a:ext cx="118872" cy="118872"/>
          </a:xfrm>
          <a:prstGeom prst="rect">
            <a:avLst/>
          </a:prstGeom>
        </p:spPr>
      </p:pic>
      <p:sp>
        <p:nvSpPr>
          <p:cNvPr id="47" name="Text 36"/>
          <p:cNvSpPr txBox="1"/>
          <p:nvPr/>
        </p:nvSpPr>
        <p:spPr>
          <a:xfrm>
            <a:off x="7333488" y="3355848"/>
            <a:ext cx="4306824" cy="457200"/>
          </a:xfrm>
          <a:prstGeom prst="rect">
            <a:avLst/>
          </a:prstGeom>
          <a:noFill/>
          <a:ln/>
        </p:spPr>
        <p:txBody>
          <a:bodyPr wrap="square" lIns="0" tIns="0" rIns="0" bIns="0" rtlCol="0" anchor="t"/>
          <a:lstStyle/>
          <a:p>
            <a:pPr indent="0" marL="0">
              <a:buNone/>
            </a:pPr>
            <a:r>
              <a:rPr lang="en-US" sz="1400" dirty="0">
                <a:solidFill>
                  <a:schemeClr val="tx1"/>
                </a:solidFill>
              </a:rPr>
              <a:t>Feedback-aware ranking (helpful / not helpful)</a:t>
            </a:r>
            <a:endParaRPr lang="en-US" sz="1400" dirty="0"/>
          </a:p>
        </p:txBody>
      </p:sp>
      <p:sp>
        <p:nvSpPr>
          <p:cNvPr id="48" name="Shape 37"/>
          <p:cNvSpPr/>
          <p:nvPr/>
        </p:nvSpPr>
        <p:spPr>
          <a:xfrm>
            <a:off x="6949440" y="3895344"/>
            <a:ext cx="237744" cy="237744"/>
          </a:xfrm>
          <a:prstGeom prst="ellipse">
            <a:avLst/>
          </a:prstGeom>
          <a:solidFill>
            <a:schemeClr val="accent2"/>
          </a:solidFill>
          <a:ln w="12700">
            <a:solidFill>
              <a:schemeClr val="accent2"/>
            </a:solidFill>
            <a:prstDash val="solid"/>
          </a:ln>
        </p:spPr>
      </p:sp>
      <p:pic>
        <p:nvPicPr>
          <p:cNvPr id="49" name="Image 9" descr="preencoded.png">    </p:cNvPr>
          <p:cNvPicPr>
            <a:picLocks noChangeAspect="1"/>
          </p:cNvPicPr>
          <p:nvPr/>
        </p:nvPicPr>
        <p:blipFill>
          <a:blip r:embed="rId10"/>
          <a:stretch>
            <a:fillRect/>
          </a:stretch>
        </p:blipFill>
        <p:spPr>
          <a:xfrm>
            <a:off x="7008876" y="3954780"/>
            <a:ext cx="118872" cy="118872"/>
          </a:xfrm>
          <a:prstGeom prst="rect">
            <a:avLst/>
          </a:prstGeom>
        </p:spPr>
      </p:pic>
      <p:sp>
        <p:nvSpPr>
          <p:cNvPr id="50" name="Text 38"/>
          <p:cNvSpPr txBox="1"/>
          <p:nvPr/>
        </p:nvSpPr>
        <p:spPr>
          <a:xfrm>
            <a:off x="7333488" y="3858768"/>
            <a:ext cx="4306824" cy="457200"/>
          </a:xfrm>
          <a:prstGeom prst="rect">
            <a:avLst/>
          </a:prstGeom>
          <a:noFill/>
          <a:ln/>
        </p:spPr>
        <p:txBody>
          <a:bodyPr wrap="square" lIns="0" tIns="0" rIns="0" bIns="0" rtlCol="0" anchor="t"/>
          <a:lstStyle/>
          <a:p>
            <a:pPr indent="0" marL="0">
              <a:buNone/>
            </a:pPr>
            <a:r>
              <a:rPr lang="en-US" sz="1400" dirty="0">
                <a:solidFill>
                  <a:schemeClr val="tx1"/>
                </a:solidFill>
              </a:rPr>
              <a:t>Relationship-aware: follows connected documents</a:t>
            </a:r>
            <a:endParaRPr lang="en-US" sz="1400" dirty="0"/>
          </a:p>
        </p:txBody>
      </p:sp>
      <p:sp>
        <p:nvSpPr>
          <p:cNvPr id="51" name="Shape 39"/>
          <p:cNvSpPr/>
          <p:nvPr/>
        </p:nvSpPr>
        <p:spPr>
          <a:xfrm>
            <a:off x="6949440" y="4398264"/>
            <a:ext cx="237744" cy="237744"/>
          </a:xfrm>
          <a:prstGeom prst="ellipse">
            <a:avLst/>
          </a:prstGeom>
          <a:solidFill>
            <a:schemeClr val="accent2"/>
          </a:solidFill>
          <a:ln w="12700">
            <a:solidFill>
              <a:schemeClr val="accent2"/>
            </a:solidFill>
            <a:prstDash val="solid"/>
          </a:ln>
        </p:spPr>
      </p:sp>
      <p:pic>
        <p:nvPicPr>
          <p:cNvPr id="52" name="Image 10" descr="preencoded.png">    </p:cNvPr>
          <p:cNvPicPr>
            <a:picLocks noChangeAspect="1"/>
          </p:cNvPicPr>
          <p:nvPr/>
        </p:nvPicPr>
        <p:blipFill>
          <a:blip r:embed="rId11"/>
          <a:stretch>
            <a:fillRect/>
          </a:stretch>
        </p:blipFill>
        <p:spPr>
          <a:xfrm>
            <a:off x="7008876" y="4457700"/>
            <a:ext cx="118872" cy="118872"/>
          </a:xfrm>
          <a:prstGeom prst="rect">
            <a:avLst/>
          </a:prstGeom>
        </p:spPr>
      </p:pic>
      <p:sp>
        <p:nvSpPr>
          <p:cNvPr id="53" name="Text 40"/>
          <p:cNvSpPr txBox="1"/>
          <p:nvPr/>
        </p:nvSpPr>
        <p:spPr>
          <a:xfrm>
            <a:off x="7333488" y="4361688"/>
            <a:ext cx="4306824" cy="457200"/>
          </a:xfrm>
          <a:prstGeom prst="rect">
            <a:avLst/>
          </a:prstGeom>
          <a:noFill/>
          <a:ln/>
        </p:spPr>
        <p:txBody>
          <a:bodyPr wrap="square" lIns="0" tIns="0" rIns="0" bIns="0" rtlCol="0" anchor="t"/>
          <a:lstStyle/>
          <a:p>
            <a:pPr indent="0" marL="0">
              <a:buNone/>
            </a:pPr>
            <a:r>
              <a:rPr lang="en-US" sz="1400" dirty="0">
                <a:solidFill>
                  <a:schemeClr val="tx1"/>
                </a:solidFill>
              </a:rPr>
              <a:t>Department trending view for admins</a:t>
            </a:r>
            <a:endParaRPr lang="en-US" sz="1400" dirty="0"/>
          </a:p>
        </p:txBody>
      </p:sp>
      <p:sp>
        <p:nvSpPr>
          <p:cNvPr id="54" name="Shape 41"/>
          <p:cNvSpPr/>
          <p:nvPr/>
        </p:nvSpPr>
        <p:spPr>
          <a:xfrm>
            <a:off x="6949440" y="4901184"/>
            <a:ext cx="237744" cy="237744"/>
          </a:xfrm>
          <a:prstGeom prst="ellipse">
            <a:avLst/>
          </a:prstGeom>
          <a:solidFill>
            <a:schemeClr val="accent2"/>
          </a:solidFill>
          <a:ln w="12700">
            <a:solidFill>
              <a:schemeClr val="accent2"/>
            </a:solidFill>
            <a:prstDash val="solid"/>
          </a:ln>
        </p:spPr>
      </p:sp>
      <p:pic>
        <p:nvPicPr>
          <p:cNvPr id="55" name="Image 11" descr="preencoded.png">    </p:cNvPr>
          <p:cNvPicPr>
            <a:picLocks noChangeAspect="1"/>
          </p:cNvPicPr>
          <p:nvPr/>
        </p:nvPicPr>
        <p:blipFill>
          <a:blip r:embed="rId12"/>
          <a:stretch>
            <a:fillRect/>
          </a:stretch>
        </p:blipFill>
        <p:spPr>
          <a:xfrm>
            <a:off x="7008876" y="4960620"/>
            <a:ext cx="118872" cy="118872"/>
          </a:xfrm>
          <a:prstGeom prst="rect">
            <a:avLst/>
          </a:prstGeom>
        </p:spPr>
      </p:pic>
      <p:sp>
        <p:nvSpPr>
          <p:cNvPr id="56" name="Text 42"/>
          <p:cNvSpPr txBox="1"/>
          <p:nvPr/>
        </p:nvSpPr>
        <p:spPr>
          <a:xfrm>
            <a:off x="7333488" y="4864608"/>
            <a:ext cx="4306824" cy="457200"/>
          </a:xfrm>
          <a:prstGeom prst="rect">
            <a:avLst/>
          </a:prstGeom>
          <a:noFill/>
          <a:ln/>
        </p:spPr>
        <p:txBody>
          <a:bodyPr wrap="square" lIns="0" tIns="0" rIns="0" bIns="0" rtlCol="0" anchor="t"/>
          <a:lstStyle/>
          <a:p>
            <a:pPr indent="0" marL="0">
              <a:buNone/>
            </a:pPr>
            <a:r>
              <a:rPr lang="en-US" sz="1400" dirty="0">
                <a:solidFill>
                  <a:schemeClr val="tx1"/>
                </a:solidFill>
              </a:rPr>
              <a:t>Effectiveness summary shows real usage</a:t>
            </a:r>
            <a:endParaRPr lang="en-US" sz="1400" dirty="0"/>
          </a:p>
        </p:txBody>
      </p:sp>
      <p:sp>
        <p:nvSpPr>
          <p:cNvPr id="57" name="Shape 43"/>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58" name="Text 44"/>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KMS surfaces knowledge before users know exactly what to search for.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LESSONS LEARNED  ·  DECISION INTELLIGENCE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Preserve What Happened, What Was Learned, and Why</a:t>
            </a:r>
            <a:endParaRPr lang="en-US" sz="3000" dirty="0"/>
          </a:p>
        </p:txBody>
      </p:sp>
      <p:sp>
        <p:nvSpPr>
          <p:cNvPr id="4" name="Text 2"/>
          <p:cNvSpPr txBox="1"/>
          <p:nvPr/>
        </p:nvSpPr>
        <p:spPr>
          <a:xfrm>
            <a:off x="548640" y="1572768"/>
            <a:ext cx="512064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DECISION TIMELINE</a:t>
            </a:r>
            <a:endParaRPr lang="en-US" sz="1100" dirty="0"/>
          </a:p>
        </p:txBody>
      </p:sp>
      <p:sp>
        <p:nvSpPr>
          <p:cNvPr id="5" name="Shape 3"/>
          <p:cNvSpPr/>
          <p:nvPr/>
        </p:nvSpPr>
        <p:spPr>
          <a:xfrm>
            <a:off x="868680" y="2011680"/>
            <a:ext cx="914" cy="2743200"/>
          </a:xfrm>
          <a:prstGeom prst="line">
            <a:avLst/>
          </a:prstGeom>
          <a:noFill/>
          <a:ln w="25400">
            <a:solidFill>
              <a:srgbClr val="D5DCE6"/>
            </a:solidFill>
            <a:prstDash val="solid"/>
          </a:ln>
        </p:spPr>
      </p:sp>
      <p:sp>
        <p:nvSpPr>
          <p:cNvPr id="6" name="Shape 4"/>
          <p:cNvSpPr/>
          <p:nvPr/>
        </p:nvSpPr>
        <p:spPr>
          <a:xfrm>
            <a:off x="749808" y="2212848"/>
            <a:ext cx="237744" cy="237744"/>
          </a:xfrm>
          <a:prstGeom prst="ellipse">
            <a:avLst/>
          </a:prstGeom>
          <a:solidFill>
            <a:schemeClr val="accent5"/>
          </a:solidFill>
          <a:ln w="25400">
            <a:solidFill>
              <a:schemeClr val="bg1"/>
            </a:solidFill>
            <a:prstDash val="solid"/>
          </a:ln>
        </p:spPr>
      </p:sp>
      <p:sp>
        <p:nvSpPr>
          <p:cNvPr id="7" name="Shape 5"/>
          <p:cNvSpPr/>
          <p:nvPr/>
        </p:nvSpPr>
        <p:spPr>
          <a:xfrm>
            <a:off x="1188720" y="1920240"/>
            <a:ext cx="448056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8" name="Text 6"/>
          <p:cNvSpPr txBox="1"/>
          <p:nvPr/>
        </p:nvSpPr>
        <p:spPr>
          <a:xfrm>
            <a:off x="1371600" y="2011680"/>
            <a:ext cx="2286000" cy="228600"/>
          </a:xfrm>
          <a:prstGeom prst="rect">
            <a:avLst/>
          </a:prstGeom>
          <a:noFill/>
          <a:ln/>
        </p:spPr>
        <p:txBody>
          <a:bodyPr wrap="square" lIns="0" tIns="0" rIns="0" bIns="0" rtlCol="0" anchor="t"/>
          <a:lstStyle/>
          <a:p>
            <a:pPr indent="0" marL="0">
              <a:buNone/>
            </a:pPr>
            <a:r>
              <a:rPr lang="en-US" sz="1000" b="1" dirty="0">
                <a:solidFill>
                  <a:srgbClr val="64748B"/>
                </a:solidFill>
              </a:rPr>
              <a:t>2024 · Q4</a:t>
            </a:r>
            <a:endParaRPr lang="en-US" sz="1000" dirty="0"/>
          </a:p>
        </p:txBody>
      </p:sp>
      <p:sp>
        <p:nvSpPr>
          <p:cNvPr id="9" name="Text 7"/>
          <p:cNvSpPr txBox="1"/>
          <p:nvPr/>
        </p:nvSpPr>
        <p:spPr>
          <a:xfrm>
            <a:off x="1371600" y="2258568"/>
            <a:ext cx="2971800" cy="411480"/>
          </a:xfrm>
          <a:prstGeom prst="rect">
            <a:avLst/>
          </a:prstGeom>
          <a:noFill/>
          <a:ln/>
        </p:spPr>
        <p:txBody>
          <a:bodyPr wrap="square" lIns="0" tIns="0" rIns="0" bIns="0" rtlCol="0" anchor="t"/>
          <a:lstStyle/>
          <a:p>
            <a:pPr indent="0" marL="0">
              <a:buNone/>
            </a:pPr>
            <a:r>
              <a:rPr lang="en-US" sz="1300" b="1" dirty="0">
                <a:solidFill>
                  <a:schemeClr val="tx2"/>
                </a:solidFill>
              </a:rPr>
              <a:t>Adopt cloud-first records policy</a:t>
            </a:r>
            <a:endParaRPr lang="en-US" sz="1300" dirty="0"/>
          </a:p>
        </p:txBody>
      </p:sp>
      <p:sp>
        <p:nvSpPr>
          <p:cNvPr id="10" name="Shape 8"/>
          <p:cNvSpPr/>
          <p:nvPr/>
        </p:nvSpPr>
        <p:spPr>
          <a:xfrm>
            <a:off x="4434840" y="2194560"/>
            <a:ext cx="1097280" cy="292608"/>
          </a:xfrm>
          <a:prstGeom prst="roundRect">
            <a:avLst>
              <a:gd name="adj" fmla="val 50000"/>
            </a:avLst>
          </a:prstGeom>
          <a:solidFill>
            <a:schemeClr val="accent5"/>
          </a:solidFill>
          <a:ln w="12700">
            <a:solidFill>
              <a:schemeClr val="accent5"/>
            </a:solidFill>
            <a:prstDash val="solid"/>
          </a:ln>
        </p:spPr>
      </p:sp>
      <p:sp>
        <p:nvSpPr>
          <p:cNvPr id="11" name="Text 9"/>
          <p:cNvSpPr txBox="1"/>
          <p:nvPr/>
        </p:nvSpPr>
        <p:spPr>
          <a:xfrm>
            <a:off x="4434840" y="2194560"/>
            <a:ext cx="1097280" cy="292608"/>
          </a:xfrm>
          <a:prstGeom prst="rect">
            <a:avLst/>
          </a:prstGeom>
          <a:noFill/>
          <a:ln/>
        </p:spPr>
        <p:txBody>
          <a:bodyPr wrap="square" lIns="0" tIns="0" rIns="0" bIns="0" rtlCol="0" anchor="ctr"/>
          <a:lstStyle/>
          <a:p>
            <a:pPr algn="ctr" indent="0" marL="0">
              <a:buNone/>
            </a:pPr>
            <a:r>
              <a:rPr lang="en-US" sz="950" b="1" spc="100" kern="0" dirty="0">
                <a:solidFill>
                  <a:schemeClr val="bg1"/>
                </a:solidFill>
              </a:rPr>
              <a:t>SUPERSEDED</a:t>
            </a:r>
            <a:endParaRPr lang="en-US" sz="950" dirty="0"/>
          </a:p>
        </p:txBody>
      </p:sp>
      <p:sp>
        <p:nvSpPr>
          <p:cNvPr id="12" name="Shape 10"/>
          <p:cNvSpPr/>
          <p:nvPr/>
        </p:nvSpPr>
        <p:spPr>
          <a:xfrm>
            <a:off x="749808" y="3200400"/>
            <a:ext cx="237744" cy="237744"/>
          </a:xfrm>
          <a:prstGeom prst="ellipse">
            <a:avLst/>
          </a:prstGeom>
          <a:solidFill>
            <a:schemeClr val="accent4"/>
          </a:solidFill>
          <a:ln w="25400">
            <a:solidFill>
              <a:schemeClr val="bg1"/>
            </a:solidFill>
            <a:prstDash val="solid"/>
          </a:ln>
        </p:spPr>
      </p:sp>
      <p:sp>
        <p:nvSpPr>
          <p:cNvPr id="13" name="Shape 11"/>
          <p:cNvSpPr/>
          <p:nvPr/>
        </p:nvSpPr>
        <p:spPr>
          <a:xfrm>
            <a:off x="1188720" y="2907792"/>
            <a:ext cx="448056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4" name="Text 12"/>
          <p:cNvSpPr txBox="1"/>
          <p:nvPr/>
        </p:nvSpPr>
        <p:spPr>
          <a:xfrm>
            <a:off x="1371600" y="2999232"/>
            <a:ext cx="2286000" cy="228600"/>
          </a:xfrm>
          <a:prstGeom prst="rect">
            <a:avLst/>
          </a:prstGeom>
          <a:noFill/>
          <a:ln/>
        </p:spPr>
        <p:txBody>
          <a:bodyPr wrap="square" lIns="0" tIns="0" rIns="0" bIns="0" rtlCol="0" anchor="t"/>
          <a:lstStyle/>
          <a:p>
            <a:pPr indent="0" marL="0">
              <a:buNone/>
            </a:pPr>
            <a:r>
              <a:rPr lang="en-US" sz="1000" b="1" dirty="0">
                <a:solidFill>
                  <a:srgbClr val="64748B"/>
                </a:solidFill>
              </a:rPr>
              <a:t>2025 · Q2</a:t>
            </a:r>
            <a:endParaRPr lang="en-US" sz="1000" dirty="0"/>
          </a:p>
        </p:txBody>
      </p:sp>
      <p:sp>
        <p:nvSpPr>
          <p:cNvPr id="15" name="Text 13"/>
          <p:cNvSpPr txBox="1"/>
          <p:nvPr/>
        </p:nvSpPr>
        <p:spPr>
          <a:xfrm>
            <a:off x="1371600" y="3246120"/>
            <a:ext cx="2971800" cy="411480"/>
          </a:xfrm>
          <a:prstGeom prst="rect">
            <a:avLst/>
          </a:prstGeom>
          <a:noFill/>
          <a:ln/>
        </p:spPr>
        <p:txBody>
          <a:bodyPr wrap="square" lIns="0" tIns="0" rIns="0" bIns="0" rtlCol="0" anchor="t"/>
          <a:lstStyle/>
          <a:p>
            <a:pPr indent="0" marL="0">
              <a:buNone/>
            </a:pPr>
            <a:r>
              <a:rPr lang="en-US" sz="1300" b="1" dirty="0">
                <a:solidFill>
                  <a:schemeClr val="tx2"/>
                </a:solidFill>
              </a:rPr>
              <a:t>Standardize vendor risk review</a:t>
            </a:r>
            <a:endParaRPr lang="en-US" sz="1300" dirty="0"/>
          </a:p>
        </p:txBody>
      </p:sp>
      <p:sp>
        <p:nvSpPr>
          <p:cNvPr id="16" name="Shape 14"/>
          <p:cNvSpPr/>
          <p:nvPr/>
        </p:nvSpPr>
        <p:spPr>
          <a:xfrm>
            <a:off x="4434840" y="3182112"/>
            <a:ext cx="1097280" cy="292608"/>
          </a:xfrm>
          <a:prstGeom prst="roundRect">
            <a:avLst>
              <a:gd name="adj" fmla="val 50000"/>
            </a:avLst>
          </a:prstGeom>
          <a:solidFill>
            <a:schemeClr val="accent4"/>
          </a:solidFill>
          <a:ln w="12700">
            <a:solidFill>
              <a:schemeClr val="accent4"/>
            </a:solidFill>
            <a:prstDash val="solid"/>
          </a:ln>
        </p:spPr>
      </p:sp>
      <p:sp>
        <p:nvSpPr>
          <p:cNvPr id="17" name="Text 15"/>
          <p:cNvSpPr txBox="1"/>
          <p:nvPr/>
        </p:nvSpPr>
        <p:spPr>
          <a:xfrm>
            <a:off x="4434840" y="3182112"/>
            <a:ext cx="1097280" cy="292608"/>
          </a:xfrm>
          <a:prstGeom prst="rect">
            <a:avLst/>
          </a:prstGeom>
          <a:noFill/>
          <a:ln/>
        </p:spPr>
        <p:txBody>
          <a:bodyPr wrap="square" lIns="0" tIns="0" rIns="0" bIns="0" rtlCol="0" anchor="ctr"/>
          <a:lstStyle/>
          <a:p>
            <a:pPr algn="ctr" indent="0" marL="0">
              <a:buNone/>
            </a:pPr>
            <a:r>
              <a:rPr lang="en-US" sz="950" b="1" spc="100" kern="0" dirty="0">
                <a:solidFill>
                  <a:schemeClr val="bg1"/>
                </a:solidFill>
              </a:rPr>
              <a:t>ACTIVE</a:t>
            </a:r>
            <a:endParaRPr lang="en-US" sz="950" dirty="0"/>
          </a:p>
        </p:txBody>
      </p:sp>
      <p:sp>
        <p:nvSpPr>
          <p:cNvPr id="18" name="Shape 16"/>
          <p:cNvSpPr/>
          <p:nvPr/>
        </p:nvSpPr>
        <p:spPr>
          <a:xfrm>
            <a:off x="749808" y="4187952"/>
            <a:ext cx="237744" cy="237744"/>
          </a:xfrm>
          <a:prstGeom prst="ellipse">
            <a:avLst/>
          </a:prstGeom>
          <a:solidFill>
            <a:srgbClr val="C2410C"/>
          </a:solidFill>
          <a:ln w="25400">
            <a:solidFill>
              <a:schemeClr val="bg1"/>
            </a:solidFill>
            <a:prstDash val="solid"/>
          </a:ln>
        </p:spPr>
      </p:sp>
      <p:sp>
        <p:nvSpPr>
          <p:cNvPr id="19" name="Shape 17"/>
          <p:cNvSpPr/>
          <p:nvPr/>
        </p:nvSpPr>
        <p:spPr>
          <a:xfrm>
            <a:off x="1188720" y="3895344"/>
            <a:ext cx="4480560" cy="822960"/>
          </a:xfrm>
          <a:prstGeom prst="roundRect">
            <a:avLst>
              <a:gd name="adj" fmla="val 8889"/>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0" name="Text 18"/>
          <p:cNvSpPr txBox="1"/>
          <p:nvPr/>
        </p:nvSpPr>
        <p:spPr>
          <a:xfrm>
            <a:off x="1371600" y="3986784"/>
            <a:ext cx="2286000" cy="228600"/>
          </a:xfrm>
          <a:prstGeom prst="rect">
            <a:avLst/>
          </a:prstGeom>
          <a:noFill/>
          <a:ln/>
        </p:spPr>
        <p:txBody>
          <a:bodyPr wrap="square" lIns="0" tIns="0" rIns="0" bIns="0" rtlCol="0" anchor="t"/>
          <a:lstStyle/>
          <a:p>
            <a:pPr indent="0" marL="0">
              <a:buNone/>
            </a:pPr>
            <a:r>
              <a:rPr lang="en-US" sz="1000" b="1" dirty="0">
                <a:solidFill>
                  <a:srgbClr val="64748B"/>
                </a:solidFill>
              </a:rPr>
              <a:t>2025 · Q4</a:t>
            </a:r>
            <a:endParaRPr lang="en-US" sz="1000" dirty="0"/>
          </a:p>
        </p:txBody>
      </p:sp>
      <p:sp>
        <p:nvSpPr>
          <p:cNvPr id="21" name="Text 19"/>
          <p:cNvSpPr txBox="1"/>
          <p:nvPr/>
        </p:nvSpPr>
        <p:spPr>
          <a:xfrm>
            <a:off x="1371600" y="4233672"/>
            <a:ext cx="2971800" cy="411480"/>
          </a:xfrm>
          <a:prstGeom prst="rect">
            <a:avLst/>
          </a:prstGeom>
          <a:noFill/>
          <a:ln/>
        </p:spPr>
        <p:txBody>
          <a:bodyPr wrap="square" lIns="0" tIns="0" rIns="0" bIns="0" rtlCol="0" anchor="t"/>
          <a:lstStyle/>
          <a:p>
            <a:pPr indent="0" marL="0">
              <a:buNone/>
            </a:pPr>
            <a:r>
              <a:rPr lang="en-US" sz="1300" b="1" dirty="0">
                <a:solidFill>
                  <a:schemeClr val="tx2"/>
                </a:solidFill>
              </a:rPr>
              <a:t>Migrate legacy archive in one wave</a:t>
            </a:r>
            <a:endParaRPr lang="en-US" sz="1300" dirty="0"/>
          </a:p>
        </p:txBody>
      </p:sp>
      <p:sp>
        <p:nvSpPr>
          <p:cNvPr id="22" name="Shape 20"/>
          <p:cNvSpPr/>
          <p:nvPr/>
        </p:nvSpPr>
        <p:spPr>
          <a:xfrm>
            <a:off x="4434840" y="4169664"/>
            <a:ext cx="1097280" cy="292608"/>
          </a:xfrm>
          <a:prstGeom prst="roundRect">
            <a:avLst>
              <a:gd name="adj" fmla="val 50000"/>
            </a:avLst>
          </a:prstGeom>
          <a:solidFill>
            <a:srgbClr val="C2410C"/>
          </a:solidFill>
          <a:ln w="12700">
            <a:solidFill>
              <a:srgbClr val="C2410C"/>
            </a:solidFill>
            <a:prstDash val="solid"/>
          </a:ln>
        </p:spPr>
      </p:sp>
      <p:sp>
        <p:nvSpPr>
          <p:cNvPr id="23" name="Text 21"/>
          <p:cNvSpPr txBox="1"/>
          <p:nvPr/>
        </p:nvSpPr>
        <p:spPr>
          <a:xfrm>
            <a:off x="4434840" y="4169664"/>
            <a:ext cx="1097280" cy="292608"/>
          </a:xfrm>
          <a:prstGeom prst="rect">
            <a:avLst/>
          </a:prstGeom>
          <a:noFill/>
          <a:ln/>
        </p:spPr>
        <p:txBody>
          <a:bodyPr wrap="square" lIns="0" tIns="0" rIns="0" bIns="0" rtlCol="0" anchor="ctr"/>
          <a:lstStyle/>
          <a:p>
            <a:pPr algn="ctr" indent="0" marL="0">
              <a:buNone/>
            </a:pPr>
            <a:r>
              <a:rPr lang="en-US" sz="950" b="1" spc="100" kern="0" dirty="0">
                <a:solidFill>
                  <a:schemeClr val="bg1"/>
                </a:solidFill>
              </a:rPr>
              <a:t>REVERSED</a:t>
            </a:r>
            <a:endParaRPr lang="en-US" sz="950" dirty="0"/>
          </a:p>
        </p:txBody>
      </p:sp>
      <p:sp>
        <p:nvSpPr>
          <p:cNvPr id="24" name="Text 22"/>
          <p:cNvSpPr txBox="1"/>
          <p:nvPr/>
        </p:nvSpPr>
        <p:spPr>
          <a:xfrm>
            <a:off x="548640" y="4956048"/>
            <a:ext cx="1371600" cy="329184"/>
          </a:xfrm>
          <a:prstGeom prst="rect">
            <a:avLst/>
          </a:prstGeom>
          <a:noFill/>
          <a:ln/>
        </p:spPr>
        <p:txBody>
          <a:bodyPr wrap="square" lIns="0" tIns="0" rIns="0" bIns="0" rtlCol="0" anchor="ctr"/>
          <a:lstStyle/>
          <a:p>
            <a:pPr indent="0" marL="0">
              <a:buNone/>
            </a:pPr>
            <a:r>
              <a:rPr lang="en-US" sz="1100" b="1" dirty="0">
                <a:solidFill>
                  <a:srgbClr val="64748B"/>
                </a:solidFill>
              </a:rPr>
              <a:t>Review workflow</a:t>
            </a:r>
            <a:endParaRPr lang="en-US" sz="1100" dirty="0"/>
          </a:p>
        </p:txBody>
      </p:sp>
      <p:sp>
        <p:nvSpPr>
          <p:cNvPr id="25" name="Shape 23"/>
          <p:cNvSpPr/>
          <p:nvPr/>
        </p:nvSpPr>
        <p:spPr>
          <a:xfrm>
            <a:off x="1920240" y="4956048"/>
            <a:ext cx="1051560" cy="329184"/>
          </a:xfrm>
          <a:prstGeom prst="roundRect">
            <a:avLst>
              <a:gd name="adj" fmla="val 50000"/>
            </a:avLst>
          </a:prstGeom>
          <a:solidFill>
            <a:schemeClr val="bg2"/>
          </a:solidFill>
          <a:ln w="9525">
            <a:solidFill>
              <a:srgbClr val="D5DCE6"/>
            </a:solidFill>
            <a:prstDash val="solid"/>
          </a:ln>
        </p:spPr>
      </p:sp>
      <p:sp>
        <p:nvSpPr>
          <p:cNvPr id="26" name="Text 24"/>
          <p:cNvSpPr txBox="1"/>
          <p:nvPr/>
        </p:nvSpPr>
        <p:spPr>
          <a:xfrm>
            <a:off x="1920240" y="4956048"/>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Extracted</a:t>
            </a:r>
            <a:endParaRPr lang="en-US" sz="1100" dirty="0"/>
          </a:p>
        </p:txBody>
      </p:sp>
      <p:pic>
        <p:nvPicPr>
          <p:cNvPr id="27" name="Image 0" descr="preencoded.png">    </p:cNvPr>
          <p:cNvPicPr>
            <a:picLocks noChangeAspect="1"/>
          </p:cNvPicPr>
          <p:nvPr/>
        </p:nvPicPr>
        <p:blipFill>
          <a:blip r:embed="rId1"/>
          <a:stretch>
            <a:fillRect/>
          </a:stretch>
        </p:blipFill>
        <p:spPr>
          <a:xfrm>
            <a:off x="3008376" y="5047488"/>
            <a:ext cx="155448" cy="146304"/>
          </a:xfrm>
          <a:prstGeom prst="rect">
            <a:avLst/>
          </a:prstGeom>
        </p:spPr>
      </p:pic>
      <p:sp>
        <p:nvSpPr>
          <p:cNvPr id="28" name="Shape 25"/>
          <p:cNvSpPr/>
          <p:nvPr/>
        </p:nvSpPr>
        <p:spPr>
          <a:xfrm>
            <a:off x="3200400" y="4956048"/>
            <a:ext cx="1051560" cy="329184"/>
          </a:xfrm>
          <a:prstGeom prst="roundRect">
            <a:avLst>
              <a:gd name="adj" fmla="val 50000"/>
            </a:avLst>
          </a:prstGeom>
          <a:solidFill>
            <a:schemeClr val="bg2"/>
          </a:solidFill>
          <a:ln w="9525">
            <a:solidFill>
              <a:srgbClr val="D5DCE6"/>
            </a:solidFill>
            <a:prstDash val="solid"/>
          </a:ln>
        </p:spPr>
      </p:sp>
      <p:sp>
        <p:nvSpPr>
          <p:cNvPr id="29" name="Text 26"/>
          <p:cNvSpPr txBox="1"/>
          <p:nvPr/>
        </p:nvSpPr>
        <p:spPr>
          <a:xfrm>
            <a:off x="3200400" y="4956048"/>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Reviewed</a:t>
            </a:r>
            <a:endParaRPr lang="en-US" sz="1100" dirty="0"/>
          </a:p>
        </p:txBody>
      </p:sp>
      <p:pic>
        <p:nvPicPr>
          <p:cNvPr id="30" name="Image 1" descr="preencoded.png">    </p:cNvPr>
          <p:cNvPicPr>
            <a:picLocks noChangeAspect="1"/>
          </p:cNvPicPr>
          <p:nvPr/>
        </p:nvPicPr>
        <p:blipFill>
          <a:blip r:embed="rId2"/>
          <a:stretch>
            <a:fillRect/>
          </a:stretch>
        </p:blipFill>
        <p:spPr>
          <a:xfrm>
            <a:off x="4288536" y="5047488"/>
            <a:ext cx="155448" cy="146304"/>
          </a:xfrm>
          <a:prstGeom prst="rect">
            <a:avLst/>
          </a:prstGeom>
        </p:spPr>
      </p:pic>
      <p:sp>
        <p:nvSpPr>
          <p:cNvPr id="31" name="Shape 27"/>
          <p:cNvSpPr/>
          <p:nvPr/>
        </p:nvSpPr>
        <p:spPr>
          <a:xfrm>
            <a:off x="4480560" y="4956048"/>
            <a:ext cx="1051560" cy="329184"/>
          </a:xfrm>
          <a:prstGeom prst="roundRect">
            <a:avLst>
              <a:gd name="adj" fmla="val 50000"/>
            </a:avLst>
          </a:prstGeom>
          <a:solidFill>
            <a:schemeClr val="accent1"/>
          </a:solidFill>
          <a:ln w="9525">
            <a:solidFill>
              <a:schemeClr val="accent1"/>
            </a:solidFill>
            <a:prstDash val="solid"/>
          </a:ln>
        </p:spPr>
      </p:sp>
      <p:sp>
        <p:nvSpPr>
          <p:cNvPr id="32" name="Text 28"/>
          <p:cNvSpPr txBox="1"/>
          <p:nvPr/>
        </p:nvSpPr>
        <p:spPr>
          <a:xfrm>
            <a:off x="4480560" y="4956048"/>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Approved</a:t>
            </a:r>
            <a:endParaRPr lang="en-US" sz="1100" dirty="0"/>
          </a:p>
        </p:txBody>
      </p:sp>
      <p:sp>
        <p:nvSpPr>
          <p:cNvPr id="33" name="Text 29"/>
          <p:cNvSpPr txBox="1"/>
          <p:nvPr/>
        </p:nvSpPr>
        <p:spPr>
          <a:xfrm>
            <a:off x="6309360" y="1572768"/>
            <a:ext cx="530352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ORGANIZATIONAL MEMORY</a:t>
            </a:r>
            <a:endParaRPr lang="en-US" sz="1100" dirty="0"/>
          </a:p>
        </p:txBody>
      </p:sp>
      <p:sp>
        <p:nvSpPr>
          <p:cNvPr id="34" name="Shape 30"/>
          <p:cNvSpPr/>
          <p:nvPr/>
        </p:nvSpPr>
        <p:spPr>
          <a:xfrm>
            <a:off x="6309360" y="1920240"/>
            <a:ext cx="5330952" cy="1783080"/>
          </a:xfrm>
          <a:prstGeom prst="roundRect">
            <a:avLst>
              <a:gd name="adj" fmla="val 4103"/>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5" name="Shape 31"/>
          <p:cNvSpPr/>
          <p:nvPr/>
        </p:nvSpPr>
        <p:spPr>
          <a:xfrm>
            <a:off x="6537960" y="2148840"/>
            <a:ext cx="548640" cy="548640"/>
          </a:xfrm>
          <a:prstGeom prst="ellipse">
            <a:avLst/>
          </a:prstGeom>
          <a:solidFill>
            <a:schemeClr val="accent6"/>
          </a:solidFill>
          <a:ln w="12700">
            <a:solidFill>
              <a:schemeClr val="accent6"/>
            </a:solidFill>
            <a:prstDash val="solid"/>
          </a:ln>
        </p:spPr>
      </p:sp>
      <p:pic>
        <p:nvPicPr>
          <p:cNvPr id="36" name="Image 2" descr="preencoded.png">    </p:cNvPr>
          <p:cNvPicPr>
            <a:picLocks noChangeAspect="1"/>
          </p:cNvPicPr>
          <p:nvPr/>
        </p:nvPicPr>
        <p:blipFill>
          <a:blip r:embed="rId3"/>
          <a:stretch>
            <a:fillRect/>
          </a:stretch>
        </p:blipFill>
        <p:spPr>
          <a:xfrm>
            <a:off x="6675120" y="2286000"/>
            <a:ext cx="274320" cy="274320"/>
          </a:xfrm>
          <a:prstGeom prst="rect">
            <a:avLst/>
          </a:prstGeom>
        </p:spPr>
      </p:pic>
      <p:sp>
        <p:nvSpPr>
          <p:cNvPr id="37" name="Text 32"/>
          <p:cNvSpPr txBox="1"/>
          <p:nvPr/>
        </p:nvSpPr>
        <p:spPr>
          <a:xfrm>
            <a:off x="7269480" y="2148840"/>
            <a:ext cx="274320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LESSON LEARNED</a:t>
            </a:r>
            <a:endParaRPr lang="en-US" sz="1000" dirty="0"/>
          </a:p>
        </p:txBody>
      </p:sp>
      <p:sp>
        <p:nvSpPr>
          <p:cNvPr id="38" name="Text 33"/>
          <p:cNvSpPr txBox="1"/>
          <p:nvPr/>
        </p:nvSpPr>
        <p:spPr>
          <a:xfrm>
            <a:off x="7269480" y="2395728"/>
            <a:ext cx="4206240" cy="640080"/>
          </a:xfrm>
          <a:prstGeom prst="rect">
            <a:avLst/>
          </a:prstGeom>
          <a:noFill/>
          <a:ln/>
        </p:spPr>
        <p:txBody>
          <a:bodyPr wrap="square" lIns="0" tIns="0" rIns="0" bIns="0" rtlCol="0" anchor="t"/>
          <a:lstStyle/>
          <a:p>
            <a:pPr indent="0" marL="0">
              <a:buNone/>
            </a:pPr>
            <a:r>
              <a:rPr lang="en-US" sz="1500" b="1" dirty="0">
                <a:solidFill>
                  <a:schemeClr val="tx2"/>
                </a:solidFill>
              </a:rPr>
              <a:t>Validate vendor data residency before contract signature</a:t>
            </a:r>
            <a:endParaRPr lang="en-US" sz="1500" dirty="0"/>
          </a:p>
        </p:txBody>
      </p:sp>
      <p:sp>
        <p:nvSpPr>
          <p:cNvPr id="39" name="Text 34"/>
          <p:cNvSpPr txBox="1"/>
          <p:nvPr/>
        </p:nvSpPr>
        <p:spPr>
          <a:xfrm>
            <a:off x="7269480" y="3154680"/>
            <a:ext cx="4206240" cy="274320"/>
          </a:xfrm>
          <a:prstGeom prst="rect">
            <a:avLst/>
          </a:prstGeom>
          <a:noFill/>
          <a:ln/>
        </p:spPr>
        <p:txBody>
          <a:bodyPr wrap="square" lIns="0" tIns="0" rIns="0" bIns="0" rtlCol="0" anchor="t"/>
          <a:lstStyle/>
          <a:p>
            <a:pPr indent="0" marL="0">
              <a:buNone/>
            </a:pPr>
            <a:r>
              <a:rPr lang="en-US" sz="1100" dirty="0">
                <a:solidFill>
                  <a:srgbClr val="64748B"/>
                </a:solidFill>
              </a:rPr>
              <a:t>Approved  ·  grounds chat answers  ·  searchable</a:t>
            </a:r>
            <a:endParaRPr lang="en-US" sz="1100" dirty="0"/>
          </a:p>
        </p:txBody>
      </p:sp>
      <p:sp>
        <p:nvSpPr>
          <p:cNvPr id="40" name="Shape 35"/>
          <p:cNvSpPr/>
          <p:nvPr/>
        </p:nvSpPr>
        <p:spPr>
          <a:xfrm>
            <a:off x="7589520" y="3703320"/>
            <a:ext cx="914" cy="365760"/>
          </a:xfrm>
          <a:prstGeom prst="line">
            <a:avLst/>
          </a:prstGeom>
          <a:noFill/>
          <a:ln w="19050">
            <a:solidFill>
              <a:srgbClr val="94A3B8"/>
            </a:solidFill>
            <a:prstDash val="solid"/>
            <a:headEnd type="triangle"/>
          </a:ln>
        </p:spPr>
      </p:sp>
      <p:sp>
        <p:nvSpPr>
          <p:cNvPr id="41" name="Shape 36"/>
          <p:cNvSpPr/>
          <p:nvPr/>
        </p:nvSpPr>
        <p:spPr>
          <a:xfrm>
            <a:off x="6309360" y="4069080"/>
            <a:ext cx="2587752" cy="1216152"/>
          </a:xfrm>
          <a:prstGeom prst="roundRect">
            <a:avLst>
              <a:gd name="adj" fmla="val 6015"/>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2" name="Shape 37"/>
          <p:cNvSpPr/>
          <p:nvPr/>
        </p:nvSpPr>
        <p:spPr>
          <a:xfrm>
            <a:off x="6473952" y="4251960"/>
            <a:ext cx="420624" cy="420624"/>
          </a:xfrm>
          <a:prstGeom prst="ellipse">
            <a:avLst/>
          </a:prstGeom>
          <a:solidFill>
            <a:schemeClr val="accent4"/>
          </a:solidFill>
          <a:ln w="12700">
            <a:solidFill>
              <a:schemeClr val="accent4"/>
            </a:solidFill>
            <a:prstDash val="solid"/>
          </a:ln>
        </p:spPr>
      </p:sp>
      <p:pic>
        <p:nvPicPr>
          <p:cNvPr id="43" name="Image 3" descr="preencoded.png">    </p:cNvPr>
          <p:cNvPicPr>
            <a:picLocks noChangeAspect="1"/>
          </p:cNvPicPr>
          <p:nvPr/>
        </p:nvPicPr>
        <p:blipFill>
          <a:blip r:embed="rId4"/>
          <a:stretch>
            <a:fillRect/>
          </a:stretch>
        </p:blipFill>
        <p:spPr>
          <a:xfrm>
            <a:off x="6579108" y="4357116"/>
            <a:ext cx="210312" cy="210312"/>
          </a:xfrm>
          <a:prstGeom prst="rect">
            <a:avLst/>
          </a:prstGeom>
        </p:spPr>
      </p:pic>
      <p:sp>
        <p:nvSpPr>
          <p:cNvPr id="44" name="Text 38"/>
          <p:cNvSpPr txBox="1"/>
          <p:nvPr/>
        </p:nvSpPr>
        <p:spPr>
          <a:xfrm>
            <a:off x="7022592" y="4251960"/>
            <a:ext cx="1783080" cy="228600"/>
          </a:xfrm>
          <a:prstGeom prst="rect">
            <a:avLst/>
          </a:prstGeom>
          <a:noFill/>
          <a:ln/>
        </p:spPr>
        <p:txBody>
          <a:bodyPr wrap="square" lIns="0" tIns="0" rIns="0" bIns="0" rtlCol="0" anchor="t"/>
          <a:lstStyle/>
          <a:p>
            <a:pPr indent="0" marL="0">
              <a:buNone/>
            </a:pPr>
            <a:r>
              <a:rPr lang="en-US" sz="1000" b="1" spc="100" kern="0" dirty="0">
                <a:solidFill>
                  <a:srgbClr val="64748B"/>
                </a:solidFill>
              </a:rPr>
              <a:t>SOURCE DECISION</a:t>
            </a:r>
            <a:endParaRPr lang="en-US" sz="1000" dirty="0"/>
          </a:p>
        </p:txBody>
      </p:sp>
      <p:sp>
        <p:nvSpPr>
          <p:cNvPr id="45" name="Text 39"/>
          <p:cNvSpPr txBox="1"/>
          <p:nvPr/>
        </p:nvSpPr>
        <p:spPr>
          <a:xfrm>
            <a:off x="7022592" y="4498848"/>
            <a:ext cx="1783080" cy="685800"/>
          </a:xfrm>
          <a:prstGeom prst="rect">
            <a:avLst/>
          </a:prstGeom>
          <a:noFill/>
          <a:ln/>
        </p:spPr>
        <p:txBody>
          <a:bodyPr wrap="square" lIns="0" tIns="0" rIns="0" bIns="0" rtlCol="0" anchor="t"/>
          <a:lstStyle/>
          <a:p>
            <a:pPr indent="0" marL="0">
              <a:buNone/>
            </a:pPr>
            <a:r>
              <a:rPr lang="en-US" sz="1300" b="1" dirty="0">
                <a:solidFill>
                  <a:schemeClr val="tx2"/>
                </a:solidFill>
              </a:rPr>
              <a:t>Standardize vendor risk review</a:t>
            </a:r>
            <a:endParaRPr lang="en-US" sz="1300" dirty="0"/>
          </a:p>
        </p:txBody>
      </p:sp>
      <p:sp>
        <p:nvSpPr>
          <p:cNvPr id="46" name="Shape 40"/>
          <p:cNvSpPr/>
          <p:nvPr/>
        </p:nvSpPr>
        <p:spPr>
          <a:xfrm>
            <a:off x="10332720" y="3703320"/>
            <a:ext cx="914" cy="365760"/>
          </a:xfrm>
          <a:prstGeom prst="line">
            <a:avLst/>
          </a:prstGeom>
          <a:noFill/>
          <a:ln w="19050">
            <a:solidFill>
              <a:srgbClr val="94A3B8"/>
            </a:solidFill>
            <a:prstDash val="solid"/>
            <a:headEnd type="triangle"/>
          </a:ln>
        </p:spPr>
      </p:sp>
      <p:sp>
        <p:nvSpPr>
          <p:cNvPr id="47" name="Shape 41"/>
          <p:cNvSpPr/>
          <p:nvPr/>
        </p:nvSpPr>
        <p:spPr>
          <a:xfrm>
            <a:off x="9052560" y="4069080"/>
            <a:ext cx="2587752" cy="1216152"/>
          </a:xfrm>
          <a:prstGeom prst="roundRect">
            <a:avLst>
              <a:gd name="adj" fmla="val 6015"/>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8" name="Shape 42"/>
          <p:cNvSpPr/>
          <p:nvPr/>
        </p:nvSpPr>
        <p:spPr>
          <a:xfrm>
            <a:off x="9217152" y="4251960"/>
            <a:ext cx="420624" cy="420624"/>
          </a:xfrm>
          <a:prstGeom prst="ellipse">
            <a:avLst/>
          </a:prstGeom>
          <a:solidFill>
            <a:schemeClr val="accent1"/>
          </a:solidFill>
          <a:ln w="12700">
            <a:solidFill>
              <a:schemeClr val="accent1"/>
            </a:solidFill>
            <a:prstDash val="solid"/>
          </a:ln>
        </p:spPr>
      </p:sp>
      <p:pic>
        <p:nvPicPr>
          <p:cNvPr id="49" name="Image 4" descr="preencoded.png">    </p:cNvPr>
          <p:cNvPicPr>
            <a:picLocks noChangeAspect="1"/>
          </p:cNvPicPr>
          <p:nvPr/>
        </p:nvPicPr>
        <p:blipFill>
          <a:blip r:embed="rId5"/>
          <a:stretch>
            <a:fillRect/>
          </a:stretch>
        </p:blipFill>
        <p:spPr>
          <a:xfrm>
            <a:off x="9322308" y="4357116"/>
            <a:ext cx="210312" cy="210312"/>
          </a:xfrm>
          <a:prstGeom prst="rect">
            <a:avLst/>
          </a:prstGeom>
        </p:spPr>
      </p:pic>
      <p:sp>
        <p:nvSpPr>
          <p:cNvPr id="50" name="Text 43"/>
          <p:cNvSpPr txBox="1"/>
          <p:nvPr/>
        </p:nvSpPr>
        <p:spPr>
          <a:xfrm>
            <a:off x="9765792" y="4251960"/>
            <a:ext cx="1783080" cy="228600"/>
          </a:xfrm>
          <a:prstGeom prst="rect">
            <a:avLst/>
          </a:prstGeom>
          <a:noFill/>
          <a:ln/>
        </p:spPr>
        <p:txBody>
          <a:bodyPr wrap="square" lIns="0" tIns="0" rIns="0" bIns="0" rtlCol="0" anchor="t"/>
          <a:lstStyle/>
          <a:p>
            <a:pPr indent="0" marL="0">
              <a:buNone/>
            </a:pPr>
            <a:r>
              <a:rPr lang="en-US" sz="1000" b="1" spc="100" kern="0" dirty="0">
                <a:solidFill>
                  <a:srgbClr val="64748B"/>
                </a:solidFill>
              </a:rPr>
              <a:t>SOURCE DOCUMENT</a:t>
            </a:r>
            <a:endParaRPr lang="en-US" sz="1000" dirty="0"/>
          </a:p>
        </p:txBody>
      </p:sp>
      <p:sp>
        <p:nvSpPr>
          <p:cNvPr id="51" name="Text 44"/>
          <p:cNvSpPr txBox="1"/>
          <p:nvPr/>
        </p:nvSpPr>
        <p:spPr>
          <a:xfrm>
            <a:off x="9765792" y="4498848"/>
            <a:ext cx="1783080" cy="685800"/>
          </a:xfrm>
          <a:prstGeom prst="rect">
            <a:avLst/>
          </a:prstGeom>
          <a:noFill/>
          <a:ln/>
        </p:spPr>
        <p:txBody>
          <a:bodyPr wrap="square" lIns="0" tIns="0" rIns="0" bIns="0" rtlCol="0" anchor="t"/>
          <a:lstStyle/>
          <a:p>
            <a:pPr indent="0" marL="0">
              <a:buNone/>
            </a:pPr>
            <a:r>
              <a:rPr lang="en-US" sz="1300" b="1" dirty="0">
                <a:solidFill>
                  <a:schemeClr val="tx2"/>
                </a:solidFill>
              </a:rPr>
              <a:t>Vendor Assessment Report</a:t>
            </a:r>
            <a:endParaRPr lang="en-US" sz="1300" dirty="0"/>
          </a:p>
        </p:txBody>
      </p:sp>
      <p:sp>
        <p:nvSpPr>
          <p:cNvPr id="52" name="Shape 45"/>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53" name="Text 46"/>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KMS preserves not just what the organization knows, but why it knows it.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RELATIONSHIP DISCOVERY  ·  KNOWLEDGE GRAPH</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Reveal Hidden Connections Across the Enterprise</a:t>
            </a:r>
            <a:endParaRPr lang="en-US" sz="3000" dirty="0"/>
          </a:p>
        </p:txBody>
      </p:sp>
      <p:sp>
        <p:nvSpPr>
          <p:cNvPr id="4" name="Text 2"/>
          <p:cNvSpPr txBox="1"/>
          <p:nvPr/>
        </p:nvSpPr>
        <p:spPr>
          <a:xfrm>
            <a:off x="548640" y="1600200"/>
            <a:ext cx="384048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WHAT KMS DOES</a:t>
            </a:r>
            <a:endParaRPr lang="en-US" sz="1100" dirty="0"/>
          </a:p>
        </p:txBody>
      </p:sp>
      <p:sp>
        <p:nvSpPr>
          <p:cNvPr id="5" name="Shape 3"/>
          <p:cNvSpPr/>
          <p:nvPr/>
        </p:nvSpPr>
        <p:spPr>
          <a:xfrm>
            <a:off x="548640" y="1938528"/>
            <a:ext cx="237744" cy="237744"/>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608076" y="1997964"/>
            <a:ext cx="118872" cy="118872"/>
          </a:xfrm>
          <a:prstGeom prst="rect">
            <a:avLst/>
          </a:prstGeom>
        </p:spPr>
      </p:pic>
      <p:sp>
        <p:nvSpPr>
          <p:cNvPr id="7" name="Text 4"/>
          <p:cNvSpPr txBox="1"/>
          <p:nvPr/>
        </p:nvSpPr>
        <p:spPr>
          <a:xfrm>
            <a:off x="932688" y="1901952"/>
            <a:ext cx="3456432" cy="822960"/>
          </a:xfrm>
          <a:prstGeom prst="rect">
            <a:avLst/>
          </a:prstGeom>
          <a:noFill/>
          <a:ln/>
        </p:spPr>
        <p:txBody>
          <a:bodyPr wrap="square" lIns="0" tIns="0" rIns="0" bIns="0" rtlCol="0" anchor="t"/>
          <a:lstStyle/>
          <a:p>
            <a:pPr indent="0" marL="0">
              <a:buNone/>
            </a:pPr>
            <a:r>
              <a:rPr lang="en-US" sz="1400" dirty="0">
                <a:solidFill>
                  <a:schemeClr val="tx1"/>
                </a:solidFill>
              </a:rPr>
              <a:t>Multi-signal discovery: semantic similarity, topics, entities, projects, decisions, lessons</a:t>
            </a:r>
            <a:endParaRPr lang="en-US" sz="1400" dirty="0"/>
          </a:p>
        </p:txBody>
      </p:sp>
      <p:sp>
        <p:nvSpPr>
          <p:cNvPr id="8" name="Shape 5"/>
          <p:cNvSpPr/>
          <p:nvPr/>
        </p:nvSpPr>
        <p:spPr>
          <a:xfrm>
            <a:off x="548640" y="2807208"/>
            <a:ext cx="237744" cy="237744"/>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08076" y="2866644"/>
            <a:ext cx="118872" cy="118872"/>
          </a:xfrm>
          <a:prstGeom prst="rect">
            <a:avLst/>
          </a:prstGeom>
        </p:spPr>
      </p:pic>
      <p:sp>
        <p:nvSpPr>
          <p:cNvPr id="10" name="Text 6"/>
          <p:cNvSpPr txBox="1"/>
          <p:nvPr/>
        </p:nvSpPr>
        <p:spPr>
          <a:xfrm>
            <a:off x="932688" y="2770632"/>
            <a:ext cx="3456432" cy="822960"/>
          </a:xfrm>
          <a:prstGeom prst="rect">
            <a:avLst/>
          </a:prstGeom>
          <a:noFill/>
          <a:ln/>
        </p:spPr>
        <p:txBody>
          <a:bodyPr wrap="square" lIns="0" tIns="0" rIns="0" bIns="0" rtlCol="0" anchor="t"/>
          <a:lstStyle/>
          <a:p>
            <a:pPr indent="0" marL="0">
              <a:buNone/>
            </a:pPr>
            <a:r>
              <a:rPr lang="en-US" sz="1400" dirty="0">
                <a:solidFill>
                  <a:schemeClr val="tx1"/>
                </a:solidFill>
              </a:rPr>
              <a:t>Related documents come with evidence</a:t>
            </a:r>
            <a:endParaRPr lang="en-US" sz="1400" dirty="0"/>
          </a:p>
        </p:txBody>
      </p:sp>
      <p:sp>
        <p:nvSpPr>
          <p:cNvPr id="11" name="Shape 7"/>
          <p:cNvSpPr/>
          <p:nvPr/>
        </p:nvSpPr>
        <p:spPr>
          <a:xfrm>
            <a:off x="548640" y="3675888"/>
            <a:ext cx="237744" cy="237744"/>
          </a:xfrm>
          <a:prstGeom prst="ellipse">
            <a:avLst/>
          </a:prstGeom>
          <a:solidFill>
            <a:schemeClr val="accent2"/>
          </a:solidFill>
          <a:ln w="12700">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608076" y="3735324"/>
            <a:ext cx="118872" cy="118872"/>
          </a:xfrm>
          <a:prstGeom prst="rect">
            <a:avLst/>
          </a:prstGeom>
        </p:spPr>
      </p:pic>
      <p:sp>
        <p:nvSpPr>
          <p:cNvPr id="13" name="Text 8"/>
          <p:cNvSpPr txBox="1"/>
          <p:nvPr/>
        </p:nvSpPr>
        <p:spPr>
          <a:xfrm>
            <a:off x="932688" y="3639312"/>
            <a:ext cx="3456432" cy="822960"/>
          </a:xfrm>
          <a:prstGeom prst="rect">
            <a:avLst/>
          </a:prstGeom>
          <a:noFill/>
          <a:ln/>
        </p:spPr>
        <p:txBody>
          <a:bodyPr wrap="square" lIns="0" tIns="0" rIns="0" bIns="0" rtlCol="0" anchor="t"/>
          <a:lstStyle/>
          <a:p>
            <a:pPr indent="0" marL="0">
              <a:buNone/>
            </a:pPr>
            <a:r>
              <a:rPr lang="en-US" sz="1400" dirty="0">
                <a:solidFill>
                  <a:schemeClr val="tx1"/>
                </a:solidFill>
              </a:rPr>
              <a:t>Bounded, permission-aware knowledge graph</a:t>
            </a:r>
            <a:endParaRPr lang="en-US" sz="1400" dirty="0"/>
          </a:p>
        </p:txBody>
      </p:sp>
      <p:sp>
        <p:nvSpPr>
          <p:cNvPr id="14" name="Shape 9"/>
          <p:cNvSpPr/>
          <p:nvPr/>
        </p:nvSpPr>
        <p:spPr>
          <a:xfrm>
            <a:off x="548640" y="4544568"/>
            <a:ext cx="237744" cy="237744"/>
          </a:xfrm>
          <a:prstGeom prst="ellipse">
            <a:avLst/>
          </a:prstGeom>
          <a:solidFill>
            <a:schemeClr val="accent2"/>
          </a:solidFill>
          <a:ln w="12700">
            <a:solidFill>
              <a:schemeClr val="accent2"/>
            </a:solidFill>
            <a:prstDash val="solid"/>
          </a:ln>
        </p:spPr>
      </p:sp>
      <p:pic>
        <p:nvPicPr>
          <p:cNvPr id="15" name="Image 3" descr="preencoded.png">    </p:cNvPr>
          <p:cNvPicPr>
            <a:picLocks noChangeAspect="1"/>
          </p:cNvPicPr>
          <p:nvPr/>
        </p:nvPicPr>
        <p:blipFill>
          <a:blip r:embed="rId4"/>
          <a:stretch>
            <a:fillRect/>
          </a:stretch>
        </p:blipFill>
        <p:spPr>
          <a:xfrm>
            <a:off x="608076" y="4604004"/>
            <a:ext cx="118872" cy="118872"/>
          </a:xfrm>
          <a:prstGeom prst="rect">
            <a:avLst/>
          </a:prstGeom>
        </p:spPr>
      </p:pic>
      <p:sp>
        <p:nvSpPr>
          <p:cNvPr id="16" name="Text 10"/>
          <p:cNvSpPr txBox="1"/>
          <p:nvPr/>
        </p:nvSpPr>
        <p:spPr>
          <a:xfrm>
            <a:off x="932688" y="4507992"/>
            <a:ext cx="3456432" cy="822960"/>
          </a:xfrm>
          <a:prstGeom prst="rect">
            <a:avLst/>
          </a:prstGeom>
          <a:noFill/>
          <a:ln/>
        </p:spPr>
        <p:txBody>
          <a:bodyPr wrap="square" lIns="0" tIns="0" rIns="0" bIns="0" rtlCol="0" anchor="t"/>
          <a:lstStyle/>
          <a:p>
            <a:pPr indent="0" marL="0">
              <a:buNone/>
            </a:pPr>
            <a:r>
              <a:rPr lang="en-US" sz="1400" dirty="0">
                <a:solidFill>
                  <a:schemeClr val="tx1"/>
                </a:solidFill>
              </a:rPr>
              <a:t>Navigate by meaning, not folder structure</a:t>
            </a:r>
            <a:endParaRPr lang="en-US" sz="1400" dirty="0"/>
          </a:p>
        </p:txBody>
      </p:sp>
      <p:sp>
        <p:nvSpPr>
          <p:cNvPr id="17" name="Shape 11"/>
          <p:cNvSpPr/>
          <p:nvPr/>
        </p:nvSpPr>
        <p:spPr>
          <a:xfrm>
            <a:off x="4663440" y="1600200"/>
            <a:ext cx="6976872" cy="3749040"/>
          </a:xfrm>
          <a:prstGeom prst="roundRect">
            <a:avLst>
              <a:gd name="adj" fmla="val 2927"/>
            </a:avLst>
          </a:prstGeom>
          <a:solidFill>
            <a:schemeClr val="bg2"/>
          </a:solidFill>
          <a:ln w="12700">
            <a:solidFill>
              <a:schemeClr val="bg2"/>
            </a:solidFill>
            <a:prstDash val="solid"/>
          </a:ln>
        </p:spPr>
      </p:sp>
      <p:sp>
        <p:nvSpPr>
          <p:cNvPr id="18" name="Shape 12"/>
          <p:cNvSpPr/>
          <p:nvPr/>
        </p:nvSpPr>
        <p:spPr>
          <a:xfrm>
            <a:off x="5760720" y="2331720"/>
            <a:ext cx="2377440" cy="822960"/>
          </a:xfrm>
          <a:prstGeom prst="line">
            <a:avLst/>
          </a:prstGeom>
          <a:noFill/>
          <a:ln w="15875">
            <a:solidFill>
              <a:srgbClr val="94A3B8"/>
            </a:solidFill>
            <a:prstDash val="solid"/>
          </a:ln>
        </p:spPr>
      </p:sp>
      <p:sp>
        <p:nvSpPr>
          <p:cNvPr id="19" name="Text 13"/>
          <p:cNvSpPr txBox="1"/>
          <p:nvPr/>
        </p:nvSpPr>
        <p:spPr>
          <a:xfrm>
            <a:off x="6446520" y="263347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about</a:t>
            </a:r>
            <a:endParaRPr lang="en-US" sz="900" dirty="0"/>
          </a:p>
        </p:txBody>
      </p:sp>
      <p:sp>
        <p:nvSpPr>
          <p:cNvPr id="20" name="Shape 14"/>
          <p:cNvSpPr/>
          <p:nvPr/>
        </p:nvSpPr>
        <p:spPr>
          <a:xfrm flipV="1">
            <a:off x="8138160" y="2286000"/>
            <a:ext cx="2377440" cy="868680"/>
          </a:xfrm>
          <a:prstGeom prst="line">
            <a:avLst/>
          </a:prstGeom>
          <a:noFill/>
          <a:ln w="15875">
            <a:solidFill>
              <a:srgbClr val="94A3B8"/>
            </a:solidFill>
            <a:prstDash val="solid"/>
          </a:ln>
        </p:spPr>
      </p:sp>
      <p:sp>
        <p:nvSpPr>
          <p:cNvPr id="21" name="Text 15"/>
          <p:cNvSpPr txBox="1"/>
          <p:nvPr/>
        </p:nvSpPr>
        <p:spPr>
          <a:xfrm>
            <a:off x="8823960" y="261061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focus</a:t>
            </a:r>
            <a:endParaRPr lang="en-US" sz="900" dirty="0"/>
          </a:p>
        </p:txBody>
      </p:sp>
      <p:sp>
        <p:nvSpPr>
          <p:cNvPr id="22" name="Shape 16"/>
          <p:cNvSpPr/>
          <p:nvPr/>
        </p:nvSpPr>
        <p:spPr>
          <a:xfrm>
            <a:off x="8138160" y="3154680"/>
            <a:ext cx="2423160" cy="1005840"/>
          </a:xfrm>
          <a:prstGeom prst="line">
            <a:avLst/>
          </a:prstGeom>
          <a:noFill/>
          <a:ln w="15875">
            <a:solidFill>
              <a:srgbClr val="94A3B8"/>
            </a:solidFill>
            <a:prstDash val="solid"/>
          </a:ln>
        </p:spPr>
      </p:sp>
      <p:sp>
        <p:nvSpPr>
          <p:cNvPr id="23" name="Text 17"/>
          <p:cNvSpPr txBox="1"/>
          <p:nvPr/>
        </p:nvSpPr>
        <p:spPr>
          <a:xfrm>
            <a:off x="8846820" y="354787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expert on</a:t>
            </a:r>
            <a:endParaRPr lang="en-US" sz="900" dirty="0"/>
          </a:p>
        </p:txBody>
      </p:sp>
      <p:sp>
        <p:nvSpPr>
          <p:cNvPr id="24" name="Shape 18"/>
          <p:cNvSpPr/>
          <p:nvPr/>
        </p:nvSpPr>
        <p:spPr>
          <a:xfrm flipV="1">
            <a:off x="5760720" y="3154680"/>
            <a:ext cx="2377440" cy="914400"/>
          </a:xfrm>
          <a:prstGeom prst="line">
            <a:avLst/>
          </a:prstGeom>
          <a:noFill/>
          <a:ln w="15875">
            <a:solidFill>
              <a:srgbClr val="94A3B8"/>
            </a:solidFill>
            <a:prstDash val="solid"/>
          </a:ln>
        </p:spPr>
      </p:sp>
      <p:sp>
        <p:nvSpPr>
          <p:cNvPr id="25" name="Text 19"/>
          <p:cNvSpPr txBox="1"/>
          <p:nvPr/>
        </p:nvSpPr>
        <p:spPr>
          <a:xfrm>
            <a:off x="6446520" y="350215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concerns</a:t>
            </a:r>
            <a:endParaRPr lang="en-US" sz="900" dirty="0"/>
          </a:p>
        </p:txBody>
      </p:sp>
      <p:sp>
        <p:nvSpPr>
          <p:cNvPr id="26" name="Shape 20"/>
          <p:cNvSpPr/>
          <p:nvPr/>
        </p:nvSpPr>
        <p:spPr>
          <a:xfrm>
            <a:off x="5760720" y="2331720"/>
            <a:ext cx="914" cy="1737360"/>
          </a:xfrm>
          <a:prstGeom prst="line">
            <a:avLst/>
          </a:prstGeom>
          <a:noFill/>
          <a:ln w="15875">
            <a:solidFill>
              <a:srgbClr val="94A3B8"/>
            </a:solidFill>
            <a:prstDash val="solid"/>
          </a:ln>
        </p:spPr>
      </p:sp>
      <p:sp>
        <p:nvSpPr>
          <p:cNvPr id="27" name="Text 21"/>
          <p:cNvSpPr txBox="1"/>
          <p:nvPr/>
        </p:nvSpPr>
        <p:spPr>
          <a:xfrm>
            <a:off x="5257800" y="309067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documented in</a:t>
            </a:r>
            <a:endParaRPr lang="en-US" sz="900" dirty="0"/>
          </a:p>
        </p:txBody>
      </p:sp>
      <p:sp>
        <p:nvSpPr>
          <p:cNvPr id="28" name="Shape 22"/>
          <p:cNvSpPr/>
          <p:nvPr/>
        </p:nvSpPr>
        <p:spPr>
          <a:xfrm>
            <a:off x="5760720" y="4069080"/>
            <a:ext cx="2377440" cy="228600"/>
          </a:xfrm>
          <a:prstGeom prst="line">
            <a:avLst/>
          </a:prstGeom>
          <a:noFill/>
          <a:ln w="15875">
            <a:solidFill>
              <a:srgbClr val="94A3B8"/>
            </a:solidFill>
            <a:prstDash val="solid"/>
          </a:ln>
        </p:spPr>
      </p:sp>
      <p:sp>
        <p:nvSpPr>
          <p:cNvPr id="29" name="Text 23"/>
          <p:cNvSpPr txBox="1"/>
          <p:nvPr/>
        </p:nvSpPr>
        <p:spPr>
          <a:xfrm>
            <a:off x="6446520" y="407365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learned from</a:t>
            </a:r>
            <a:endParaRPr lang="en-US" sz="900" dirty="0"/>
          </a:p>
        </p:txBody>
      </p:sp>
      <p:sp>
        <p:nvSpPr>
          <p:cNvPr id="30" name="Shape 24"/>
          <p:cNvSpPr/>
          <p:nvPr/>
        </p:nvSpPr>
        <p:spPr>
          <a:xfrm>
            <a:off x="8138160" y="1965960"/>
            <a:ext cx="2377440" cy="320040"/>
          </a:xfrm>
          <a:prstGeom prst="line">
            <a:avLst/>
          </a:prstGeom>
          <a:noFill/>
          <a:ln w="15875">
            <a:solidFill>
              <a:srgbClr val="94A3B8"/>
            </a:solidFill>
            <a:prstDash val="solid"/>
          </a:ln>
        </p:spPr>
      </p:sp>
      <p:sp>
        <p:nvSpPr>
          <p:cNvPr id="31" name="Text 25"/>
          <p:cNvSpPr txBox="1"/>
          <p:nvPr/>
        </p:nvSpPr>
        <p:spPr>
          <a:xfrm>
            <a:off x="8823960" y="201625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owns</a:t>
            </a:r>
            <a:endParaRPr lang="en-US" sz="900" dirty="0"/>
          </a:p>
        </p:txBody>
      </p:sp>
      <p:sp>
        <p:nvSpPr>
          <p:cNvPr id="32" name="Shape 26"/>
          <p:cNvSpPr/>
          <p:nvPr/>
        </p:nvSpPr>
        <p:spPr>
          <a:xfrm flipV="1">
            <a:off x="8138160" y="2286000"/>
            <a:ext cx="2377440" cy="2011680"/>
          </a:xfrm>
          <a:prstGeom prst="line">
            <a:avLst/>
          </a:prstGeom>
          <a:noFill/>
          <a:ln w="15875">
            <a:solidFill>
              <a:srgbClr val="94A3B8"/>
            </a:solidFill>
            <a:prstDash val="solid"/>
          </a:ln>
        </p:spPr>
      </p:sp>
      <p:sp>
        <p:nvSpPr>
          <p:cNvPr id="33" name="Text 27"/>
          <p:cNvSpPr txBox="1"/>
          <p:nvPr/>
        </p:nvSpPr>
        <p:spPr>
          <a:xfrm>
            <a:off x="8823960" y="318211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from project</a:t>
            </a:r>
            <a:endParaRPr lang="en-US" sz="900" dirty="0"/>
          </a:p>
        </p:txBody>
      </p:sp>
      <p:sp>
        <p:nvSpPr>
          <p:cNvPr id="34" name="Shape 28"/>
          <p:cNvSpPr/>
          <p:nvPr/>
        </p:nvSpPr>
        <p:spPr>
          <a:xfrm flipV="1">
            <a:off x="5760720" y="1965960"/>
            <a:ext cx="2377440" cy="365760"/>
          </a:xfrm>
          <a:prstGeom prst="line">
            <a:avLst/>
          </a:prstGeom>
          <a:noFill/>
          <a:ln w="15875">
            <a:solidFill>
              <a:srgbClr val="94A3B8"/>
            </a:solidFill>
            <a:prstDash val="solid"/>
          </a:ln>
        </p:spPr>
      </p:sp>
      <p:sp>
        <p:nvSpPr>
          <p:cNvPr id="35" name="Text 29"/>
          <p:cNvSpPr txBox="1"/>
          <p:nvPr/>
        </p:nvSpPr>
        <p:spPr>
          <a:xfrm>
            <a:off x="6446520" y="2039112"/>
            <a:ext cx="1005840" cy="219456"/>
          </a:xfrm>
          <a:prstGeom prst="rect">
            <a:avLst/>
          </a:prstGeom>
          <a:solidFill>
            <a:srgbClr val="F3F6FA"/>
          </a:solidFill>
          <a:ln/>
        </p:spPr>
        <p:txBody>
          <a:bodyPr wrap="square" lIns="0" tIns="0" rIns="0" bIns="0" rtlCol="0" anchor="ctr"/>
          <a:lstStyle/>
          <a:p>
            <a:pPr algn="ctr" indent="0" marL="0">
              <a:buNone/>
            </a:pPr>
            <a:r>
              <a:rPr lang="en-US" sz="900" i="1" dirty="0">
                <a:solidFill>
                  <a:srgbClr val="64748B"/>
                </a:solidFill>
              </a:rPr>
              <a:t>authored by</a:t>
            </a:r>
            <a:endParaRPr lang="en-US" sz="900" dirty="0"/>
          </a:p>
        </p:txBody>
      </p:sp>
      <p:sp>
        <p:nvSpPr>
          <p:cNvPr id="36" name="Shape 30"/>
          <p:cNvSpPr/>
          <p:nvPr/>
        </p:nvSpPr>
        <p:spPr>
          <a:xfrm>
            <a:off x="5477256" y="2048256"/>
            <a:ext cx="566928" cy="566928"/>
          </a:xfrm>
          <a:prstGeom prst="ellipse">
            <a:avLst/>
          </a:prstGeom>
          <a:solidFill>
            <a:schemeClr val="accent1"/>
          </a:solidFill>
          <a:ln w="12700">
            <a:solidFill>
              <a:schemeClr val="accent1"/>
            </a:solidFill>
            <a:prstDash val="solid"/>
          </a:ln>
        </p:spPr>
      </p:sp>
      <p:pic>
        <p:nvPicPr>
          <p:cNvPr id="37" name="Image 4" descr="preencoded.png">    </p:cNvPr>
          <p:cNvPicPr>
            <a:picLocks noChangeAspect="1"/>
          </p:cNvPicPr>
          <p:nvPr/>
        </p:nvPicPr>
        <p:blipFill>
          <a:blip r:embed="rId5"/>
          <a:stretch>
            <a:fillRect/>
          </a:stretch>
        </p:blipFill>
        <p:spPr>
          <a:xfrm>
            <a:off x="5618988" y="2189988"/>
            <a:ext cx="283464" cy="283464"/>
          </a:xfrm>
          <a:prstGeom prst="rect">
            <a:avLst/>
          </a:prstGeom>
        </p:spPr>
      </p:pic>
      <p:sp>
        <p:nvSpPr>
          <p:cNvPr id="38" name="Text 31"/>
          <p:cNvSpPr txBox="1"/>
          <p:nvPr/>
        </p:nvSpPr>
        <p:spPr>
          <a:xfrm>
            <a:off x="4892040" y="265176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Grid Resilience Plan</a:t>
            </a:r>
            <a:endParaRPr lang="en-US" sz="1000" dirty="0"/>
          </a:p>
        </p:txBody>
      </p:sp>
      <p:sp>
        <p:nvSpPr>
          <p:cNvPr id="39" name="Shape 32"/>
          <p:cNvSpPr/>
          <p:nvPr/>
        </p:nvSpPr>
        <p:spPr>
          <a:xfrm>
            <a:off x="7749540" y="2766060"/>
            <a:ext cx="777240" cy="777240"/>
          </a:xfrm>
          <a:prstGeom prst="ellipse">
            <a:avLst/>
          </a:prstGeom>
          <a:solidFill>
            <a:schemeClr val="accent2"/>
          </a:solidFill>
          <a:ln w="12700">
            <a:solidFill>
              <a:schemeClr val="accent2"/>
            </a:solidFill>
            <a:prstDash val="solid"/>
          </a:ln>
        </p:spPr>
      </p:sp>
      <p:pic>
        <p:nvPicPr>
          <p:cNvPr id="40" name="Image 5" descr="preencoded.png">    </p:cNvPr>
          <p:cNvPicPr>
            <a:picLocks noChangeAspect="1"/>
          </p:cNvPicPr>
          <p:nvPr/>
        </p:nvPicPr>
        <p:blipFill>
          <a:blip r:embed="rId6"/>
          <a:stretch>
            <a:fillRect/>
          </a:stretch>
        </p:blipFill>
        <p:spPr>
          <a:xfrm>
            <a:off x="7943850" y="2960370"/>
            <a:ext cx="388620" cy="388620"/>
          </a:xfrm>
          <a:prstGeom prst="rect">
            <a:avLst/>
          </a:prstGeom>
        </p:spPr>
      </p:pic>
      <p:sp>
        <p:nvSpPr>
          <p:cNvPr id="41" name="Text 33"/>
          <p:cNvSpPr txBox="1"/>
          <p:nvPr/>
        </p:nvSpPr>
        <p:spPr>
          <a:xfrm>
            <a:off x="7269480" y="3579876"/>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Grid Resilience</a:t>
            </a:r>
            <a:endParaRPr lang="en-US" sz="1000" dirty="0"/>
          </a:p>
        </p:txBody>
      </p:sp>
      <p:sp>
        <p:nvSpPr>
          <p:cNvPr id="42" name="Shape 34"/>
          <p:cNvSpPr/>
          <p:nvPr/>
        </p:nvSpPr>
        <p:spPr>
          <a:xfrm>
            <a:off x="10232136" y="2002536"/>
            <a:ext cx="566928" cy="566928"/>
          </a:xfrm>
          <a:prstGeom prst="ellipse">
            <a:avLst/>
          </a:prstGeom>
          <a:solidFill>
            <a:schemeClr val="accent3"/>
          </a:solidFill>
          <a:ln w="12700">
            <a:solidFill>
              <a:schemeClr val="accent3"/>
            </a:solidFill>
            <a:prstDash val="solid"/>
          </a:ln>
        </p:spPr>
      </p:sp>
      <p:pic>
        <p:nvPicPr>
          <p:cNvPr id="43" name="Image 6" descr="preencoded.png">    </p:cNvPr>
          <p:cNvPicPr>
            <a:picLocks noChangeAspect="1"/>
          </p:cNvPicPr>
          <p:nvPr/>
        </p:nvPicPr>
        <p:blipFill>
          <a:blip r:embed="rId7"/>
          <a:stretch>
            <a:fillRect/>
          </a:stretch>
        </p:blipFill>
        <p:spPr>
          <a:xfrm>
            <a:off x="10373868" y="2144268"/>
            <a:ext cx="283464" cy="283464"/>
          </a:xfrm>
          <a:prstGeom prst="rect">
            <a:avLst/>
          </a:prstGeom>
        </p:spPr>
      </p:pic>
      <p:sp>
        <p:nvSpPr>
          <p:cNvPr id="44" name="Text 35"/>
          <p:cNvSpPr txBox="1"/>
          <p:nvPr/>
        </p:nvSpPr>
        <p:spPr>
          <a:xfrm>
            <a:off x="9646920" y="260604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Substation Modernization</a:t>
            </a:r>
            <a:endParaRPr lang="en-US" sz="1000" dirty="0"/>
          </a:p>
        </p:txBody>
      </p:sp>
      <p:sp>
        <p:nvSpPr>
          <p:cNvPr id="45" name="Shape 36"/>
          <p:cNvSpPr/>
          <p:nvPr/>
        </p:nvSpPr>
        <p:spPr>
          <a:xfrm>
            <a:off x="10277856" y="3877056"/>
            <a:ext cx="566928" cy="566928"/>
          </a:xfrm>
          <a:prstGeom prst="ellipse">
            <a:avLst/>
          </a:prstGeom>
          <a:solidFill>
            <a:schemeClr val="accent4"/>
          </a:solidFill>
          <a:ln w="12700">
            <a:solidFill>
              <a:schemeClr val="accent4"/>
            </a:solidFill>
            <a:prstDash val="solid"/>
          </a:ln>
        </p:spPr>
      </p:sp>
      <p:pic>
        <p:nvPicPr>
          <p:cNvPr id="46" name="Image 7" descr="preencoded.png">    </p:cNvPr>
          <p:cNvPicPr>
            <a:picLocks noChangeAspect="1"/>
          </p:cNvPicPr>
          <p:nvPr/>
        </p:nvPicPr>
        <p:blipFill>
          <a:blip r:embed="rId8"/>
          <a:stretch>
            <a:fillRect/>
          </a:stretch>
        </p:blipFill>
        <p:spPr>
          <a:xfrm>
            <a:off x="10419588" y="4018788"/>
            <a:ext cx="283464" cy="283464"/>
          </a:xfrm>
          <a:prstGeom prst="rect">
            <a:avLst/>
          </a:prstGeom>
        </p:spPr>
      </p:pic>
      <p:sp>
        <p:nvSpPr>
          <p:cNvPr id="47" name="Text 37"/>
          <p:cNvSpPr txBox="1"/>
          <p:nvPr/>
        </p:nvSpPr>
        <p:spPr>
          <a:xfrm>
            <a:off x="9692640" y="448056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Field Eng. Lead</a:t>
            </a:r>
            <a:endParaRPr lang="en-US" sz="1000" dirty="0"/>
          </a:p>
        </p:txBody>
      </p:sp>
      <p:sp>
        <p:nvSpPr>
          <p:cNvPr id="48" name="Shape 38"/>
          <p:cNvSpPr/>
          <p:nvPr/>
        </p:nvSpPr>
        <p:spPr>
          <a:xfrm>
            <a:off x="5477256" y="3785616"/>
            <a:ext cx="566928" cy="566928"/>
          </a:xfrm>
          <a:prstGeom prst="ellipse">
            <a:avLst/>
          </a:prstGeom>
          <a:solidFill>
            <a:schemeClr val="accent5"/>
          </a:solidFill>
          <a:ln w="12700">
            <a:solidFill>
              <a:schemeClr val="accent5"/>
            </a:solidFill>
            <a:prstDash val="solid"/>
          </a:ln>
        </p:spPr>
      </p:sp>
      <p:pic>
        <p:nvPicPr>
          <p:cNvPr id="49" name="Image 8" descr="preencoded.png">    </p:cNvPr>
          <p:cNvPicPr>
            <a:picLocks noChangeAspect="1"/>
          </p:cNvPicPr>
          <p:nvPr/>
        </p:nvPicPr>
        <p:blipFill>
          <a:blip r:embed="rId9"/>
          <a:stretch>
            <a:fillRect/>
          </a:stretch>
        </p:blipFill>
        <p:spPr>
          <a:xfrm>
            <a:off x="5618988" y="3927348"/>
            <a:ext cx="283464" cy="283464"/>
          </a:xfrm>
          <a:prstGeom prst="rect">
            <a:avLst/>
          </a:prstGeom>
        </p:spPr>
      </p:pic>
      <p:sp>
        <p:nvSpPr>
          <p:cNvPr id="50" name="Text 39"/>
          <p:cNvSpPr txBox="1"/>
          <p:nvPr/>
        </p:nvSpPr>
        <p:spPr>
          <a:xfrm>
            <a:off x="4892040" y="438912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Adopt predictive maintenance</a:t>
            </a:r>
            <a:endParaRPr lang="en-US" sz="1000" dirty="0"/>
          </a:p>
        </p:txBody>
      </p:sp>
      <p:sp>
        <p:nvSpPr>
          <p:cNvPr id="51" name="Shape 40"/>
          <p:cNvSpPr/>
          <p:nvPr/>
        </p:nvSpPr>
        <p:spPr>
          <a:xfrm>
            <a:off x="7854696" y="4014216"/>
            <a:ext cx="566928" cy="566928"/>
          </a:xfrm>
          <a:prstGeom prst="ellipse">
            <a:avLst/>
          </a:prstGeom>
          <a:solidFill>
            <a:schemeClr val="accent6"/>
          </a:solidFill>
          <a:ln w="12700">
            <a:solidFill>
              <a:schemeClr val="accent6"/>
            </a:solidFill>
            <a:prstDash val="solid"/>
          </a:ln>
        </p:spPr>
      </p:sp>
      <p:pic>
        <p:nvPicPr>
          <p:cNvPr id="52" name="Image 9" descr="preencoded.png">    </p:cNvPr>
          <p:cNvPicPr>
            <a:picLocks noChangeAspect="1"/>
          </p:cNvPicPr>
          <p:nvPr/>
        </p:nvPicPr>
        <p:blipFill>
          <a:blip r:embed="rId10"/>
          <a:stretch>
            <a:fillRect/>
          </a:stretch>
        </p:blipFill>
        <p:spPr>
          <a:xfrm>
            <a:off x="7996428" y="4155948"/>
            <a:ext cx="283464" cy="283464"/>
          </a:xfrm>
          <a:prstGeom prst="rect">
            <a:avLst/>
          </a:prstGeom>
        </p:spPr>
      </p:pic>
      <p:sp>
        <p:nvSpPr>
          <p:cNvPr id="53" name="Text 41"/>
          <p:cNvSpPr txBox="1"/>
          <p:nvPr/>
        </p:nvSpPr>
        <p:spPr>
          <a:xfrm>
            <a:off x="7269480" y="461772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Validate sensor data early</a:t>
            </a:r>
            <a:endParaRPr lang="en-US" sz="1000" dirty="0"/>
          </a:p>
        </p:txBody>
      </p:sp>
      <p:sp>
        <p:nvSpPr>
          <p:cNvPr id="54" name="Shape 42"/>
          <p:cNvSpPr/>
          <p:nvPr/>
        </p:nvSpPr>
        <p:spPr>
          <a:xfrm>
            <a:off x="7854696" y="1682496"/>
            <a:ext cx="566928" cy="566928"/>
          </a:xfrm>
          <a:prstGeom prst="ellipse">
            <a:avLst/>
          </a:prstGeom>
          <a:solidFill>
            <a:srgbClr val="64748B"/>
          </a:solidFill>
          <a:ln w="12700">
            <a:solidFill>
              <a:srgbClr val="64748B"/>
            </a:solidFill>
            <a:prstDash val="solid"/>
          </a:ln>
        </p:spPr>
      </p:sp>
      <p:pic>
        <p:nvPicPr>
          <p:cNvPr id="55" name="Image 10" descr="preencoded.png">    </p:cNvPr>
          <p:cNvPicPr>
            <a:picLocks noChangeAspect="1"/>
          </p:cNvPicPr>
          <p:nvPr/>
        </p:nvPicPr>
        <p:blipFill>
          <a:blip r:embed="rId11"/>
          <a:stretch>
            <a:fillRect/>
          </a:stretch>
        </p:blipFill>
        <p:spPr>
          <a:xfrm>
            <a:off x="7996428" y="1824228"/>
            <a:ext cx="283464" cy="283464"/>
          </a:xfrm>
          <a:prstGeom prst="rect">
            <a:avLst/>
          </a:prstGeom>
        </p:spPr>
      </p:pic>
      <p:sp>
        <p:nvSpPr>
          <p:cNvPr id="56" name="Text 43"/>
          <p:cNvSpPr txBox="1"/>
          <p:nvPr/>
        </p:nvSpPr>
        <p:spPr>
          <a:xfrm>
            <a:off x="7269480" y="2286000"/>
            <a:ext cx="1737360" cy="219456"/>
          </a:xfrm>
          <a:prstGeom prst="rect">
            <a:avLst/>
          </a:prstGeom>
          <a:noFill/>
          <a:ln/>
        </p:spPr>
        <p:txBody>
          <a:bodyPr wrap="square" lIns="0" tIns="0" rIns="0" bIns="0" rtlCol="0" anchor="t"/>
          <a:lstStyle/>
          <a:p>
            <a:pPr algn="ctr" indent="0" marL="0">
              <a:buNone/>
            </a:pPr>
            <a:r>
              <a:rPr lang="en-US" sz="1000" b="1" dirty="0">
                <a:solidFill>
                  <a:schemeClr val="tx2"/>
                </a:solidFill>
              </a:rPr>
              <a:t>Operations</a:t>
            </a:r>
            <a:endParaRPr lang="en-US" sz="1000" dirty="0"/>
          </a:p>
        </p:txBody>
      </p:sp>
      <p:sp>
        <p:nvSpPr>
          <p:cNvPr id="57" name="Shape 44"/>
          <p:cNvSpPr/>
          <p:nvPr/>
        </p:nvSpPr>
        <p:spPr>
          <a:xfrm>
            <a:off x="4892040" y="5093208"/>
            <a:ext cx="146304" cy="146304"/>
          </a:xfrm>
          <a:prstGeom prst="ellipse">
            <a:avLst/>
          </a:prstGeom>
          <a:solidFill>
            <a:schemeClr val="accent1"/>
          </a:solidFill>
          <a:ln w="12700">
            <a:solidFill>
              <a:schemeClr val="accent1"/>
            </a:solidFill>
            <a:prstDash val="solid"/>
          </a:ln>
        </p:spPr>
      </p:sp>
      <p:sp>
        <p:nvSpPr>
          <p:cNvPr id="58" name="Text 45"/>
          <p:cNvSpPr txBox="1"/>
          <p:nvPr/>
        </p:nvSpPr>
        <p:spPr>
          <a:xfrm>
            <a:off x="509320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Document</a:t>
            </a:r>
            <a:endParaRPr lang="en-US" sz="1000" dirty="0"/>
          </a:p>
        </p:txBody>
      </p:sp>
      <p:sp>
        <p:nvSpPr>
          <p:cNvPr id="59" name="Shape 46"/>
          <p:cNvSpPr/>
          <p:nvPr/>
        </p:nvSpPr>
        <p:spPr>
          <a:xfrm>
            <a:off x="5852160" y="5093208"/>
            <a:ext cx="146304" cy="146304"/>
          </a:xfrm>
          <a:prstGeom prst="ellipse">
            <a:avLst/>
          </a:prstGeom>
          <a:solidFill>
            <a:schemeClr val="accent2"/>
          </a:solidFill>
          <a:ln w="12700">
            <a:solidFill>
              <a:schemeClr val="accent2"/>
            </a:solidFill>
            <a:prstDash val="solid"/>
          </a:ln>
        </p:spPr>
      </p:sp>
      <p:sp>
        <p:nvSpPr>
          <p:cNvPr id="60" name="Text 47"/>
          <p:cNvSpPr txBox="1"/>
          <p:nvPr/>
        </p:nvSpPr>
        <p:spPr>
          <a:xfrm>
            <a:off x="605332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Topic</a:t>
            </a:r>
            <a:endParaRPr lang="en-US" sz="1000" dirty="0"/>
          </a:p>
        </p:txBody>
      </p:sp>
      <p:sp>
        <p:nvSpPr>
          <p:cNvPr id="61" name="Shape 48"/>
          <p:cNvSpPr/>
          <p:nvPr/>
        </p:nvSpPr>
        <p:spPr>
          <a:xfrm>
            <a:off x="6812280" y="5093208"/>
            <a:ext cx="146304" cy="146304"/>
          </a:xfrm>
          <a:prstGeom prst="ellipse">
            <a:avLst/>
          </a:prstGeom>
          <a:solidFill>
            <a:schemeClr val="accent3"/>
          </a:solidFill>
          <a:ln w="12700">
            <a:solidFill>
              <a:schemeClr val="accent3"/>
            </a:solidFill>
            <a:prstDash val="solid"/>
          </a:ln>
        </p:spPr>
      </p:sp>
      <p:sp>
        <p:nvSpPr>
          <p:cNvPr id="62" name="Text 49"/>
          <p:cNvSpPr txBox="1"/>
          <p:nvPr/>
        </p:nvSpPr>
        <p:spPr>
          <a:xfrm>
            <a:off x="701344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Project</a:t>
            </a:r>
            <a:endParaRPr lang="en-US" sz="1000" dirty="0"/>
          </a:p>
        </p:txBody>
      </p:sp>
      <p:sp>
        <p:nvSpPr>
          <p:cNvPr id="63" name="Shape 50"/>
          <p:cNvSpPr/>
          <p:nvPr/>
        </p:nvSpPr>
        <p:spPr>
          <a:xfrm>
            <a:off x="7772400" y="5093208"/>
            <a:ext cx="146304" cy="146304"/>
          </a:xfrm>
          <a:prstGeom prst="ellipse">
            <a:avLst/>
          </a:prstGeom>
          <a:solidFill>
            <a:schemeClr val="accent4"/>
          </a:solidFill>
          <a:ln w="12700">
            <a:solidFill>
              <a:schemeClr val="accent4"/>
            </a:solidFill>
            <a:prstDash val="solid"/>
          </a:ln>
        </p:spPr>
      </p:sp>
      <p:sp>
        <p:nvSpPr>
          <p:cNvPr id="64" name="Text 51"/>
          <p:cNvSpPr txBox="1"/>
          <p:nvPr/>
        </p:nvSpPr>
        <p:spPr>
          <a:xfrm>
            <a:off x="797356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Expert</a:t>
            </a:r>
            <a:endParaRPr lang="en-US" sz="1000" dirty="0"/>
          </a:p>
        </p:txBody>
      </p:sp>
      <p:sp>
        <p:nvSpPr>
          <p:cNvPr id="65" name="Shape 52"/>
          <p:cNvSpPr/>
          <p:nvPr/>
        </p:nvSpPr>
        <p:spPr>
          <a:xfrm>
            <a:off x="8732520" y="5093208"/>
            <a:ext cx="146304" cy="146304"/>
          </a:xfrm>
          <a:prstGeom prst="ellipse">
            <a:avLst/>
          </a:prstGeom>
          <a:solidFill>
            <a:schemeClr val="accent5"/>
          </a:solidFill>
          <a:ln w="12700">
            <a:solidFill>
              <a:schemeClr val="accent5"/>
            </a:solidFill>
            <a:prstDash val="solid"/>
          </a:ln>
        </p:spPr>
      </p:sp>
      <p:sp>
        <p:nvSpPr>
          <p:cNvPr id="66" name="Text 53"/>
          <p:cNvSpPr txBox="1"/>
          <p:nvPr/>
        </p:nvSpPr>
        <p:spPr>
          <a:xfrm>
            <a:off x="893368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Decision</a:t>
            </a:r>
            <a:endParaRPr lang="en-US" sz="1000" dirty="0"/>
          </a:p>
        </p:txBody>
      </p:sp>
      <p:sp>
        <p:nvSpPr>
          <p:cNvPr id="67" name="Shape 54"/>
          <p:cNvSpPr/>
          <p:nvPr/>
        </p:nvSpPr>
        <p:spPr>
          <a:xfrm>
            <a:off x="9692640" y="5093208"/>
            <a:ext cx="146304" cy="146304"/>
          </a:xfrm>
          <a:prstGeom prst="ellipse">
            <a:avLst/>
          </a:prstGeom>
          <a:solidFill>
            <a:schemeClr val="accent6"/>
          </a:solidFill>
          <a:ln w="12700">
            <a:solidFill>
              <a:schemeClr val="accent6"/>
            </a:solidFill>
            <a:prstDash val="solid"/>
          </a:ln>
        </p:spPr>
      </p:sp>
      <p:sp>
        <p:nvSpPr>
          <p:cNvPr id="68" name="Text 55"/>
          <p:cNvSpPr txBox="1"/>
          <p:nvPr/>
        </p:nvSpPr>
        <p:spPr>
          <a:xfrm>
            <a:off x="989380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Lesson</a:t>
            </a:r>
            <a:endParaRPr lang="en-US" sz="1000" dirty="0"/>
          </a:p>
        </p:txBody>
      </p:sp>
      <p:sp>
        <p:nvSpPr>
          <p:cNvPr id="69" name="Shape 56"/>
          <p:cNvSpPr/>
          <p:nvPr/>
        </p:nvSpPr>
        <p:spPr>
          <a:xfrm>
            <a:off x="10652760" y="5093208"/>
            <a:ext cx="146304" cy="146304"/>
          </a:xfrm>
          <a:prstGeom prst="ellipse">
            <a:avLst/>
          </a:prstGeom>
          <a:solidFill>
            <a:srgbClr val="64748B"/>
          </a:solidFill>
          <a:ln w="12700">
            <a:solidFill>
              <a:srgbClr val="64748B"/>
            </a:solidFill>
            <a:prstDash val="solid"/>
          </a:ln>
        </p:spPr>
      </p:sp>
      <p:sp>
        <p:nvSpPr>
          <p:cNvPr id="70" name="Text 57"/>
          <p:cNvSpPr txBox="1"/>
          <p:nvPr/>
        </p:nvSpPr>
        <p:spPr>
          <a:xfrm>
            <a:off x="10853928" y="5038344"/>
            <a:ext cx="777240" cy="256032"/>
          </a:xfrm>
          <a:prstGeom prst="rect">
            <a:avLst/>
          </a:prstGeom>
          <a:noFill/>
          <a:ln/>
        </p:spPr>
        <p:txBody>
          <a:bodyPr wrap="square" lIns="0" tIns="0" rIns="0" bIns="0" rtlCol="0" anchor="ctr"/>
          <a:lstStyle/>
          <a:p>
            <a:pPr indent="0" marL="0">
              <a:buNone/>
            </a:pPr>
            <a:r>
              <a:rPr lang="en-US" sz="1000" dirty="0">
                <a:solidFill>
                  <a:srgbClr val="64748B"/>
                </a:solidFill>
              </a:rPr>
              <a:t>Department</a:t>
            </a:r>
            <a:endParaRPr lang="en-US" sz="1000" dirty="0"/>
          </a:p>
        </p:txBody>
      </p:sp>
      <p:sp>
        <p:nvSpPr>
          <p:cNvPr id="71" name="Shape 58"/>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72" name="Text 59"/>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KMS gives the enterprise a living map of its knowledge.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PROJECT INTELLIGENCE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Understand a Project Through Its Knowledge Footprint</a:t>
            </a:r>
            <a:endParaRPr lang="en-US" sz="3000" dirty="0"/>
          </a:p>
        </p:txBody>
      </p:sp>
      <p:sp>
        <p:nvSpPr>
          <p:cNvPr id="4" name="Shape 2"/>
          <p:cNvSpPr/>
          <p:nvPr/>
        </p:nvSpPr>
        <p:spPr>
          <a:xfrm>
            <a:off x="4114800" y="2121408"/>
            <a:ext cx="1981048" cy="1307592"/>
          </a:xfrm>
          <a:prstGeom prst="line">
            <a:avLst/>
          </a:prstGeom>
          <a:noFill/>
          <a:ln w="15875">
            <a:solidFill>
              <a:srgbClr val="D5DCE6"/>
            </a:solidFill>
            <a:prstDash val="solid"/>
          </a:ln>
        </p:spPr>
      </p:sp>
      <p:sp>
        <p:nvSpPr>
          <p:cNvPr id="5" name="Shape 3"/>
          <p:cNvSpPr/>
          <p:nvPr/>
        </p:nvSpPr>
        <p:spPr>
          <a:xfrm>
            <a:off x="4114800" y="3355848"/>
            <a:ext cx="1981048" cy="73152"/>
          </a:xfrm>
          <a:prstGeom prst="line">
            <a:avLst/>
          </a:prstGeom>
          <a:noFill/>
          <a:ln w="15875">
            <a:solidFill>
              <a:srgbClr val="D5DCE6"/>
            </a:solidFill>
            <a:prstDash val="solid"/>
          </a:ln>
        </p:spPr>
      </p:sp>
      <p:sp>
        <p:nvSpPr>
          <p:cNvPr id="6" name="Shape 4"/>
          <p:cNvSpPr/>
          <p:nvPr/>
        </p:nvSpPr>
        <p:spPr>
          <a:xfrm flipV="1">
            <a:off x="4114800" y="3429000"/>
            <a:ext cx="1981048" cy="1161288"/>
          </a:xfrm>
          <a:prstGeom prst="line">
            <a:avLst/>
          </a:prstGeom>
          <a:noFill/>
          <a:ln w="15875">
            <a:solidFill>
              <a:srgbClr val="D5DCE6"/>
            </a:solidFill>
            <a:prstDash val="solid"/>
          </a:ln>
        </p:spPr>
      </p:sp>
      <p:sp>
        <p:nvSpPr>
          <p:cNvPr id="7" name="Shape 5"/>
          <p:cNvSpPr/>
          <p:nvPr/>
        </p:nvSpPr>
        <p:spPr>
          <a:xfrm flipV="1">
            <a:off x="6095848" y="2121408"/>
            <a:ext cx="1978304" cy="1307592"/>
          </a:xfrm>
          <a:prstGeom prst="line">
            <a:avLst/>
          </a:prstGeom>
          <a:noFill/>
          <a:ln w="15875">
            <a:solidFill>
              <a:srgbClr val="D5DCE6"/>
            </a:solidFill>
            <a:prstDash val="solid"/>
          </a:ln>
        </p:spPr>
      </p:sp>
      <p:sp>
        <p:nvSpPr>
          <p:cNvPr id="8" name="Shape 6"/>
          <p:cNvSpPr/>
          <p:nvPr/>
        </p:nvSpPr>
        <p:spPr>
          <a:xfrm flipV="1">
            <a:off x="6095848" y="3355848"/>
            <a:ext cx="1978304" cy="73152"/>
          </a:xfrm>
          <a:prstGeom prst="line">
            <a:avLst/>
          </a:prstGeom>
          <a:noFill/>
          <a:ln w="15875">
            <a:solidFill>
              <a:srgbClr val="D5DCE6"/>
            </a:solidFill>
            <a:prstDash val="solid"/>
          </a:ln>
        </p:spPr>
      </p:sp>
      <p:sp>
        <p:nvSpPr>
          <p:cNvPr id="9" name="Shape 7"/>
          <p:cNvSpPr/>
          <p:nvPr/>
        </p:nvSpPr>
        <p:spPr>
          <a:xfrm>
            <a:off x="6095848" y="3429000"/>
            <a:ext cx="1978304" cy="1161288"/>
          </a:xfrm>
          <a:prstGeom prst="line">
            <a:avLst/>
          </a:prstGeom>
          <a:noFill/>
          <a:ln w="15875">
            <a:solidFill>
              <a:srgbClr val="D5DCE6"/>
            </a:solidFill>
            <a:prstDash val="solid"/>
          </a:ln>
        </p:spPr>
      </p:sp>
      <p:sp>
        <p:nvSpPr>
          <p:cNvPr id="10" name="Shape 8"/>
          <p:cNvSpPr/>
          <p:nvPr/>
        </p:nvSpPr>
        <p:spPr>
          <a:xfrm>
            <a:off x="6095848" y="2514600"/>
            <a:ext cx="914" cy="914400"/>
          </a:xfrm>
          <a:prstGeom prst="line">
            <a:avLst/>
          </a:prstGeom>
          <a:noFill/>
          <a:ln w="15875">
            <a:solidFill>
              <a:srgbClr val="D5DCE6"/>
            </a:solidFill>
            <a:prstDash val="solid"/>
          </a:ln>
        </p:spPr>
      </p:sp>
      <p:sp>
        <p:nvSpPr>
          <p:cNvPr id="11" name="Shape 9"/>
          <p:cNvSpPr/>
          <p:nvPr/>
        </p:nvSpPr>
        <p:spPr>
          <a:xfrm>
            <a:off x="6095848" y="3429000"/>
            <a:ext cx="914" cy="1005840"/>
          </a:xfrm>
          <a:prstGeom prst="line">
            <a:avLst/>
          </a:prstGeom>
          <a:noFill/>
          <a:ln w="15875">
            <a:solidFill>
              <a:srgbClr val="D5DCE6"/>
            </a:solidFill>
            <a:prstDash val="solid"/>
          </a:ln>
        </p:spPr>
      </p:sp>
      <p:sp>
        <p:nvSpPr>
          <p:cNvPr id="12" name="Shape 10"/>
          <p:cNvSpPr/>
          <p:nvPr/>
        </p:nvSpPr>
        <p:spPr>
          <a:xfrm>
            <a:off x="548640" y="160020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3" name="Shape 11"/>
          <p:cNvSpPr/>
          <p:nvPr/>
        </p:nvSpPr>
        <p:spPr>
          <a:xfrm>
            <a:off x="731520" y="1874520"/>
            <a:ext cx="502920" cy="502920"/>
          </a:xfrm>
          <a:prstGeom prst="ellipse">
            <a:avLst/>
          </a:prstGeom>
          <a:solidFill>
            <a:schemeClr val="accent1"/>
          </a:solidFill>
          <a:ln w="12700">
            <a:solidFill>
              <a:schemeClr val="accent1"/>
            </a:solidFill>
            <a:prstDash val="solid"/>
          </a:ln>
        </p:spPr>
      </p:sp>
      <p:pic>
        <p:nvPicPr>
          <p:cNvPr id="14" name="Image 0" descr="preencoded.png">    </p:cNvPr>
          <p:cNvPicPr>
            <a:picLocks noChangeAspect="1"/>
          </p:cNvPicPr>
          <p:nvPr/>
        </p:nvPicPr>
        <p:blipFill>
          <a:blip r:embed="rId1"/>
          <a:stretch>
            <a:fillRect/>
          </a:stretch>
        </p:blipFill>
        <p:spPr>
          <a:xfrm>
            <a:off x="857250" y="2000250"/>
            <a:ext cx="251460" cy="251460"/>
          </a:xfrm>
          <a:prstGeom prst="rect">
            <a:avLst/>
          </a:prstGeom>
        </p:spPr>
      </p:pic>
      <p:sp>
        <p:nvSpPr>
          <p:cNvPr id="15" name="Text 12"/>
          <p:cNvSpPr txBox="1"/>
          <p:nvPr/>
        </p:nvSpPr>
        <p:spPr>
          <a:xfrm>
            <a:off x="1417320" y="1783080"/>
            <a:ext cx="1828800" cy="320040"/>
          </a:xfrm>
          <a:prstGeom prst="rect">
            <a:avLst/>
          </a:prstGeom>
          <a:noFill/>
          <a:ln/>
        </p:spPr>
        <p:txBody>
          <a:bodyPr wrap="square" lIns="0" tIns="0" rIns="0" bIns="0" rtlCol="0" anchor="t"/>
          <a:lstStyle/>
          <a:p>
            <a:pPr indent="0" marL="0">
              <a:buNone/>
            </a:pPr>
            <a:r>
              <a:rPr lang="en-US" sz="1500" b="1" dirty="0">
                <a:solidFill>
                  <a:schemeClr val="tx1"/>
                </a:solidFill>
              </a:rPr>
              <a:t>Documents</a:t>
            </a:r>
            <a:endParaRPr lang="en-US" sz="1500" dirty="0"/>
          </a:p>
        </p:txBody>
      </p:sp>
      <p:sp>
        <p:nvSpPr>
          <p:cNvPr id="16" name="Text 13"/>
          <p:cNvSpPr txBox="1"/>
          <p:nvPr/>
        </p:nvSpPr>
        <p:spPr>
          <a:xfrm>
            <a:off x="1417320" y="2130552"/>
            <a:ext cx="2011680" cy="365760"/>
          </a:xfrm>
          <a:prstGeom prst="rect">
            <a:avLst/>
          </a:prstGeom>
          <a:noFill/>
          <a:ln/>
        </p:spPr>
        <p:txBody>
          <a:bodyPr wrap="square" lIns="0" tIns="0" rIns="0" bIns="0" rtlCol="0" anchor="t"/>
          <a:lstStyle/>
          <a:p>
            <a:pPr indent="0" marL="0">
              <a:buNone/>
            </a:pPr>
            <a:r>
              <a:rPr lang="en-US" sz="1100" dirty="0">
                <a:solidFill>
                  <a:srgbClr val="64748B"/>
                </a:solidFill>
              </a:rPr>
              <a:t>Specs, reports, field notes</a:t>
            </a:r>
            <a:endParaRPr lang="en-US" sz="1100" dirty="0"/>
          </a:p>
        </p:txBody>
      </p:sp>
      <p:sp>
        <p:nvSpPr>
          <p:cNvPr id="17" name="Text 14"/>
          <p:cNvSpPr txBox="1"/>
          <p:nvPr/>
        </p:nvSpPr>
        <p:spPr>
          <a:xfrm>
            <a:off x="3200400" y="1737360"/>
            <a:ext cx="777240" cy="777240"/>
          </a:xfrm>
          <a:prstGeom prst="rect">
            <a:avLst/>
          </a:prstGeom>
          <a:noFill/>
          <a:ln/>
        </p:spPr>
        <p:txBody>
          <a:bodyPr wrap="square" lIns="0" tIns="0" rIns="0" bIns="0" rtlCol="0" anchor="ctr"/>
          <a:lstStyle/>
          <a:p>
            <a:pPr algn="r" indent="0" marL="0">
              <a:buNone/>
            </a:pPr>
            <a:r>
              <a:rPr lang="en-US" sz="2800" b="1" dirty="0">
                <a:solidFill>
                  <a:schemeClr val="accent1"/>
                </a:solidFill>
              </a:rPr>
              <a:t>48</a:t>
            </a:r>
            <a:endParaRPr lang="en-US" sz="2800" dirty="0"/>
          </a:p>
        </p:txBody>
      </p:sp>
      <p:sp>
        <p:nvSpPr>
          <p:cNvPr id="18" name="Shape 15"/>
          <p:cNvSpPr/>
          <p:nvPr/>
        </p:nvSpPr>
        <p:spPr>
          <a:xfrm>
            <a:off x="548640" y="283464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9" name="Shape 16"/>
          <p:cNvSpPr/>
          <p:nvPr/>
        </p:nvSpPr>
        <p:spPr>
          <a:xfrm>
            <a:off x="731520" y="3108960"/>
            <a:ext cx="502920" cy="502920"/>
          </a:xfrm>
          <a:prstGeom prst="ellipse">
            <a:avLst/>
          </a:prstGeom>
          <a:solidFill>
            <a:schemeClr val="accent4"/>
          </a:solidFill>
          <a:ln w="12700">
            <a:solidFill>
              <a:schemeClr val="accent4"/>
            </a:solidFill>
            <a:prstDash val="solid"/>
          </a:ln>
        </p:spPr>
      </p:sp>
      <p:pic>
        <p:nvPicPr>
          <p:cNvPr id="20" name="Image 1" descr="preencoded.png">    </p:cNvPr>
          <p:cNvPicPr>
            <a:picLocks noChangeAspect="1"/>
          </p:cNvPicPr>
          <p:nvPr/>
        </p:nvPicPr>
        <p:blipFill>
          <a:blip r:embed="rId2"/>
          <a:stretch>
            <a:fillRect/>
          </a:stretch>
        </p:blipFill>
        <p:spPr>
          <a:xfrm>
            <a:off x="857250" y="3234690"/>
            <a:ext cx="251460" cy="251460"/>
          </a:xfrm>
          <a:prstGeom prst="rect">
            <a:avLst/>
          </a:prstGeom>
        </p:spPr>
      </p:pic>
      <p:sp>
        <p:nvSpPr>
          <p:cNvPr id="21" name="Text 17"/>
          <p:cNvSpPr txBox="1"/>
          <p:nvPr/>
        </p:nvSpPr>
        <p:spPr>
          <a:xfrm>
            <a:off x="1417320" y="3017520"/>
            <a:ext cx="1828800" cy="320040"/>
          </a:xfrm>
          <a:prstGeom prst="rect">
            <a:avLst/>
          </a:prstGeom>
          <a:noFill/>
          <a:ln/>
        </p:spPr>
        <p:txBody>
          <a:bodyPr wrap="square" lIns="0" tIns="0" rIns="0" bIns="0" rtlCol="0" anchor="t"/>
          <a:lstStyle/>
          <a:p>
            <a:pPr indent="0" marL="0">
              <a:buNone/>
            </a:pPr>
            <a:r>
              <a:rPr lang="en-US" sz="1500" b="1" dirty="0">
                <a:solidFill>
                  <a:schemeClr val="tx1"/>
                </a:solidFill>
              </a:rPr>
              <a:t>Experts</a:t>
            </a:r>
            <a:endParaRPr lang="en-US" sz="1500" dirty="0"/>
          </a:p>
        </p:txBody>
      </p:sp>
      <p:sp>
        <p:nvSpPr>
          <p:cNvPr id="22" name="Text 18"/>
          <p:cNvSpPr txBox="1"/>
          <p:nvPr/>
        </p:nvSpPr>
        <p:spPr>
          <a:xfrm>
            <a:off x="1417320" y="3364992"/>
            <a:ext cx="2011680" cy="365760"/>
          </a:xfrm>
          <a:prstGeom prst="rect">
            <a:avLst/>
          </a:prstGeom>
          <a:noFill/>
          <a:ln/>
        </p:spPr>
        <p:txBody>
          <a:bodyPr wrap="square" lIns="0" tIns="0" rIns="0" bIns="0" rtlCol="0" anchor="t"/>
          <a:lstStyle/>
          <a:p>
            <a:pPr indent="0" marL="0">
              <a:buNone/>
            </a:pPr>
            <a:r>
              <a:rPr lang="en-US" sz="1100" dirty="0">
                <a:solidFill>
                  <a:srgbClr val="64748B"/>
                </a:solidFill>
              </a:rPr>
              <a:t>Who contributed and knows it</a:t>
            </a:r>
            <a:endParaRPr lang="en-US" sz="1100" dirty="0"/>
          </a:p>
        </p:txBody>
      </p:sp>
      <p:sp>
        <p:nvSpPr>
          <p:cNvPr id="23" name="Text 19"/>
          <p:cNvSpPr txBox="1"/>
          <p:nvPr/>
        </p:nvSpPr>
        <p:spPr>
          <a:xfrm>
            <a:off x="3200400" y="2971800"/>
            <a:ext cx="777240" cy="777240"/>
          </a:xfrm>
          <a:prstGeom prst="rect">
            <a:avLst/>
          </a:prstGeom>
          <a:noFill/>
          <a:ln/>
        </p:spPr>
        <p:txBody>
          <a:bodyPr wrap="square" lIns="0" tIns="0" rIns="0" bIns="0" rtlCol="0" anchor="ctr"/>
          <a:lstStyle/>
          <a:p>
            <a:pPr algn="r" indent="0" marL="0">
              <a:buNone/>
            </a:pPr>
            <a:r>
              <a:rPr lang="en-US" sz="2800" b="1" dirty="0">
                <a:solidFill>
                  <a:schemeClr val="accent4"/>
                </a:solidFill>
              </a:rPr>
              <a:t>6</a:t>
            </a:r>
            <a:endParaRPr lang="en-US" sz="2800" dirty="0"/>
          </a:p>
        </p:txBody>
      </p:sp>
      <p:sp>
        <p:nvSpPr>
          <p:cNvPr id="24" name="Shape 20"/>
          <p:cNvSpPr/>
          <p:nvPr/>
        </p:nvSpPr>
        <p:spPr>
          <a:xfrm>
            <a:off x="548640" y="406908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5" name="Shape 21"/>
          <p:cNvSpPr/>
          <p:nvPr/>
        </p:nvSpPr>
        <p:spPr>
          <a:xfrm>
            <a:off x="731520" y="4343400"/>
            <a:ext cx="502920" cy="502920"/>
          </a:xfrm>
          <a:prstGeom prst="ellipse">
            <a:avLst/>
          </a:prstGeom>
          <a:solidFill>
            <a:schemeClr val="accent6"/>
          </a:solidFill>
          <a:ln w="12700">
            <a:solidFill>
              <a:schemeClr val="accent6"/>
            </a:solidFill>
            <a:prstDash val="solid"/>
          </a:ln>
        </p:spPr>
      </p:sp>
      <p:pic>
        <p:nvPicPr>
          <p:cNvPr id="26" name="Image 2" descr="preencoded.png">    </p:cNvPr>
          <p:cNvPicPr>
            <a:picLocks noChangeAspect="1"/>
          </p:cNvPicPr>
          <p:nvPr/>
        </p:nvPicPr>
        <p:blipFill>
          <a:blip r:embed="rId3"/>
          <a:stretch>
            <a:fillRect/>
          </a:stretch>
        </p:blipFill>
        <p:spPr>
          <a:xfrm>
            <a:off x="857250" y="4469130"/>
            <a:ext cx="251460" cy="251460"/>
          </a:xfrm>
          <a:prstGeom prst="rect">
            <a:avLst/>
          </a:prstGeom>
        </p:spPr>
      </p:pic>
      <p:sp>
        <p:nvSpPr>
          <p:cNvPr id="27" name="Text 22"/>
          <p:cNvSpPr txBox="1"/>
          <p:nvPr/>
        </p:nvSpPr>
        <p:spPr>
          <a:xfrm>
            <a:off x="1417320" y="4251960"/>
            <a:ext cx="1828800" cy="320040"/>
          </a:xfrm>
          <a:prstGeom prst="rect">
            <a:avLst/>
          </a:prstGeom>
          <a:noFill/>
          <a:ln/>
        </p:spPr>
        <p:txBody>
          <a:bodyPr wrap="square" lIns="0" tIns="0" rIns="0" bIns="0" rtlCol="0" anchor="t"/>
          <a:lstStyle/>
          <a:p>
            <a:pPr indent="0" marL="0">
              <a:buNone/>
            </a:pPr>
            <a:r>
              <a:rPr lang="en-US" sz="1500" b="1" dirty="0">
                <a:solidFill>
                  <a:schemeClr val="tx1"/>
                </a:solidFill>
              </a:rPr>
              <a:t>Lessons</a:t>
            </a:r>
            <a:endParaRPr lang="en-US" sz="1500" dirty="0"/>
          </a:p>
        </p:txBody>
      </p:sp>
      <p:sp>
        <p:nvSpPr>
          <p:cNvPr id="28" name="Text 23"/>
          <p:cNvSpPr txBox="1"/>
          <p:nvPr/>
        </p:nvSpPr>
        <p:spPr>
          <a:xfrm>
            <a:off x="1417320" y="4599432"/>
            <a:ext cx="2011680" cy="365760"/>
          </a:xfrm>
          <a:prstGeom prst="rect">
            <a:avLst/>
          </a:prstGeom>
          <a:noFill/>
          <a:ln/>
        </p:spPr>
        <p:txBody>
          <a:bodyPr wrap="square" lIns="0" tIns="0" rIns="0" bIns="0" rtlCol="0" anchor="t"/>
          <a:lstStyle/>
          <a:p>
            <a:pPr indent="0" marL="0">
              <a:buNone/>
            </a:pPr>
            <a:r>
              <a:rPr lang="en-US" sz="1100" dirty="0">
                <a:solidFill>
                  <a:srgbClr val="64748B"/>
                </a:solidFill>
              </a:rPr>
              <a:t>Reusable lessons learned</a:t>
            </a:r>
            <a:endParaRPr lang="en-US" sz="1100" dirty="0"/>
          </a:p>
        </p:txBody>
      </p:sp>
      <p:sp>
        <p:nvSpPr>
          <p:cNvPr id="29" name="Text 24"/>
          <p:cNvSpPr txBox="1"/>
          <p:nvPr/>
        </p:nvSpPr>
        <p:spPr>
          <a:xfrm>
            <a:off x="3200400" y="4206240"/>
            <a:ext cx="777240" cy="777240"/>
          </a:xfrm>
          <a:prstGeom prst="rect">
            <a:avLst/>
          </a:prstGeom>
          <a:noFill/>
          <a:ln/>
        </p:spPr>
        <p:txBody>
          <a:bodyPr wrap="square" lIns="0" tIns="0" rIns="0" bIns="0" rtlCol="0" anchor="ctr"/>
          <a:lstStyle/>
          <a:p>
            <a:pPr algn="r" indent="0" marL="0">
              <a:buNone/>
            </a:pPr>
            <a:r>
              <a:rPr lang="en-US" sz="2800" b="1" dirty="0">
                <a:solidFill>
                  <a:schemeClr val="accent6"/>
                </a:solidFill>
              </a:rPr>
              <a:t>9</a:t>
            </a:r>
            <a:endParaRPr lang="en-US" sz="2800" dirty="0"/>
          </a:p>
        </p:txBody>
      </p:sp>
      <p:sp>
        <p:nvSpPr>
          <p:cNvPr id="30" name="Shape 25"/>
          <p:cNvSpPr/>
          <p:nvPr/>
        </p:nvSpPr>
        <p:spPr>
          <a:xfrm>
            <a:off x="8074152" y="160020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1" name="Shape 26"/>
          <p:cNvSpPr/>
          <p:nvPr/>
        </p:nvSpPr>
        <p:spPr>
          <a:xfrm>
            <a:off x="8257032" y="1874520"/>
            <a:ext cx="502920" cy="502920"/>
          </a:xfrm>
          <a:prstGeom prst="ellipse">
            <a:avLst/>
          </a:prstGeom>
          <a:solidFill>
            <a:schemeClr val="accent5"/>
          </a:solidFill>
          <a:ln w="12700">
            <a:solidFill>
              <a:schemeClr val="accent5"/>
            </a:solidFill>
            <a:prstDash val="solid"/>
          </a:ln>
        </p:spPr>
      </p:sp>
      <p:pic>
        <p:nvPicPr>
          <p:cNvPr id="32" name="Image 3" descr="preencoded.png">    </p:cNvPr>
          <p:cNvPicPr>
            <a:picLocks noChangeAspect="1"/>
          </p:cNvPicPr>
          <p:nvPr/>
        </p:nvPicPr>
        <p:blipFill>
          <a:blip r:embed="rId4"/>
          <a:stretch>
            <a:fillRect/>
          </a:stretch>
        </p:blipFill>
        <p:spPr>
          <a:xfrm>
            <a:off x="8382762" y="2000250"/>
            <a:ext cx="251460" cy="251460"/>
          </a:xfrm>
          <a:prstGeom prst="rect">
            <a:avLst/>
          </a:prstGeom>
        </p:spPr>
      </p:pic>
      <p:sp>
        <p:nvSpPr>
          <p:cNvPr id="33" name="Text 27"/>
          <p:cNvSpPr txBox="1"/>
          <p:nvPr/>
        </p:nvSpPr>
        <p:spPr>
          <a:xfrm>
            <a:off x="8942832" y="1783080"/>
            <a:ext cx="1828800" cy="320040"/>
          </a:xfrm>
          <a:prstGeom prst="rect">
            <a:avLst/>
          </a:prstGeom>
          <a:noFill/>
          <a:ln/>
        </p:spPr>
        <p:txBody>
          <a:bodyPr wrap="square" lIns="0" tIns="0" rIns="0" bIns="0" rtlCol="0" anchor="t"/>
          <a:lstStyle/>
          <a:p>
            <a:pPr indent="0" marL="0">
              <a:buNone/>
            </a:pPr>
            <a:r>
              <a:rPr lang="en-US" sz="1500" b="1" dirty="0">
                <a:solidFill>
                  <a:schemeClr val="tx1"/>
                </a:solidFill>
              </a:rPr>
              <a:t>Decisions</a:t>
            </a:r>
            <a:endParaRPr lang="en-US" sz="1500" dirty="0"/>
          </a:p>
        </p:txBody>
      </p:sp>
      <p:sp>
        <p:nvSpPr>
          <p:cNvPr id="34" name="Text 28"/>
          <p:cNvSpPr txBox="1"/>
          <p:nvPr/>
        </p:nvSpPr>
        <p:spPr>
          <a:xfrm>
            <a:off x="8942832" y="2130552"/>
            <a:ext cx="2011680" cy="365760"/>
          </a:xfrm>
          <a:prstGeom prst="rect">
            <a:avLst/>
          </a:prstGeom>
          <a:noFill/>
          <a:ln/>
        </p:spPr>
        <p:txBody>
          <a:bodyPr wrap="square" lIns="0" tIns="0" rIns="0" bIns="0" rtlCol="0" anchor="t"/>
          <a:lstStyle/>
          <a:p>
            <a:pPr indent="0" marL="0">
              <a:buNone/>
            </a:pPr>
            <a:r>
              <a:rPr lang="en-US" sz="1100" dirty="0">
                <a:solidFill>
                  <a:srgbClr val="64748B"/>
                </a:solidFill>
              </a:rPr>
              <a:t>What was decided and why</a:t>
            </a:r>
            <a:endParaRPr lang="en-US" sz="1100" dirty="0"/>
          </a:p>
        </p:txBody>
      </p:sp>
      <p:sp>
        <p:nvSpPr>
          <p:cNvPr id="35" name="Text 29"/>
          <p:cNvSpPr txBox="1"/>
          <p:nvPr/>
        </p:nvSpPr>
        <p:spPr>
          <a:xfrm>
            <a:off x="10725912" y="1737360"/>
            <a:ext cx="777240" cy="777240"/>
          </a:xfrm>
          <a:prstGeom prst="rect">
            <a:avLst/>
          </a:prstGeom>
          <a:noFill/>
          <a:ln/>
        </p:spPr>
        <p:txBody>
          <a:bodyPr wrap="square" lIns="0" tIns="0" rIns="0" bIns="0" rtlCol="0" anchor="ctr"/>
          <a:lstStyle/>
          <a:p>
            <a:pPr algn="r" indent="0" marL="0">
              <a:buNone/>
            </a:pPr>
            <a:r>
              <a:rPr lang="en-US" sz="2800" b="1" dirty="0">
                <a:solidFill>
                  <a:schemeClr val="accent5"/>
                </a:solidFill>
              </a:rPr>
              <a:t>7</a:t>
            </a:r>
            <a:endParaRPr lang="en-US" sz="2800" dirty="0"/>
          </a:p>
        </p:txBody>
      </p:sp>
      <p:sp>
        <p:nvSpPr>
          <p:cNvPr id="36" name="Shape 30"/>
          <p:cNvSpPr/>
          <p:nvPr/>
        </p:nvSpPr>
        <p:spPr>
          <a:xfrm>
            <a:off x="8074152" y="283464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7" name="Shape 31"/>
          <p:cNvSpPr/>
          <p:nvPr/>
        </p:nvSpPr>
        <p:spPr>
          <a:xfrm>
            <a:off x="8257032" y="3108960"/>
            <a:ext cx="502920" cy="502920"/>
          </a:xfrm>
          <a:prstGeom prst="ellipse">
            <a:avLst/>
          </a:prstGeom>
          <a:solidFill>
            <a:schemeClr val="accent2"/>
          </a:solidFill>
          <a:ln w="12700">
            <a:solidFill>
              <a:schemeClr val="accent2"/>
            </a:solidFill>
            <a:prstDash val="solid"/>
          </a:ln>
        </p:spPr>
      </p:sp>
      <p:pic>
        <p:nvPicPr>
          <p:cNvPr id="38" name="Image 4" descr="preencoded.png">    </p:cNvPr>
          <p:cNvPicPr>
            <a:picLocks noChangeAspect="1"/>
          </p:cNvPicPr>
          <p:nvPr/>
        </p:nvPicPr>
        <p:blipFill>
          <a:blip r:embed="rId5"/>
          <a:stretch>
            <a:fillRect/>
          </a:stretch>
        </p:blipFill>
        <p:spPr>
          <a:xfrm>
            <a:off x="8382762" y="3234690"/>
            <a:ext cx="251460" cy="251460"/>
          </a:xfrm>
          <a:prstGeom prst="rect">
            <a:avLst/>
          </a:prstGeom>
        </p:spPr>
      </p:pic>
      <p:sp>
        <p:nvSpPr>
          <p:cNvPr id="39" name="Text 32"/>
          <p:cNvSpPr txBox="1"/>
          <p:nvPr/>
        </p:nvSpPr>
        <p:spPr>
          <a:xfrm>
            <a:off x="8942832" y="3017520"/>
            <a:ext cx="1828800" cy="320040"/>
          </a:xfrm>
          <a:prstGeom prst="rect">
            <a:avLst/>
          </a:prstGeom>
          <a:noFill/>
          <a:ln/>
        </p:spPr>
        <p:txBody>
          <a:bodyPr wrap="square" lIns="0" tIns="0" rIns="0" bIns="0" rtlCol="0" anchor="t"/>
          <a:lstStyle/>
          <a:p>
            <a:pPr indent="0" marL="0">
              <a:buNone/>
            </a:pPr>
            <a:r>
              <a:rPr lang="en-US" sz="1500" b="1" dirty="0">
                <a:solidFill>
                  <a:schemeClr val="tx1"/>
                </a:solidFill>
              </a:rPr>
              <a:t>Topics</a:t>
            </a:r>
            <a:endParaRPr lang="en-US" sz="1500" dirty="0"/>
          </a:p>
        </p:txBody>
      </p:sp>
      <p:sp>
        <p:nvSpPr>
          <p:cNvPr id="40" name="Text 33"/>
          <p:cNvSpPr txBox="1"/>
          <p:nvPr/>
        </p:nvSpPr>
        <p:spPr>
          <a:xfrm>
            <a:off x="8942832" y="3364992"/>
            <a:ext cx="2011680" cy="365760"/>
          </a:xfrm>
          <a:prstGeom prst="rect">
            <a:avLst/>
          </a:prstGeom>
          <a:noFill/>
          <a:ln/>
        </p:spPr>
        <p:txBody>
          <a:bodyPr wrap="square" lIns="0" tIns="0" rIns="0" bIns="0" rtlCol="0" anchor="t"/>
          <a:lstStyle/>
          <a:p>
            <a:pPr indent="0" marL="0">
              <a:buNone/>
            </a:pPr>
            <a:r>
              <a:rPr lang="en-US" sz="1100" dirty="0">
                <a:solidFill>
                  <a:srgbClr val="64748B"/>
                </a:solidFill>
              </a:rPr>
              <a:t>Knowledge areas covered</a:t>
            </a:r>
            <a:endParaRPr lang="en-US" sz="1100" dirty="0"/>
          </a:p>
        </p:txBody>
      </p:sp>
      <p:sp>
        <p:nvSpPr>
          <p:cNvPr id="41" name="Text 34"/>
          <p:cNvSpPr txBox="1"/>
          <p:nvPr/>
        </p:nvSpPr>
        <p:spPr>
          <a:xfrm>
            <a:off x="10725912" y="2971800"/>
            <a:ext cx="777240" cy="777240"/>
          </a:xfrm>
          <a:prstGeom prst="rect">
            <a:avLst/>
          </a:prstGeom>
          <a:noFill/>
          <a:ln/>
        </p:spPr>
        <p:txBody>
          <a:bodyPr wrap="square" lIns="0" tIns="0" rIns="0" bIns="0" rtlCol="0" anchor="ctr"/>
          <a:lstStyle/>
          <a:p>
            <a:pPr algn="r" indent="0" marL="0">
              <a:buNone/>
            </a:pPr>
            <a:r>
              <a:rPr lang="en-US" sz="2800" b="1" dirty="0">
                <a:solidFill>
                  <a:schemeClr val="accent2"/>
                </a:solidFill>
              </a:rPr>
              <a:t>12</a:t>
            </a:r>
            <a:endParaRPr lang="en-US" sz="2800" dirty="0"/>
          </a:p>
        </p:txBody>
      </p:sp>
      <p:sp>
        <p:nvSpPr>
          <p:cNvPr id="42" name="Shape 35"/>
          <p:cNvSpPr/>
          <p:nvPr/>
        </p:nvSpPr>
        <p:spPr>
          <a:xfrm>
            <a:off x="8074152" y="4069080"/>
            <a:ext cx="3566160" cy="1051560"/>
          </a:xfrm>
          <a:prstGeom prst="roundRect">
            <a:avLst>
              <a:gd name="adj" fmla="val 695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3" name="Shape 36"/>
          <p:cNvSpPr/>
          <p:nvPr/>
        </p:nvSpPr>
        <p:spPr>
          <a:xfrm>
            <a:off x="8257032" y="4343400"/>
            <a:ext cx="502920" cy="502920"/>
          </a:xfrm>
          <a:prstGeom prst="ellipse">
            <a:avLst/>
          </a:prstGeom>
          <a:solidFill>
            <a:schemeClr val="accent3"/>
          </a:solidFill>
          <a:ln w="12700">
            <a:solidFill>
              <a:schemeClr val="accent3"/>
            </a:solidFill>
            <a:prstDash val="solid"/>
          </a:ln>
        </p:spPr>
      </p:sp>
      <p:pic>
        <p:nvPicPr>
          <p:cNvPr id="44" name="Image 5" descr="preencoded.png">    </p:cNvPr>
          <p:cNvPicPr>
            <a:picLocks noChangeAspect="1"/>
          </p:cNvPicPr>
          <p:nvPr/>
        </p:nvPicPr>
        <p:blipFill>
          <a:blip r:embed="rId6"/>
          <a:stretch>
            <a:fillRect/>
          </a:stretch>
        </p:blipFill>
        <p:spPr>
          <a:xfrm>
            <a:off x="8382762" y="4469130"/>
            <a:ext cx="251460" cy="251460"/>
          </a:xfrm>
          <a:prstGeom prst="rect">
            <a:avLst/>
          </a:prstGeom>
        </p:spPr>
      </p:pic>
      <p:sp>
        <p:nvSpPr>
          <p:cNvPr id="45" name="Text 37"/>
          <p:cNvSpPr txBox="1"/>
          <p:nvPr/>
        </p:nvSpPr>
        <p:spPr>
          <a:xfrm>
            <a:off x="8942832" y="4251960"/>
            <a:ext cx="1828800" cy="320040"/>
          </a:xfrm>
          <a:prstGeom prst="rect">
            <a:avLst/>
          </a:prstGeom>
          <a:noFill/>
          <a:ln/>
        </p:spPr>
        <p:txBody>
          <a:bodyPr wrap="square" lIns="0" tIns="0" rIns="0" bIns="0" rtlCol="0" anchor="t"/>
          <a:lstStyle/>
          <a:p>
            <a:pPr indent="0" marL="0">
              <a:buNone/>
            </a:pPr>
            <a:r>
              <a:rPr lang="en-US" sz="1500" b="1" dirty="0">
                <a:solidFill>
                  <a:schemeClr val="tx1"/>
                </a:solidFill>
              </a:rPr>
              <a:t>Related projects</a:t>
            </a:r>
            <a:endParaRPr lang="en-US" sz="1500" dirty="0"/>
          </a:p>
        </p:txBody>
      </p:sp>
      <p:sp>
        <p:nvSpPr>
          <p:cNvPr id="46" name="Text 38"/>
          <p:cNvSpPr txBox="1"/>
          <p:nvPr/>
        </p:nvSpPr>
        <p:spPr>
          <a:xfrm>
            <a:off x="8942832" y="4599432"/>
            <a:ext cx="2011680" cy="365760"/>
          </a:xfrm>
          <a:prstGeom prst="rect">
            <a:avLst/>
          </a:prstGeom>
          <a:noFill/>
          <a:ln/>
        </p:spPr>
        <p:txBody>
          <a:bodyPr wrap="square" lIns="0" tIns="0" rIns="0" bIns="0" rtlCol="0" anchor="t"/>
          <a:lstStyle/>
          <a:p>
            <a:pPr indent="0" marL="0">
              <a:buNone/>
            </a:pPr>
            <a:r>
              <a:rPr lang="en-US" sz="1100" dirty="0">
                <a:solidFill>
                  <a:srgbClr val="64748B"/>
                </a:solidFill>
              </a:rPr>
              <a:t>Similar work to reuse</a:t>
            </a:r>
            <a:endParaRPr lang="en-US" sz="1100" dirty="0"/>
          </a:p>
        </p:txBody>
      </p:sp>
      <p:sp>
        <p:nvSpPr>
          <p:cNvPr id="47" name="Text 39"/>
          <p:cNvSpPr txBox="1"/>
          <p:nvPr/>
        </p:nvSpPr>
        <p:spPr>
          <a:xfrm>
            <a:off x="10725912" y="4206240"/>
            <a:ext cx="777240" cy="777240"/>
          </a:xfrm>
          <a:prstGeom prst="rect">
            <a:avLst/>
          </a:prstGeom>
          <a:noFill/>
          <a:ln/>
        </p:spPr>
        <p:txBody>
          <a:bodyPr wrap="square" lIns="0" tIns="0" rIns="0" bIns="0" rtlCol="0" anchor="ctr"/>
          <a:lstStyle/>
          <a:p>
            <a:pPr algn="r" indent="0" marL="0">
              <a:buNone/>
            </a:pPr>
            <a:r>
              <a:rPr lang="en-US" sz="2800" b="1" dirty="0">
                <a:solidFill>
                  <a:schemeClr val="accent3"/>
                </a:solidFill>
              </a:rPr>
              <a:t>4</a:t>
            </a:r>
            <a:endParaRPr lang="en-US" sz="2800" dirty="0"/>
          </a:p>
        </p:txBody>
      </p:sp>
      <p:sp>
        <p:nvSpPr>
          <p:cNvPr id="48" name="Shape 40"/>
          <p:cNvSpPr/>
          <p:nvPr/>
        </p:nvSpPr>
        <p:spPr>
          <a:xfrm>
            <a:off x="4572000" y="1600200"/>
            <a:ext cx="3044952" cy="914400"/>
          </a:xfrm>
          <a:prstGeom prst="roundRect">
            <a:avLst>
              <a:gd name="adj" fmla="val 8000"/>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9" name="Shape 41"/>
          <p:cNvSpPr/>
          <p:nvPr/>
        </p:nvSpPr>
        <p:spPr>
          <a:xfrm>
            <a:off x="4754880" y="1801368"/>
            <a:ext cx="502920" cy="502920"/>
          </a:xfrm>
          <a:prstGeom prst="ellipse">
            <a:avLst/>
          </a:prstGeom>
          <a:solidFill>
            <a:schemeClr val="accent1"/>
          </a:solidFill>
          <a:ln w="12700">
            <a:solidFill>
              <a:schemeClr val="accent1"/>
            </a:solidFill>
            <a:prstDash val="solid"/>
          </a:ln>
        </p:spPr>
      </p:sp>
      <p:pic>
        <p:nvPicPr>
          <p:cNvPr id="50" name="Image 6" descr="preencoded.png">    </p:cNvPr>
          <p:cNvPicPr>
            <a:picLocks noChangeAspect="1"/>
          </p:cNvPicPr>
          <p:nvPr/>
        </p:nvPicPr>
        <p:blipFill>
          <a:blip r:embed="rId7"/>
          <a:stretch>
            <a:fillRect/>
          </a:stretch>
        </p:blipFill>
        <p:spPr>
          <a:xfrm>
            <a:off x="4880610" y="1927098"/>
            <a:ext cx="251460" cy="251460"/>
          </a:xfrm>
          <a:prstGeom prst="rect">
            <a:avLst/>
          </a:prstGeom>
        </p:spPr>
      </p:pic>
      <p:sp>
        <p:nvSpPr>
          <p:cNvPr id="51" name="Text 42"/>
          <p:cNvSpPr txBox="1"/>
          <p:nvPr/>
        </p:nvSpPr>
        <p:spPr>
          <a:xfrm>
            <a:off x="5440680" y="1737360"/>
            <a:ext cx="2011680" cy="292608"/>
          </a:xfrm>
          <a:prstGeom prst="rect">
            <a:avLst/>
          </a:prstGeom>
          <a:noFill/>
          <a:ln/>
        </p:spPr>
        <p:txBody>
          <a:bodyPr wrap="square" lIns="0" tIns="0" rIns="0" bIns="0" rtlCol="0" anchor="t"/>
          <a:lstStyle/>
          <a:p>
            <a:pPr indent="0" marL="0">
              <a:buNone/>
            </a:pPr>
            <a:r>
              <a:rPr lang="en-US" sz="1500" b="1" dirty="0">
                <a:solidFill>
                  <a:schemeClr val="tx1"/>
                </a:solidFill>
              </a:rPr>
              <a:t>Graph context</a:t>
            </a:r>
            <a:endParaRPr lang="en-US" sz="1500" dirty="0"/>
          </a:p>
        </p:txBody>
      </p:sp>
      <p:sp>
        <p:nvSpPr>
          <p:cNvPr id="52" name="Text 43"/>
          <p:cNvSpPr txBox="1"/>
          <p:nvPr/>
        </p:nvSpPr>
        <p:spPr>
          <a:xfrm>
            <a:off x="5440680" y="2057400"/>
            <a:ext cx="2103120" cy="292608"/>
          </a:xfrm>
          <a:prstGeom prst="rect">
            <a:avLst/>
          </a:prstGeom>
          <a:noFill/>
          <a:ln/>
        </p:spPr>
        <p:txBody>
          <a:bodyPr wrap="square" lIns="0" tIns="0" rIns="0" bIns="0" rtlCol="0" anchor="t"/>
          <a:lstStyle/>
          <a:p>
            <a:pPr indent="0" marL="0">
              <a:buNone/>
            </a:pPr>
            <a:r>
              <a:rPr lang="en-US" sz="1100" dirty="0">
                <a:solidFill>
                  <a:srgbClr val="64748B"/>
                </a:solidFill>
              </a:rPr>
              <a:t>Linked to the enterprise graph</a:t>
            </a:r>
            <a:endParaRPr lang="en-US" sz="1100" dirty="0"/>
          </a:p>
        </p:txBody>
      </p:sp>
      <p:sp>
        <p:nvSpPr>
          <p:cNvPr id="53" name="Shape 44"/>
          <p:cNvSpPr/>
          <p:nvPr/>
        </p:nvSpPr>
        <p:spPr>
          <a:xfrm>
            <a:off x="4572000" y="2788920"/>
            <a:ext cx="3044952" cy="1325880"/>
          </a:xfrm>
          <a:prstGeom prst="roundRect">
            <a:avLst>
              <a:gd name="adj" fmla="val 6897"/>
            </a:avLst>
          </a:prstGeom>
          <a:solidFill>
            <a:schemeClr val="tx2"/>
          </a:solidFill>
          <a:ln w="31750">
            <a:solidFill>
              <a:schemeClr val="accent2"/>
            </a:solidFill>
            <a:prstDash val="solid"/>
          </a:ln>
          <a:effectLst>
            <a:outerShdw sx="100000" sy="100000" kx="0" ky="0" algn="bl" rotWithShape="0" blurRad="127000" dist="25400" dir="5400000">
              <a:srgbClr val="0F172A">
                <a:alpha val="12000"/>
              </a:srgbClr>
            </a:outerShdw>
          </a:effectLst>
        </p:spPr>
      </p:sp>
      <p:sp>
        <p:nvSpPr>
          <p:cNvPr id="54" name="Text 45"/>
          <p:cNvSpPr txBox="1"/>
          <p:nvPr/>
        </p:nvSpPr>
        <p:spPr>
          <a:xfrm>
            <a:off x="4572000" y="2926080"/>
            <a:ext cx="3044952" cy="228600"/>
          </a:xfrm>
          <a:prstGeom prst="rect">
            <a:avLst/>
          </a:prstGeom>
          <a:noFill/>
          <a:ln/>
        </p:spPr>
        <p:txBody>
          <a:bodyPr wrap="square" lIns="0" tIns="0" rIns="0" bIns="0" rtlCol="0" anchor="t"/>
          <a:lstStyle/>
          <a:p>
            <a:pPr algn="ctr" indent="0" marL="0">
              <a:buNone/>
            </a:pPr>
            <a:r>
              <a:rPr lang="en-US" sz="1000" b="1" spc="300" kern="0" dirty="0">
                <a:solidFill>
                  <a:schemeClr val="accent2"/>
                </a:solidFill>
              </a:rPr>
              <a:t>PROJECT</a:t>
            </a:r>
            <a:endParaRPr lang="en-US" sz="1000" dirty="0"/>
          </a:p>
        </p:txBody>
      </p:sp>
      <p:sp>
        <p:nvSpPr>
          <p:cNvPr id="55" name="Text 46"/>
          <p:cNvSpPr txBox="1"/>
          <p:nvPr/>
        </p:nvSpPr>
        <p:spPr>
          <a:xfrm>
            <a:off x="4663440" y="3154680"/>
            <a:ext cx="2862072" cy="548640"/>
          </a:xfrm>
          <a:prstGeom prst="rect">
            <a:avLst/>
          </a:prstGeom>
          <a:noFill/>
          <a:ln/>
        </p:spPr>
        <p:txBody>
          <a:bodyPr wrap="square" lIns="0" tIns="0" rIns="0" bIns="0" rtlCol="0" anchor="ctr"/>
          <a:lstStyle/>
          <a:p>
            <a:pPr algn="ctr" indent="0" marL="0">
              <a:buNone/>
            </a:pPr>
            <a:r>
              <a:rPr lang="en-US" sz="1800" b="1" dirty="0">
                <a:solidFill>
                  <a:schemeClr val="bg1"/>
                </a:solidFill>
              </a:rPr>
              <a:t>Substation Modernization</a:t>
            </a:r>
            <a:endParaRPr lang="en-US" sz="1800" dirty="0"/>
          </a:p>
        </p:txBody>
      </p:sp>
      <p:sp>
        <p:nvSpPr>
          <p:cNvPr id="56" name="Text 47"/>
          <p:cNvSpPr txBox="1"/>
          <p:nvPr/>
        </p:nvSpPr>
        <p:spPr>
          <a:xfrm>
            <a:off x="4572000" y="3721608"/>
            <a:ext cx="3044952" cy="256032"/>
          </a:xfrm>
          <a:prstGeom prst="rect">
            <a:avLst/>
          </a:prstGeom>
          <a:noFill/>
          <a:ln/>
        </p:spPr>
        <p:txBody>
          <a:bodyPr wrap="square" lIns="0" tIns="0" rIns="0" bIns="0" rtlCol="0" anchor="t"/>
          <a:lstStyle/>
          <a:p>
            <a:pPr algn="ctr" indent="0" marL="0">
              <a:buNone/>
            </a:pPr>
            <a:r>
              <a:rPr lang="en-US" sz="1100" dirty="0">
                <a:solidFill>
                  <a:srgbClr val="CBD5E1"/>
                </a:solidFill>
              </a:rPr>
              <a:t>Knowledge footprint</a:t>
            </a:r>
            <a:endParaRPr lang="en-US" sz="1100" dirty="0"/>
          </a:p>
        </p:txBody>
      </p:sp>
      <p:sp>
        <p:nvSpPr>
          <p:cNvPr id="57" name="Shape 48"/>
          <p:cNvSpPr/>
          <p:nvPr/>
        </p:nvSpPr>
        <p:spPr>
          <a:xfrm>
            <a:off x="4572000" y="4434840"/>
            <a:ext cx="3044952" cy="685800"/>
          </a:xfrm>
          <a:prstGeom prst="roundRect">
            <a:avLst>
              <a:gd name="adj" fmla="val 10667"/>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8" name="Text 49"/>
          <p:cNvSpPr txBox="1"/>
          <p:nvPr/>
        </p:nvSpPr>
        <p:spPr>
          <a:xfrm>
            <a:off x="4754880" y="4498848"/>
            <a:ext cx="1371600" cy="256032"/>
          </a:xfrm>
          <a:prstGeom prst="rect">
            <a:avLst/>
          </a:prstGeom>
          <a:noFill/>
          <a:ln/>
        </p:spPr>
        <p:txBody>
          <a:bodyPr wrap="square" lIns="0" tIns="0" rIns="0" bIns="0" rtlCol="0" anchor="t"/>
          <a:lstStyle/>
          <a:p>
            <a:pPr indent="0" marL="0">
              <a:buNone/>
            </a:pPr>
            <a:r>
              <a:rPr lang="en-US" sz="1200" b="1" dirty="0">
                <a:solidFill>
                  <a:schemeClr val="tx1"/>
                </a:solidFill>
              </a:rPr>
              <a:t>Timeline</a:t>
            </a:r>
            <a:endParaRPr lang="en-US" sz="1200" dirty="0"/>
          </a:p>
        </p:txBody>
      </p:sp>
      <p:sp>
        <p:nvSpPr>
          <p:cNvPr id="59" name="Shape 50"/>
          <p:cNvSpPr/>
          <p:nvPr/>
        </p:nvSpPr>
        <p:spPr>
          <a:xfrm>
            <a:off x="4800600" y="4919472"/>
            <a:ext cx="2606040" cy="914"/>
          </a:xfrm>
          <a:prstGeom prst="line">
            <a:avLst/>
          </a:prstGeom>
          <a:noFill/>
          <a:ln w="25400">
            <a:solidFill>
              <a:srgbClr val="D5DCE6"/>
            </a:solidFill>
            <a:prstDash val="solid"/>
          </a:ln>
        </p:spPr>
      </p:sp>
      <p:sp>
        <p:nvSpPr>
          <p:cNvPr id="60" name="Shape 51"/>
          <p:cNvSpPr/>
          <p:nvPr/>
        </p:nvSpPr>
        <p:spPr>
          <a:xfrm>
            <a:off x="4846320" y="4837176"/>
            <a:ext cx="164592" cy="164592"/>
          </a:xfrm>
          <a:prstGeom prst="ellipse">
            <a:avLst/>
          </a:prstGeom>
          <a:solidFill>
            <a:schemeClr val="accent1"/>
          </a:solidFill>
          <a:ln w="12700">
            <a:solidFill>
              <a:schemeClr val="bg1"/>
            </a:solidFill>
            <a:prstDash val="solid"/>
          </a:ln>
        </p:spPr>
      </p:sp>
      <p:sp>
        <p:nvSpPr>
          <p:cNvPr id="61" name="Shape 52"/>
          <p:cNvSpPr/>
          <p:nvPr/>
        </p:nvSpPr>
        <p:spPr>
          <a:xfrm>
            <a:off x="5449824" y="4837176"/>
            <a:ext cx="164592" cy="164592"/>
          </a:xfrm>
          <a:prstGeom prst="ellipse">
            <a:avLst/>
          </a:prstGeom>
          <a:solidFill>
            <a:schemeClr val="accent5"/>
          </a:solidFill>
          <a:ln w="12700">
            <a:solidFill>
              <a:schemeClr val="bg1"/>
            </a:solidFill>
            <a:prstDash val="solid"/>
          </a:ln>
        </p:spPr>
      </p:sp>
      <p:sp>
        <p:nvSpPr>
          <p:cNvPr id="62" name="Shape 53"/>
          <p:cNvSpPr/>
          <p:nvPr/>
        </p:nvSpPr>
        <p:spPr>
          <a:xfrm>
            <a:off x="6053328" y="4837176"/>
            <a:ext cx="164592" cy="164592"/>
          </a:xfrm>
          <a:prstGeom prst="ellipse">
            <a:avLst/>
          </a:prstGeom>
          <a:solidFill>
            <a:schemeClr val="accent6"/>
          </a:solidFill>
          <a:ln w="12700">
            <a:solidFill>
              <a:schemeClr val="bg1"/>
            </a:solidFill>
            <a:prstDash val="solid"/>
          </a:ln>
        </p:spPr>
      </p:sp>
      <p:sp>
        <p:nvSpPr>
          <p:cNvPr id="63" name="Shape 54"/>
          <p:cNvSpPr/>
          <p:nvPr/>
        </p:nvSpPr>
        <p:spPr>
          <a:xfrm>
            <a:off x="6656832" y="4837176"/>
            <a:ext cx="164592" cy="164592"/>
          </a:xfrm>
          <a:prstGeom prst="ellipse">
            <a:avLst/>
          </a:prstGeom>
          <a:solidFill>
            <a:schemeClr val="accent4"/>
          </a:solidFill>
          <a:ln w="12700">
            <a:solidFill>
              <a:schemeClr val="bg1"/>
            </a:solidFill>
            <a:prstDash val="solid"/>
          </a:ln>
        </p:spPr>
      </p:sp>
      <p:sp>
        <p:nvSpPr>
          <p:cNvPr id="64" name="Shape 55"/>
          <p:cNvSpPr/>
          <p:nvPr/>
        </p:nvSpPr>
        <p:spPr>
          <a:xfrm>
            <a:off x="7260336" y="4837176"/>
            <a:ext cx="164592" cy="164592"/>
          </a:xfrm>
          <a:prstGeom prst="ellipse">
            <a:avLst/>
          </a:prstGeom>
          <a:solidFill>
            <a:schemeClr val="accent2"/>
          </a:solidFill>
          <a:ln w="12700">
            <a:solidFill>
              <a:schemeClr val="bg1"/>
            </a:solidFill>
            <a:prstDash val="solid"/>
          </a:ln>
        </p:spPr>
      </p:sp>
      <p:sp>
        <p:nvSpPr>
          <p:cNvPr id="65" name="Text 56"/>
          <p:cNvSpPr txBox="1"/>
          <p:nvPr/>
        </p:nvSpPr>
        <p:spPr>
          <a:xfrm>
            <a:off x="8897112" y="5193792"/>
            <a:ext cx="2743200" cy="228600"/>
          </a:xfrm>
          <a:prstGeom prst="rect">
            <a:avLst/>
          </a:prstGeom>
          <a:noFill/>
          <a:ln/>
        </p:spPr>
        <p:txBody>
          <a:bodyPr wrap="square" lIns="0" tIns="0" rIns="0" bIns="0" rtlCol="0" anchor="t"/>
          <a:lstStyle/>
          <a:p>
            <a:pPr algn="r" indent="0" marL="0">
              <a:buNone/>
            </a:pPr>
            <a:r>
              <a:rPr lang="en-US" sz="1000" i="1" dirty="0">
                <a:solidFill>
                  <a:srgbClr val="94A3B8"/>
                </a:solidFill>
              </a:rPr>
              <a:t>Illustrative project view</a:t>
            </a:r>
            <a:endParaRPr lang="en-US" sz="1000" dirty="0"/>
          </a:p>
        </p:txBody>
      </p:sp>
      <p:sp>
        <p:nvSpPr>
          <p:cNvPr id="66" name="Shape 57"/>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67" name="Text 58"/>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A project becomes more than a workspace. It becomes an intelligence object.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TOPIC EVOLUTION TRACKING</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See How Organizational Knowledge Changes Over Time</a:t>
            </a:r>
            <a:endParaRPr lang="en-US" sz="3000" dirty="0"/>
          </a:p>
        </p:txBody>
      </p:sp>
      <p:sp>
        <p:nvSpPr>
          <p:cNvPr id="4" name="Shape 2"/>
          <p:cNvSpPr/>
          <p:nvPr/>
        </p:nvSpPr>
        <p:spPr>
          <a:xfrm>
            <a:off x="548640" y="1600200"/>
            <a:ext cx="6949440" cy="3749040"/>
          </a:xfrm>
          <a:prstGeom prst="roundRect">
            <a:avLst>
              <a:gd name="adj" fmla="val 1951"/>
            </a:avLst>
          </a:prstGeom>
          <a:solidFill>
            <a:schemeClr val="bg1"/>
          </a:solidFill>
          <a:ln w="9525">
            <a:solidFill>
              <a:srgbClr val="D5DCE6"/>
            </a:solidFill>
            <a:prstDash val="solid"/>
          </a:ln>
        </p:spPr>
      </p:sp>
      <p:sp>
        <p:nvSpPr>
          <p:cNvPr id="5" name="Text 3"/>
          <p:cNvSpPr txBox="1"/>
          <p:nvPr/>
        </p:nvSpPr>
        <p:spPr>
          <a:xfrm>
            <a:off x="777240" y="1755648"/>
            <a:ext cx="5029200" cy="274320"/>
          </a:xfrm>
          <a:prstGeom prst="rect">
            <a:avLst/>
          </a:prstGeom>
          <a:noFill/>
          <a:ln/>
        </p:spPr>
        <p:txBody>
          <a:bodyPr wrap="square" lIns="0" tIns="0" rIns="0" bIns="0" rtlCol="0" anchor="t"/>
          <a:lstStyle/>
          <a:p>
            <a:pPr indent="0" marL="0">
              <a:buNone/>
            </a:pPr>
            <a:r>
              <a:rPr lang="en-US" sz="1300" b="1" dirty="0">
                <a:solidFill>
                  <a:schemeClr val="tx2"/>
                </a:solidFill>
              </a:rPr>
              <a:t>Topic: Grid Resilience  ·  weekly snapshots</a:t>
            </a:r>
            <a:endParaRPr lang="en-US" sz="1300" dirty="0"/>
          </a:p>
        </p:txBody>
      </p:sp>
      <p:sp>
        <p:nvSpPr>
          <p:cNvPr id="6" name="Text 4"/>
          <p:cNvSpPr txBox="1"/>
          <p:nvPr/>
        </p:nvSpPr>
        <p:spPr>
          <a:xfrm>
            <a:off x="5120640" y="1755648"/>
            <a:ext cx="2194560" cy="274320"/>
          </a:xfrm>
          <a:prstGeom prst="rect">
            <a:avLst/>
          </a:prstGeom>
          <a:noFill/>
          <a:ln/>
        </p:spPr>
        <p:txBody>
          <a:bodyPr wrap="square" lIns="0" tIns="0" rIns="0" bIns="0" rtlCol="0" anchor="t"/>
          <a:lstStyle/>
          <a:p>
            <a:pPr algn="r" indent="0" marL="0">
              <a:buNone/>
            </a:pPr>
            <a:r>
              <a:rPr lang="en-US" sz="1100" dirty="0">
                <a:solidFill>
                  <a:srgbClr val="08ACD5"/>
                </a:solidFill>
              </a:rPr>
              <a:t>■ </a:t>
            </a:r>
            <a:pPr algn="r" indent="0" marL="0">
              <a:buNone/>
            </a:pPr>
            <a:r>
              <a:rPr lang="en-US" sz="1100" dirty="0">
                <a:solidFill>
                  <a:srgbClr val="64748B"/>
                </a:solidFill>
              </a:rPr>
              <a:t>Documents   </a:t>
            </a:r>
            <a:pPr algn="r" indent="0" marL="0">
              <a:buNone/>
            </a:pPr>
            <a:r>
              <a:rPr lang="en-US" sz="1100" dirty="0">
                <a:solidFill>
                  <a:srgbClr val="1B58D8"/>
                </a:solidFill>
              </a:rPr>
              <a:t>● </a:t>
            </a:r>
            <a:pPr algn="r" indent="0" marL="0">
              <a:buNone/>
            </a:pPr>
            <a:r>
              <a:rPr lang="en-US" sz="1100" dirty="0">
                <a:solidFill>
                  <a:srgbClr val="64748B"/>
                </a:solidFill>
              </a:rPr>
              <a:t>Experts</a:t>
            </a:r>
            <a:endParaRPr lang="en-US" sz="1100" dirty="0"/>
          </a:p>
        </p:txBody>
      </p:sp>
      <p:graphicFrame>
        <p:nvGraphicFramePr>
          <p:cNvPr id="7" name="Chart 0" descr=""/>
          <p:cNvGraphicFramePr/>
          <p:nvPr/>
        </p:nvGraphicFramePr>
        <p:xfrm>
          <a:off x="685800" y="2103120"/>
          <a:ext cx="6675120" cy="31546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863840" y="1554480"/>
            <a:ext cx="1463040" cy="914400"/>
          </a:xfrm>
          <a:prstGeom prst="rect">
            <a:avLst/>
          </a:prstGeom>
          <a:noFill/>
          <a:ln/>
        </p:spPr>
        <p:txBody>
          <a:bodyPr wrap="square" lIns="0" tIns="0" rIns="0" bIns="0" rtlCol="0" anchor="t"/>
          <a:lstStyle/>
          <a:p>
            <a:pPr indent="0" marL="0">
              <a:buNone/>
            </a:pPr>
            <a:r>
              <a:rPr lang="en-US" sz="6000" b="1" dirty="0">
                <a:solidFill>
                  <a:schemeClr val="accent1"/>
                </a:solidFill>
              </a:rPr>
              <a:t>5×</a:t>
            </a:r>
            <a:endParaRPr lang="en-US" sz="6000" dirty="0"/>
          </a:p>
        </p:txBody>
      </p:sp>
      <p:sp>
        <p:nvSpPr>
          <p:cNvPr id="9" name="Text 6"/>
          <p:cNvSpPr txBox="1"/>
          <p:nvPr/>
        </p:nvSpPr>
        <p:spPr>
          <a:xfrm>
            <a:off x="9326880" y="1691640"/>
            <a:ext cx="2313432" cy="731520"/>
          </a:xfrm>
          <a:prstGeom prst="rect">
            <a:avLst/>
          </a:prstGeom>
          <a:noFill/>
          <a:ln/>
        </p:spPr>
        <p:txBody>
          <a:bodyPr wrap="square" lIns="0" tIns="0" rIns="0" bIns="0" rtlCol="0" anchor="ctr"/>
          <a:lstStyle/>
          <a:p>
            <a:pPr indent="0" marL="0">
              <a:buNone/>
            </a:pPr>
            <a:r>
              <a:rPr lang="en-US" sz="1200" dirty="0">
                <a:solidFill>
                  <a:srgbClr val="64748B"/>
                </a:solidFill>
              </a:rPr>
              <a:t>document growth and 11 contributing experts in eight weeks (illustrative)</a:t>
            </a:r>
            <a:endParaRPr lang="en-US" sz="1200" dirty="0"/>
          </a:p>
        </p:txBody>
      </p:sp>
      <p:sp>
        <p:nvSpPr>
          <p:cNvPr id="10" name="Shape 7"/>
          <p:cNvSpPr/>
          <p:nvPr/>
        </p:nvSpPr>
        <p:spPr>
          <a:xfrm>
            <a:off x="7863840" y="2697480"/>
            <a:ext cx="475488" cy="475488"/>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2"/>
          <a:stretch>
            <a:fillRect/>
          </a:stretch>
        </p:blipFill>
        <p:spPr>
          <a:xfrm>
            <a:off x="7982712" y="2816352"/>
            <a:ext cx="237744" cy="237744"/>
          </a:xfrm>
          <a:prstGeom prst="rect">
            <a:avLst/>
          </a:prstGeom>
        </p:spPr>
      </p:pic>
      <p:sp>
        <p:nvSpPr>
          <p:cNvPr id="12" name="Text 8"/>
          <p:cNvSpPr txBox="1"/>
          <p:nvPr/>
        </p:nvSpPr>
        <p:spPr>
          <a:xfrm>
            <a:off x="8503920" y="2697480"/>
            <a:ext cx="3136392" cy="475488"/>
          </a:xfrm>
          <a:prstGeom prst="rect">
            <a:avLst/>
          </a:prstGeom>
          <a:noFill/>
          <a:ln/>
        </p:spPr>
        <p:txBody>
          <a:bodyPr wrap="square" lIns="0" tIns="0" rIns="0" bIns="0" rtlCol="0" anchor="ctr"/>
          <a:lstStyle/>
          <a:p>
            <a:pPr indent="0" marL="0">
              <a:buNone/>
            </a:pPr>
            <a:r>
              <a:rPr lang="en-US" sz="1400" b="1" dirty="0">
                <a:solidFill>
                  <a:schemeClr val="tx1"/>
                </a:solidFill>
              </a:rPr>
              <a:t>Topic snapshots over time</a:t>
            </a:r>
            <a:endParaRPr lang="en-US" sz="1400" dirty="0"/>
          </a:p>
        </p:txBody>
      </p:sp>
      <p:sp>
        <p:nvSpPr>
          <p:cNvPr id="13" name="Shape 9"/>
          <p:cNvSpPr/>
          <p:nvPr/>
        </p:nvSpPr>
        <p:spPr>
          <a:xfrm>
            <a:off x="7863840" y="3364992"/>
            <a:ext cx="475488" cy="475488"/>
          </a:xfrm>
          <a:prstGeom prst="ellipse">
            <a:avLst/>
          </a:prstGeom>
          <a:solidFill>
            <a:schemeClr val="accent2"/>
          </a:solidFill>
          <a:ln w="12700">
            <a:solidFill>
              <a:schemeClr val="accent2"/>
            </a:solidFill>
            <a:prstDash val="solid"/>
          </a:ln>
        </p:spPr>
      </p:sp>
      <p:pic>
        <p:nvPicPr>
          <p:cNvPr id="14" name="Image 1" descr="preencoded.png">    </p:cNvPr>
          <p:cNvPicPr>
            <a:picLocks noChangeAspect="1"/>
          </p:cNvPicPr>
          <p:nvPr/>
        </p:nvPicPr>
        <p:blipFill>
          <a:blip r:embed="rId3"/>
          <a:stretch>
            <a:fillRect/>
          </a:stretch>
        </p:blipFill>
        <p:spPr>
          <a:xfrm>
            <a:off x="7982712" y="3483864"/>
            <a:ext cx="237744" cy="237744"/>
          </a:xfrm>
          <a:prstGeom prst="rect">
            <a:avLst/>
          </a:prstGeom>
        </p:spPr>
      </p:pic>
      <p:sp>
        <p:nvSpPr>
          <p:cNvPr id="15" name="Text 10"/>
          <p:cNvSpPr txBox="1"/>
          <p:nvPr/>
        </p:nvSpPr>
        <p:spPr>
          <a:xfrm>
            <a:off x="8503920" y="3364992"/>
            <a:ext cx="3136392" cy="475488"/>
          </a:xfrm>
          <a:prstGeom prst="rect">
            <a:avLst/>
          </a:prstGeom>
          <a:noFill/>
          <a:ln/>
        </p:spPr>
        <p:txBody>
          <a:bodyPr wrap="square" lIns="0" tIns="0" rIns="0" bIns="0" rtlCol="0" anchor="ctr"/>
          <a:lstStyle/>
          <a:p>
            <a:pPr indent="0" marL="0">
              <a:buNone/>
            </a:pPr>
            <a:r>
              <a:rPr lang="en-US" sz="1400" b="1" dirty="0">
                <a:solidFill>
                  <a:schemeClr val="tx1"/>
                </a:solidFill>
              </a:rPr>
              <a:t>Document volume &amp; expert-count trends</a:t>
            </a:r>
            <a:endParaRPr lang="en-US" sz="1400" dirty="0"/>
          </a:p>
        </p:txBody>
      </p:sp>
      <p:sp>
        <p:nvSpPr>
          <p:cNvPr id="16" name="Shape 11"/>
          <p:cNvSpPr/>
          <p:nvPr/>
        </p:nvSpPr>
        <p:spPr>
          <a:xfrm>
            <a:off x="7863840" y="4032504"/>
            <a:ext cx="475488" cy="475488"/>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4"/>
          <a:stretch>
            <a:fillRect/>
          </a:stretch>
        </p:blipFill>
        <p:spPr>
          <a:xfrm>
            <a:off x="7982712" y="4151376"/>
            <a:ext cx="237744" cy="237744"/>
          </a:xfrm>
          <a:prstGeom prst="rect">
            <a:avLst/>
          </a:prstGeom>
        </p:spPr>
      </p:pic>
      <p:sp>
        <p:nvSpPr>
          <p:cNvPr id="18" name="Text 12"/>
          <p:cNvSpPr txBox="1"/>
          <p:nvPr/>
        </p:nvSpPr>
        <p:spPr>
          <a:xfrm>
            <a:off x="8503920" y="4032504"/>
            <a:ext cx="3136392" cy="475488"/>
          </a:xfrm>
          <a:prstGeom prst="rect">
            <a:avLst/>
          </a:prstGeom>
          <a:noFill/>
          <a:ln/>
        </p:spPr>
        <p:txBody>
          <a:bodyPr wrap="square" lIns="0" tIns="0" rIns="0" bIns="0" rtlCol="0" anchor="ctr"/>
          <a:lstStyle/>
          <a:p>
            <a:pPr indent="0" marL="0">
              <a:buNone/>
            </a:pPr>
            <a:r>
              <a:rPr lang="en-US" sz="1400" b="1" dirty="0">
                <a:solidFill>
                  <a:schemeClr val="tx1"/>
                </a:solidFill>
              </a:rPr>
              <a:t>Retired topics keep their history</a:t>
            </a:r>
            <a:endParaRPr lang="en-US" sz="1400" dirty="0"/>
          </a:p>
        </p:txBody>
      </p:sp>
      <p:sp>
        <p:nvSpPr>
          <p:cNvPr id="19" name="Shape 13"/>
          <p:cNvSpPr/>
          <p:nvPr/>
        </p:nvSpPr>
        <p:spPr>
          <a:xfrm>
            <a:off x="7863840" y="4700016"/>
            <a:ext cx="475488" cy="475488"/>
          </a:xfrm>
          <a:prstGeom prst="ellipse">
            <a:avLst/>
          </a:prstGeom>
          <a:solidFill>
            <a:schemeClr val="accent2"/>
          </a:solidFill>
          <a:ln w="12700">
            <a:solidFill>
              <a:schemeClr val="accent2"/>
            </a:solidFill>
            <a:prstDash val="solid"/>
          </a:ln>
        </p:spPr>
      </p:sp>
      <p:pic>
        <p:nvPicPr>
          <p:cNvPr id="20" name="Image 3" descr="preencoded.png">    </p:cNvPr>
          <p:cNvPicPr>
            <a:picLocks noChangeAspect="1"/>
          </p:cNvPicPr>
          <p:nvPr/>
        </p:nvPicPr>
        <p:blipFill>
          <a:blip r:embed="rId5"/>
          <a:stretch>
            <a:fillRect/>
          </a:stretch>
        </p:blipFill>
        <p:spPr>
          <a:xfrm>
            <a:off x="7982712" y="4818888"/>
            <a:ext cx="237744" cy="237744"/>
          </a:xfrm>
          <a:prstGeom prst="rect">
            <a:avLst/>
          </a:prstGeom>
        </p:spPr>
      </p:pic>
      <p:sp>
        <p:nvSpPr>
          <p:cNvPr id="21" name="Text 14"/>
          <p:cNvSpPr txBox="1"/>
          <p:nvPr/>
        </p:nvSpPr>
        <p:spPr>
          <a:xfrm>
            <a:off x="8503920" y="4700016"/>
            <a:ext cx="3136392" cy="475488"/>
          </a:xfrm>
          <a:prstGeom prst="rect">
            <a:avLst/>
          </a:prstGeom>
          <a:noFill/>
          <a:ln/>
        </p:spPr>
        <p:txBody>
          <a:bodyPr wrap="square" lIns="0" tIns="0" rIns="0" bIns="0" rtlCol="0" anchor="ctr"/>
          <a:lstStyle/>
          <a:p>
            <a:pPr indent="0" marL="0">
              <a:buNone/>
            </a:pPr>
            <a:r>
              <a:rPr lang="en-US" sz="1400" b="1" dirty="0">
                <a:solidFill>
                  <a:schemeClr val="tx1"/>
                </a:solidFill>
              </a:rPr>
              <a:t>Trend views in the expert &amp; topic experience</a:t>
            </a:r>
            <a:endParaRPr lang="en-US" sz="1400" dirty="0"/>
          </a:p>
        </p:txBody>
      </p:sp>
      <p:sp>
        <p:nvSpPr>
          <p:cNvPr id="22" name="Shape 15"/>
          <p:cNvSpPr/>
          <p:nvPr/>
        </p:nvSpPr>
        <p:spPr>
          <a:xfrm>
            <a:off x="548640" y="5559552"/>
            <a:ext cx="11091672" cy="566928"/>
          </a:xfrm>
          <a:prstGeom prst="roundRect">
            <a:avLst>
              <a:gd name="adj" fmla="val 12903"/>
            </a:avLst>
          </a:prstGeom>
          <a:solidFill>
            <a:srgbClr val="E8F7FC"/>
          </a:solidFill>
          <a:ln w="12700">
            <a:solidFill>
              <a:srgbClr val="E8F7FC"/>
            </a:solidFill>
            <a:prstDash val="solid"/>
          </a:ln>
        </p:spPr>
      </p:sp>
      <p:sp>
        <p:nvSpPr>
          <p:cNvPr id="23" name="Text 16"/>
          <p:cNvSpPr txBox="1"/>
          <p:nvPr/>
        </p:nvSpPr>
        <p:spPr>
          <a:xfrm>
            <a:off x="777240" y="5559552"/>
            <a:ext cx="10698480" cy="566928"/>
          </a:xfrm>
          <a:prstGeom prst="rect">
            <a:avLst/>
          </a:prstGeom>
          <a:noFill/>
          <a:ln/>
        </p:spPr>
        <p:txBody>
          <a:bodyPr wrap="square" lIns="0" tIns="0" rIns="0" bIns="0" rtlCol="0" anchor="ctr"/>
          <a:lstStyle/>
          <a:p>
            <a:pPr indent="0" marL="0">
              <a:buNone/>
            </a:pPr>
            <a:r>
              <a:rPr lang="en-US" sz="2200" b="1" dirty="0">
                <a:solidFill>
                  <a:schemeClr val="accent2"/>
                </a:solidFill>
              </a:rPr>
              <a:t>“ </a:t>
            </a:r>
            <a:pPr indent="0" marL="0">
              <a:buNone/>
            </a:pPr>
            <a:r>
              <a:rPr lang="en-US" sz="1600" b="1" i="1" dirty="0">
                <a:solidFill>
                  <a:schemeClr val="tx2"/>
                </a:solidFill>
              </a:rPr>
              <a:t>KMS does not only organize today's knowledge. It shows how knowledge is changing.</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124444" y="1984248"/>
            <a:ext cx="1476756" cy="1399032"/>
          </a:xfrm>
          <a:prstGeom prst="line">
            <a:avLst/>
          </a:prstGeom>
          <a:noFill/>
          <a:ln w="12700">
            <a:solidFill>
              <a:srgbClr val="2E6FD8">
                <a:alpha val="10000"/>
              </a:srgbClr>
            </a:solidFill>
            <a:prstDash val="solid"/>
          </a:ln>
        </p:spPr>
      </p:sp>
      <p:sp>
        <p:nvSpPr>
          <p:cNvPr id="3" name="Shape 1"/>
          <p:cNvSpPr/>
          <p:nvPr/>
        </p:nvSpPr>
        <p:spPr>
          <a:xfrm flipV="1">
            <a:off x="9601200" y="1673352"/>
            <a:ext cx="1399032" cy="1709928"/>
          </a:xfrm>
          <a:prstGeom prst="line">
            <a:avLst/>
          </a:prstGeom>
          <a:noFill/>
          <a:ln w="12700">
            <a:solidFill>
              <a:srgbClr val="2E6FD8">
                <a:alpha val="10000"/>
              </a:srgbClr>
            </a:solidFill>
            <a:prstDash val="solid"/>
          </a:ln>
        </p:spPr>
      </p:sp>
      <p:sp>
        <p:nvSpPr>
          <p:cNvPr id="4" name="Shape 2"/>
          <p:cNvSpPr/>
          <p:nvPr/>
        </p:nvSpPr>
        <p:spPr>
          <a:xfrm>
            <a:off x="9601200" y="3383280"/>
            <a:ext cx="1671066" cy="466344"/>
          </a:xfrm>
          <a:prstGeom prst="line">
            <a:avLst/>
          </a:prstGeom>
          <a:noFill/>
          <a:ln w="12700">
            <a:solidFill>
              <a:srgbClr val="2E6FD8">
                <a:alpha val="10000"/>
              </a:srgbClr>
            </a:solidFill>
            <a:prstDash val="solid"/>
          </a:ln>
        </p:spPr>
      </p:sp>
      <p:sp>
        <p:nvSpPr>
          <p:cNvPr id="5" name="Shape 3"/>
          <p:cNvSpPr/>
          <p:nvPr/>
        </p:nvSpPr>
        <p:spPr>
          <a:xfrm>
            <a:off x="9601200" y="3383280"/>
            <a:ext cx="777240" cy="1865376"/>
          </a:xfrm>
          <a:prstGeom prst="line">
            <a:avLst/>
          </a:prstGeom>
          <a:noFill/>
          <a:ln w="12700">
            <a:solidFill>
              <a:srgbClr val="2E6FD8">
                <a:alpha val="10000"/>
              </a:srgbClr>
            </a:solidFill>
            <a:prstDash val="solid"/>
          </a:ln>
        </p:spPr>
      </p:sp>
      <p:sp>
        <p:nvSpPr>
          <p:cNvPr id="6" name="Shape 4"/>
          <p:cNvSpPr/>
          <p:nvPr/>
        </p:nvSpPr>
        <p:spPr>
          <a:xfrm flipV="1">
            <a:off x="8279892" y="3383280"/>
            <a:ext cx="1321308" cy="1476756"/>
          </a:xfrm>
          <a:prstGeom prst="line">
            <a:avLst/>
          </a:prstGeom>
          <a:noFill/>
          <a:ln w="12700">
            <a:solidFill>
              <a:srgbClr val="2E6FD8">
                <a:alpha val="10000"/>
              </a:srgbClr>
            </a:solidFill>
            <a:prstDash val="solid"/>
          </a:ln>
        </p:spPr>
      </p:sp>
      <p:sp>
        <p:nvSpPr>
          <p:cNvPr id="7" name="Shape 5"/>
          <p:cNvSpPr/>
          <p:nvPr/>
        </p:nvSpPr>
        <p:spPr>
          <a:xfrm>
            <a:off x="7580376" y="3383280"/>
            <a:ext cx="2020824" cy="914"/>
          </a:xfrm>
          <a:prstGeom prst="line">
            <a:avLst/>
          </a:prstGeom>
          <a:noFill/>
          <a:ln w="12700">
            <a:solidFill>
              <a:srgbClr val="2E6FD8">
                <a:alpha val="10000"/>
              </a:srgbClr>
            </a:solidFill>
            <a:prstDash val="solid"/>
          </a:ln>
        </p:spPr>
      </p:sp>
      <p:sp>
        <p:nvSpPr>
          <p:cNvPr id="8" name="Shape 6"/>
          <p:cNvSpPr/>
          <p:nvPr/>
        </p:nvSpPr>
        <p:spPr>
          <a:xfrm flipV="1">
            <a:off x="7580376" y="1984248"/>
            <a:ext cx="544068" cy="1399032"/>
          </a:xfrm>
          <a:prstGeom prst="line">
            <a:avLst/>
          </a:prstGeom>
          <a:noFill/>
          <a:ln w="12700">
            <a:solidFill>
              <a:srgbClr val="2E6FD8">
                <a:alpha val="10000"/>
              </a:srgbClr>
            </a:solidFill>
            <a:prstDash val="solid"/>
          </a:ln>
        </p:spPr>
      </p:sp>
      <p:sp>
        <p:nvSpPr>
          <p:cNvPr id="9" name="Shape 7"/>
          <p:cNvSpPr/>
          <p:nvPr/>
        </p:nvSpPr>
        <p:spPr>
          <a:xfrm flipV="1">
            <a:off x="8124444" y="1207008"/>
            <a:ext cx="1243584" cy="777240"/>
          </a:xfrm>
          <a:prstGeom prst="line">
            <a:avLst/>
          </a:prstGeom>
          <a:noFill/>
          <a:ln w="12700">
            <a:solidFill>
              <a:srgbClr val="2E6FD8">
                <a:alpha val="10000"/>
              </a:srgbClr>
            </a:solidFill>
            <a:prstDash val="solid"/>
          </a:ln>
        </p:spPr>
      </p:sp>
      <p:sp>
        <p:nvSpPr>
          <p:cNvPr id="10" name="Shape 8"/>
          <p:cNvSpPr/>
          <p:nvPr/>
        </p:nvSpPr>
        <p:spPr>
          <a:xfrm>
            <a:off x="9368028" y="1207008"/>
            <a:ext cx="1632204" cy="466344"/>
          </a:xfrm>
          <a:prstGeom prst="line">
            <a:avLst/>
          </a:prstGeom>
          <a:noFill/>
          <a:ln w="12700">
            <a:solidFill>
              <a:srgbClr val="2E6FD8">
                <a:alpha val="10000"/>
              </a:srgbClr>
            </a:solidFill>
            <a:prstDash val="solid"/>
          </a:ln>
        </p:spPr>
      </p:sp>
      <p:sp>
        <p:nvSpPr>
          <p:cNvPr id="11" name="Shape 9"/>
          <p:cNvSpPr/>
          <p:nvPr/>
        </p:nvSpPr>
        <p:spPr>
          <a:xfrm>
            <a:off x="11000232" y="1673352"/>
            <a:ext cx="699516" cy="1088136"/>
          </a:xfrm>
          <a:prstGeom prst="line">
            <a:avLst/>
          </a:prstGeom>
          <a:noFill/>
          <a:ln w="12700">
            <a:solidFill>
              <a:srgbClr val="2E6FD8">
                <a:alpha val="10000"/>
              </a:srgbClr>
            </a:solidFill>
            <a:prstDash val="solid"/>
          </a:ln>
        </p:spPr>
      </p:sp>
      <p:sp>
        <p:nvSpPr>
          <p:cNvPr id="12" name="Shape 10"/>
          <p:cNvSpPr/>
          <p:nvPr/>
        </p:nvSpPr>
        <p:spPr>
          <a:xfrm flipV="1">
            <a:off x="11272266" y="2761488"/>
            <a:ext cx="427482" cy="1088136"/>
          </a:xfrm>
          <a:prstGeom prst="line">
            <a:avLst/>
          </a:prstGeom>
          <a:noFill/>
          <a:ln w="12700">
            <a:solidFill>
              <a:srgbClr val="2E6FD8">
                <a:alpha val="10000"/>
              </a:srgbClr>
            </a:solidFill>
            <a:prstDash val="solid"/>
          </a:ln>
        </p:spPr>
      </p:sp>
      <p:sp>
        <p:nvSpPr>
          <p:cNvPr id="13" name="Shape 11"/>
          <p:cNvSpPr/>
          <p:nvPr/>
        </p:nvSpPr>
        <p:spPr>
          <a:xfrm>
            <a:off x="11272266" y="3849624"/>
            <a:ext cx="505206" cy="1088136"/>
          </a:xfrm>
          <a:prstGeom prst="line">
            <a:avLst/>
          </a:prstGeom>
          <a:noFill/>
          <a:ln w="12700">
            <a:solidFill>
              <a:srgbClr val="2E6FD8">
                <a:alpha val="10000"/>
              </a:srgbClr>
            </a:solidFill>
            <a:prstDash val="solid"/>
          </a:ln>
        </p:spPr>
      </p:sp>
      <p:sp>
        <p:nvSpPr>
          <p:cNvPr id="14" name="Shape 12"/>
          <p:cNvSpPr/>
          <p:nvPr/>
        </p:nvSpPr>
        <p:spPr>
          <a:xfrm flipV="1">
            <a:off x="9134856" y="5248656"/>
            <a:ext cx="1243584" cy="544068"/>
          </a:xfrm>
          <a:prstGeom prst="line">
            <a:avLst/>
          </a:prstGeom>
          <a:noFill/>
          <a:ln w="12700">
            <a:solidFill>
              <a:srgbClr val="2E6FD8">
                <a:alpha val="10000"/>
              </a:srgbClr>
            </a:solidFill>
            <a:prstDash val="solid"/>
          </a:ln>
        </p:spPr>
      </p:sp>
      <p:sp>
        <p:nvSpPr>
          <p:cNvPr id="15" name="Shape 13"/>
          <p:cNvSpPr/>
          <p:nvPr/>
        </p:nvSpPr>
        <p:spPr>
          <a:xfrm>
            <a:off x="8279892" y="4860036"/>
            <a:ext cx="854964" cy="932688"/>
          </a:xfrm>
          <a:prstGeom prst="line">
            <a:avLst/>
          </a:prstGeom>
          <a:noFill/>
          <a:ln w="12700">
            <a:solidFill>
              <a:srgbClr val="2E6FD8">
                <a:alpha val="10000"/>
              </a:srgbClr>
            </a:solidFill>
            <a:prstDash val="solid"/>
          </a:ln>
        </p:spPr>
      </p:sp>
      <p:sp>
        <p:nvSpPr>
          <p:cNvPr id="16" name="Shape 14"/>
          <p:cNvSpPr/>
          <p:nvPr/>
        </p:nvSpPr>
        <p:spPr>
          <a:xfrm flipV="1">
            <a:off x="7114032" y="4860036"/>
            <a:ext cx="1165860" cy="699516"/>
          </a:xfrm>
          <a:prstGeom prst="line">
            <a:avLst/>
          </a:prstGeom>
          <a:noFill/>
          <a:ln w="12700">
            <a:solidFill>
              <a:srgbClr val="2E6FD8">
                <a:alpha val="10000"/>
              </a:srgbClr>
            </a:solidFill>
            <a:prstDash val="solid"/>
          </a:ln>
        </p:spPr>
      </p:sp>
      <p:sp>
        <p:nvSpPr>
          <p:cNvPr id="17" name="Shape 15"/>
          <p:cNvSpPr/>
          <p:nvPr/>
        </p:nvSpPr>
        <p:spPr>
          <a:xfrm>
            <a:off x="7269480" y="1284732"/>
            <a:ext cx="310896" cy="2098548"/>
          </a:xfrm>
          <a:prstGeom prst="line">
            <a:avLst/>
          </a:prstGeom>
          <a:noFill/>
          <a:ln w="12700">
            <a:solidFill>
              <a:srgbClr val="2E6FD8">
                <a:alpha val="10000"/>
              </a:srgbClr>
            </a:solidFill>
            <a:prstDash val="solid"/>
          </a:ln>
        </p:spPr>
      </p:sp>
      <p:sp>
        <p:nvSpPr>
          <p:cNvPr id="18" name="Shape 16"/>
          <p:cNvSpPr/>
          <p:nvPr/>
        </p:nvSpPr>
        <p:spPr>
          <a:xfrm>
            <a:off x="7269480" y="1284732"/>
            <a:ext cx="854964" cy="699516"/>
          </a:xfrm>
          <a:prstGeom prst="line">
            <a:avLst/>
          </a:prstGeom>
          <a:noFill/>
          <a:ln w="12700">
            <a:solidFill>
              <a:srgbClr val="2E6FD8">
                <a:alpha val="10000"/>
              </a:srgbClr>
            </a:solidFill>
            <a:prstDash val="solid"/>
          </a:ln>
        </p:spPr>
      </p:sp>
      <p:sp>
        <p:nvSpPr>
          <p:cNvPr id="19" name="Shape 17"/>
          <p:cNvSpPr/>
          <p:nvPr/>
        </p:nvSpPr>
        <p:spPr>
          <a:xfrm flipV="1">
            <a:off x="10378440" y="3849624"/>
            <a:ext cx="893826" cy="1399032"/>
          </a:xfrm>
          <a:prstGeom prst="line">
            <a:avLst/>
          </a:prstGeom>
          <a:noFill/>
          <a:ln w="12700">
            <a:solidFill>
              <a:srgbClr val="2E6FD8">
                <a:alpha val="10000"/>
              </a:srgbClr>
            </a:solidFill>
            <a:prstDash val="solid"/>
          </a:ln>
        </p:spPr>
      </p:sp>
      <p:sp>
        <p:nvSpPr>
          <p:cNvPr id="20" name="Shape 18"/>
          <p:cNvSpPr/>
          <p:nvPr/>
        </p:nvSpPr>
        <p:spPr>
          <a:xfrm>
            <a:off x="7580376" y="3383280"/>
            <a:ext cx="699516" cy="1476756"/>
          </a:xfrm>
          <a:prstGeom prst="line">
            <a:avLst/>
          </a:prstGeom>
          <a:noFill/>
          <a:ln w="12700">
            <a:solidFill>
              <a:srgbClr val="2E6FD8">
                <a:alpha val="10000"/>
              </a:srgbClr>
            </a:solidFill>
            <a:prstDash val="solid"/>
          </a:ln>
        </p:spPr>
      </p:sp>
      <p:sp>
        <p:nvSpPr>
          <p:cNvPr id="21" name="Shape 19"/>
          <p:cNvSpPr/>
          <p:nvPr/>
        </p:nvSpPr>
        <p:spPr>
          <a:xfrm>
            <a:off x="9212580" y="2994660"/>
            <a:ext cx="777240" cy="777240"/>
          </a:xfrm>
          <a:prstGeom prst="ellipse">
            <a:avLst/>
          </a:prstGeom>
          <a:solidFill>
            <a:srgbClr val="1B58D8">
              <a:alpha val="45000"/>
            </a:srgbClr>
          </a:solidFill>
          <a:ln w="25400">
            <a:solidFill>
              <a:srgbClr val="08ACD5">
                <a:alpha val="45000"/>
              </a:srgbClr>
            </a:solidFill>
            <a:prstDash val="solid"/>
          </a:ln>
        </p:spPr>
      </p:sp>
      <p:pic>
        <p:nvPicPr>
          <p:cNvPr id="22" name="Image 0" descr="preencoded.png">    </p:cNvPr>
          <p:cNvPicPr>
            <a:picLocks noChangeAspect="1"/>
          </p:cNvPicPr>
          <p:nvPr/>
        </p:nvPicPr>
        <p:blipFill>
          <a:blip r:embed="rId1">
            <a:alphaModFix amt="45000"/>
          </a:blip>
          <a:stretch>
            <a:fillRect/>
          </a:stretch>
        </p:blipFill>
        <p:spPr>
          <a:xfrm>
            <a:off x="9406890" y="3188970"/>
            <a:ext cx="388620" cy="388620"/>
          </a:xfrm>
          <a:prstGeom prst="rect">
            <a:avLst/>
          </a:prstGeom>
        </p:spPr>
      </p:pic>
      <p:sp>
        <p:nvSpPr>
          <p:cNvPr id="23" name="Shape 20"/>
          <p:cNvSpPr/>
          <p:nvPr/>
        </p:nvSpPr>
        <p:spPr>
          <a:xfrm>
            <a:off x="7891272" y="1751076"/>
            <a:ext cx="466344" cy="466344"/>
          </a:xfrm>
          <a:prstGeom prst="ellipse">
            <a:avLst/>
          </a:prstGeom>
          <a:solidFill>
            <a:srgbClr val="12284A">
              <a:alpha val="45000"/>
            </a:srgbClr>
          </a:solidFill>
          <a:ln w="15875">
            <a:solidFill>
              <a:srgbClr val="08ACD5">
                <a:alpha val="45000"/>
              </a:srgbClr>
            </a:solidFill>
            <a:prstDash val="solid"/>
          </a:ln>
        </p:spPr>
      </p:sp>
      <p:pic>
        <p:nvPicPr>
          <p:cNvPr id="24" name="Image 1" descr="preencoded.png">    </p:cNvPr>
          <p:cNvPicPr>
            <a:picLocks noChangeAspect="1"/>
          </p:cNvPicPr>
          <p:nvPr/>
        </p:nvPicPr>
        <p:blipFill>
          <a:blip r:embed="rId2">
            <a:alphaModFix amt="45000"/>
          </a:blip>
          <a:stretch>
            <a:fillRect/>
          </a:stretch>
        </p:blipFill>
        <p:spPr>
          <a:xfrm>
            <a:off x="8007858" y="1867662"/>
            <a:ext cx="233172" cy="233172"/>
          </a:xfrm>
          <a:prstGeom prst="rect">
            <a:avLst/>
          </a:prstGeom>
        </p:spPr>
      </p:pic>
      <p:sp>
        <p:nvSpPr>
          <p:cNvPr id="25" name="Shape 21"/>
          <p:cNvSpPr/>
          <p:nvPr/>
        </p:nvSpPr>
        <p:spPr>
          <a:xfrm>
            <a:off x="10782605" y="1455725"/>
            <a:ext cx="435254" cy="435254"/>
          </a:xfrm>
          <a:prstGeom prst="ellipse">
            <a:avLst/>
          </a:prstGeom>
          <a:solidFill>
            <a:srgbClr val="12284A">
              <a:alpha val="45000"/>
            </a:srgbClr>
          </a:solidFill>
          <a:ln w="15875">
            <a:solidFill>
              <a:srgbClr val="08ACD5">
                <a:alpha val="45000"/>
              </a:srgbClr>
            </a:solidFill>
            <a:prstDash val="solid"/>
          </a:ln>
        </p:spPr>
      </p:sp>
      <p:pic>
        <p:nvPicPr>
          <p:cNvPr id="26" name="Image 2" descr="preencoded.png">    </p:cNvPr>
          <p:cNvPicPr>
            <a:picLocks noChangeAspect="1"/>
          </p:cNvPicPr>
          <p:nvPr/>
        </p:nvPicPr>
        <p:blipFill>
          <a:blip r:embed="rId3">
            <a:alphaModFix amt="45000"/>
          </a:blip>
          <a:stretch>
            <a:fillRect/>
          </a:stretch>
        </p:blipFill>
        <p:spPr>
          <a:xfrm>
            <a:off x="10891418" y="1564538"/>
            <a:ext cx="217627" cy="217627"/>
          </a:xfrm>
          <a:prstGeom prst="rect">
            <a:avLst/>
          </a:prstGeom>
        </p:spPr>
      </p:pic>
      <p:sp>
        <p:nvSpPr>
          <p:cNvPr id="27" name="Shape 22"/>
          <p:cNvSpPr/>
          <p:nvPr/>
        </p:nvSpPr>
        <p:spPr>
          <a:xfrm>
            <a:off x="11023549" y="3600907"/>
            <a:ext cx="497434" cy="497434"/>
          </a:xfrm>
          <a:prstGeom prst="ellipse">
            <a:avLst/>
          </a:prstGeom>
          <a:solidFill>
            <a:srgbClr val="12284A">
              <a:alpha val="45000"/>
            </a:srgbClr>
          </a:solidFill>
          <a:ln w="15875">
            <a:solidFill>
              <a:srgbClr val="08ACD5">
                <a:alpha val="45000"/>
              </a:srgbClr>
            </a:solidFill>
            <a:prstDash val="solid"/>
          </a:ln>
        </p:spPr>
      </p:sp>
      <p:pic>
        <p:nvPicPr>
          <p:cNvPr id="28" name="Image 3" descr="preencoded.png">    </p:cNvPr>
          <p:cNvPicPr>
            <a:picLocks noChangeAspect="1"/>
          </p:cNvPicPr>
          <p:nvPr/>
        </p:nvPicPr>
        <p:blipFill>
          <a:blip r:embed="rId4">
            <a:alphaModFix amt="45000"/>
          </a:blip>
          <a:stretch>
            <a:fillRect/>
          </a:stretch>
        </p:blipFill>
        <p:spPr>
          <a:xfrm>
            <a:off x="11147908" y="3725266"/>
            <a:ext cx="248717" cy="248717"/>
          </a:xfrm>
          <a:prstGeom prst="rect">
            <a:avLst/>
          </a:prstGeom>
        </p:spPr>
      </p:pic>
      <p:sp>
        <p:nvSpPr>
          <p:cNvPr id="29" name="Shape 23"/>
          <p:cNvSpPr/>
          <p:nvPr/>
        </p:nvSpPr>
        <p:spPr>
          <a:xfrm>
            <a:off x="10160813" y="5031029"/>
            <a:ext cx="435254" cy="435254"/>
          </a:xfrm>
          <a:prstGeom prst="ellipse">
            <a:avLst/>
          </a:prstGeom>
          <a:solidFill>
            <a:srgbClr val="12284A">
              <a:alpha val="45000"/>
            </a:srgbClr>
          </a:solidFill>
          <a:ln w="15875">
            <a:solidFill>
              <a:srgbClr val="08ACD5">
                <a:alpha val="45000"/>
              </a:srgbClr>
            </a:solidFill>
            <a:prstDash val="solid"/>
          </a:ln>
        </p:spPr>
      </p:sp>
      <p:pic>
        <p:nvPicPr>
          <p:cNvPr id="30" name="Image 4" descr="preencoded.png">    </p:cNvPr>
          <p:cNvPicPr>
            <a:picLocks noChangeAspect="1"/>
          </p:cNvPicPr>
          <p:nvPr/>
        </p:nvPicPr>
        <p:blipFill>
          <a:blip r:embed="rId5">
            <a:alphaModFix amt="45000"/>
          </a:blip>
          <a:stretch>
            <a:fillRect/>
          </a:stretch>
        </p:blipFill>
        <p:spPr>
          <a:xfrm>
            <a:off x="10269626" y="5139842"/>
            <a:ext cx="217627" cy="217627"/>
          </a:xfrm>
          <a:prstGeom prst="rect">
            <a:avLst/>
          </a:prstGeom>
        </p:spPr>
      </p:pic>
      <p:sp>
        <p:nvSpPr>
          <p:cNvPr id="31" name="Shape 24"/>
          <p:cNvSpPr/>
          <p:nvPr/>
        </p:nvSpPr>
        <p:spPr>
          <a:xfrm>
            <a:off x="8046720" y="4626864"/>
            <a:ext cx="466344" cy="466344"/>
          </a:xfrm>
          <a:prstGeom prst="ellipse">
            <a:avLst/>
          </a:prstGeom>
          <a:solidFill>
            <a:srgbClr val="12284A">
              <a:alpha val="45000"/>
            </a:srgbClr>
          </a:solidFill>
          <a:ln w="15875">
            <a:solidFill>
              <a:srgbClr val="08ACD5">
                <a:alpha val="45000"/>
              </a:srgbClr>
            </a:solidFill>
            <a:prstDash val="solid"/>
          </a:ln>
        </p:spPr>
      </p:sp>
      <p:pic>
        <p:nvPicPr>
          <p:cNvPr id="32" name="Image 5" descr="preencoded.png">    </p:cNvPr>
          <p:cNvPicPr>
            <a:picLocks noChangeAspect="1"/>
          </p:cNvPicPr>
          <p:nvPr/>
        </p:nvPicPr>
        <p:blipFill>
          <a:blip r:embed="rId6">
            <a:alphaModFix amt="45000"/>
          </a:blip>
          <a:stretch>
            <a:fillRect/>
          </a:stretch>
        </p:blipFill>
        <p:spPr>
          <a:xfrm>
            <a:off x="8163306" y="4743450"/>
            <a:ext cx="233172" cy="233172"/>
          </a:xfrm>
          <a:prstGeom prst="rect">
            <a:avLst/>
          </a:prstGeom>
        </p:spPr>
      </p:pic>
      <p:sp>
        <p:nvSpPr>
          <p:cNvPr id="33" name="Shape 25"/>
          <p:cNvSpPr/>
          <p:nvPr/>
        </p:nvSpPr>
        <p:spPr>
          <a:xfrm>
            <a:off x="7386066" y="3188970"/>
            <a:ext cx="388620" cy="388620"/>
          </a:xfrm>
          <a:prstGeom prst="ellipse">
            <a:avLst/>
          </a:prstGeom>
          <a:solidFill>
            <a:srgbClr val="12284A">
              <a:alpha val="45000"/>
            </a:srgbClr>
          </a:solidFill>
          <a:ln w="15875">
            <a:solidFill>
              <a:srgbClr val="08ACD5">
                <a:alpha val="45000"/>
              </a:srgbClr>
            </a:solidFill>
            <a:prstDash val="solid"/>
          </a:ln>
        </p:spPr>
      </p:sp>
      <p:pic>
        <p:nvPicPr>
          <p:cNvPr id="34" name="Image 6" descr="preencoded.png">    </p:cNvPr>
          <p:cNvPicPr>
            <a:picLocks noChangeAspect="1"/>
          </p:cNvPicPr>
          <p:nvPr/>
        </p:nvPicPr>
        <p:blipFill>
          <a:blip r:embed="rId7">
            <a:alphaModFix amt="45000"/>
          </a:blip>
          <a:stretch>
            <a:fillRect/>
          </a:stretch>
        </p:blipFill>
        <p:spPr>
          <a:xfrm>
            <a:off x="7483221" y="3286125"/>
            <a:ext cx="194310" cy="194310"/>
          </a:xfrm>
          <a:prstGeom prst="rect">
            <a:avLst/>
          </a:prstGeom>
        </p:spPr>
      </p:pic>
      <p:sp>
        <p:nvSpPr>
          <p:cNvPr id="35" name="Shape 26"/>
          <p:cNvSpPr/>
          <p:nvPr/>
        </p:nvSpPr>
        <p:spPr>
          <a:xfrm>
            <a:off x="9290304" y="1129284"/>
            <a:ext cx="155448" cy="155448"/>
          </a:xfrm>
          <a:prstGeom prst="ellipse">
            <a:avLst/>
          </a:prstGeom>
          <a:solidFill>
            <a:srgbClr val="08ACD5">
              <a:alpha val="25000"/>
            </a:srgbClr>
          </a:solidFill>
          <a:ln w="12700">
            <a:solidFill>
              <a:srgbClr val="08ACD5"/>
            </a:solidFill>
            <a:prstDash val="solid"/>
          </a:ln>
        </p:spPr>
      </p:sp>
      <p:sp>
        <p:nvSpPr>
          <p:cNvPr id="36" name="Shape 27"/>
          <p:cNvSpPr/>
          <p:nvPr/>
        </p:nvSpPr>
        <p:spPr>
          <a:xfrm>
            <a:off x="11637569" y="2699309"/>
            <a:ext cx="124358" cy="124358"/>
          </a:xfrm>
          <a:prstGeom prst="ellipse">
            <a:avLst/>
          </a:prstGeom>
          <a:solidFill>
            <a:srgbClr val="08ACD5">
              <a:alpha val="25000"/>
            </a:srgbClr>
          </a:solidFill>
          <a:ln w="12700">
            <a:solidFill>
              <a:srgbClr val="08ACD5"/>
            </a:solidFill>
            <a:prstDash val="solid"/>
          </a:ln>
        </p:spPr>
      </p:sp>
      <p:sp>
        <p:nvSpPr>
          <p:cNvPr id="37" name="Shape 28"/>
          <p:cNvSpPr/>
          <p:nvPr/>
        </p:nvSpPr>
        <p:spPr>
          <a:xfrm>
            <a:off x="9057132" y="5715000"/>
            <a:ext cx="155448" cy="155448"/>
          </a:xfrm>
          <a:prstGeom prst="ellipse">
            <a:avLst/>
          </a:prstGeom>
          <a:solidFill>
            <a:srgbClr val="08ACD5">
              <a:alpha val="25000"/>
            </a:srgbClr>
          </a:solidFill>
          <a:ln w="12700">
            <a:solidFill>
              <a:srgbClr val="08ACD5"/>
            </a:solidFill>
            <a:prstDash val="solid"/>
          </a:ln>
        </p:spPr>
      </p:sp>
      <p:sp>
        <p:nvSpPr>
          <p:cNvPr id="38" name="Shape 29"/>
          <p:cNvSpPr/>
          <p:nvPr/>
        </p:nvSpPr>
        <p:spPr>
          <a:xfrm>
            <a:off x="7059625" y="5505145"/>
            <a:ext cx="108814" cy="108814"/>
          </a:xfrm>
          <a:prstGeom prst="ellipse">
            <a:avLst/>
          </a:prstGeom>
          <a:solidFill>
            <a:srgbClr val="08ACD5">
              <a:alpha val="25000"/>
            </a:srgbClr>
          </a:solidFill>
          <a:ln w="12700">
            <a:solidFill>
              <a:srgbClr val="08ACD5"/>
            </a:solidFill>
            <a:prstDash val="solid"/>
          </a:ln>
        </p:spPr>
      </p:sp>
      <p:sp>
        <p:nvSpPr>
          <p:cNvPr id="39" name="Shape 30"/>
          <p:cNvSpPr/>
          <p:nvPr/>
        </p:nvSpPr>
        <p:spPr>
          <a:xfrm>
            <a:off x="11707520" y="4867808"/>
            <a:ext cx="139903" cy="139903"/>
          </a:xfrm>
          <a:prstGeom prst="ellipse">
            <a:avLst/>
          </a:prstGeom>
          <a:solidFill>
            <a:srgbClr val="08ACD5">
              <a:alpha val="25000"/>
            </a:srgbClr>
          </a:solidFill>
          <a:ln w="12700">
            <a:solidFill>
              <a:srgbClr val="08ACD5"/>
            </a:solidFill>
            <a:prstDash val="solid"/>
          </a:ln>
        </p:spPr>
      </p:sp>
      <p:sp>
        <p:nvSpPr>
          <p:cNvPr id="40" name="Shape 31"/>
          <p:cNvSpPr/>
          <p:nvPr/>
        </p:nvSpPr>
        <p:spPr>
          <a:xfrm>
            <a:off x="7215073" y="1230325"/>
            <a:ext cx="108814" cy="108814"/>
          </a:xfrm>
          <a:prstGeom prst="ellipse">
            <a:avLst/>
          </a:prstGeom>
          <a:solidFill>
            <a:srgbClr val="08ACD5">
              <a:alpha val="25000"/>
            </a:srgbClr>
          </a:solidFill>
          <a:ln w="12700">
            <a:solidFill>
              <a:srgbClr val="08ACD5"/>
            </a:solidFill>
            <a:prstDash val="solid"/>
          </a:ln>
        </p:spPr>
      </p:sp>
      <p:sp>
        <p:nvSpPr>
          <p:cNvPr id="41" name="Text 0"/>
          <p:cNvSpPr/>
          <p:nvPr>
            <p:ph idx="101" type="body" hasCustomPrompt="1"/>
          </p:nvPr>
        </p:nvSpPr>
        <p:spPr>
          <a:xfrm>
            <a:off x="685800" y="2240280"/>
            <a:ext cx="5486400" cy="457200"/>
          </a:xfrm>
          <a:prstGeom prst="rect">
            <a:avLst/>
          </a:prstGeom>
          <a:noFill/>
          <a:ln/>
        </p:spPr>
        <p:txBody>
          <a:bodyPr wrap="square" lIns="0" tIns="0" rIns="0" bIns="0" rtlCol="0"/>
          <a:lstStyle/>
          <a:p>
            <a:pPr algn="l" indent="0" marL="0">
              <a:buNone/>
            </a:pPr>
            <a:r>
              <a:rPr lang="en-US" sz="1600" b="1" spc="300" kern="0" dirty="0">
                <a:solidFill>
                  <a:schemeClr val="accent2"/>
                </a:solidFill>
              </a:rPr>
              <a:t>03  ·  VALUE</a:t>
            </a:r>
            <a:endParaRPr lang="en-US" sz="1600" dirty="0"/>
          </a:p>
        </p:txBody>
      </p:sp>
      <p:sp>
        <p:nvSpPr>
          <p:cNvPr id="42" name="Text 0"/>
          <p:cNvSpPr/>
          <p:nvPr>
            <p:ph idx="102" type="title" hasCustomPrompt="1"/>
          </p:nvPr>
        </p:nvSpPr>
        <p:spPr>
          <a:xfrm>
            <a:off x="685800" y="2697480"/>
            <a:ext cx="6858000" cy="1097280"/>
          </a:xfrm>
          <a:prstGeom prst="rect">
            <a:avLst/>
          </a:prstGeom>
          <a:noFill/>
          <a:ln/>
        </p:spPr>
        <p:txBody>
          <a:bodyPr wrap="square" lIns="0" tIns="0" rIns="0" bIns="0" rtlCol="0" anchor="t"/>
          <a:lstStyle/>
          <a:p>
            <a:pPr algn="l" indent="0" marL="0">
              <a:buNone/>
            </a:pPr>
            <a:r>
              <a:rPr lang="en-US" sz="4400" b="1" dirty="0">
                <a:solidFill>
                  <a:schemeClr val="bg1"/>
                </a:solidFill>
              </a:rPr>
              <a:t>Why KMS</a:t>
            </a:r>
            <a:endParaRPr lang="en-US" sz="4400" dirty="0"/>
          </a:p>
        </p:txBody>
      </p:sp>
      <p:sp>
        <p:nvSpPr>
          <p:cNvPr id="43" name="Text 0"/>
          <p:cNvSpPr/>
          <p:nvPr>
            <p:ph idx="103" type="body" hasCustomPrompt="1"/>
          </p:nvPr>
        </p:nvSpPr>
        <p:spPr>
          <a:xfrm>
            <a:off x="685800" y="3840480"/>
            <a:ext cx="6035040" cy="914400"/>
          </a:xfrm>
          <a:prstGeom prst="rect">
            <a:avLst/>
          </a:prstGeom>
          <a:noFill/>
          <a:ln/>
        </p:spPr>
        <p:txBody>
          <a:bodyPr wrap="square" lIns="0" tIns="0" rIns="0" bIns="0" rtlCol="0" anchor="t"/>
          <a:lstStyle/>
          <a:p>
            <a:pPr algn="l" indent="0" marL="0">
              <a:buNone/>
            </a:pPr>
            <a:r>
              <a:rPr lang="en-US" sz="1800" dirty="0">
                <a:solidFill>
                  <a:srgbClr val="CBD5E1"/>
                </a:solidFill>
              </a:rPr>
              <a:t>What sets KMS apart, and the outcomes it enables</a:t>
            </a:r>
            <a:endParaRPr lang="en-US" sz="1800" dirty="0"/>
          </a:p>
        </p:txBody>
      </p:sp>
      <p:sp>
        <p:nvSpPr>
          <p:cNvPr id="25" name="Slide Number Placeholder 0"/>
          <p:cNvSpPr>
            <a:spLocks noGrp="1"/>
          </p:cNvSpPr>
          <p:nvPr>
            <p:ph type="sldNum" sz="quarter" idx="4294967295"/>
          </p:nvPr>
        </p:nvSpPr>
        <p:spPr>
          <a:xfrm>
            <a:off x="685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THE KMS DIFFERENTIATOR</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What Makes KMS Different</a:t>
            </a:r>
            <a:endParaRPr lang="en-US" sz="3000" dirty="0"/>
          </a:p>
        </p:txBody>
      </p:sp>
      <p:sp>
        <p:nvSpPr>
          <p:cNvPr id="4" name="Shape 2"/>
          <p:cNvSpPr/>
          <p:nvPr/>
        </p:nvSpPr>
        <p:spPr>
          <a:xfrm>
            <a:off x="1188720" y="1673352"/>
            <a:ext cx="4114800" cy="4114800"/>
          </a:xfrm>
          <a:prstGeom prst="ellipse">
            <a:avLst/>
          </a:prstGeom>
          <a:solidFill>
            <a:schemeClr val="tx2"/>
          </a:solidFill>
          <a:ln w="19050">
            <a:solidFill>
              <a:schemeClr val="bg1"/>
            </a:solidFill>
            <a:prstDash val="solid"/>
          </a:ln>
        </p:spPr>
      </p:sp>
      <p:sp>
        <p:nvSpPr>
          <p:cNvPr id="5" name="Text 3"/>
          <p:cNvSpPr txBox="1"/>
          <p:nvPr/>
        </p:nvSpPr>
        <p:spPr>
          <a:xfrm>
            <a:off x="2057400" y="1783080"/>
            <a:ext cx="2377440" cy="256032"/>
          </a:xfrm>
          <a:prstGeom prst="rect">
            <a:avLst/>
          </a:prstGeom>
          <a:noFill/>
          <a:ln/>
        </p:spPr>
        <p:txBody>
          <a:bodyPr wrap="square" lIns="0" tIns="0" rIns="0" bIns="0" rtlCol="0" anchor="t"/>
          <a:lstStyle/>
          <a:p>
            <a:pPr algn="ctr" indent="0" marL="0">
              <a:buNone/>
            </a:pPr>
            <a:r>
              <a:rPr lang="en-US" sz="950" b="1" spc="50" kern="0" dirty="0">
                <a:solidFill>
                  <a:schemeClr val="bg1"/>
                </a:solidFill>
              </a:rPr>
              <a:t>ORGANIZATIONAL MEMORY</a:t>
            </a:r>
            <a:endParaRPr lang="en-US" sz="950" dirty="0"/>
          </a:p>
        </p:txBody>
      </p:sp>
      <p:sp>
        <p:nvSpPr>
          <p:cNvPr id="6" name="Shape 4"/>
          <p:cNvSpPr/>
          <p:nvPr/>
        </p:nvSpPr>
        <p:spPr>
          <a:xfrm>
            <a:off x="1572768" y="2057400"/>
            <a:ext cx="3346704" cy="3346704"/>
          </a:xfrm>
          <a:prstGeom prst="ellipse">
            <a:avLst/>
          </a:prstGeom>
          <a:solidFill>
            <a:schemeClr val="accent1"/>
          </a:solidFill>
          <a:ln w="19050">
            <a:solidFill>
              <a:schemeClr val="bg1"/>
            </a:solidFill>
            <a:prstDash val="solid"/>
          </a:ln>
        </p:spPr>
      </p:sp>
      <p:sp>
        <p:nvSpPr>
          <p:cNvPr id="7" name="Text 5"/>
          <p:cNvSpPr txBox="1"/>
          <p:nvPr/>
        </p:nvSpPr>
        <p:spPr>
          <a:xfrm>
            <a:off x="2057400" y="2167128"/>
            <a:ext cx="2377440" cy="256032"/>
          </a:xfrm>
          <a:prstGeom prst="rect">
            <a:avLst/>
          </a:prstGeom>
          <a:noFill/>
          <a:ln/>
        </p:spPr>
        <p:txBody>
          <a:bodyPr wrap="square" lIns="0" tIns="0" rIns="0" bIns="0" rtlCol="0" anchor="t"/>
          <a:lstStyle/>
          <a:p>
            <a:pPr algn="ctr" indent="0" marL="0">
              <a:buNone/>
            </a:pPr>
            <a:r>
              <a:rPr lang="en-US" sz="1050" b="1" spc="150" kern="0" dirty="0">
                <a:solidFill>
                  <a:schemeClr val="bg1"/>
                </a:solidFill>
              </a:rPr>
              <a:t>INTELLIGENCE</a:t>
            </a:r>
            <a:endParaRPr lang="en-US" sz="1050" dirty="0"/>
          </a:p>
        </p:txBody>
      </p:sp>
      <p:sp>
        <p:nvSpPr>
          <p:cNvPr id="8" name="Shape 6"/>
          <p:cNvSpPr/>
          <p:nvPr/>
        </p:nvSpPr>
        <p:spPr>
          <a:xfrm>
            <a:off x="1956816" y="2441448"/>
            <a:ext cx="2578608" cy="2578608"/>
          </a:xfrm>
          <a:prstGeom prst="ellipse">
            <a:avLst/>
          </a:prstGeom>
          <a:solidFill>
            <a:srgbClr val="1482D6"/>
          </a:solidFill>
          <a:ln w="19050">
            <a:solidFill>
              <a:schemeClr val="bg1"/>
            </a:solidFill>
            <a:prstDash val="solid"/>
          </a:ln>
        </p:spPr>
      </p:sp>
      <p:sp>
        <p:nvSpPr>
          <p:cNvPr id="9" name="Text 7"/>
          <p:cNvSpPr txBox="1"/>
          <p:nvPr/>
        </p:nvSpPr>
        <p:spPr>
          <a:xfrm>
            <a:off x="2057400" y="2551176"/>
            <a:ext cx="2377440" cy="256032"/>
          </a:xfrm>
          <a:prstGeom prst="rect">
            <a:avLst/>
          </a:prstGeom>
          <a:noFill/>
          <a:ln/>
        </p:spPr>
        <p:txBody>
          <a:bodyPr wrap="square" lIns="0" tIns="0" rIns="0" bIns="0" rtlCol="0" anchor="t"/>
          <a:lstStyle/>
          <a:p>
            <a:pPr algn="ctr" indent="0" marL="0">
              <a:buNone/>
            </a:pPr>
            <a:r>
              <a:rPr lang="en-US" sz="1050" b="1" spc="150" kern="0" dirty="0">
                <a:solidFill>
                  <a:schemeClr val="bg1"/>
                </a:solidFill>
              </a:rPr>
              <a:t>CONTEXT</a:t>
            </a:r>
            <a:endParaRPr lang="en-US" sz="1050" dirty="0"/>
          </a:p>
        </p:txBody>
      </p:sp>
      <p:sp>
        <p:nvSpPr>
          <p:cNvPr id="10" name="Shape 8"/>
          <p:cNvSpPr/>
          <p:nvPr/>
        </p:nvSpPr>
        <p:spPr>
          <a:xfrm>
            <a:off x="2340864" y="2825496"/>
            <a:ext cx="1810512" cy="1810512"/>
          </a:xfrm>
          <a:prstGeom prst="ellipse">
            <a:avLst/>
          </a:prstGeom>
          <a:solidFill>
            <a:schemeClr val="accent2"/>
          </a:solidFill>
          <a:ln w="19050">
            <a:solidFill>
              <a:schemeClr val="bg1"/>
            </a:solidFill>
            <a:prstDash val="solid"/>
          </a:ln>
        </p:spPr>
      </p:sp>
      <p:sp>
        <p:nvSpPr>
          <p:cNvPr id="11" name="Text 9"/>
          <p:cNvSpPr txBox="1"/>
          <p:nvPr/>
        </p:nvSpPr>
        <p:spPr>
          <a:xfrm>
            <a:off x="2057400" y="2935224"/>
            <a:ext cx="2377440" cy="256032"/>
          </a:xfrm>
          <a:prstGeom prst="rect">
            <a:avLst/>
          </a:prstGeom>
          <a:noFill/>
          <a:ln/>
        </p:spPr>
        <p:txBody>
          <a:bodyPr wrap="square" lIns="0" tIns="0" rIns="0" bIns="0" rtlCol="0" anchor="t"/>
          <a:lstStyle/>
          <a:p>
            <a:pPr algn="ctr" indent="0" marL="0">
              <a:buNone/>
            </a:pPr>
            <a:r>
              <a:rPr lang="en-US" sz="1050" b="1" spc="150" kern="0" dirty="0">
                <a:solidFill>
                  <a:schemeClr val="bg1"/>
                </a:solidFill>
              </a:rPr>
              <a:t>KNOWLEDGE</a:t>
            </a:r>
            <a:endParaRPr lang="en-US" sz="1050" dirty="0"/>
          </a:p>
        </p:txBody>
      </p:sp>
      <p:sp>
        <p:nvSpPr>
          <p:cNvPr id="12" name="Shape 10"/>
          <p:cNvSpPr/>
          <p:nvPr/>
        </p:nvSpPr>
        <p:spPr>
          <a:xfrm>
            <a:off x="2724912" y="3209544"/>
            <a:ext cx="1042416" cy="1042416"/>
          </a:xfrm>
          <a:prstGeom prst="ellipse">
            <a:avLst/>
          </a:prstGeom>
          <a:solidFill>
            <a:srgbClr val="DCEFFB"/>
          </a:solidFill>
          <a:ln w="19050">
            <a:solidFill>
              <a:schemeClr val="bg1"/>
            </a:solidFill>
            <a:prstDash val="solid"/>
          </a:ln>
        </p:spPr>
      </p:sp>
      <p:sp>
        <p:nvSpPr>
          <p:cNvPr id="13" name="Text 11"/>
          <p:cNvSpPr txBox="1"/>
          <p:nvPr/>
        </p:nvSpPr>
        <p:spPr>
          <a:xfrm>
            <a:off x="2514600" y="3547872"/>
            <a:ext cx="1463040" cy="365760"/>
          </a:xfrm>
          <a:prstGeom prst="rect">
            <a:avLst/>
          </a:prstGeom>
          <a:noFill/>
          <a:ln/>
        </p:spPr>
        <p:txBody>
          <a:bodyPr wrap="square" lIns="0" tIns="0" rIns="0" bIns="0" rtlCol="0" anchor="ctr"/>
          <a:lstStyle/>
          <a:p>
            <a:pPr algn="ctr" indent="0" marL="0">
              <a:buNone/>
            </a:pPr>
            <a:r>
              <a:rPr lang="en-US" sz="1050" b="1" spc="150" kern="0" dirty="0">
                <a:solidFill>
                  <a:schemeClr val="tx2"/>
                </a:solidFill>
              </a:rPr>
              <a:t>DOCUMENTS</a:t>
            </a:r>
            <a:endParaRPr lang="en-US" sz="1050" dirty="0"/>
          </a:p>
        </p:txBody>
      </p:sp>
      <p:sp>
        <p:nvSpPr>
          <p:cNvPr id="14" name="Shape 12"/>
          <p:cNvSpPr/>
          <p:nvPr/>
        </p:nvSpPr>
        <p:spPr>
          <a:xfrm>
            <a:off x="5760720" y="1719072"/>
            <a:ext cx="548640" cy="548640"/>
          </a:xfrm>
          <a:prstGeom prst="ellipse">
            <a:avLst/>
          </a:prstGeom>
          <a:solidFill>
            <a:schemeClr val="accent1"/>
          </a:solidFill>
          <a:ln w="12700">
            <a:solidFill>
              <a:schemeClr val="accent1"/>
            </a:solidFill>
            <a:prstDash val="solid"/>
          </a:ln>
        </p:spPr>
      </p:sp>
      <p:pic>
        <p:nvPicPr>
          <p:cNvPr id="15" name="Image 0" descr="preencoded.png">    </p:cNvPr>
          <p:cNvPicPr>
            <a:picLocks noChangeAspect="1"/>
          </p:cNvPicPr>
          <p:nvPr/>
        </p:nvPicPr>
        <p:blipFill>
          <a:blip r:embed="rId1"/>
          <a:stretch>
            <a:fillRect/>
          </a:stretch>
        </p:blipFill>
        <p:spPr>
          <a:xfrm>
            <a:off x="5897880" y="1856232"/>
            <a:ext cx="274320" cy="274320"/>
          </a:xfrm>
          <a:prstGeom prst="rect">
            <a:avLst/>
          </a:prstGeom>
        </p:spPr>
      </p:pic>
      <p:sp>
        <p:nvSpPr>
          <p:cNvPr id="16" name="Text 13"/>
          <p:cNvSpPr txBox="1"/>
          <p:nvPr/>
        </p:nvSpPr>
        <p:spPr>
          <a:xfrm>
            <a:off x="6492240" y="1645920"/>
            <a:ext cx="5148072" cy="274320"/>
          </a:xfrm>
          <a:prstGeom prst="rect">
            <a:avLst/>
          </a:prstGeom>
          <a:noFill/>
          <a:ln/>
        </p:spPr>
        <p:txBody>
          <a:bodyPr wrap="square" lIns="0" tIns="0" rIns="0" bIns="0" rtlCol="0" anchor="t"/>
          <a:lstStyle/>
          <a:p>
            <a:pPr indent="0" marL="0">
              <a:buNone/>
            </a:pPr>
            <a:r>
              <a:rPr lang="en-US" sz="1300" dirty="0">
                <a:solidFill>
                  <a:srgbClr val="64748B"/>
                </a:solidFill>
              </a:rPr>
              <a:t>Not just search</a:t>
            </a:r>
            <a:endParaRPr lang="en-US" sz="1300" dirty="0"/>
          </a:p>
        </p:txBody>
      </p:sp>
      <p:sp>
        <p:nvSpPr>
          <p:cNvPr id="17" name="Text 14"/>
          <p:cNvSpPr txBox="1"/>
          <p:nvPr/>
        </p:nvSpPr>
        <p:spPr>
          <a:xfrm>
            <a:off x="6492240" y="1901952"/>
            <a:ext cx="5148072" cy="548640"/>
          </a:xfrm>
          <a:prstGeom prst="rect">
            <a:avLst/>
          </a:prstGeom>
          <a:noFill/>
          <a:ln/>
        </p:spPr>
        <p:txBody>
          <a:bodyPr wrap="square" lIns="0" tIns="0" rIns="0" bIns="0" rtlCol="0" anchor="t"/>
          <a:lstStyle/>
          <a:p>
            <a:pPr indent="0" marL="0">
              <a:buNone/>
            </a:pPr>
            <a:r>
              <a:rPr lang="en-US" sz="1500" b="1" dirty="0">
                <a:solidFill>
                  <a:schemeClr val="tx2"/>
                </a:solidFill>
              </a:rPr>
              <a:t>Semantic retrieval plus contextual answers</a:t>
            </a:r>
            <a:endParaRPr lang="en-US" sz="1500" dirty="0"/>
          </a:p>
        </p:txBody>
      </p:sp>
      <p:sp>
        <p:nvSpPr>
          <p:cNvPr id="18" name="Shape 15"/>
          <p:cNvSpPr/>
          <p:nvPr/>
        </p:nvSpPr>
        <p:spPr>
          <a:xfrm>
            <a:off x="5760720" y="2587752"/>
            <a:ext cx="548640" cy="548640"/>
          </a:xfrm>
          <a:prstGeom prst="ellipse">
            <a:avLst/>
          </a:prstGeom>
          <a:solidFill>
            <a:schemeClr val="accent2"/>
          </a:solidFill>
          <a:ln w="12700">
            <a:solidFill>
              <a:schemeClr val="accent2"/>
            </a:solidFill>
            <a:prstDash val="solid"/>
          </a:ln>
        </p:spPr>
      </p:sp>
      <p:pic>
        <p:nvPicPr>
          <p:cNvPr id="19" name="Image 1" descr="preencoded.png">    </p:cNvPr>
          <p:cNvPicPr>
            <a:picLocks noChangeAspect="1"/>
          </p:cNvPicPr>
          <p:nvPr/>
        </p:nvPicPr>
        <p:blipFill>
          <a:blip r:embed="rId2"/>
          <a:stretch>
            <a:fillRect/>
          </a:stretch>
        </p:blipFill>
        <p:spPr>
          <a:xfrm>
            <a:off x="5897880" y="2724912"/>
            <a:ext cx="274320" cy="274320"/>
          </a:xfrm>
          <a:prstGeom prst="rect">
            <a:avLst/>
          </a:prstGeom>
        </p:spPr>
      </p:pic>
      <p:sp>
        <p:nvSpPr>
          <p:cNvPr id="20" name="Text 16"/>
          <p:cNvSpPr txBox="1"/>
          <p:nvPr/>
        </p:nvSpPr>
        <p:spPr>
          <a:xfrm>
            <a:off x="6492240" y="2514600"/>
            <a:ext cx="5148072" cy="274320"/>
          </a:xfrm>
          <a:prstGeom prst="rect">
            <a:avLst/>
          </a:prstGeom>
          <a:noFill/>
          <a:ln/>
        </p:spPr>
        <p:txBody>
          <a:bodyPr wrap="square" lIns="0" tIns="0" rIns="0" bIns="0" rtlCol="0" anchor="t"/>
          <a:lstStyle/>
          <a:p>
            <a:pPr indent="0" marL="0">
              <a:buNone/>
            </a:pPr>
            <a:r>
              <a:rPr lang="en-US" sz="1300" dirty="0">
                <a:solidFill>
                  <a:srgbClr val="64748B"/>
                </a:solidFill>
              </a:rPr>
              <a:t>Not just chat</a:t>
            </a:r>
            <a:endParaRPr lang="en-US" sz="1300" dirty="0"/>
          </a:p>
        </p:txBody>
      </p:sp>
      <p:sp>
        <p:nvSpPr>
          <p:cNvPr id="21" name="Text 17"/>
          <p:cNvSpPr txBox="1"/>
          <p:nvPr/>
        </p:nvSpPr>
        <p:spPr>
          <a:xfrm>
            <a:off x="6492240" y="2770632"/>
            <a:ext cx="5148072" cy="548640"/>
          </a:xfrm>
          <a:prstGeom prst="rect">
            <a:avLst/>
          </a:prstGeom>
          <a:noFill/>
          <a:ln/>
        </p:spPr>
        <p:txBody>
          <a:bodyPr wrap="square" lIns="0" tIns="0" rIns="0" bIns="0" rtlCol="0" anchor="t"/>
          <a:lstStyle/>
          <a:p>
            <a:pPr indent="0" marL="0">
              <a:buNone/>
            </a:pPr>
            <a:r>
              <a:rPr lang="en-US" sz="1500" b="1" dirty="0">
                <a:solidFill>
                  <a:schemeClr val="tx2"/>
                </a:solidFill>
              </a:rPr>
              <a:t>Citations, decisions, lessons, experts and graph context</a:t>
            </a:r>
            <a:endParaRPr lang="en-US" sz="1500" dirty="0"/>
          </a:p>
        </p:txBody>
      </p:sp>
      <p:sp>
        <p:nvSpPr>
          <p:cNvPr id="22" name="Shape 18"/>
          <p:cNvSpPr/>
          <p:nvPr/>
        </p:nvSpPr>
        <p:spPr>
          <a:xfrm>
            <a:off x="5760720" y="3456432"/>
            <a:ext cx="548640" cy="548640"/>
          </a:xfrm>
          <a:prstGeom prst="ellipse">
            <a:avLst/>
          </a:prstGeom>
          <a:solidFill>
            <a:schemeClr val="accent1"/>
          </a:solidFill>
          <a:ln w="12700">
            <a:solidFill>
              <a:schemeClr val="accent1"/>
            </a:solidFill>
            <a:prstDash val="solid"/>
          </a:ln>
        </p:spPr>
      </p:sp>
      <p:pic>
        <p:nvPicPr>
          <p:cNvPr id="23" name="Image 2" descr="preencoded.png">    </p:cNvPr>
          <p:cNvPicPr>
            <a:picLocks noChangeAspect="1"/>
          </p:cNvPicPr>
          <p:nvPr/>
        </p:nvPicPr>
        <p:blipFill>
          <a:blip r:embed="rId3"/>
          <a:stretch>
            <a:fillRect/>
          </a:stretch>
        </p:blipFill>
        <p:spPr>
          <a:xfrm>
            <a:off x="5897880" y="3593592"/>
            <a:ext cx="274320" cy="274320"/>
          </a:xfrm>
          <a:prstGeom prst="rect">
            <a:avLst/>
          </a:prstGeom>
        </p:spPr>
      </p:pic>
      <p:sp>
        <p:nvSpPr>
          <p:cNvPr id="24" name="Text 19"/>
          <p:cNvSpPr txBox="1"/>
          <p:nvPr/>
        </p:nvSpPr>
        <p:spPr>
          <a:xfrm>
            <a:off x="6492240" y="3383280"/>
            <a:ext cx="5148072" cy="274320"/>
          </a:xfrm>
          <a:prstGeom prst="rect">
            <a:avLst/>
          </a:prstGeom>
          <a:noFill/>
          <a:ln/>
        </p:spPr>
        <p:txBody>
          <a:bodyPr wrap="square" lIns="0" tIns="0" rIns="0" bIns="0" rtlCol="0" anchor="t"/>
          <a:lstStyle/>
          <a:p>
            <a:pPr indent="0" marL="0">
              <a:buNone/>
            </a:pPr>
            <a:r>
              <a:rPr lang="en-US" sz="1300" dirty="0">
                <a:solidFill>
                  <a:srgbClr val="64748B"/>
                </a:solidFill>
              </a:rPr>
              <a:t>Not just manual taxonomy</a:t>
            </a:r>
            <a:endParaRPr lang="en-US" sz="1300" dirty="0"/>
          </a:p>
        </p:txBody>
      </p:sp>
      <p:sp>
        <p:nvSpPr>
          <p:cNvPr id="25" name="Text 20"/>
          <p:cNvSpPr txBox="1"/>
          <p:nvPr/>
        </p:nvSpPr>
        <p:spPr>
          <a:xfrm>
            <a:off x="6492240" y="3639312"/>
            <a:ext cx="5148072" cy="548640"/>
          </a:xfrm>
          <a:prstGeom prst="rect">
            <a:avLst/>
          </a:prstGeom>
          <a:noFill/>
          <a:ln/>
        </p:spPr>
        <p:txBody>
          <a:bodyPr wrap="square" lIns="0" tIns="0" rIns="0" bIns="0" rtlCol="0" anchor="t"/>
          <a:lstStyle/>
          <a:p>
            <a:pPr indent="0" marL="0">
              <a:buNone/>
            </a:pPr>
            <a:r>
              <a:rPr lang="en-US" sz="1500" b="1" dirty="0">
                <a:solidFill>
                  <a:schemeClr val="tx2"/>
                </a:solidFill>
              </a:rPr>
              <a:t>Automatic topic discovery and classification</a:t>
            </a:r>
            <a:endParaRPr lang="en-US" sz="1500" dirty="0"/>
          </a:p>
        </p:txBody>
      </p:sp>
      <p:sp>
        <p:nvSpPr>
          <p:cNvPr id="26" name="Shape 21"/>
          <p:cNvSpPr/>
          <p:nvPr/>
        </p:nvSpPr>
        <p:spPr>
          <a:xfrm>
            <a:off x="5760720" y="4325112"/>
            <a:ext cx="548640" cy="548640"/>
          </a:xfrm>
          <a:prstGeom prst="ellipse">
            <a:avLst/>
          </a:prstGeom>
          <a:solidFill>
            <a:schemeClr val="accent2"/>
          </a:solidFill>
          <a:ln w="12700">
            <a:solidFill>
              <a:schemeClr val="accent2"/>
            </a:solidFill>
            <a:prstDash val="solid"/>
          </a:ln>
        </p:spPr>
      </p:sp>
      <p:pic>
        <p:nvPicPr>
          <p:cNvPr id="27" name="Image 3" descr="preencoded.png">    </p:cNvPr>
          <p:cNvPicPr>
            <a:picLocks noChangeAspect="1"/>
          </p:cNvPicPr>
          <p:nvPr/>
        </p:nvPicPr>
        <p:blipFill>
          <a:blip r:embed="rId4"/>
          <a:stretch>
            <a:fillRect/>
          </a:stretch>
        </p:blipFill>
        <p:spPr>
          <a:xfrm>
            <a:off x="5897880" y="4462272"/>
            <a:ext cx="274320" cy="274320"/>
          </a:xfrm>
          <a:prstGeom prst="rect">
            <a:avLst/>
          </a:prstGeom>
        </p:spPr>
      </p:pic>
      <p:sp>
        <p:nvSpPr>
          <p:cNvPr id="28" name="Text 22"/>
          <p:cNvSpPr txBox="1"/>
          <p:nvPr/>
        </p:nvSpPr>
        <p:spPr>
          <a:xfrm>
            <a:off x="6492240" y="4251960"/>
            <a:ext cx="5148072" cy="274320"/>
          </a:xfrm>
          <a:prstGeom prst="rect">
            <a:avLst/>
          </a:prstGeom>
          <a:noFill/>
          <a:ln/>
        </p:spPr>
        <p:txBody>
          <a:bodyPr wrap="square" lIns="0" tIns="0" rIns="0" bIns="0" rtlCol="0" anchor="t"/>
          <a:lstStyle/>
          <a:p>
            <a:pPr indent="0" marL="0">
              <a:buNone/>
            </a:pPr>
            <a:r>
              <a:rPr lang="en-US" sz="1300" dirty="0">
                <a:solidFill>
                  <a:srgbClr val="64748B"/>
                </a:solidFill>
              </a:rPr>
              <a:t>Not just documents</a:t>
            </a:r>
            <a:endParaRPr lang="en-US" sz="1300" dirty="0"/>
          </a:p>
        </p:txBody>
      </p:sp>
      <p:sp>
        <p:nvSpPr>
          <p:cNvPr id="29" name="Text 23"/>
          <p:cNvSpPr txBox="1"/>
          <p:nvPr/>
        </p:nvSpPr>
        <p:spPr>
          <a:xfrm>
            <a:off x="6492240" y="4507992"/>
            <a:ext cx="5148072" cy="548640"/>
          </a:xfrm>
          <a:prstGeom prst="rect">
            <a:avLst/>
          </a:prstGeom>
          <a:noFill/>
          <a:ln/>
        </p:spPr>
        <p:txBody>
          <a:bodyPr wrap="square" lIns="0" tIns="0" rIns="0" bIns="0" rtlCol="0" anchor="t"/>
          <a:lstStyle/>
          <a:p>
            <a:pPr indent="0" marL="0">
              <a:buNone/>
            </a:pPr>
            <a:r>
              <a:rPr lang="en-US" sz="1500" b="1" dirty="0">
                <a:solidFill>
                  <a:schemeClr val="tx2"/>
                </a:solidFill>
              </a:rPr>
              <a:t>People, projects, relationships, decisions, lessons and trends</a:t>
            </a:r>
            <a:endParaRPr lang="en-US" sz="1500" dirty="0"/>
          </a:p>
        </p:txBody>
      </p:sp>
      <p:sp>
        <p:nvSpPr>
          <p:cNvPr id="30" name="Shape 24"/>
          <p:cNvSpPr/>
          <p:nvPr/>
        </p:nvSpPr>
        <p:spPr>
          <a:xfrm>
            <a:off x="5760720" y="5193792"/>
            <a:ext cx="548640" cy="548640"/>
          </a:xfrm>
          <a:prstGeom prst="ellipse">
            <a:avLst/>
          </a:prstGeom>
          <a:solidFill>
            <a:schemeClr val="accent1"/>
          </a:solidFill>
          <a:ln w="12700">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5897880" y="5330952"/>
            <a:ext cx="274320" cy="274320"/>
          </a:xfrm>
          <a:prstGeom prst="rect">
            <a:avLst/>
          </a:prstGeom>
        </p:spPr>
      </p:pic>
      <p:sp>
        <p:nvSpPr>
          <p:cNvPr id="32" name="Text 25"/>
          <p:cNvSpPr txBox="1"/>
          <p:nvPr/>
        </p:nvSpPr>
        <p:spPr>
          <a:xfrm>
            <a:off x="6492240" y="5120640"/>
            <a:ext cx="5148072" cy="274320"/>
          </a:xfrm>
          <a:prstGeom prst="rect">
            <a:avLst/>
          </a:prstGeom>
          <a:noFill/>
          <a:ln/>
        </p:spPr>
        <p:txBody>
          <a:bodyPr wrap="square" lIns="0" tIns="0" rIns="0" bIns="0" rtlCol="0" anchor="t"/>
          <a:lstStyle/>
          <a:p>
            <a:pPr indent="0" marL="0">
              <a:buNone/>
            </a:pPr>
            <a:r>
              <a:rPr lang="en-US" sz="1300" dirty="0">
                <a:solidFill>
                  <a:srgbClr val="64748B"/>
                </a:solidFill>
              </a:rPr>
              <a:t>Not just storage</a:t>
            </a:r>
            <a:endParaRPr lang="en-US" sz="1300" dirty="0"/>
          </a:p>
        </p:txBody>
      </p:sp>
      <p:sp>
        <p:nvSpPr>
          <p:cNvPr id="33" name="Text 26"/>
          <p:cNvSpPr txBox="1"/>
          <p:nvPr/>
        </p:nvSpPr>
        <p:spPr>
          <a:xfrm>
            <a:off x="6492240" y="5376672"/>
            <a:ext cx="5148072" cy="548640"/>
          </a:xfrm>
          <a:prstGeom prst="rect">
            <a:avLst/>
          </a:prstGeom>
          <a:noFill/>
          <a:ln/>
        </p:spPr>
        <p:txBody>
          <a:bodyPr wrap="square" lIns="0" tIns="0" rIns="0" bIns="0" rtlCol="0" anchor="t"/>
          <a:lstStyle/>
          <a:p>
            <a:pPr indent="0" marL="0">
              <a:buNone/>
            </a:pPr>
            <a:r>
              <a:rPr lang="en-US" sz="1500" b="1" dirty="0">
                <a:solidFill>
                  <a:schemeClr val="tx2"/>
                </a:solidFill>
              </a:rPr>
              <a:t>Organizational intelligence that improves over time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lstStyle/>
          <a:p>
            <a:pPr algn="l" indent="0" marL="0">
              <a:buNone/>
            </a:pPr>
            <a:r>
              <a:rPr lang="en-US" sz="1200" b="1" spc="300" kern="0" dirty="0">
                <a:solidFill>
                  <a:schemeClr val="accent2"/>
                </a:solidFill>
              </a:rPr>
              <a:t>CUSTOMER OUTCOMES</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Business Outcomes KMS Enables</a:t>
            </a:r>
            <a:endParaRPr lang="en-US" sz="3000" dirty="0"/>
          </a:p>
        </p:txBody>
      </p:sp>
      <p:sp>
        <p:nvSpPr>
          <p:cNvPr id="4" name="Shape 2"/>
          <p:cNvSpPr/>
          <p:nvPr/>
        </p:nvSpPr>
        <p:spPr>
          <a:xfrm>
            <a:off x="548640" y="164592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5" name="Shape 3"/>
          <p:cNvSpPr/>
          <p:nvPr/>
        </p:nvSpPr>
        <p:spPr>
          <a:xfrm>
            <a:off x="777240" y="1874520"/>
            <a:ext cx="530352" cy="530352"/>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09828" y="2007108"/>
            <a:ext cx="265176" cy="265176"/>
          </a:xfrm>
          <a:prstGeom prst="rect">
            <a:avLst/>
          </a:prstGeom>
        </p:spPr>
      </p:pic>
      <p:sp>
        <p:nvSpPr>
          <p:cNvPr id="7" name="Text 4"/>
          <p:cNvSpPr txBox="1"/>
          <p:nvPr/>
        </p:nvSpPr>
        <p:spPr>
          <a:xfrm>
            <a:off x="777240" y="2514600"/>
            <a:ext cx="2240280" cy="640080"/>
          </a:xfrm>
          <a:prstGeom prst="rect">
            <a:avLst/>
          </a:prstGeom>
          <a:noFill/>
          <a:ln/>
        </p:spPr>
        <p:txBody>
          <a:bodyPr wrap="square" lIns="0" tIns="0" rIns="0" bIns="0" rtlCol="0" anchor="t"/>
          <a:lstStyle/>
          <a:p>
            <a:pPr indent="0" marL="0">
              <a:buNone/>
            </a:pPr>
            <a:r>
              <a:rPr lang="en-US" sz="1500" b="1" dirty="0">
                <a:solidFill>
                  <a:schemeClr val="tx2"/>
                </a:solidFill>
              </a:rPr>
              <a:t>Faster answers with trusted citations</a:t>
            </a:r>
            <a:endParaRPr lang="en-US" sz="1500" dirty="0"/>
          </a:p>
        </p:txBody>
      </p:sp>
      <p:sp>
        <p:nvSpPr>
          <p:cNvPr id="8" name="Text 5"/>
          <p:cNvSpPr txBox="1"/>
          <p:nvPr/>
        </p:nvSpPr>
        <p:spPr>
          <a:xfrm>
            <a:off x="777240" y="312724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9" name="Text 6"/>
          <p:cNvSpPr txBox="1"/>
          <p:nvPr/>
        </p:nvSpPr>
        <p:spPr>
          <a:xfrm>
            <a:off x="777240" y="3328416"/>
            <a:ext cx="2240280" cy="256032"/>
          </a:xfrm>
          <a:prstGeom prst="rect">
            <a:avLst/>
          </a:prstGeom>
          <a:noFill/>
          <a:ln/>
        </p:spPr>
        <p:txBody>
          <a:bodyPr wrap="square" lIns="0" tIns="0" rIns="0" bIns="0" rtlCol="0" anchor="t"/>
          <a:lstStyle/>
          <a:p>
            <a:pPr indent="0" marL="0">
              <a:buNone/>
            </a:pPr>
            <a:r>
              <a:rPr lang="en-US" sz="1100" dirty="0">
                <a:solidFill>
                  <a:srgbClr val="64748B"/>
                </a:solidFill>
              </a:rPr>
              <a:t>Time to answer · citation coverage</a:t>
            </a:r>
            <a:endParaRPr lang="en-US" sz="1100" dirty="0"/>
          </a:p>
        </p:txBody>
      </p:sp>
      <p:sp>
        <p:nvSpPr>
          <p:cNvPr id="10" name="Shape 7"/>
          <p:cNvSpPr/>
          <p:nvPr/>
        </p:nvSpPr>
        <p:spPr>
          <a:xfrm>
            <a:off x="3364992" y="164592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1" name="Shape 8"/>
          <p:cNvSpPr/>
          <p:nvPr/>
        </p:nvSpPr>
        <p:spPr>
          <a:xfrm>
            <a:off x="3593592" y="1874520"/>
            <a:ext cx="530352" cy="530352"/>
          </a:xfrm>
          <a:prstGeom prst="ellipse">
            <a:avLst/>
          </a:prstGeom>
          <a:solidFill>
            <a:schemeClr val="accent2"/>
          </a:solidFill>
          <a:ln w="12700">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3726180" y="2007108"/>
            <a:ext cx="265176" cy="265176"/>
          </a:xfrm>
          <a:prstGeom prst="rect">
            <a:avLst/>
          </a:prstGeom>
        </p:spPr>
      </p:pic>
      <p:sp>
        <p:nvSpPr>
          <p:cNvPr id="13" name="Text 9"/>
          <p:cNvSpPr txBox="1"/>
          <p:nvPr/>
        </p:nvSpPr>
        <p:spPr>
          <a:xfrm>
            <a:off x="3593592" y="2514600"/>
            <a:ext cx="2240280" cy="640080"/>
          </a:xfrm>
          <a:prstGeom prst="rect">
            <a:avLst/>
          </a:prstGeom>
          <a:noFill/>
          <a:ln/>
        </p:spPr>
        <p:txBody>
          <a:bodyPr wrap="square" lIns="0" tIns="0" rIns="0" bIns="0" rtlCol="0" anchor="t"/>
          <a:lstStyle/>
          <a:p>
            <a:pPr indent="0" marL="0">
              <a:buNone/>
            </a:pPr>
            <a:r>
              <a:rPr lang="en-US" sz="1500" b="1" dirty="0">
                <a:solidFill>
                  <a:schemeClr val="tx2"/>
                </a:solidFill>
              </a:rPr>
              <a:t>Less duplicated work</a:t>
            </a:r>
            <a:endParaRPr lang="en-US" sz="1500" dirty="0"/>
          </a:p>
        </p:txBody>
      </p:sp>
      <p:sp>
        <p:nvSpPr>
          <p:cNvPr id="14" name="Text 10"/>
          <p:cNvSpPr txBox="1"/>
          <p:nvPr/>
        </p:nvSpPr>
        <p:spPr>
          <a:xfrm>
            <a:off x="3593592" y="312724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15" name="Text 11"/>
          <p:cNvSpPr txBox="1"/>
          <p:nvPr/>
        </p:nvSpPr>
        <p:spPr>
          <a:xfrm>
            <a:off x="3593592" y="3328416"/>
            <a:ext cx="2240280" cy="256032"/>
          </a:xfrm>
          <a:prstGeom prst="rect">
            <a:avLst/>
          </a:prstGeom>
          <a:noFill/>
          <a:ln/>
        </p:spPr>
        <p:txBody>
          <a:bodyPr wrap="square" lIns="0" tIns="0" rIns="0" bIns="0" rtlCol="0" anchor="t"/>
          <a:lstStyle/>
          <a:p>
            <a:pPr indent="0" marL="0">
              <a:buNone/>
            </a:pPr>
            <a:r>
              <a:rPr lang="en-US" sz="1100" dirty="0">
                <a:solidFill>
                  <a:srgbClr val="64748B"/>
                </a:solidFill>
              </a:rPr>
              <a:t>Duplicates detected and resolved</a:t>
            </a:r>
            <a:endParaRPr lang="en-US" sz="1100" dirty="0"/>
          </a:p>
        </p:txBody>
      </p:sp>
      <p:sp>
        <p:nvSpPr>
          <p:cNvPr id="16" name="Shape 12"/>
          <p:cNvSpPr/>
          <p:nvPr/>
        </p:nvSpPr>
        <p:spPr>
          <a:xfrm>
            <a:off x="6181344" y="164592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17" name="Shape 13"/>
          <p:cNvSpPr/>
          <p:nvPr/>
        </p:nvSpPr>
        <p:spPr>
          <a:xfrm>
            <a:off x="6409944" y="1874520"/>
            <a:ext cx="530352" cy="530352"/>
          </a:xfrm>
          <a:prstGeom prst="ellipse">
            <a:avLst/>
          </a:prstGeom>
          <a:solidFill>
            <a:schemeClr val="accent6"/>
          </a:solidFill>
          <a:ln w="12700">
            <a:solidFill>
              <a:schemeClr val="accent6"/>
            </a:solidFill>
            <a:prstDash val="solid"/>
          </a:ln>
        </p:spPr>
      </p:sp>
      <p:pic>
        <p:nvPicPr>
          <p:cNvPr id="18" name="Image 2" descr="preencoded.png">    </p:cNvPr>
          <p:cNvPicPr>
            <a:picLocks noChangeAspect="1"/>
          </p:cNvPicPr>
          <p:nvPr/>
        </p:nvPicPr>
        <p:blipFill>
          <a:blip r:embed="rId3"/>
          <a:stretch>
            <a:fillRect/>
          </a:stretch>
        </p:blipFill>
        <p:spPr>
          <a:xfrm>
            <a:off x="6542532" y="2007108"/>
            <a:ext cx="265176" cy="265176"/>
          </a:xfrm>
          <a:prstGeom prst="rect">
            <a:avLst/>
          </a:prstGeom>
        </p:spPr>
      </p:pic>
      <p:sp>
        <p:nvSpPr>
          <p:cNvPr id="19" name="Text 14"/>
          <p:cNvSpPr txBox="1"/>
          <p:nvPr/>
        </p:nvSpPr>
        <p:spPr>
          <a:xfrm>
            <a:off x="6409944" y="2514600"/>
            <a:ext cx="2240280" cy="640080"/>
          </a:xfrm>
          <a:prstGeom prst="rect">
            <a:avLst/>
          </a:prstGeom>
          <a:noFill/>
          <a:ln/>
        </p:spPr>
        <p:txBody>
          <a:bodyPr wrap="square" lIns="0" tIns="0" rIns="0" bIns="0" rtlCol="0" anchor="t"/>
          <a:lstStyle/>
          <a:p>
            <a:pPr indent="0" marL="0">
              <a:buNone/>
            </a:pPr>
            <a:r>
              <a:rPr lang="en-US" sz="1500" b="1" dirty="0">
                <a:solidFill>
                  <a:schemeClr val="tx2"/>
                </a:solidFill>
              </a:rPr>
              <a:t>Reuse of lessons and prior decisions</a:t>
            </a:r>
            <a:endParaRPr lang="en-US" sz="1500" dirty="0"/>
          </a:p>
        </p:txBody>
      </p:sp>
      <p:sp>
        <p:nvSpPr>
          <p:cNvPr id="20" name="Text 15"/>
          <p:cNvSpPr txBox="1"/>
          <p:nvPr/>
        </p:nvSpPr>
        <p:spPr>
          <a:xfrm>
            <a:off x="6409944" y="312724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21" name="Text 16"/>
          <p:cNvSpPr txBox="1"/>
          <p:nvPr/>
        </p:nvSpPr>
        <p:spPr>
          <a:xfrm>
            <a:off x="6409944" y="3328416"/>
            <a:ext cx="2240280" cy="256032"/>
          </a:xfrm>
          <a:prstGeom prst="rect">
            <a:avLst/>
          </a:prstGeom>
          <a:noFill/>
          <a:ln/>
        </p:spPr>
        <p:txBody>
          <a:bodyPr wrap="square" lIns="0" tIns="0" rIns="0" bIns="0" rtlCol="0" anchor="t"/>
          <a:lstStyle/>
          <a:p>
            <a:pPr indent="0" marL="0">
              <a:buNone/>
            </a:pPr>
            <a:r>
              <a:rPr lang="en-US" sz="1100" dirty="0">
                <a:solidFill>
                  <a:srgbClr val="64748B"/>
                </a:solidFill>
              </a:rPr>
              <a:t>Lessons &amp; decisions referenced</a:t>
            </a:r>
            <a:endParaRPr lang="en-US" sz="1100" dirty="0"/>
          </a:p>
        </p:txBody>
      </p:sp>
      <p:sp>
        <p:nvSpPr>
          <p:cNvPr id="22" name="Shape 17"/>
          <p:cNvSpPr/>
          <p:nvPr/>
        </p:nvSpPr>
        <p:spPr>
          <a:xfrm>
            <a:off x="8997696" y="164592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3" name="Shape 18"/>
          <p:cNvSpPr/>
          <p:nvPr/>
        </p:nvSpPr>
        <p:spPr>
          <a:xfrm>
            <a:off x="9226296" y="1874520"/>
            <a:ext cx="530352" cy="530352"/>
          </a:xfrm>
          <a:prstGeom prst="ellipse">
            <a:avLst/>
          </a:prstGeom>
          <a:solidFill>
            <a:schemeClr val="accent4"/>
          </a:solidFill>
          <a:ln w="12700">
            <a:solidFill>
              <a:schemeClr val="accent4"/>
            </a:solidFill>
            <a:prstDash val="solid"/>
          </a:ln>
        </p:spPr>
      </p:sp>
      <p:pic>
        <p:nvPicPr>
          <p:cNvPr id="24" name="Image 3" descr="preencoded.png">    </p:cNvPr>
          <p:cNvPicPr>
            <a:picLocks noChangeAspect="1"/>
          </p:cNvPicPr>
          <p:nvPr/>
        </p:nvPicPr>
        <p:blipFill>
          <a:blip r:embed="rId4"/>
          <a:stretch>
            <a:fillRect/>
          </a:stretch>
        </p:blipFill>
        <p:spPr>
          <a:xfrm>
            <a:off x="9358884" y="2007108"/>
            <a:ext cx="265176" cy="265176"/>
          </a:xfrm>
          <a:prstGeom prst="rect">
            <a:avLst/>
          </a:prstGeom>
        </p:spPr>
      </p:pic>
      <p:sp>
        <p:nvSpPr>
          <p:cNvPr id="25" name="Text 19"/>
          <p:cNvSpPr txBox="1"/>
          <p:nvPr/>
        </p:nvSpPr>
        <p:spPr>
          <a:xfrm>
            <a:off x="9226296" y="2514600"/>
            <a:ext cx="2240280" cy="640080"/>
          </a:xfrm>
          <a:prstGeom prst="rect">
            <a:avLst/>
          </a:prstGeom>
          <a:noFill/>
          <a:ln/>
        </p:spPr>
        <p:txBody>
          <a:bodyPr wrap="square" lIns="0" tIns="0" rIns="0" bIns="0" rtlCol="0" anchor="t"/>
          <a:lstStyle/>
          <a:p>
            <a:pPr indent="0" marL="0">
              <a:buNone/>
            </a:pPr>
            <a:r>
              <a:rPr lang="en-US" sz="1500" b="1" dirty="0">
                <a:solidFill>
                  <a:schemeClr val="tx2"/>
                </a:solidFill>
              </a:rPr>
              <a:t>Faster onboarding into teams and projects</a:t>
            </a:r>
            <a:endParaRPr lang="en-US" sz="1500" dirty="0"/>
          </a:p>
        </p:txBody>
      </p:sp>
      <p:sp>
        <p:nvSpPr>
          <p:cNvPr id="26" name="Text 20"/>
          <p:cNvSpPr txBox="1"/>
          <p:nvPr/>
        </p:nvSpPr>
        <p:spPr>
          <a:xfrm>
            <a:off x="9226296" y="312724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27" name="Text 21"/>
          <p:cNvSpPr txBox="1"/>
          <p:nvPr/>
        </p:nvSpPr>
        <p:spPr>
          <a:xfrm>
            <a:off x="9226296" y="3328416"/>
            <a:ext cx="2240280" cy="256032"/>
          </a:xfrm>
          <a:prstGeom prst="rect">
            <a:avLst/>
          </a:prstGeom>
          <a:noFill/>
          <a:ln/>
        </p:spPr>
        <p:txBody>
          <a:bodyPr wrap="square" lIns="0" tIns="0" rIns="0" bIns="0" rtlCol="0" anchor="t"/>
          <a:lstStyle/>
          <a:p>
            <a:pPr indent="0" marL="0">
              <a:buNone/>
            </a:pPr>
            <a:r>
              <a:rPr lang="en-US" sz="1100" dirty="0">
                <a:solidFill>
                  <a:srgbClr val="64748B"/>
                </a:solidFill>
              </a:rPr>
              <a:t>Time to productivity</a:t>
            </a:r>
            <a:endParaRPr lang="en-US" sz="1100" dirty="0"/>
          </a:p>
        </p:txBody>
      </p:sp>
      <p:sp>
        <p:nvSpPr>
          <p:cNvPr id="28" name="Shape 22"/>
          <p:cNvSpPr/>
          <p:nvPr/>
        </p:nvSpPr>
        <p:spPr>
          <a:xfrm>
            <a:off x="548640" y="384048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29" name="Shape 23"/>
          <p:cNvSpPr/>
          <p:nvPr/>
        </p:nvSpPr>
        <p:spPr>
          <a:xfrm>
            <a:off x="777240" y="4069080"/>
            <a:ext cx="530352" cy="530352"/>
          </a:xfrm>
          <a:prstGeom prst="ellipse">
            <a:avLst/>
          </a:prstGeom>
          <a:solidFill>
            <a:schemeClr val="accent1"/>
          </a:solidFill>
          <a:ln w="12700">
            <a:solidFill>
              <a:schemeClr val="accent1"/>
            </a:solidFill>
            <a:prstDash val="solid"/>
          </a:ln>
        </p:spPr>
      </p:sp>
      <p:pic>
        <p:nvPicPr>
          <p:cNvPr id="30" name="Image 4" descr="preencoded.png">    </p:cNvPr>
          <p:cNvPicPr>
            <a:picLocks noChangeAspect="1"/>
          </p:cNvPicPr>
          <p:nvPr/>
        </p:nvPicPr>
        <p:blipFill>
          <a:blip r:embed="rId5"/>
          <a:stretch>
            <a:fillRect/>
          </a:stretch>
        </p:blipFill>
        <p:spPr>
          <a:xfrm>
            <a:off x="909828" y="4201668"/>
            <a:ext cx="265176" cy="265176"/>
          </a:xfrm>
          <a:prstGeom prst="rect">
            <a:avLst/>
          </a:prstGeom>
        </p:spPr>
      </p:pic>
      <p:sp>
        <p:nvSpPr>
          <p:cNvPr id="31" name="Text 24"/>
          <p:cNvSpPr txBox="1"/>
          <p:nvPr/>
        </p:nvSpPr>
        <p:spPr>
          <a:xfrm>
            <a:off x="777240" y="4709160"/>
            <a:ext cx="2240280" cy="640080"/>
          </a:xfrm>
          <a:prstGeom prst="rect">
            <a:avLst/>
          </a:prstGeom>
          <a:noFill/>
          <a:ln/>
        </p:spPr>
        <p:txBody>
          <a:bodyPr wrap="square" lIns="0" tIns="0" rIns="0" bIns="0" rtlCol="0" anchor="t"/>
          <a:lstStyle/>
          <a:p>
            <a:pPr indent="0" marL="0">
              <a:buNone/>
            </a:pPr>
            <a:r>
              <a:rPr lang="en-US" sz="1500" b="1" dirty="0">
                <a:solidFill>
                  <a:schemeClr val="tx2"/>
                </a:solidFill>
              </a:rPr>
              <a:t>Better expert discovery across departments</a:t>
            </a:r>
            <a:endParaRPr lang="en-US" sz="1500" dirty="0"/>
          </a:p>
        </p:txBody>
      </p:sp>
      <p:sp>
        <p:nvSpPr>
          <p:cNvPr id="32" name="Text 25"/>
          <p:cNvSpPr txBox="1"/>
          <p:nvPr/>
        </p:nvSpPr>
        <p:spPr>
          <a:xfrm>
            <a:off x="777240" y="532180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33" name="Text 26"/>
          <p:cNvSpPr txBox="1"/>
          <p:nvPr/>
        </p:nvSpPr>
        <p:spPr>
          <a:xfrm>
            <a:off x="777240" y="5522976"/>
            <a:ext cx="2240280" cy="256032"/>
          </a:xfrm>
          <a:prstGeom prst="rect">
            <a:avLst/>
          </a:prstGeom>
          <a:noFill/>
          <a:ln/>
        </p:spPr>
        <p:txBody>
          <a:bodyPr wrap="square" lIns="0" tIns="0" rIns="0" bIns="0" rtlCol="0" anchor="t"/>
          <a:lstStyle/>
          <a:p>
            <a:pPr indent="0" marL="0">
              <a:buNone/>
            </a:pPr>
            <a:r>
              <a:rPr lang="en-US" sz="1100" dirty="0">
                <a:solidFill>
                  <a:srgbClr val="64748B"/>
                </a:solidFill>
              </a:rPr>
              <a:t>Cross-department expert lookups</a:t>
            </a:r>
            <a:endParaRPr lang="en-US" sz="1100" dirty="0"/>
          </a:p>
        </p:txBody>
      </p:sp>
      <p:sp>
        <p:nvSpPr>
          <p:cNvPr id="34" name="Shape 27"/>
          <p:cNvSpPr/>
          <p:nvPr/>
        </p:nvSpPr>
        <p:spPr>
          <a:xfrm>
            <a:off x="3364992" y="384048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35" name="Shape 28"/>
          <p:cNvSpPr/>
          <p:nvPr/>
        </p:nvSpPr>
        <p:spPr>
          <a:xfrm>
            <a:off x="3593592" y="4069080"/>
            <a:ext cx="530352" cy="530352"/>
          </a:xfrm>
          <a:prstGeom prst="ellipse">
            <a:avLst/>
          </a:prstGeom>
          <a:solidFill>
            <a:schemeClr val="accent3"/>
          </a:solidFill>
          <a:ln w="12700">
            <a:solidFill>
              <a:schemeClr val="accent3"/>
            </a:solidFill>
            <a:prstDash val="solid"/>
          </a:ln>
        </p:spPr>
      </p:sp>
      <p:pic>
        <p:nvPicPr>
          <p:cNvPr id="36" name="Image 5" descr="preencoded.png">    </p:cNvPr>
          <p:cNvPicPr>
            <a:picLocks noChangeAspect="1"/>
          </p:cNvPicPr>
          <p:nvPr/>
        </p:nvPicPr>
        <p:blipFill>
          <a:blip r:embed="rId6"/>
          <a:stretch>
            <a:fillRect/>
          </a:stretch>
        </p:blipFill>
        <p:spPr>
          <a:xfrm>
            <a:off x="3726180" y="4201668"/>
            <a:ext cx="265176" cy="265176"/>
          </a:xfrm>
          <a:prstGeom prst="rect">
            <a:avLst/>
          </a:prstGeom>
        </p:spPr>
      </p:pic>
      <p:sp>
        <p:nvSpPr>
          <p:cNvPr id="37" name="Text 29"/>
          <p:cNvSpPr txBox="1"/>
          <p:nvPr/>
        </p:nvSpPr>
        <p:spPr>
          <a:xfrm>
            <a:off x="3593592" y="4709160"/>
            <a:ext cx="2240280" cy="640080"/>
          </a:xfrm>
          <a:prstGeom prst="rect">
            <a:avLst/>
          </a:prstGeom>
          <a:noFill/>
          <a:ln/>
        </p:spPr>
        <p:txBody>
          <a:bodyPr wrap="square" lIns="0" tIns="0" rIns="0" bIns="0" rtlCol="0" anchor="t"/>
          <a:lstStyle/>
          <a:p>
            <a:pPr indent="0" marL="0">
              <a:buNone/>
            </a:pPr>
            <a:r>
              <a:rPr lang="en-US" sz="1500" b="1" dirty="0">
                <a:solidFill>
                  <a:schemeClr val="tx2"/>
                </a:solidFill>
              </a:rPr>
              <a:t>Stronger knowledge governance and review</a:t>
            </a:r>
            <a:endParaRPr lang="en-US" sz="1500" dirty="0"/>
          </a:p>
        </p:txBody>
      </p:sp>
      <p:sp>
        <p:nvSpPr>
          <p:cNvPr id="38" name="Text 30"/>
          <p:cNvSpPr txBox="1"/>
          <p:nvPr/>
        </p:nvSpPr>
        <p:spPr>
          <a:xfrm>
            <a:off x="3593592" y="532180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39" name="Text 31"/>
          <p:cNvSpPr txBox="1"/>
          <p:nvPr/>
        </p:nvSpPr>
        <p:spPr>
          <a:xfrm>
            <a:off x="3593592" y="5522976"/>
            <a:ext cx="2240280" cy="256032"/>
          </a:xfrm>
          <a:prstGeom prst="rect">
            <a:avLst/>
          </a:prstGeom>
          <a:noFill/>
          <a:ln/>
        </p:spPr>
        <p:txBody>
          <a:bodyPr wrap="square" lIns="0" tIns="0" rIns="0" bIns="0" rtlCol="0" anchor="t"/>
          <a:lstStyle/>
          <a:p>
            <a:pPr indent="0" marL="0">
              <a:buNone/>
            </a:pPr>
            <a:r>
              <a:rPr lang="en-US" sz="1100" dirty="0">
                <a:solidFill>
                  <a:srgbClr val="64748B"/>
                </a:solidFill>
              </a:rPr>
              <a:t>Reviewed content · scoped access</a:t>
            </a:r>
            <a:endParaRPr lang="en-US" sz="1100" dirty="0"/>
          </a:p>
        </p:txBody>
      </p:sp>
      <p:sp>
        <p:nvSpPr>
          <p:cNvPr id="40" name="Shape 32"/>
          <p:cNvSpPr/>
          <p:nvPr/>
        </p:nvSpPr>
        <p:spPr>
          <a:xfrm>
            <a:off x="6181344" y="3840480"/>
            <a:ext cx="2651760" cy="2011680"/>
          </a:xfrm>
          <a:prstGeom prst="roundRect">
            <a:avLst>
              <a:gd name="adj" fmla="val 3636"/>
            </a:avLst>
          </a:prstGeom>
          <a:solidFill>
            <a:schemeClr val="bg1"/>
          </a:solidFill>
          <a:ln w="9525">
            <a:solidFill>
              <a:srgbClr val="D5DCE6"/>
            </a:solidFill>
            <a:prstDash val="solid"/>
          </a:ln>
          <a:effectLst>
            <a:outerShdw sx="100000" sy="100000" kx="0" ky="0" algn="bl" rotWithShape="0" blurRad="127000" dist="25400" dir="5400000">
              <a:srgbClr val="0F172A">
                <a:alpha val="12000"/>
              </a:srgbClr>
            </a:outerShdw>
          </a:effectLst>
        </p:spPr>
      </p:sp>
      <p:sp>
        <p:nvSpPr>
          <p:cNvPr id="41" name="Shape 33"/>
          <p:cNvSpPr/>
          <p:nvPr/>
        </p:nvSpPr>
        <p:spPr>
          <a:xfrm>
            <a:off x="6409944" y="4069080"/>
            <a:ext cx="530352" cy="530352"/>
          </a:xfrm>
          <a:prstGeom prst="ellipse">
            <a:avLst/>
          </a:prstGeom>
          <a:solidFill>
            <a:schemeClr val="accent2"/>
          </a:solidFill>
          <a:ln w="12700">
            <a:solidFill>
              <a:schemeClr val="accent2"/>
            </a:solidFill>
            <a:prstDash val="solid"/>
          </a:ln>
        </p:spPr>
      </p:sp>
      <p:pic>
        <p:nvPicPr>
          <p:cNvPr id="42" name="Image 6" descr="preencoded.png">    </p:cNvPr>
          <p:cNvPicPr>
            <a:picLocks noChangeAspect="1"/>
          </p:cNvPicPr>
          <p:nvPr/>
        </p:nvPicPr>
        <p:blipFill>
          <a:blip r:embed="rId7"/>
          <a:stretch>
            <a:fillRect/>
          </a:stretch>
        </p:blipFill>
        <p:spPr>
          <a:xfrm>
            <a:off x="6542532" y="4201668"/>
            <a:ext cx="265176" cy="265176"/>
          </a:xfrm>
          <a:prstGeom prst="rect">
            <a:avLst/>
          </a:prstGeom>
        </p:spPr>
      </p:pic>
      <p:sp>
        <p:nvSpPr>
          <p:cNvPr id="43" name="Text 34"/>
          <p:cNvSpPr txBox="1"/>
          <p:nvPr/>
        </p:nvSpPr>
        <p:spPr>
          <a:xfrm>
            <a:off x="6409944" y="4709160"/>
            <a:ext cx="2240280" cy="640080"/>
          </a:xfrm>
          <a:prstGeom prst="rect">
            <a:avLst/>
          </a:prstGeom>
          <a:noFill/>
          <a:ln/>
        </p:spPr>
        <p:txBody>
          <a:bodyPr wrap="square" lIns="0" tIns="0" rIns="0" bIns="0" rtlCol="0" anchor="t"/>
          <a:lstStyle/>
          <a:p>
            <a:pPr indent="0" marL="0">
              <a:buNone/>
            </a:pPr>
            <a:r>
              <a:rPr lang="en-US" sz="1500" b="1" dirty="0">
                <a:solidFill>
                  <a:schemeClr val="tx2"/>
                </a:solidFill>
              </a:rPr>
              <a:t>Visibility into knowledge health and topic change</a:t>
            </a:r>
            <a:endParaRPr lang="en-US" sz="1500" dirty="0"/>
          </a:p>
        </p:txBody>
      </p:sp>
      <p:sp>
        <p:nvSpPr>
          <p:cNvPr id="44" name="Text 35"/>
          <p:cNvSpPr txBox="1"/>
          <p:nvPr/>
        </p:nvSpPr>
        <p:spPr>
          <a:xfrm>
            <a:off x="6409944" y="5321808"/>
            <a:ext cx="2194560" cy="201168"/>
          </a:xfrm>
          <a:prstGeom prst="rect">
            <a:avLst/>
          </a:prstGeom>
          <a:noFill/>
          <a:ln/>
        </p:spPr>
        <p:txBody>
          <a:bodyPr wrap="square" lIns="0" tIns="0" rIns="0" bIns="0" rtlCol="0" anchor="t"/>
          <a:lstStyle/>
          <a:p>
            <a:pPr indent="0" marL="0">
              <a:buNone/>
            </a:pPr>
            <a:r>
              <a:rPr lang="en-US" sz="950" b="1" spc="200" kern="0" dirty="0">
                <a:solidFill>
                  <a:schemeClr val="accent2"/>
                </a:solidFill>
              </a:rPr>
              <a:t>MEASURE</a:t>
            </a:r>
            <a:endParaRPr lang="en-US" sz="950" dirty="0"/>
          </a:p>
        </p:txBody>
      </p:sp>
      <p:sp>
        <p:nvSpPr>
          <p:cNvPr id="45" name="Text 36"/>
          <p:cNvSpPr txBox="1"/>
          <p:nvPr/>
        </p:nvSpPr>
        <p:spPr>
          <a:xfrm>
            <a:off x="6409944" y="5522976"/>
            <a:ext cx="2240280" cy="256032"/>
          </a:xfrm>
          <a:prstGeom prst="rect">
            <a:avLst/>
          </a:prstGeom>
          <a:noFill/>
          <a:ln/>
        </p:spPr>
        <p:txBody>
          <a:bodyPr wrap="square" lIns="0" tIns="0" rIns="0" bIns="0" rtlCol="0" anchor="t"/>
          <a:lstStyle/>
          <a:p>
            <a:pPr indent="0" marL="0">
              <a:buNone/>
            </a:pPr>
            <a:r>
              <a:rPr lang="en-US" sz="1100" dirty="0">
                <a:solidFill>
                  <a:srgbClr val="64748B"/>
                </a:solidFill>
              </a:rPr>
              <a:t>Topic trends · coverage</a:t>
            </a:r>
            <a:endParaRPr lang="en-US" sz="1100" dirty="0"/>
          </a:p>
        </p:txBody>
      </p:sp>
      <p:sp>
        <p:nvSpPr>
          <p:cNvPr id="46" name="Shape 37"/>
          <p:cNvSpPr/>
          <p:nvPr/>
        </p:nvSpPr>
        <p:spPr>
          <a:xfrm>
            <a:off x="8997696" y="3840480"/>
            <a:ext cx="2651760" cy="2011680"/>
          </a:xfrm>
          <a:prstGeom prst="roundRect">
            <a:avLst>
              <a:gd name="adj" fmla="val 3636"/>
            </a:avLst>
          </a:prstGeom>
          <a:solidFill>
            <a:schemeClr val="tx2"/>
          </a:solidFill>
          <a:ln w="12700">
            <a:solidFill>
              <a:schemeClr val="tx2"/>
            </a:solidFill>
            <a:prstDash val="solid"/>
          </a:ln>
          <a:effectLst>
            <a:outerShdw sx="100000" sy="100000" kx="0" ky="0" algn="bl" rotWithShape="0" blurRad="127000" dist="25400" dir="5400000">
              <a:srgbClr val="0F172A">
                <a:alpha val="12000"/>
              </a:srgbClr>
            </a:outerShdw>
          </a:effectLst>
        </p:spPr>
      </p:sp>
      <p:sp>
        <p:nvSpPr>
          <p:cNvPr id="47" name="Text 38"/>
          <p:cNvSpPr txBox="1"/>
          <p:nvPr/>
        </p:nvSpPr>
        <p:spPr>
          <a:xfrm>
            <a:off x="9226296" y="4114800"/>
            <a:ext cx="219456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ONE PLATFORM</a:t>
            </a:r>
            <a:endParaRPr lang="en-US" sz="1100" dirty="0"/>
          </a:p>
        </p:txBody>
      </p:sp>
      <p:sp>
        <p:nvSpPr>
          <p:cNvPr id="48" name="Text 39"/>
          <p:cNvSpPr txBox="1"/>
          <p:nvPr/>
        </p:nvSpPr>
        <p:spPr>
          <a:xfrm>
            <a:off x="9226296" y="4434840"/>
            <a:ext cx="2240280" cy="1188720"/>
          </a:xfrm>
          <a:prstGeom prst="rect">
            <a:avLst/>
          </a:prstGeom>
          <a:noFill/>
          <a:ln/>
        </p:spPr>
        <p:txBody>
          <a:bodyPr wrap="square" lIns="0" tIns="0" rIns="0" bIns="0" rtlCol="0" anchor="t"/>
          <a:lstStyle/>
          <a:p>
            <a:pPr indent="0" marL="0">
              <a:buNone/>
            </a:pPr>
            <a:r>
              <a:rPr lang="en-US" sz="1800" b="1" dirty="0">
                <a:solidFill>
                  <a:schemeClr val="bg1"/>
                </a:solidFill>
              </a:rPr>
              <a:t>Measurable knowledge outcomes across the enterprise</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589520" y="1737360"/>
            <a:ext cx="1737360" cy="1645920"/>
          </a:xfrm>
          <a:prstGeom prst="line">
            <a:avLst/>
          </a:prstGeom>
          <a:noFill/>
          <a:ln w="12700">
            <a:solidFill>
              <a:srgbClr val="2E6FD8">
                <a:alpha val="65000"/>
              </a:srgbClr>
            </a:solidFill>
            <a:prstDash val="solid"/>
          </a:ln>
        </p:spPr>
      </p:sp>
      <p:sp>
        <p:nvSpPr>
          <p:cNvPr id="3" name="Shape 1"/>
          <p:cNvSpPr/>
          <p:nvPr/>
        </p:nvSpPr>
        <p:spPr>
          <a:xfrm flipV="1">
            <a:off x="9326880" y="1371600"/>
            <a:ext cx="1645920" cy="2011680"/>
          </a:xfrm>
          <a:prstGeom prst="line">
            <a:avLst/>
          </a:prstGeom>
          <a:noFill/>
          <a:ln w="12700">
            <a:solidFill>
              <a:srgbClr val="2E6FD8">
                <a:alpha val="65000"/>
              </a:srgbClr>
            </a:solidFill>
            <a:prstDash val="solid"/>
          </a:ln>
        </p:spPr>
      </p:sp>
      <p:sp>
        <p:nvSpPr>
          <p:cNvPr id="4" name="Shape 2"/>
          <p:cNvSpPr/>
          <p:nvPr/>
        </p:nvSpPr>
        <p:spPr>
          <a:xfrm>
            <a:off x="9326880" y="3383280"/>
            <a:ext cx="1965960" cy="548640"/>
          </a:xfrm>
          <a:prstGeom prst="line">
            <a:avLst/>
          </a:prstGeom>
          <a:noFill/>
          <a:ln w="12700">
            <a:solidFill>
              <a:srgbClr val="2E6FD8">
                <a:alpha val="65000"/>
              </a:srgbClr>
            </a:solidFill>
            <a:prstDash val="solid"/>
          </a:ln>
        </p:spPr>
      </p:sp>
      <p:sp>
        <p:nvSpPr>
          <p:cNvPr id="5" name="Shape 3"/>
          <p:cNvSpPr/>
          <p:nvPr/>
        </p:nvSpPr>
        <p:spPr>
          <a:xfrm>
            <a:off x="9326880" y="3383280"/>
            <a:ext cx="914400" cy="2194560"/>
          </a:xfrm>
          <a:prstGeom prst="line">
            <a:avLst/>
          </a:prstGeom>
          <a:noFill/>
          <a:ln w="12700">
            <a:solidFill>
              <a:srgbClr val="2E6FD8">
                <a:alpha val="65000"/>
              </a:srgbClr>
            </a:solidFill>
            <a:prstDash val="solid"/>
          </a:ln>
        </p:spPr>
      </p:sp>
      <p:sp>
        <p:nvSpPr>
          <p:cNvPr id="6" name="Shape 4"/>
          <p:cNvSpPr/>
          <p:nvPr/>
        </p:nvSpPr>
        <p:spPr>
          <a:xfrm flipV="1">
            <a:off x="7772400" y="3383280"/>
            <a:ext cx="1554480" cy="1737360"/>
          </a:xfrm>
          <a:prstGeom prst="line">
            <a:avLst/>
          </a:prstGeom>
          <a:noFill/>
          <a:ln w="12700">
            <a:solidFill>
              <a:srgbClr val="2E6FD8">
                <a:alpha val="65000"/>
              </a:srgbClr>
            </a:solidFill>
            <a:prstDash val="solid"/>
          </a:ln>
        </p:spPr>
      </p:sp>
      <p:sp>
        <p:nvSpPr>
          <p:cNvPr id="7" name="Shape 5"/>
          <p:cNvSpPr/>
          <p:nvPr/>
        </p:nvSpPr>
        <p:spPr>
          <a:xfrm>
            <a:off x="6949440" y="3383280"/>
            <a:ext cx="2377440" cy="914"/>
          </a:xfrm>
          <a:prstGeom prst="line">
            <a:avLst/>
          </a:prstGeom>
          <a:noFill/>
          <a:ln w="12700">
            <a:solidFill>
              <a:srgbClr val="2E6FD8">
                <a:alpha val="65000"/>
              </a:srgbClr>
            </a:solidFill>
            <a:prstDash val="solid"/>
          </a:ln>
        </p:spPr>
      </p:sp>
      <p:sp>
        <p:nvSpPr>
          <p:cNvPr id="8" name="Shape 6"/>
          <p:cNvSpPr/>
          <p:nvPr/>
        </p:nvSpPr>
        <p:spPr>
          <a:xfrm flipV="1">
            <a:off x="6949440" y="1737360"/>
            <a:ext cx="640080" cy="1645920"/>
          </a:xfrm>
          <a:prstGeom prst="line">
            <a:avLst/>
          </a:prstGeom>
          <a:noFill/>
          <a:ln w="12700">
            <a:solidFill>
              <a:srgbClr val="2E6FD8">
                <a:alpha val="65000"/>
              </a:srgbClr>
            </a:solidFill>
            <a:prstDash val="solid"/>
          </a:ln>
        </p:spPr>
      </p:sp>
      <p:sp>
        <p:nvSpPr>
          <p:cNvPr id="9" name="Shape 7"/>
          <p:cNvSpPr/>
          <p:nvPr/>
        </p:nvSpPr>
        <p:spPr>
          <a:xfrm flipV="1">
            <a:off x="7589520" y="822960"/>
            <a:ext cx="1463040" cy="914400"/>
          </a:xfrm>
          <a:prstGeom prst="line">
            <a:avLst/>
          </a:prstGeom>
          <a:noFill/>
          <a:ln w="12700">
            <a:solidFill>
              <a:srgbClr val="2E6FD8">
                <a:alpha val="65000"/>
              </a:srgbClr>
            </a:solidFill>
            <a:prstDash val="solid"/>
          </a:ln>
        </p:spPr>
      </p:sp>
      <p:sp>
        <p:nvSpPr>
          <p:cNvPr id="10" name="Shape 8"/>
          <p:cNvSpPr/>
          <p:nvPr/>
        </p:nvSpPr>
        <p:spPr>
          <a:xfrm>
            <a:off x="9052560" y="822960"/>
            <a:ext cx="1920240" cy="548640"/>
          </a:xfrm>
          <a:prstGeom prst="line">
            <a:avLst/>
          </a:prstGeom>
          <a:noFill/>
          <a:ln w="12700">
            <a:solidFill>
              <a:srgbClr val="2E6FD8">
                <a:alpha val="65000"/>
              </a:srgbClr>
            </a:solidFill>
            <a:prstDash val="solid"/>
          </a:ln>
        </p:spPr>
      </p:sp>
      <p:sp>
        <p:nvSpPr>
          <p:cNvPr id="11" name="Shape 9"/>
          <p:cNvSpPr/>
          <p:nvPr/>
        </p:nvSpPr>
        <p:spPr>
          <a:xfrm>
            <a:off x="10972800" y="1371600"/>
            <a:ext cx="822960" cy="1280160"/>
          </a:xfrm>
          <a:prstGeom prst="line">
            <a:avLst/>
          </a:prstGeom>
          <a:noFill/>
          <a:ln w="12700">
            <a:solidFill>
              <a:srgbClr val="2E6FD8">
                <a:alpha val="65000"/>
              </a:srgbClr>
            </a:solidFill>
            <a:prstDash val="solid"/>
          </a:ln>
        </p:spPr>
      </p:sp>
      <p:sp>
        <p:nvSpPr>
          <p:cNvPr id="12" name="Shape 10"/>
          <p:cNvSpPr/>
          <p:nvPr/>
        </p:nvSpPr>
        <p:spPr>
          <a:xfrm flipV="1">
            <a:off x="11292840" y="2651760"/>
            <a:ext cx="502920" cy="1280160"/>
          </a:xfrm>
          <a:prstGeom prst="line">
            <a:avLst/>
          </a:prstGeom>
          <a:noFill/>
          <a:ln w="12700">
            <a:solidFill>
              <a:srgbClr val="2E6FD8">
                <a:alpha val="65000"/>
              </a:srgbClr>
            </a:solidFill>
            <a:prstDash val="solid"/>
          </a:ln>
        </p:spPr>
      </p:sp>
      <p:sp>
        <p:nvSpPr>
          <p:cNvPr id="13" name="Shape 11"/>
          <p:cNvSpPr/>
          <p:nvPr/>
        </p:nvSpPr>
        <p:spPr>
          <a:xfrm>
            <a:off x="11292840" y="3931920"/>
            <a:ext cx="594360" cy="1280160"/>
          </a:xfrm>
          <a:prstGeom prst="line">
            <a:avLst/>
          </a:prstGeom>
          <a:noFill/>
          <a:ln w="12700">
            <a:solidFill>
              <a:srgbClr val="2E6FD8">
                <a:alpha val="65000"/>
              </a:srgbClr>
            </a:solidFill>
            <a:prstDash val="solid"/>
          </a:ln>
        </p:spPr>
      </p:sp>
      <p:sp>
        <p:nvSpPr>
          <p:cNvPr id="14" name="Shape 12"/>
          <p:cNvSpPr/>
          <p:nvPr/>
        </p:nvSpPr>
        <p:spPr>
          <a:xfrm flipV="1">
            <a:off x="8778240" y="5577840"/>
            <a:ext cx="1463040" cy="640080"/>
          </a:xfrm>
          <a:prstGeom prst="line">
            <a:avLst/>
          </a:prstGeom>
          <a:noFill/>
          <a:ln w="12700">
            <a:solidFill>
              <a:srgbClr val="2E6FD8">
                <a:alpha val="65000"/>
              </a:srgbClr>
            </a:solidFill>
            <a:prstDash val="solid"/>
          </a:ln>
        </p:spPr>
      </p:sp>
      <p:sp>
        <p:nvSpPr>
          <p:cNvPr id="15" name="Shape 13"/>
          <p:cNvSpPr/>
          <p:nvPr/>
        </p:nvSpPr>
        <p:spPr>
          <a:xfrm>
            <a:off x="7772400" y="5120640"/>
            <a:ext cx="1005840" cy="1097280"/>
          </a:xfrm>
          <a:prstGeom prst="line">
            <a:avLst/>
          </a:prstGeom>
          <a:noFill/>
          <a:ln w="12700">
            <a:solidFill>
              <a:srgbClr val="2E6FD8">
                <a:alpha val="65000"/>
              </a:srgbClr>
            </a:solidFill>
            <a:prstDash val="solid"/>
          </a:ln>
        </p:spPr>
      </p:sp>
      <p:sp>
        <p:nvSpPr>
          <p:cNvPr id="16" name="Shape 14"/>
          <p:cNvSpPr/>
          <p:nvPr/>
        </p:nvSpPr>
        <p:spPr>
          <a:xfrm flipV="1">
            <a:off x="6400800" y="5120640"/>
            <a:ext cx="1371600" cy="822960"/>
          </a:xfrm>
          <a:prstGeom prst="line">
            <a:avLst/>
          </a:prstGeom>
          <a:noFill/>
          <a:ln w="12700">
            <a:solidFill>
              <a:srgbClr val="2E6FD8">
                <a:alpha val="65000"/>
              </a:srgbClr>
            </a:solidFill>
            <a:prstDash val="solid"/>
          </a:ln>
        </p:spPr>
      </p:sp>
      <p:sp>
        <p:nvSpPr>
          <p:cNvPr id="17" name="Shape 15"/>
          <p:cNvSpPr/>
          <p:nvPr/>
        </p:nvSpPr>
        <p:spPr>
          <a:xfrm>
            <a:off x="6583680" y="914400"/>
            <a:ext cx="365760" cy="2468880"/>
          </a:xfrm>
          <a:prstGeom prst="line">
            <a:avLst/>
          </a:prstGeom>
          <a:noFill/>
          <a:ln w="12700">
            <a:solidFill>
              <a:srgbClr val="2E6FD8">
                <a:alpha val="65000"/>
              </a:srgbClr>
            </a:solidFill>
            <a:prstDash val="solid"/>
          </a:ln>
        </p:spPr>
      </p:sp>
      <p:sp>
        <p:nvSpPr>
          <p:cNvPr id="18" name="Shape 16"/>
          <p:cNvSpPr/>
          <p:nvPr/>
        </p:nvSpPr>
        <p:spPr>
          <a:xfrm>
            <a:off x="6583680" y="914400"/>
            <a:ext cx="1005840" cy="822960"/>
          </a:xfrm>
          <a:prstGeom prst="line">
            <a:avLst/>
          </a:prstGeom>
          <a:noFill/>
          <a:ln w="12700">
            <a:solidFill>
              <a:srgbClr val="2E6FD8">
                <a:alpha val="65000"/>
              </a:srgbClr>
            </a:solidFill>
            <a:prstDash val="solid"/>
          </a:ln>
        </p:spPr>
      </p:sp>
      <p:sp>
        <p:nvSpPr>
          <p:cNvPr id="19" name="Shape 17"/>
          <p:cNvSpPr/>
          <p:nvPr/>
        </p:nvSpPr>
        <p:spPr>
          <a:xfrm flipV="1">
            <a:off x="10241280" y="3931920"/>
            <a:ext cx="1051560" cy="1645920"/>
          </a:xfrm>
          <a:prstGeom prst="line">
            <a:avLst/>
          </a:prstGeom>
          <a:noFill/>
          <a:ln w="12700">
            <a:solidFill>
              <a:srgbClr val="2E6FD8">
                <a:alpha val="65000"/>
              </a:srgbClr>
            </a:solidFill>
            <a:prstDash val="solid"/>
          </a:ln>
        </p:spPr>
      </p:sp>
      <p:sp>
        <p:nvSpPr>
          <p:cNvPr id="20" name="Shape 18"/>
          <p:cNvSpPr/>
          <p:nvPr/>
        </p:nvSpPr>
        <p:spPr>
          <a:xfrm>
            <a:off x="6949440" y="3383280"/>
            <a:ext cx="822960" cy="1737360"/>
          </a:xfrm>
          <a:prstGeom prst="line">
            <a:avLst/>
          </a:prstGeom>
          <a:noFill/>
          <a:ln w="12700">
            <a:solidFill>
              <a:srgbClr val="2E6FD8">
                <a:alpha val="65000"/>
              </a:srgbClr>
            </a:solidFill>
            <a:prstDash val="solid"/>
          </a:ln>
        </p:spPr>
      </p:sp>
      <p:sp>
        <p:nvSpPr>
          <p:cNvPr id="21" name="Shape 19"/>
          <p:cNvSpPr/>
          <p:nvPr/>
        </p:nvSpPr>
        <p:spPr>
          <a:xfrm>
            <a:off x="8869680" y="2926080"/>
            <a:ext cx="914400" cy="914400"/>
          </a:xfrm>
          <a:prstGeom prst="ellipse">
            <a:avLst/>
          </a:prstGeom>
          <a:solidFill>
            <a:srgbClr val="1B58D8"/>
          </a:solidFill>
          <a:ln w="25400">
            <a:solidFill>
              <a:srgbClr val="08ACD5"/>
            </a:solidFill>
            <a:prstDash val="solid"/>
          </a:ln>
        </p:spPr>
      </p:sp>
      <p:pic>
        <p:nvPicPr>
          <p:cNvPr id="22" name="Image 0" descr="preencoded.png">    </p:cNvPr>
          <p:cNvPicPr>
            <a:picLocks noChangeAspect="1"/>
          </p:cNvPicPr>
          <p:nvPr/>
        </p:nvPicPr>
        <p:blipFill>
          <a:blip r:embed="rId1"/>
          <a:stretch>
            <a:fillRect/>
          </a:stretch>
        </p:blipFill>
        <p:spPr>
          <a:xfrm>
            <a:off x="9098280" y="3154680"/>
            <a:ext cx="457200" cy="457200"/>
          </a:xfrm>
          <a:prstGeom prst="rect">
            <a:avLst/>
          </a:prstGeom>
        </p:spPr>
      </p:pic>
      <p:sp>
        <p:nvSpPr>
          <p:cNvPr id="23" name="Shape 20"/>
          <p:cNvSpPr/>
          <p:nvPr/>
        </p:nvSpPr>
        <p:spPr>
          <a:xfrm>
            <a:off x="7315200" y="1463040"/>
            <a:ext cx="548640" cy="548640"/>
          </a:xfrm>
          <a:prstGeom prst="ellipse">
            <a:avLst/>
          </a:prstGeom>
          <a:solidFill>
            <a:srgbClr val="12284A"/>
          </a:solidFill>
          <a:ln w="15875">
            <a:solidFill>
              <a:srgbClr val="08ACD5"/>
            </a:solidFill>
            <a:prstDash val="solid"/>
          </a:ln>
        </p:spPr>
      </p:sp>
      <p:pic>
        <p:nvPicPr>
          <p:cNvPr id="24" name="Image 1" descr="preencoded.png">    </p:cNvPr>
          <p:cNvPicPr>
            <a:picLocks noChangeAspect="1"/>
          </p:cNvPicPr>
          <p:nvPr/>
        </p:nvPicPr>
        <p:blipFill>
          <a:blip r:embed="rId2"/>
          <a:stretch>
            <a:fillRect/>
          </a:stretch>
        </p:blipFill>
        <p:spPr>
          <a:xfrm>
            <a:off x="7452360" y="1600200"/>
            <a:ext cx="274320" cy="274320"/>
          </a:xfrm>
          <a:prstGeom prst="rect">
            <a:avLst/>
          </a:prstGeom>
        </p:spPr>
      </p:pic>
      <p:sp>
        <p:nvSpPr>
          <p:cNvPr id="25" name="Shape 21"/>
          <p:cNvSpPr/>
          <p:nvPr/>
        </p:nvSpPr>
        <p:spPr>
          <a:xfrm>
            <a:off x="10716768" y="1115568"/>
            <a:ext cx="512064" cy="512064"/>
          </a:xfrm>
          <a:prstGeom prst="ellipse">
            <a:avLst/>
          </a:prstGeom>
          <a:solidFill>
            <a:srgbClr val="12284A"/>
          </a:solidFill>
          <a:ln w="15875">
            <a:solidFill>
              <a:srgbClr val="08ACD5"/>
            </a:solidFill>
            <a:prstDash val="solid"/>
          </a:ln>
        </p:spPr>
      </p:sp>
      <p:pic>
        <p:nvPicPr>
          <p:cNvPr id="26" name="Image 2" descr="preencoded.png">    </p:cNvPr>
          <p:cNvPicPr>
            <a:picLocks noChangeAspect="1"/>
          </p:cNvPicPr>
          <p:nvPr/>
        </p:nvPicPr>
        <p:blipFill>
          <a:blip r:embed="rId3"/>
          <a:stretch>
            <a:fillRect/>
          </a:stretch>
        </p:blipFill>
        <p:spPr>
          <a:xfrm>
            <a:off x="10844784" y="1243584"/>
            <a:ext cx="256032" cy="256032"/>
          </a:xfrm>
          <a:prstGeom prst="rect">
            <a:avLst/>
          </a:prstGeom>
        </p:spPr>
      </p:pic>
      <p:sp>
        <p:nvSpPr>
          <p:cNvPr id="27" name="Shape 22"/>
          <p:cNvSpPr/>
          <p:nvPr/>
        </p:nvSpPr>
        <p:spPr>
          <a:xfrm>
            <a:off x="11000232" y="3639312"/>
            <a:ext cx="585216" cy="585216"/>
          </a:xfrm>
          <a:prstGeom prst="ellipse">
            <a:avLst/>
          </a:prstGeom>
          <a:solidFill>
            <a:srgbClr val="12284A"/>
          </a:solidFill>
          <a:ln w="15875">
            <a:solidFill>
              <a:srgbClr val="08ACD5"/>
            </a:solidFill>
            <a:prstDash val="solid"/>
          </a:ln>
        </p:spPr>
      </p:sp>
      <p:pic>
        <p:nvPicPr>
          <p:cNvPr id="28" name="Image 3" descr="preencoded.png">    </p:cNvPr>
          <p:cNvPicPr>
            <a:picLocks noChangeAspect="1"/>
          </p:cNvPicPr>
          <p:nvPr/>
        </p:nvPicPr>
        <p:blipFill>
          <a:blip r:embed="rId4"/>
          <a:stretch>
            <a:fillRect/>
          </a:stretch>
        </p:blipFill>
        <p:spPr>
          <a:xfrm>
            <a:off x="11146536" y="3785616"/>
            <a:ext cx="292608" cy="292608"/>
          </a:xfrm>
          <a:prstGeom prst="rect">
            <a:avLst/>
          </a:prstGeom>
        </p:spPr>
      </p:pic>
      <p:sp>
        <p:nvSpPr>
          <p:cNvPr id="29" name="Shape 23"/>
          <p:cNvSpPr/>
          <p:nvPr/>
        </p:nvSpPr>
        <p:spPr>
          <a:xfrm>
            <a:off x="9985248" y="5321808"/>
            <a:ext cx="512064" cy="512064"/>
          </a:xfrm>
          <a:prstGeom prst="ellipse">
            <a:avLst/>
          </a:prstGeom>
          <a:solidFill>
            <a:srgbClr val="12284A"/>
          </a:solidFill>
          <a:ln w="15875">
            <a:solidFill>
              <a:srgbClr val="08ACD5"/>
            </a:solidFill>
            <a:prstDash val="solid"/>
          </a:ln>
        </p:spPr>
      </p:sp>
      <p:pic>
        <p:nvPicPr>
          <p:cNvPr id="30" name="Image 4" descr="preencoded.png">    </p:cNvPr>
          <p:cNvPicPr>
            <a:picLocks noChangeAspect="1"/>
          </p:cNvPicPr>
          <p:nvPr/>
        </p:nvPicPr>
        <p:blipFill>
          <a:blip r:embed="rId5"/>
          <a:stretch>
            <a:fillRect/>
          </a:stretch>
        </p:blipFill>
        <p:spPr>
          <a:xfrm>
            <a:off x="10113264" y="5449824"/>
            <a:ext cx="256032" cy="256032"/>
          </a:xfrm>
          <a:prstGeom prst="rect">
            <a:avLst/>
          </a:prstGeom>
        </p:spPr>
      </p:pic>
      <p:sp>
        <p:nvSpPr>
          <p:cNvPr id="31" name="Shape 24"/>
          <p:cNvSpPr/>
          <p:nvPr/>
        </p:nvSpPr>
        <p:spPr>
          <a:xfrm>
            <a:off x="7498080" y="4846320"/>
            <a:ext cx="548640" cy="548640"/>
          </a:xfrm>
          <a:prstGeom prst="ellipse">
            <a:avLst/>
          </a:prstGeom>
          <a:solidFill>
            <a:srgbClr val="12284A"/>
          </a:solidFill>
          <a:ln w="15875">
            <a:solidFill>
              <a:srgbClr val="08ACD5"/>
            </a:solidFill>
            <a:prstDash val="solid"/>
          </a:ln>
        </p:spPr>
      </p:sp>
      <p:pic>
        <p:nvPicPr>
          <p:cNvPr id="32" name="Image 5" descr="preencoded.png">    </p:cNvPr>
          <p:cNvPicPr>
            <a:picLocks noChangeAspect="1"/>
          </p:cNvPicPr>
          <p:nvPr/>
        </p:nvPicPr>
        <p:blipFill>
          <a:blip r:embed="rId6"/>
          <a:stretch>
            <a:fillRect/>
          </a:stretch>
        </p:blipFill>
        <p:spPr>
          <a:xfrm>
            <a:off x="7635240" y="4983480"/>
            <a:ext cx="274320" cy="274320"/>
          </a:xfrm>
          <a:prstGeom prst="rect">
            <a:avLst/>
          </a:prstGeom>
        </p:spPr>
      </p:pic>
      <p:sp>
        <p:nvSpPr>
          <p:cNvPr id="33" name="Shape 25"/>
          <p:cNvSpPr/>
          <p:nvPr/>
        </p:nvSpPr>
        <p:spPr>
          <a:xfrm>
            <a:off x="6720840" y="3154680"/>
            <a:ext cx="457200" cy="457200"/>
          </a:xfrm>
          <a:prstGeom prst="ellipse">
            <a:avLst/>
          </a:prstGeom>
          <a:solidFill>
            <a:srgbClr val="12284A"/>
          </a:solidFill>
          <a:ln w="15875">
            <a:solidFill>
              <a:srgbClr val="08ACD5"/>
            </a:solidFill>
            <a:prstDash val="solid"/>
          </a:ln>
        </p:spPr>
      </p:sp>
      <p:pic>
        <p:nvPicPr>
          <p:cNvPr id="34" name="Image 6" descr="preencoded.png">    </p:cNvPr>
          <p:cNvPicPr>
            <a:picLocks noChangeAspect="1"/>
          </p:cNvPicPr>
          <p:nvPr/>
        </p:nvPicPr>
        <p:blipFill>
          <a:blip r:embed="rId7"/>
          <a:stretch>
            <a:fillRect/>
          </a:stretch>
        </p:blipFill>
        <p:spPr>
          <a:xfrm>
            <a:off x="6835140" y="3268980"/>
            <a:ext cx="228600" cy="228600"/>
          </a:xfrm>
          <a:prstGeom prst="rect">
            <a:avLst/>
          </a:prstGeom>
        </p:spPr>
      </p:pic>
      <p:sp>
        <p:nvSpPr>
          <p:cNvPr id="35" name="Shape 26"/>
          <p:cNvSpPr/>
          <p:nvPr/>
        </p:nvSpPr>
        <p:spPr>
          <a:xfrm>
            <a:off x="8961120" y="731520"/>
            <a:ext cx="182880" cy="182880"/>
          </a:xfrm>
          <a:prstGeom prst="ellipse">
            <a:avLst/>
          </a:prstGeom>
          <a:solidFill>
            <a:srgbClr val="08ACD5">
              <a:alpha val="80000"/>
            </a:srgbClr>
          </a:solidFill>
          <a:ln w="12700">
            <a:solidFill>
              <a:srgbClr val="08ACD5"/>
            </a:solidFill>
            <a:prstDash val="solid"/>
          </a:ln>
        </p:spPr>
      </p:sp>
      <p:sp>
        <p:nvSpPr>
          <p:cNvPr id="36" name="Shape 27"/>
          <p:cNvSpPr/>
          <p:nvPr/>
        </p:nvSpPr>
        <p:spPr>
          <a:xfrm>
            <a:off x="11722608" y="2578608"/>
            <a:ext cx="146304" cy="146304"/>
          </a:xfrm>
          <a:prstGeom prst="ellipse">
            <a:avLst/>
          </a:prstGeom>
          <a:solidFill>
            <a:srgbClr val="08ACD5">
              <a:alpha val="80000"/>
            </a:srgbClr>
          </a:solidFill>
          <a:ln w="12700">
            <a:solidFill>
              <a:srgbClr val="08ACD5"/>
            </a:solidFill>
            <a:prstDash val="solid"/>
          </a:ln>
        </p:spPr>
      </p:sp>
      <p:sp>
        <p:nvSpPr>
          <p:cNvPr id="37" name="Shape 28"/>
          <p:cNvSpPr/>
          <p:nvPr/>
        </p:nvSpPr>
        <p:spPr>
          <a:xfrm>
            <a:off x="8686800" y="6126480"/>
            <a:ext cx="182880" cy="182880"/>
          </a:xfrm>
          <a:prstGeom prst="ellipse">
            <a:avLst/>
          </a:prstGeom>
          <a:solidFill>
            <a:srgbClr val="08ACD5">
              <a:alpha val="80000"/>
            </a:srgbClr>
          </a:solidFill>
          <a:ln w="12700">
            <a:solidFill>
              <a:srgbClr val="08ACD5"/>
            </a:solidFill>
            <a:prstDash val="solid"/>
          </a:ln>
        </p:spPr>
      </p:sp>
      <p:sp>
        <p:nvSpPr>
          <p:cNvPr id="38" name="Shape 29"/>
          <p:cNvSpPr/>
          <p:nvPr/>
        </p:nvSpPr>
        <p:spPr>
          <a:xfrm>
            <a:off x="6336792" y="5879592"/>
            <a:ext cx="128016" cy="128016"/>
          </a:xfrm>
          <a:prstGeom prst="ellipse">
            <a:avLst/>
          </a:prstGeom>
          <a:solidFill>
            <a:srgbClr val="08ACD5">
              <a:alpha val="80000"/>
            </a:srgbClr>
          </a:solidFill>
          <a:ln w="12700">
            <a:solidFill>
              <a:srgbClr val="08ACD5"/>
            </a:solidFill>
            <a:prstDash val="solid"/>
          </a:ln>
        </p:spPr>
      </p:sp>
      <p:sp>
        <p:nvSpPr>
          <p:cNvPr id="39" name="Shape 30"/>
          <p:cNvSpPr/>
          <p:nvPr/>
        </p:nvSpPr>
        <p:spPr>
          <a:xfrm>
            <a:off x="11804904" y="5129784"/>
            <a:ext cx="164592" cy="164592"/>
          </a:xfrm>
          <a:prstGeom prst="ellipse">
            <a:avLst/>
          </a:prstGeom>
          <a:solidFill>
            <a:srgbClr val="08ACD5">
              <a:alpha val="80000"/>
            </a:srgbClr>
          </a:solidFill>
          <a:ln w="12700">
            <a:solidFill>
              <a:srgbClr val="08ACD5"/>
            </a:solidFill>
            <a:prstDash val="solid"/>
          </a:ln>
        </p:spPr>
      </p:sp>
      <p:sp>
        <p:nvSpPr>
          <p:cNvPr id="40" name="Shape 31"/>
          <p:cNvSpPr/>
          <p:nvPr/>
        </p:nvSpPr>
        <p:spPr>
          <a:xfrm>
            <a:off x="6519672" y="850392"/>
            <a:ext cx="128016" cy="128016"/>
          </a:xfrm>
          <a:prstGeom prst="ellipse">
            <a:avLst/>
          </a:prstGeom>
          <a:solidFill>
            <a:srgbClr val="08ACD5">
              <a:alpha val="80000"/>
            </a:srgbClr>
          </a:solidFill>
          <a:ln w="12700">
            <a:solidFill>
              <a:srgbClr val="08ACD5"/>
            </a:solidFill>
            <a:prstDash val="solid"/>
          </a:ln>
        </p:spPr>
      </p:sp>
      <p:pic>
        <p:nvPicPr>
          <p:cNvPr id="41" name="Image 7" descr="Next Generation Innovation logo">    </p:cNvPr>
          <p:cNvPicPr>
            <a:picLocks noChangeAspect="1"/>
          </p:cNvPicPr>
          <p:nvPr/>
        </p:nvPicPr>
        <p:blipFill>
          <a:blip r:embed="rId8"/>
          <a:stretch>
            <a:fillRect/>
          </a:stretch>
        </p:blipFill>
        <p:spPr>
          <a:xfrm>
            <a:off x="685800" y="640080"/>
            <a:ext cx="2651760" cy="1431950"/>
          </a:xfrm>
          <a:prstGeom prst="rect">
            <a:avLst/>
          </a:prstGeom>
        </p:spPr>
      </p:pic>
      <p:sp>
        <p:nvSpPr>
          <p:cNvPr id="42" name="Text 0"/>
          <p:cNvSpPr/>
          <p:nvPr>
            <p:ph idx="100" type="title" hasCustomPrompt="1"/>
          </p:nvPr>
        </p:nvSpPr>
        <p:spPr>
          <a:xfrm>
            <a:off x="685800" y="2286000"/>
            <a:ext cx="6309360" cy="1920240"/>
          </a:xfrm>
          <a:prstGeom prst="rect">
            <a:avLst/>
          </a:prstGeom>
          <a:noFill/>
          <a:ln/>
        </p:spPr>
        <p:txBody>
          <a:bodyPr wrap="square" lIns="0" tIns="0" rIns="0" bIns="0" rtlCol="0" anchor="t"/>
          <a:lstStyle/>
          <a:p>
            <a:pPr algn="l" indent="0" marL="0">
              <a:buNone/>
            </a:pPr>
            <a:r>
              <a:rPr lang="en-US" sz="4000" b="1" dirty="0">
                <a:solidFill>
                  <a:schemeClr val="bg1"/>
                </a:solidFill>
              </a:rPr>
              <a:t>KMS Turns Enterprise Knowledge Into Enterprise Intelligence</a:t>
            </a:r>
            <a:endParaRPr lang="en-US" sz="4000" dirty="0"/>
          </a:p>
        </p:txBody>
      </p:sp>
      <p:sp>
        <p:nvSpPr>
          <p:cNvPr id="43" name="Text 0"/>
          <p:cNvSpPr/>
          <p:nvPr>
            <p:ph idx="101" type="body" hasCustomPrompt="1"/>
          </p:nvPr>
        </p:nvSpPr>
        <p:spPr>
          <a:xfrm>
            <a:off x="685800" y="4434840"/>
            <a:ext cx="5760720" cy="822960"/>
          </a:xfrm>
          <a:prstGeom prst="rect">
            <a:avLst/>
          </a:prstGeom>
          <a:noFill/>
          <a:ln/>
        </p:spPr>
        <p:txBody>
          <a:bodyPr wrap="square" lIns="0" tIns="0" rIns="0" bIns="0" rtlCol="0" anchor="t"/>
          <a:lstStyle/>
          <a:p>
            <a:pPr algn="l" indent="0" marL="0">
              <a:buNone/>
            </a:pPr>
            <a:r>
              <a:rPr lang="en-US" sz="2000" b="1" dirty="0">
                <a:solidFill>
                  <a:schemeClr val="accent2"/>
                </a:solidFill>
              </a:rPr>
              <a:t>From scattered documents to connected organizational intelligence.</a:t>
            </a:r>
            <a:endParaRPr lang="en-US" sz="2000" dirty="0"/>
          </a:p>
        </p:txBody>
      </p:sp>
    </p:spTree>
  </p:cSld>
  <p:clrMapOvr>
    <a:masterClrMapping/>
  </p:clrMapOvr>
</p:sld>
</file>

<file path=ppt/theme/theme1.xml><?xml version="1.0" encoding="utf-8"?>
<a:theme xmlns:a="http://schemas.openxmlformats.org/drawingml/2006/main" name="NGI KMS">
  <a:themeElements>
    <a:clrScheme name="NGI KMS">
      <a:dk1>
        <a:srgbClr val="1F2937"/>
      </a:dk1>
      <a:lt1>
        <a:srgbClr val="FFFFFF"/>
      </a:lt1>
      <a:dk2>
        <a:srgbClr val="0A1630"/>
      </a:dk2>
      <a:lt2>
        <a:srgbClr val="F3F6FA"/>
      </a:lt2>
      <a:accent1>
        <a:srgbClr val="1B58D8"/>
      </a:accent1>
      <a:accent2>
        <a:srgbClr val="08ACD5"/>
      </a:accent2>
      <a:accent3>
        <a:srgbClr val="12284A"/>
      </a:accent3>
      <a:accent4>
        <a:srgbClr val="0E9F8E"/>
      </a:accent4>
      <a:accent5>
        <a:srgbClr val="E09A1F"/>
      </a:accent5>
      <a:accent6>
        <a:srgbClr val="7C5CDB"/>
      </a:accent6>
      <a:hlink>
        <a:srgbClr val="1B58D8"/>
      </a:hlink>
      <a:folHlink>
        <a:srgbClr val="7C5CDB"/>
      </a:folHlink>
    </a:clrScheme>
    <a:fontScheme name="NGI KM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Next Generation Innovation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KMS: Enterprise Knowledge Operating System</dc:title>
  <dc:subject>PptxGenJS Presentation</dc:subject>
  <dc:creator>Next Generation Innovation L.L.C.</dc:creator>
  <cp:lastModifiedBy>Next Generation Innovation L.L.C.</cp:lastModifiedBy>
  <cp:revision>1</cp:revision>
  <dcterms:created xsi:type="dcterms:W3CDTF">2026-10-06T01:24:55Z</dcterms:created>
  <dcterms:modified xsi:type="dcterms:W3CDTF">2026-10-06T01:24:55Z</dcterms:modified>
</cp:coreProperties>
</file>