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934f5d7-4b1d-347b-751a-279cf441c74d}">
          <p14:sldIdLst>
            <p14:sldId id="256"/>
            <p14:sldId id="257"/>
          </p14:sldIdLst>
        </p14:section>
        <p14:section name="The Problem" id="{56dc6104-9182-0ec3-be62-a4229cd05cbd}">
          <p14:sldIdLst>
            <p14:sldId id="258"/>
            <p14:sldId id="259"/>
          </p14:sldIdLst>
        </p14:section>
        <p14:section name="What KMS Is" id="{27a0f237-4613-efc8-21ea-2e7b3acbb093}">
          <p14:sldIdLst>
            <p14:sldId id="260"/>
            <p14:sldId id="261"/>
            <p14:sldId id="262"/>
          </p14:sldIdLst>
        </p14:section>
        <p14:section name="Who Benefits" id="{9f2a10c3-003c-9fff-6dbc-32158350b31c}">
          <p14:sldIdLst>
            <p14:sldId id="263"/>
            <p14:sldId id="264"/>
            <p14:sldId id="265"/>
            <p14:sldId id="266"/>
            <p14:sldId id="267"/>
          </p14:sldIdLst>
        </p14:section>
        <p14:section name="Why KMS" id="{0c9cd057-f6fc-8c0b-106a-bcf558713540}">
          <p14:sldIdLst>
            <p14:sldId id="268"/>
            <p14:sldId id="269"/>
            <p14:sldId id="270"/>
            <p14:sldId id="271"/>
          </p14:sldIdLst>
        </p14:section>
        <p14:section name="What's Next" id="{c9c360ff-7b82-03a4-5ef7-276f00b18cae}">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not the product. Every organization already has the answers it needs. They're in documents, decisions, projects and people's heads. The problem is that nobody can reach them at the moment they matter. KMS is built to fix exactly that. Pause, then move to the story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everyone in the room has lived. A decision was made, maybe a vendor, a design, a policy. It made sense at the time. Then the person who made it moved on. Today someone asks why we do it this way, and nobody can answer. So the organization either repeats the debate or repeats the mistake. Hold that thought. We'll come back to this exact situation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independent industry figures, not KMS claims. McKinsey found knowledge workers spend about a fifth of their week just searching for and gathering information. Panopto and YouGov found people lose over five hours a week waiting on colleagues or recreating something that already exists, and that 42 percent of institutional knowledge lives only with the individual. That last number is the one to land: when someone leaves, a big share of what they know leaves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problem. Most organizations are good at keeping the what: the document, the report, the final policy. What they lose is the context around it: why a decision was made, who actually understands it, and what else it's connected to. Traditional search only helps with the first card. It finds files. It doesn't recover the reasoning, the people or the connections. That's the gap KMS was built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the category. KMS is not a file share and it's not a chatbot added onto a file share. Walk the staircase left to right. Document management stores files. Knowledge management organizes them. Knowledge intelligence understands and connects them. KMS goes one step further: it remembers decisions and lessons, learns how knowledge changes, and delivers the right knowledge to the right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KMS is for any organization where the work depends on what people know, not just on what's filed. That's engineering and infrastructure firms, utilities, government agencies, professional services, legal, healthcare administration and R&amp;D. The warning signs are familiar: experienced people retiring, many projects running at once, and documents spread across SharePoint and shared drives. On the right are the five people we'll follow through the next slides, each with the question they ask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platform on one slide. Content flows in from SharePoint, direct uploads, and the department and project structure. KMS then does four things. Ask: anyone can ask a question in plain language and get an answer with its sources. Understand: documents are summarized, classified and grouped into topics automatically. Connect: every document is linked to the experts, projects, related documents and decisions around it. Learn: decisions, lessons and the way topics evolve are kept as organizational memory. All sixteen capabilities we've built sit under these four verbs. Next we'll see what they mean for real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newest person in the building. Today they don't know what exists or who to ask, so they interrupt colleagues or guess. With KMS they ask questions in plain language and get answers that show exactly which documents they came from, plus a confidence score. Long documents come with a summary. And KMS recommends what to read next and shows who the experts are. The outcome: faster ramp-up, and the team keeps its focus. The illustration on the right is a simplified example of the real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leads ask one question at the start of every project: has anyone done this before? Today the answer is scattered across folders and people. Project Intelligence gives one view of everything about a project: its documents, topics, timeline, lessons and experts. KMS also surfaces related work from other projects and explains why it's related. And lessons from past projects can be searched or simply asked about in chat. The illustration on the right is a simplified example of the real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persona from our opening story. A department head needs to know why things are the way they are. KMS keeps a repository of decisions, each with its rationale, the document it came from, and whether it's still active, was reversed, or was superseded. Topic Evolution shows how important subjects are growing and changing over time. And the Knowledge Health view flags documents that contradict each other, so leaders see where knowledge is weak before it causes a problem. The illustration on the right is a simplified example of the real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Experts pay the hidden cost of poor knowledge sharing: they answer the same questions every week. With KMS, routine questions are answered by the assistant, using the experts' own documents as the source. At the same time, KMS recognizes expertise from real activity, and weights recent work more heavily, so the directory shows who knows a topic now, not who wrote about it years ago. Experts stay in control: they can confirm or correct what KMS believes they know. The illustration on the right is a simplified example of the real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people who usually inherit the cleanup. KMS syncs documents from SharePoint automatically. As each document arrives it's classified, grouped into topics, and checked for duplicates, and anything uncertain goes to a review queue instead of being guessed. The Knowledge Graph then gives a live, permission-aware map of how documents, people, projects, decisions and lessons connect. The admin's job shifts from filing to oversight. The illustration on the right is a simplified example of the real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story we opened with. Most decisions are never written down as decisions. Someone says 'okay, let's go with PostgreSQL' in a meeting note and moves on. KMS detects these implied decisions, not just the explicit ones, and shows the evidence it found and how confident it is. Nothing becomes official automatically: a department admin confirms, edits or rejects each one. Once confirmed, anyone can ask 'why did we choose PostgreSQL?' years later and get the reason with a link to the source. KMS also tracks whether the decision still holds, or was reversed or superseded.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differentiator is one most platforms can't match. Many tools can search and many can chat. Very few can organize an enterprise's knowledge by themselves. KMS discovers topics automatically and assigns each new document to the right one, using statistical similarity rather than keywords. There's no taxonomy project, no tagging and no librarian, and the structure keeps itself current as new documents arrive. Along the way, duplicates and contradictions are flagged for review. Topic names on this slide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buyers always ask whether they can trust AI. KMS is designed so they don't have to take it on faith. Every answer cites its sources and carries a confidence score. Access control follows the organization: department, project and role permissions are applied when knowledge is retrieved, so people never see what they shouldn't, even in AI answers. Important records like decisions, lessons and expertise are approved by a person first. And when documents contradict each other, KMS flags it rather than picking a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sums up the value in everyday terms. Read down the right-hand column: answers with sources instead of searching and asking around; experts you can look up; content that organizes itself; decisions kept with their reasons and outcomes; lessons that resurface when the next project starts; and projects that begin with everything related already in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we've shown so far is available today: Ask, Understand, Connect and Learn. The next stage is Act, where KMS moves from answering questions to guiding work. That includes everyday guidance such as onboarding and SOP support; governance at scale such as approvals, audit trails and retention; and autonomous intelligence that detects knowledge gaps and risks and delivers knowledge before anyone asks. Present these as direction, not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opening story. That decision from two years ago, the one nobody could explain, doesn't have to be lost. With KMS, the reason, the source document and the person who knows are all one question away. The natural next step is a pilot on the customer's own documents, so they can see their knowledge organize itself and start answering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Dark-Title-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Statemen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Content-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johurul/ngi/next-gen-innovation/public/logo-02.png">    </p:cNvPr>
          <p:cNvPicPr>
            <a:picLocks noChangeAspect="1"/>
          </p:cNvPicPr>
          <p:nvPr/>
        </p:nvPicPr>
        <p:blipFill>
          <a:blip r:embed="rId1"/>
          <a:stretch>
            <a:fillRect/>
          </a:stretch>
        </p:blipFill>
        <p:spPr>
          <a:xfrm>
            <a:off x="548640" y="502920"/>
            <a:ext cx="1371600" cy="740664"/>
          </a:xfrm>
          <a:prstGeom prst="rect">
            <a:avLst/>
          </a:prstGeom>
        </p:spPr>
      </p:pic>
      <p:sp>
        <p:nvSpPr>
          <p:cNvPr id="3" name="Text 0"/>
          <p:cNvSpPr/>
          <p:nvPr>
            <p:ph idx="101" type="body" hasCustomPrompt="1"/>
          </p:nvPr>
        </p:nvSpPr>
        <p:spPr>
          <a:xfrm>
            <a:off x="548640" y="2011680"/>
            <a:ext cx="6583680" cy="329184"/>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4" name="Text 0"/>
          <p:cNvSpPr/>
          <p:nvPr>
            <p:ph idx="102" type="title" hasCustomPrompt="1"/>
          </p:nvPr>
        </p:nvSpPr>
        <p:spPr>
          <a:xfrm>
            <a:off x="548640" y="2423160"/>
            <a:ext cx="6949440" cy="19202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5" name="Text 0"/>
          <p:cNvSpPr/>
          <p:nvPr>
            <p:ph idx="103" type="body" hasCustomPrompt="1"/>
          </p:nvPr>
        </p:nvSpPr>
        <p:spPr>
          <a:xfrm>
            <a:off x="548640" y="4434840"/>
            <a:ext cx="6035040" cy="10972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6" name="Text 0"/>
          <p:cNvSpPr/>
          <p:nvPr/>
        </p:nvSpPr>
        <p:spPr>
          <a:xfrm>
            <a:off x="548640" y="6172200"/>
            <a:ext cx="5486400" cy="320040"/>
          </a:xfrm>
          <a:prstGeom prst="rect">
            <a:avLst/>
          </a:prstGeom>
          <a:noFill/>
          <a:ln/>
        </p:spPr>
        <p:txBody>
          <a:bodyPr wrap="square" lIns="0" tIns="0" rIns="0" bIns="0" rtlCol="0" anchor="ctr"/>
          <a:lstStyle/>
          <a:p>
            <a:pPr indent="0" marL="0">
              <a:buNone/>
            </a:pPr>
            <a:r>
              <a:rPr lang="en-US" sz="1200" dirty="0">
                <a:solidFill>
                  <a:schemeClr val="accent6"/>
                </a:solidFill>
              </a:rPr>
              <a:t>A product of Next Generation Innovation L.L.C.</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1097280" y="1143000"/>
            <a:ext cx="9966960" cy="329184"/>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1097280" y="1554480"/>
            <a:ext cx="9966960" cy="21031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pic>
        <p:nvPicPr>
          <p:cNvPr id="4" name="Image 0" descr="/home/johurul/ngi/next-gen-innovation/public/logo-02.png">    </p:cNvPr>
          <p:cNvPicPr>
            <a:picLocks noChangeAspect="1"/>
          </p:cNvPicPr>
          <p:nvPr/>
        </p:nvPicPr>
        <p:blipFill>
          <a:blip r:embed="rId1"/>
          <a:stretch>
            <a:fillRect/>
          </a:stretch>
        </p:blipFill>
        <p:spPr>
          <a:xfrm>
            <a:off x="548640" y="6336792"/>
            <a:ext cx="548640" cy="296266"/>
          </a:xfrm>
          <a:prstGeom prst="rect">
            <a:avLst/>
          </a:prstGeom>
        </p:spPr>
      </p:pic>
      <p:sp>
        <p:nvSpPr>
          <p:cNvPr id="5" name="Text 0"/>
          <p:cNvSpPr/>
          <p:nvPr/>
        </p:nvSpPr>
        <p:spPr>
          <a:xfrm>
            <a:off x="1207008" y="6318504"/>
            <a:ext cx="5486400" cy="329184"/>
          </a:xfrm>
          <a:prstGeom prst="rect">
            <a:avLst/>
          </a:prstGeom>
          <a:noFill/>
          <a:ln/>
        </p:spPr>
        <p:txBody>
          <a:bodyPr wrap="square" lIns="0" tIns="0" rIns="0" bIns="0" rtlCol="0" anchor="ctr"/>
          <a:lstStyle/>
          <a:p>
            <a:pPr indent="0" marL="0">
              <a:buNone/>
            </a:pPr>
            <a:r>
              <a:rPr lang="en-US" sz="1000" dirty="0">
                <a:solidFill>
                  <a:schemeClr val="accent6"/>
                </a:solidFill>
              </a:rPr>
              <a:t>KMS  ·  Enterprise Knowledge Operating System</a:t>
            </a:r>
            <a:endParaRPr lang="en-US" sz="10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pic>
        <p:nvPicPr>
          <p:cNvPr id="4" name="Image 0" descr="/home/johurul/ngi/next-gen-innovation/public/logo-02.png">    </p:cNvPr>
          <p:cNvPicPr>
            <a:picLocks noChangeAspect="1"/>
          </p:cNvPicPr>
          <p:nvPr/>
        </p:nvPicPr>
        <p:blipFill>
          <a:blip r:embed="rId1"/>
          <a:stretch>
            <a:fillRect/>
          </a:stretch>
        </p:blipFill>
        <p:spPr>
          <a:xfrm>
            <a:off x="548640" y="6336792"/>
            <a:ext cx="548640" cy="296266"/>
          </a:xfrm>
          <a:prstGeom prst="rect">
            <a:avLst/>
          </a:prstGeom>
        </p:spPr>
      </p:pic>
      <p:sp>
        <p:nvSpPr>
          <p:cNvPr id="5" name="Text 0"/>
          <p:cNvSpPr/>
          <p:nvPr/>
        </p:nvSpPr>
        <p:spPr>
          <a:xfrm>
            <a:off x="1207008" y="6318504"/>
            <a:ext cx="5486400" cy="329184"/>
          </a:xfrm>
          <a:prstGeom prst="rect">
            <a:avLst/>
          </a:prstGeom>
          <a:noFill/>
          <a:ln/>
        </p:spPr>
        <p:txBody>
          <a:bodyPr wrap="square" lIns="0" tIns="0" rIns="0" bIns="0" rtlCol="0" anchor="ctr"/>
          <a:lstStyle/>
          <a:p>
            <a:pPr indent="0" marL="0">
              <a:buNone/>
            </a:pPr>
            <a:r>
              <a:rPr lang="en-US" sz="1000" dirty="0">
                <a:solidFill>
                  <a:schemeClr val="accent6"/>
                </a:solidFill>
              </a:rPr>
              <a:t>KMS  ·  Enterprise Knowledge Operating System</a:t>
            </a:r>
            <a:endParaRPr lang="en-US" sz="10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pic>
        <p:nvPicPr>
          <p:cNvPr id="4" name="Image 0" descr="/home/johurul/ngi/next-gen-innovation/public/logo-02.png">    </p:cNvPr>
          <p:cNvPicPr>
            <a:picLocks noChangeAspect="1"/>
          </p:cNvPicPr>
          <p:nvPr/>
        </p:nvPicPr>
        <p:blipFill>
          <a:blip r:embed="rId1"/>
          <a:stretch>
            <a:fillRect/>
          </a:stretch>
        </p:blipFill>
        <p:spPr>
          <a:xfrm>
            <a:off x="548640" y="6336792"/>
            <a:ext cx="548640" cy="296266"/>
          </a:xfrm>
          <a:prstGeom prst="rect">
            <a:avLst/>
          </a:prstGeom>
        </p:spPr>
      </p:pic>
      <p:sp>
        <p:nvSpPr>
          <p:cNvPr id="5" name="Text 0"/>
          <p:cNvSpPr/>
          <p:nvPr/>
        </p:nvSpPr>
        <p:spPr>
          <a:xfrm>
            <a:off x="1207008" y="6318504"/>
            <a:ext cx="5486400" cy="329184"/>
          </a:xfrm>
          <a:prstGeom prst="rect">
            <a:avLst/>
          </a:prstGeom>
          <a:noFill/>
          <a:ln/>
        </p:spPr>
        <p:txBody>
          <a:bodyPr wrap="square" lIns="0" tIns="0" rIns="0" bIns="0" rtlCol="0" anchor="ctr"/>
          <a:lstStyle/>
          <a:p>
            <a:pPr indent="0" marL="0">
              <a:buNone/>
            </a:pPr>
            <a:r>
              <a:rPr lang="en-US" sz="1000" dirty="0">
                <a:solidFill>
                  <a:schemeClr val="accent4"/>
                </a:solidFill>
              </a:rPr>
              <a:t>KMS  ·  Enterprise Knowledge Operating System</a:t>
            </a:r>
            <a:endParaRPr lang="en-US" sz="10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ersona">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6355080" y="0"/>
            <a:ext cx="5833872" cy="6858000"/>
          </a:xfrm>
          <a:prstGeom prst="rect">
            <a:avLst/>
          </a:prstGeom>
          <a:solidFill>
            <a:schemeClr val="bg2"/>
          </a:solidFill>
          <a:ln/>
        </p:spPr>
      </p:sp>
      <p:sp>
        <p:nvSpPr>
          <p:cNvPr id="3" name="Text 1"/>
          <p:cNvSpPr/>
          <p:nvPr>
            <p:ph idx="101" type="body" hasCustomPrompt="1"/>
          </p:nvPr>
        </p:nvSpPr>
        <p:spPr>
          <a:xfrm>
            <a:off x="6720840" y="5532120"/>
            <a:ext cx="5120640" cy="457200"/>
          </a:xfrm>
          <a:prstGeom prst="rect">
            <a:avLst/>
          </a:prstGeom>
          <a:noFill/>
          <a:ln/>
        </p:spPr>
        <p:txBody>
          <a:bodyPr wrap="square" rtlCol="0"/>
          <a:lstStyle>
            <a:lvl1pPr algn="ctr" indent="0" marL="0">
              <a:buNone/>
              <a:defRPr lang="en-US" sz="1300" i="1" dirty="0">
                <a:solidFill>
                  <a:schemeClr val="accent4"/>
                </a:solidFill>
              </a:defRPr>
            </a:lvl1pPr>
          </a:lstStyle>
          <a:p>
            <a:pPr algn="ctr" indent="0" marL="0">
              <a:buNone/>
            </a:pPr>
            <a:endParaRPr lang="en-US" sz="1300" dirty="0"/>
          </a:p>
        </p:txBody>
      </p:sp>
      <p:sp>
        <p:nvSpPr>
          <p:cNvPr id="4" name="Text 1"/>
          <p:cNvSpPr/>
          <p:nvPr>
            <p:ph idx="102" type="body" hasCustomPrompt="1"/>
          </p:nvPr>
        </p:nvSpPr>
        <p:spPr>
          <a:xfrm>
            <a:off x="1353312" y="566928"/>
            <a:ext cx="4754880" cy="329184"/>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5" name="Text 1"/>
          <p:cNvSpPr/>
          <p:nvPr>
            <p:ph idx="103" type="title" hasCustomPrompt="1"/>
          </p:nvPr>
        </p:nvSpPr>
        <p:spPr>
          <a:xfrm>
            <a:off x="548640" y="1207008"/>
            <a:ext cx="5486400" cy="9601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pic>
        <p:nvPicPr>
          <p:cNvPr id="6" name="Image 0" descr="/home/johurul/ngi/next-gen-innovation/public/logo-02.png">    </p:cNvPr>
          <p:cNvPicPr>
            <a:picLocks noChangeAspect="1"/>
          </p:cNvPicPr>
          <p:nvPr/>
        </p:nvPicPr>
        <p:blipFill>
          <a:blip r:embed="rId1"/>
          <a:stretch>
            <a:fillRect/>
          </a:stretch>
        </p:blipFill>
        <p:spPr>
          <a:xfrm>
            <a:off x="548640" y="6336792"/>
            <a:ext cx="548640" cy="296266"/>
          </a:xfrm>
          <a:prstGeom prst="rect">
            <a:avLst/>
          </a:prstGeom>
        </p:spPr>
      </p:pic>
      <p:sp>
        <p:nvSpPr>
          <p:cNvPr id="7" name="Text 1"/>
          <p:cNvSpPr/>
          <p:nvPr/>
        </p:nvSpPr>
        <p:spPr>
          <a:xfrm>
            <a:off x="1207008" y="6318504"/>
            <a:ext cx="5486400" cy="329184"/>
          </a:xfrm>
          <a:prstGeom prst="rect">
            <a:avLst/>
          </a:prstGeom>
          <a:noFill/>
          <a:ln/>
        </p:spPr>
        <p:txBody>
          <a:bodyPr wrap="square" lIns="0" tIns="0" rIns="0" bIns="0" rtlCol="0" anchor="ctr"/>
          <a:lstStyle/>
          <a:p>
            <a:pPr indent="0" marL="0">
              <a:buNone/>
            </a:pPr>
            <a:r>
              <a:rPr lang="en-US" sz="1000" dirty="0">
                <a:solidFill>
                  <a:schemeClr val="accent4"/>
                </a:solidFill>
              </a:rPr>
              <a:t>KMS  ·  Enterprise Knowledge Operating System</a:t>
            </a:r>
            <a:endParaRPr lang="en-US" sz="10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5.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5.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5.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6.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6.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6.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6.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6.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slideLayout" Target="../slideLayouts/slideLayout4.xml"/><Relationship Id="rId3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slideLayout" Target="../slideLayouts/slideLayout5.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5.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548640" y="2011680"/>
            <a:ext cx="6583680" cy="329184"/>
          </a:xfrm>
          <a:prstGeom prst="rect">
            <a:avLst/>
          </a:prstGeom>
          <a:noFill/>
          <a:ln/>
        </p:spPr>
        <p:txBody>
          <a:bodyPr wrap="square" lIns="0" tIns="0" rIns="0" bIns="0" rtlCol="0" anchor="ctr"/>
          <a:lstStyle/>
          <a:p>
            <a:pPr indent="0" marL="0">
              <a:buNone/>
            </a:pPr>
            <a:r>
              <a:rPr lang="en-US" sz="1300" b="1" spc="200" kern="0" dirty="0">
                <a:solidFill>
                  <a:schemeClr val="accent2"/>
                </a:solidFill>
              </a:rPr>
              <a:t>KMS  ·  ENTERPRISE KNOWLEDGE OPERATING SYSTEM</a:t>
            </a:r>
            <a:endParaRPr lang="en-US" sz="1300" dirty="0"/>
          </a:p>
        </p:txBody>
      </p:sp>
      <p:sp>
        <p:nvSpPr>
          <p:cNvPr id="3" name="Text 0"/>
          <p:cNvSpPr/>
          <p:nvPr>
            <p:ph idx="102" type="title" hasCustomPrompt="1"/>
          </p:nvPr>
        </p:nvSpPr>
        <p:spPr>
          <a:xfrm>
            <a:off x="548640" y="2423160"/>
            <a:ext cx="6949440" cy="1920240"/>
          </a:xfrm>
          <a:prstGeom prst="rect">
            <a:avLst/>
          </a:prstGeom>
          <a:noFill/>
          <a:ln/>
        </p:spPr>
        <p:txBody>
          <a:bodyPr wrap="square" lIns="0" tIns="0" rIns="0" bIns="0" rtlCol="0" anchor="t"/>
          <a:lstStyle/>
          <a:p>
            <a:pPr algn="l" indent="0" marL="0">
              <a:buNone/>
            </a:pPr>
            <a:r>
              <a:rPr lang="en-US" sz="4800" b="1" dirty="0">
                <a:solidFill>
                  <a:schemeClr val="bg1"/>
                </a:solidFill>
              </a:rPr>
              <a:t>Your organization already </a:t>
            </a:r>
            <a:pPr algn="l" indent="0" marL="0">
              <a:buNone/>
            </a:pPr>
            <a:r>
              <a:rPr lang="en-US" sz="4800" b="1" dirty="0">
                <a:solidFill>
                  <a:schemeClr val="accent2"/>
                </a:solidFill>
              </a:rPr>
              <a:t>knows the answer.</a:t>
            </a:r>
            <a:endParaRPr lang="en-US" sz="4800" dirty="0"/>
          </a:p>
        </p:txBody>
      </p:sp>
      <p:sp>
        <p:nvSpPr>
          <p:cNvPr id="4" name="Text 0"/>
          <p:cNvSpPr/>
          <p:nvPr>
            <p:ph idx="103" type="body" hasCustomPrompt="1"/>
          </p:nvPr>
        </p:nvSpPr>
        <p:spPr>
          <a:xfrm>
            <a:off x="548640" y="4434840"/>
            <a:ext cx="6035040" cy="1097280"/>
          </a:xfrm>
          <a:prstGeom prst="rect">
            <a:avLst/>
          </a:prstGeom>
          <a:noFill/>
          <a:ln/>
        </p:spPr>
        <p:txBody>
          <a:bodyPr wrap="square" lIns="0" tIns="0" rIns="0" bIns="0" rtlCol="0" anchor="t"/>
          <a:lstStyle/>
          <a:p>
            <a:pPr indent="0" marL="0">
              <a:buNone/>
            </a:pPr>
            <a:r>
              <a:rPr lang="en-US" sz="1800" dirty="0">
                <a:solidFill>
                  <a:schemeClr val="accent6"/>
                </a:solidFill>
              </a:rPr>
              <a:t>KMS captures, connects and delivers what your organization knows, so the right answer reaches the right person with its context intact.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1097280" y="1143000"/>
            <a:ext cx="9966960" cy="329184"/>
          </a:xfrm>
          <a:prstGeom prst="rect">
            <a:avLst/>
          </a:prstGeom>
          <a:noFill/>
          <a:ln/>
        </p:spPr>
        <p:txBody>
          <a:bodyPr wrap="square" lIns="0" tIns="0" rIns="0" bIns="0" rtlCol="0" anchor="ctr"/>
          <a:lstStyle/>
          <a:p>
            <a:pPr indent="0" marL="0">
              <a:buNone/>
            </a:pPr>
            <a:r>
              <a:rPr lang="en-US" sz="1300" b="1" spc="200" kern="0" dirty="0">
                <a:solidFill>
                  <a:schemeClr val="accent2"/>
                </a:solidFill>
              </a:rPr>
              <a:t>A FAMILIAR STORY</a:t>
            </a:r>
            <a:endParaRPr lang="en-US" sz="1300" dirty="0"/>
          </a:p>
        </p:txBody>
      </p:sp>
      <p:sp>
        <p:nvSpPr>
          <p:cNvPr id="3" name="Text 0"/>
          <p:cNvSpPr/>
          <p:nvPr>
            <p:ph idx="101" type="title" hasCustomPrompt="1"/>
          </p:nvPr>
        </p:nvSpPr>
        <p:spPr>
          <a:xfrm>
            <a:off x="1097280" y="1554480"/>
            <a:ext cx="9966960" cy="2103120"/>
          </a:xfrm>
          <a:prstGeom prst="rect">
            <a:avLst/>
          </a:prstGeom>
          <a:noFill/>
          <a:ln/>
        </p:spPr>
        <p:txBody>
          <a:bodyPr wrap="square" lIns="0" tIns="0" rIns="0" bIns="0" rtlCol="0" anchor="t"/>
          <a:lstStyle/>
          <a:p>
            <a:pPr algn="l" indent="0" marL="0">
              <a:buNone/>
            </a:pPr>
            <a:r>
              <a:rPr lang="en-US" sz="3800" b="1" dirty="0">
                <a:solidFill>
                  <a:schemeClr val="bg1"/>
                </a:solidFill>
              </a:rPr>
              <a:t>“We made this decision two years ago. The person who made it has left. Nobody knows why.”</a:t>
            </a:r>
            <a:endParaRPr lang="en-US" sz="3800" dirty="0"/>
          </a:p>
        </p:txBody>
      </p:sp>
      <p:sp>
        <p:nvSpPr>
          <p:cNvPr id="4" name="Timeline line"/>
          <p:cNvSpPr/>
          <p:nvPr/>
        </p:nvSpPr>
        <p:spPr>
          <a:xfrm>
            <a:off x="1737360" y="4526280"/>
            <a:ext cx="8686800" cy="0"/>
          </a:xfrm>
          <a:prstGeom prst="line">
            <a:avLst/>
          </a:prstGeom>
          <a:noFill/>
          <a:ln w="19050">
            <a:solidFill>
              <a:schemeClr val="accent6"/>
            </a:solidFill>
            <a:prstDash val="dash"/>
          </a:ln>
        </p:spPr>
      </p:sp>
      <p:sp>
        <p:nvSpPr>
          <p:cNvPr id="5" name="Timeline node 1"/>
          <p:cNvSpPr/>
          <p:nvPr/>
        </p:nvSpPr>
        <p:spPr>
          <a:xfrm>
            <a:off x="1554480" y="4343400"/>
            <a:ext cx="365760" cy="365760"/>
          </a:xfrm>
          <a:prstGeom prst="ellipse">
            <a:avLst/>
          </a:prstGeom>
          <a:solidFill>
            <a:schemeClr val="accent2"/>
          </a:solidFill>
          <a:ln w="25400">
            <a:solidFill>
              <a:schemeClr val="bg1"/>
            </a:solidFill>
            <a:prstDash val="solid"/>
          </a:ln>
        </p:spPr>
      </p:sp>
      <p:sp>
        <p:nvSpPr>
          <p:cNvPr id="6" name="Text 4"/>
          <p:cNvSpPr txBox="1"/>
          <p:nvPr/>
        </p:nvSpPr>
        <p:spPr>
          <a:xfrm>
            <a:off x="274320" y="3840480"/>
            <a:ext cx="2926080" cy="320040"/>
          </a:xfrm>
          <a:prstGeom prst="rect">
            <a:avLst/>
          </a:prstGeom>
          <a:noFill/>
          <a:ln/>
        </p:spPr>
        <p:txBody>
          <a:bodyPr wrap="square" lIns="0" tIns="0" rIns="0" bIns="0" rtlCol="0" anchor="t"/>
          <a:lstStyle/>
          <a:p>
            <a:pPr algn="ctr" indent="0" marL="0">
              <a:buNone/>
            </a:pPr>
            <a:r>
              <a:rPr lang="en-US" sz="1300" b="1" spc="200" kern="0" dirty="0">
                <a:solidFill>
                  <a:schemeClr val="accent2"/>
                </a:solidFill>
              </a:rPr>
              <a:t>TWO YEARS AGO</a:t>
            </a:r>
            <a:endParaRPr lang="en-US" sz="1300" dirty="0"/>
          </a:p>
        </p:txBody>
      </p:sp>
      <p:sp>
        <p:nvSpPr>
          <p:cNvPr id="7" name="Text 5"/>
          <p:cNvSpPr txBox="1"/>
          <p:nvPr/>
        </p:nvSpPr>
        <p:spPr>
          <a:xfrm>
            <a:off x="274320" y="4873752"/>
            <a:ext cx="2926080" cy="685800"/>
          </a:xfrm>
          <a:prstGeom prst="rect">
            <a:avLst/>
          </a:prstGeom>
          <a:noFill/>
          <a:ln/>
        </p:spPr>
        <p:txBody>
          <a:bodyPr wrap="square" lIns="0" tIns="0" rIns="0" bIns="0" rtlCol="0" anchor="t"/>
          <a:lstStyle/>
          <a:p>
            <a:pPr algn="ctr" indent="0" marL="0">
              <a:buNone/>
            </a:pPr>
            <a:r>
              <a:rPr lang="en-US" sz="1600" dirty="0">
                <a:solidFill>
                  <a:schemeClr val="bg1"/>
                </a:solidFill>
              </a:rPr>
              <a:t>A key decision is made in a meeting.</a:t>
            </a:r>
            <a:endParaRPr lang="en-US" sz="1600" dirty="0"/>
          </a:p>
        </p:txBody>
      </p:sp>
      <p:sp>
        <p:nvSpPr>
          <p:cNvPr id="8" name="Timeline node 2"/>
          <p:cNvSpPr/>
          <p:nvPr/>
        </p:nvSpPr>
        <p:spPr>
          <a:xfrm>
            <a:off x="5897880" y="4343400"/>
            <a:ext cx="365760" cy="365760"/>
          </a:xfrm>
          <a:prstGeom prst="ellipse">
            <a:avLst/>
          </a:prstGeom>
          <a:solidFill>
            <a:schemeClr val="accent3"/>
          </a:solidFill>
          <a:ln w="25400">
            <a:solidFill>
              <a:schemeClr val="bg1"/>
            </a:solidFill>
            <a:prstDash val="solid"/>
          </a:ln>
        </p:spPr>
      </p:sp>
      <p:sp>
        <p:nvSpPr>
          <p:cNvPr id="9" name="Text 7"/>
          <p:cNvSpPr txBox="1"/>
          <p:nvPr/>
        </p:nvSpPr>
        <p:spPr>
          <a:xfrm>
            <a:off x="4617720" y="3840480"/>
            <a:ext cx="2926080" cy="320040"/>
          </a:xfrm>
          <a:prstGeom prst="rect">
            <a:avLst/>
          </a:prstGeom>
          <a:noFill/>
          <a:ln/>
        </p:spPr>
        <p:txBody>
          <a:bodyPr wrap="square" lIns="0" tIns="0" rIns="0" bIns="0" rtlCol="0" anchor="t"/>
          <a:lstStyle/>
          <a:p>
            <a:pPr algn="ctr" indent="0" marL="0">
              <a:buNone/>
            </a:pPr>
            <a:r>
              <a:rPr lang="en-US" sz="1300" b="1" spc="200" kern="0" dirty="0">
                <a:solidFill>
                  <a:schemeClr val="accent3"/>
                </a:solidFill>
              </a:rPr>
              <a:t>LAST SPRING</a:t>
            </a:r>
            <a:endParaRPr lang="en-US" sz="1300" dirty="0"/>
          </a:p>
        </p:txBody>
      </p:sp>
      <p:sp>
        <p:nvSpPr>
          <p:cNvPr id="10" name="Text 8"/>
          <p:cNvSpPr txBox="1"/>
          <p:nvPr/>
        </p:nvSpPr>
        <p:spPr>
          <a:xfrm>
            <a:off x="4617720" y="4873752"/>
            <a:ext cx="2926080" cy="685800"/>
          </a:xfrm>
          <a:prstGeom prst="rect">
            <a:avLst/>
          </a:prstGeom>
          <a:noFill/>
          <a:ln/>
        </p:spPr>
        <p:txBody>
          <a:bodyPr wrap="square" lIns="0" tIns="0" rIns="0" bIns="0" rtlCol="0" anchor="t"/>
          <a:lstStyle/>
          <a:p>
            <a:pPr algn="ctr" indent="0" marL="0">
              <a:buNone/>
            </a:pPr>
            <a:r>
              <a:rPr lang="en-US" sz="1600" dirty="0">
                <a:solidFill>
                  <a:schemeClr val="bg1"/>
                </a:solidFill>
              </a:rPr>
              <a:t>The person who made it moves on.</a:t>
            </a:r>
            <a:endParaRPr lang="en-US" sz="1600" dirty="0"/>
          </a:p>
        </p:txBody>
      </p:sp>
      <p:sp>
        <p:nvSpPr>
          <p:cNvPr id="11" name="Timeline node 3"/>
          <p:cNvSpPr/>
          <p:nvPr/>
        </p:nvSpPr>
        <p:spPr>
          <a:xfrm>
            <a:off x="10241280" y="4343400"/>
            <a:ext cx="365760" cy="365760"/>
          </a:xfrm>
          <a:prstGeom prst="ellipse">
            <a:avLst/>
          </a:prstGeom>
          <a:solidFill>
            <a:schemeClr val="accent5"/>
          </a:solidFill>
          <a:ln w="25400">
            <a:solidFill>
              <a:schemeClr val="bg1"/>
            </a:solidFill>
            <a:prstDash val="solid"/>
          </a:ln>
        </p:spPr>
      </p:sp>
      <p:sp>
        <p:nvSpPr>
          <p:cNvPr id="12" name="Text 10"/>
          <p:cNvSpPr txBox="1"/>
          <p:nvPr/>
        </p:nvSpPr>
        <p:spPr>
          <a:xfrm>
            <a:off x="8961120" y="3840480"/>
            <a:ext cx="2926080" cy="320040"/>
          </a:xfrm>
          <a:prstGeom prst="rect">
            <a:avLst/>
          </a:prstGeom>
          <a:noFill/>
          <a:ln/>
        </p:spPr>
        <p:txBody>
          <a:bodyPr wrap="square" lIns="0" tIns="0" rIns="0" bIns="0" rtlCol="0" anchor="t"/>
          <a:lstStyle/>
          <a:p>
            <a:pPr algn="ctr" indent="0" marL="0">
              <a:buNone/>
            </a:pPr>
            <a:r>
              <a:rPr lang="en-US" sz="1300" b="1" spc="200" kern="0" dirty="0">
                <a:solidFill>
                  <a:schemeClr val="accent5"/>
                </a:solidFill>
              </a:rPr>
              <a:t>TODAY</a:t>
            </a:r>
            <a:endParaRPr lang="en-US" sz="1300" dirty="0"/>
          </a:p>
        </p:txBody>
      </p:sp>
      <p:sp>
        <p:nvSpPr>
          <p:cNvPr id="13" name="Text 11"/>
          <p:cNvSpPr txBox="1"/>
          <p:nvPr/>
        </p:nvSpPr>
        <p:spPr>
          <a:xfrm>
            <a:off x="8961120" y="4873752"/>
            <a:ext cx="2926080" cy="685800"/>
          </a:xfrm>
          <a:prstGeom prst="rect">
            <a:avLst/>
          </a:prstGeom>
          <a:noFill/>
          <a:ln/>
        </p:spPr>
        <p:txBody>
          <a:bodyPr wrap="square" lIns="0" tIns="0" rIns="0" bIns="0" rtlCol="0" anchor="t"/>
          <a:lstStyle/>
          <a:p>
            <a:pPr algn="ctr" indent="0" marL="0">
              <a:buNone/>
            </a:pPr>
            <a:r>
              <a:rPr lang="en-US" sz="1600" dirty="0">
                <a:solidFill>
                  <a:schemeClr val="bg1"/>
                </a:solidFill>
              </a:rPr>
              <a:t>“Why do we do it this way?” Nobody knows.</a:t>
            </a:r>
            <a:endParaRPr lang="en-US" sz="16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THE COST OF LOST KNOWLEDGE</a:t>
            </a: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lIns="0" tIns="0" rIns="0" bIns="0" rtlCol="0" anchor="t"/>
          <a:lstStyle/>
          <a:p>
            <a:pPr algn="l" indent="0" marL="0">
              <a:buNone/>
            </a:pPr>
            <a:r>
              <a:rPr lang="en-US" sz="3400" b="1" dirty="0">
                <a:solidFill>
                  <a:schemeClr val="tx2"/>
                </a:solidFill>
              </a:rPr>
              <a:t>Knowledge that can't be found gets paid for twice</a:t>
            </a:r>
            <a:endParaRPr lang="en-US" sz="3400" dirty="0"/>
          </a:p>
        </p:txBody>
      </p:sp>
      <p:sp>
        <p:nvSpPr>
          <p:cNvPr id="4" name="Stat card 1"/>
          <p:cNvSpPr/>
          <p:nvPr/>
        </p:nvSpPr>
        <p:spPr>
          <a:xfrm>
            <a:off x="548640" y="1783080"/>
            <a:ext cx="3429000" cy="3429000"/>
          </a:xfrm>
          <a:prstGeom prst="roundRect">
            <a:avLst>
              <a:gd name="adj" fmla="val 3200"/>
            </a:avLst>
          </a:prstGeom>
          <a:solidFill>
            <a:schemeClr val="bg2"/>
          </a:solidFill>
          <a:ln/>
        </p:spPr>
      </p:sp>
      <p:sp>
        <p:nvSpPr>
          <p:cNvPr id="5" name="Stat icon 1"/>
          <p:cNvSpPr/>
          <p:nvPr/>
        </p:nvSpPr>
        <p:spPr>
          <a:xfrm>
            <a:off x="914400" y="2148840"/>
            <a:ext cx="640080" cy="640080"/>
          </a:xfrm>
          <a:prstGeom prst="ellipse">
            <a:avLst/>
          </a:prstGeom>
          <a:solidFill>
            <a:schemeClr val="accent1"/>
          </a:solidFill>
          <a:ln/>
        </p:spPr>
      </p:sp>
      <p:pic>
        <p:nvPicPr>
          <p:cNvPr id="6" name="Stat icon 1 icon" descr="preencoded.png">    </p:cNvPr>
          <p:cNvPicPr>
            <a:picLocks noChangeAspect="1"/>
          </p:cNvPicPr>
          <p:nvPr/>
        </p:nvPicPr>
        <p:blipFill>
          <a:blip r:embed="rId1"/>
          <a:stretch>
            <a:fillRect/>
          </a:stretch>
        </p:blipFill>
        <p:spPr>
          <a:xfrm>
            <a:off x="1068019" y="2302459"/>
            <a:ext cx="332842" cy="332842"/>
          </a:xfrm>
          <a:prstGeom prst="rect">
            <a:avLst/>
          </a:prstGeom>
        </p:spPr>
      </p:pic>
      <p:sp>
        <p:nvSpPr>
          <p:cNvPr id="7" name="Text 4"/>
          <p:cNvSpPr txBox="1"/>
          <p:nvPr/>
        </p:nvSpPr>
        <p:spPr>
          <a:xfrm>
            <a:off x="914400" y="2880360"/>
            <a:ext cx="2834640" cy="914400"/>
          </a:xfrm>
          <a:prstGeom prst="rect">
            <a:avLst/>
          </a:prstGeom>
          <a:noFill/>
          <a:ln/>
        </p:spPr>
        <p:txBody>
          <a:bodyPr wrap="square" lIns="0" tIns="0" rIns="0" bIns="0" rtlCol="0" anchor="b"/>
          <a:lstStyle/>
          <a:p>
            <a:pPr indent="0" marL="0">
              <a:buNone/>
            </a:pPr>
            <a:r>
              <a:rPr lang="en-US" sz="6000" b="1" dirty="0">
                <a:solidFill>
                  <a:schemeClr val="accent1"/>
                </a:solidFill>
              </a:rPr>
              <a:t>19%</a:t>
            </a:r>
            <a:endParaRPr lang="en-US" sz="6000" dirty="0"/>
          </a:p>
        </p:txBody>
      </p:sp>
      <p:sp>
        <p:nvSpPr>
          <p:cNvPr id="8" name="Text 5"/>
          <p:cNvSpPr txBox="1"/>
          <p:nvPr/>
        </p:nvSpPr>
        <p:spPr>
          <a:xfrm>
            <a:off x="914400" y="3886200"/>
            <a:ext cx="2697480" cy="868680"/>
          </a:xfrm>
          <a:prstGeom prst="rect">
            <a:avLst/>
          </a:prstGeom>
          <a:noFill/>
          <a:ln/>
        </p:spPr>
        <p:txBody>
          <a:bodyPr wrap="square" lIns="0" tIns="0" rIns="0" bIns="0" rtlCol="0" anchor="t"/>
          <a:lstStyle/>
          <a:p>
            <a:pPr indent="0" marL="0">
              <a:buNone/>
            </a:pPr>
            <a:r>
              <a:rPr lang="en-US" sz="1500" dirty="0">
                <a:solidFill>
                  <a:schemeClr val="tx1"/>
                </a:solidFill>
              </a:rPr>
              <a:t>of the work week is spent searching for and gathering information</a:t>
            </a:r>
            <a:endParaRPr lang="en-US" sz="1500" dirty="0"/>
          </a:p>
        </p:txBody>
      </p:sp>
      <p:sp>
        <p:nvSpPr>
          <p:cNvPr id="9" name="Text 6"/>
          <p:cNvSpPr txBox="1"/>
          <p:nvPr/>
        </p:nvSpPr>
        <p:spPr>
          <a:xfrm>
            <a:off x="914400" y="4782312"/>
            <a:ext cx="2697480" cy="274320"/>
          </a:xfrm>
          <a:prstGeom prst="rect">
            <a:avLst/>
          </a:prstGeom>
          <a:noFill/>
          <a:ln/>
        </p:spPr>
        <p:txBody>
          <a:bodyPr wrap="square" lIns="0" tIns="0" rIns="0" bIns="0" rtlCol="0" anchor="t"/>
          <a:lstStyle/>
          <a:p>
            <a:pPr indent="0" marL="0">
              <a:buNone/>
            </a:pPr>
            <a:r>
              <a:rPr lang="en-US" sz="1000" i="1" dirty="0">
                <a:solidFill>
                  <a:schemeClr val="accent4"/>
                </a:solidFill>
              </a:rPr>
              <a:t>McKinsey Global Institute, 2012</a:t>
            </a:r>
            <a:endParaRPr lang="en-US" sz="1000" dirty="0"/>
          </a:p>
        </p:txBody>
      </p:sp>
      <p:sp>
        <p:nvSpPr>
          <p:cNvPr id="10" name="Stat card 2"/>
          <p:cNvSpPr/>
          <p:nvPr/>
        </p:nvSpPr>
        <p:spPr>
          <a:xfrm>
            <a:off x="4361688" y="1783080"/>
            <a:ext cx="3429000" cy="3429000"/>
          </a:xfrm>
          <a:prstGeom prst="roundRect">
            <a:avLst>
              <a:gd name="adj" fmla="val 3200"/>
            </a:avLst>
          </a:prstGeom>
          <a:solidFill>
            <a:schemeClr val="bg2"/>
          </a:solidFill>
          <a:ln/>
        </p:spPr>
      </p:sp>
      <p:sp>
        <p:nvSpPr>
          <p:cNvPr id="11" name="Stat icon 2"/>
          <p:cNvSpPr/>
          <p:nvPr/>
        </p:nvSpPr>
        <p:spPr>
          <a:xfrm>
            <a:off x="4727448" y="2148840"/>
            <a:ext cx="640080" cy="640080"/>
          </a:xfrm>
          <a:prstGeom prst="ellipse">
            <a:avLst/>
          </a:prstGeom>
          <a:solidFill>
            <a:schemeClr val="accent1"/>
          </a:solidFill>
          <a:ln/>
        </p:spPr>
      </p:sp>
      <p:pic>
        <p:nvPicPr>
          <p:cNvPr id="12" name="Stat icon 2 icon" descr="preencoded.png">    </p:cNvPr>
          <p:cNvPicPr>
            <a:picLocks noChangeAspect="1"/>
          </p:cNvPicPr>
          <p:nvPr/>
        </p:nvPicPr>
        <p:blipFill>
          <a:blip r:embed="rId2"/>
          <a:stretch>
            <a:fillRect/>
          </a:stretch>
        </p:blipFill>
        <p:spPr>
          <a:xfrm>
            <a:off x="4881067" y="2302459"/>
            <a:ext cx="332842" cy="332842"/>
          </a:xfrm>
          <a:prstGeom prst="rect">
            <a:avLst/>
          </a:prstGeom>
        </p:spPr>
      </p:pic>
      <p:sp>
        <p:nvSpPr>
          <p:cNvPr id="13" name="Text 9"/>
          <p:cNvSpPr txBox="1"/>
          <p:nvPr/>
        </p:nvSpPr>
        <p:spPr>
          <a:xfrm>
            <a:off x="4727448" y="2880360"/>
            <a:ext cx="2834640" cy="914400"/>
          </a:xfrm>
          <a:prstGeom prst="rect">
            <a:avLst/>
          </a:prstGeom>
          <a:noFill/>
          <a:ln/>
        </p:spPr>
        <p:txBody>
          <a:bodyPr wrap="square" lIns="0" tIns="0" rIns="0" bIns="0" rtlCol="0" anchor="b"/>
          <a:lstStyle/>
          <a:p>
            <a:pPr indent="0" marL="0">
              <a:buNone/>
            </a:pPr>
            <a:r>
              <a:rPr lang="en-US" sz="6000" b="1" dirty="0">
                <a:solidFill>
                  <a:schemeClr val="accent1"/>
                </a:solidFill>
              </a:rPr>
              <a:t>5.3</a:t>
            </a:r>
            <a:pPr indent="0" marL="0">
              <a:buNone/>
            </a:pPr>
            <a:r>
              <a:rPr lang="en-US" sz="2400" b="1" dirty="0">
                <a:solidFill>
                  <a:schemeClr val="accent1"/>
                </a:solidFill>
              </a:rPr>
              <a:t> hrs/week</a:t>
            </a:r>
            <a:endParaRPr lang="en-US" sz="6000" dirty="0"/>
          </a:p>
        </p:txBody>
      </p:sp>
      <p:sp>
        <p:nvSpPr>
          <p:cNvPr id="14" name="Text 10"/>
          <p:cNvSpPr txBox="1"/>
          <p:nvPr/>
        </p:nvSpPr>
        <p:spPr>
          <a:xfrm>
            <a:off x="4727448" y="3886200"/>
            <a:ext cx="2697480" cy="868680"/>
          </a:xfrm>
          <a:prstGeom prst="rect">
            <a:avLst/>
          </a:prstGeom>
          <a:noFill/>
          <a:ln/>
        </p:spPr>
        <p:txBody>
          <a:bodyPr wrap="square" lIns="0" tIns="0" rIns="0" bIns="0" rtlCol="0" anchor="t"/>
          <a:lstStyle/>
          <a:p>
            <a:pPr indent="0" marL="0">
              <a:buNone/>
            </a:pPr>
            <a:r>
              <a:rPr lang="en-US" sz="1500" dirty="0">
                <a:solidFill>
                  <a:schemeClr val="tx1"/>
                </a:solidFill>
              </a:rPr>
              <a:t>lost waiting on colleagues or recreating knowledge that already exists</a:t>
            </a:r>
            <a:endParaRPr lang="en-US" sz="1500" dirty="0"/>
          </a:p>
        </p:txBody>
      </p:sp>
      <p:sp>
        <p:nvSpPr>
          <p:cNvPr id="15" name="Text 11"/>
          <p:cNvSpPr txBox="1"/>
          <p:nvPr/>
        </p:nvSpPr>
        <p:spPr>
          <a:xfrm>
            <a:off x="4727448" y="4782312"/>
            <a:ext cx="2697480" cy="274320"/>
          </a:xfrm>
          <a:prstGeom prst="rect">
            <a:avLst/>
          </a:prstGeom>
          <a:noFill/>
          <a:ln/>
        </p:spPr>
        <p:txBody>
          <a:bodyPr wrap="square" lIns="0" tIns="0" rIns="0" bIns="0" rtlCol="0" anchor="t"/>
          <a:lstStyle/>
          <a:p>
            <a:pPr indent="0" marL="0">
              <a:buNone/>
            </a:pPr>
            <a:r>
              <a:rPr lang="en-US" sz="1000" i="1" dirty="0">
                <a:solidFill>
                  <a:schemeClr val="accent4"/>
                </a:solidFill>
              </a:rPr>
              <a:t>Panopto &amp; YouGov, 2018</a:t>
            </a:r>
            <a:endParaRPr lang="en-US" sz="1000" dirty="0"/>
          </a:p>
        </p:txBody>
      </p:sp>
      <p:sp>
        <p:nvSpPr>
          <p:cNvPr id="16" name="Stat card 3"/>
          <p:cNvSpPr/>
          <p:nvPr/>
        </p:nvSpPr>
        <p:spPr>
          <a:xfrm>
            <a:off x="8174736" y="1783080"/>
            <a:ext cx="3429000" cy="3429000"/>
          </a:xfrm>
          <a:prstGeom prst="roundRect">
            <a:avLst>
              <a:gd name="adj" fmla="val 3200"/>
            </a:avLst>
          </a:prstGeom>
          <a:solidFill>
            <a:schemeClr val="bg2"/>
          </a:solidFill>
          <a:ln/>
        </p:spPr>
      </p:sp>
      <p:sp>
        <p:nvSpPr>
          <p:cNvPr id="17" name="Stat icon 3"/>
          <p:cNvSpPr/>
          <p:nvPr/>
        </p:nvSpPr>
        <p:spPr>
          <a:xfrm>
            <a:off x="8540496" y="2148840"/>
            <a:ext cx="640080" cy="640080"/>
          </a:xfrm>
          <a:prstGeom prst="ellipse">
            <a:avLst/>
          </a:prstGeom>
          <a:solidFill>
            <a:schemeClr val="accent1"/>
          </a:solidFill>
          <a:ln/>
        </p:spPr>
      </p:sp>
      <p:pic>
        <p:nvPicPr>
          <p:cNvPr id="18" name="Stat icon 3 icon" descr="preencoded.png">    </p:cNvPr>
          <p:cNvPicPr>
            <a:picLocks noChangeAspect="1"/>
          </p:cNvPicPr>
          <p:nvPr/>
        </p:nvPicPr>
        <p:blipFill>
          <a:blip r:embed="rId3"/>
          <a:stretch>
            <a:fillRect/>
          </a:stretch>
        </p:blipFill>
        <p:spPr>
          <a:xfrm>
            <a:off x="8694115" y="2302459"/>
            <a:ext cx="332842" cy="332842"/>
          </a:xfrm>
          <a:prstGeom prst="rect">
            <a:avLst/>
          </a:prstGeom>
        </p:spPr>
      </p:pic>
      <p:sp>
        <p:nvSpPr>
          <p:cNvPr id="19" name="Text 14"/>
          <p:cNvSpPr txBox="1"/>
          <p:nvPr/>
        </p:nvSpPr>
        <p:spPr>
          <a:xfrm>
            <a:off x="8540496" y="2880360"/>
            <a:ext cx="2834640" cy="914400"/>
          </a:xfrm>
          <a:prstGeom prst="rect">
            <a:avLst/>
          </a:prstGeom>
          <a:noFill/>
          <a:ln/>
        </p:spPr>
        <p:txBody>
          <a:bodyPr wrap="square" lIns="0" tIns="0" rIns="0" bIns="0" rtlCol="0" anchor="b"/>
          <a:lstStyle/>
          <a:p>
            <a:pPr indent="0" marL="0">
              <a:buNone/>
            </a:pPr>
            <a:r>
              <a:rPr lang="en-US" sz="6000" b="1" dirty="0">
                <a:solidFill>
                  <a:schemeClr val="accent1"/>
                </a:solidFill>
              </a:rPr>
              <a:t>42%</a:t>
            </a:r>
            <a:endParaRPr lang="en-US" sz="6000" dirty="0"/>
          </a:p>
        </p:txBody>
      </p:sp>
      <p:sp>
        <p:nvSpPr>
          <p:cNvPr id="20" name="Text 15"/>
          <p:cNvSpPr txBox="1"/>
          <p:nvPr/>
        </p:nvSpPr>
        <p:spPr>
          <a:xfrm>
            <a:off x="8540496" y="3886200"/>
            <a:ext cx="2697480" cy="868680"/>
          </a:xfrm>
          <a:prstGeom prst="rect">
            <a:avLst/>
          </a:prstGeom>
          <a:noFill/>
          <a:ln/>
        </p:spPr>
        <p:txBody>
          <a:bodyPr wrap="square" lIns="0" tIns="0" rIns="0" bIns="0" rtlCol="0" anchor="t"/>
          <a:lstStyle/>
          <a:p>
            <a:pPr indent="0" marL="0">
              <a:buNone/>
            </a:pPr>
            <a:r>
              <a:rPr lang="en-US" sz="1500" dirty="0">
                <a:solidFill>
                  <a:schemeClr val="tx1"/>
                </a:solidFill>
              </a:rPr>
              <a:t>of institutional knowledge is unique to the individual employee</a:t>
            </a:r>
            <a:endParaRPr lang="en-US" sz="1500" dirty="0"/>
          </a:p>
        </p:txBody>
      </p:sp>
      <p:sp>
        <p:nvSpPr>
          <p:cNvPr id="21" name="Text 16"/>
          <p:cNvSpPr txBox="1"/>
          <p:nvPr/>
        </p:nvSpPr>
        <p:spPr>
          <a:xfrm>
            <a:off x="8540496" y="4782312"/>
            <a:ext cx="2697480" cy="274320"/>
          </a:xfrm>
          <a:prstGeom prst="rect">
            <a:avLst/>
          </a:prstGeom>
          <a:noFill/>
          <a:ln/>
        </p:spPr>
        <p:txBody>
          <a:bodyPr wrap="square" lIns="0" tIns="0" rIns="0" bIns="0" rtlCol="0" anchor="t"/>
          <a:lstStyle/>
          <a:p>
            <a:pPr indent="0" marL="0">
              <a:buNone/>
            </a:pPr>
            <a:r>
              <a:rPr lang="en-US" sz="1000" i="1" dirty="0">
                <a:solidFill>
                  <a:schemeClr val="accent4"/>
                </a:solidFill>
              </a:rPr>
              <a:t>Panopto &amp; YouGov, 2018</a:t>
            </a:r>
            <a:endParaRPr lang="en-US" sz="1000" dirty="0"/>
          </a:p>
        </p:txBody>
      </p:sp>
      <p:sp>
        <p:nvSpPr>
          <p:cNvPr id="22" name="Text 17"/>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2000" i="1" dirty="0">
                <a:solidFill>
                  <a:schemeClr val="tx2"/>
                </a:solidFill>
              </a:rPr>
              <a:t>When people leave, </a:t>
            </a:r>
            <a:pPr indent="0" marL="0">
              <a:buNone/>
            </a:pPr>
            <a:r>
              <a:rPr lang="en-US" sz="2000" b="1" i="1" dirty="0">
                <a:solidFill>
                  <a:schemeClr val="accent1"/>
                </a:solidFill>
              </a:rPr>
              <a:t>their 42% leaves with them.</a:t>
            </a:r>
            <a:endParaRPr lang="en-US" sz="20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THE REAL PROBLEM</a:t>
            </a: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lIns="0" tIns="0" rIns="0" bIns="0" rtlCol="0" anchor="t"/>
          <a:lstStyle/>
          <a:p>
            <a:pPr algn="l" indent="0" marL="0">
              <a:buNone/>
            </a:pPr>
            <a:r>
              <a:rPr lang="en-US" sz="3400" b="1" dirty="0">
                <a:solidFill>
                  <a:schemeClr val="tx2"/>
                </a:solidFill>
              </a:rPr>
              <a:t>Organizations keep the what, and lose the why</a:t>
            </a:r>
            <a:endParaRPr lang="en-US" sz="3400" dirty="0"/>
          </a:p>
        </p:txBody>
      </p:sp>
      <p:sp>
        <p:nvSpPr>
          <p:cNvPr id="4" name="Problem card 1"/>
          <p:cNvSpPr/>
          <p:nvPr/>
        </p:nvSpPr>
        <p:spPr>
          <a:xfrm>
            <a:off x="548640" y="1783080"/>
            <a:ext cx="2606040" cy="3017520"/>
          </a:xfrm>
          <a:prstGeom prst="roundRect">
            <a:avLst>
              <a:gd name="adj" fmla="val 4211"/>
            </a:avLst>
          </a:prstGeom>
          <a:solidFill>
            <a:schemeClr val="accent1"/>
          </a:solidFill>
          <a:ln/>
          <a:effectLst>
            <a:outerShdw sx="100000" sy="100000" kx="0" ky="0" algn="bl" rotWithShape="0" blurRad="127000" dist="38100" dir="5400000">
              <a:srgbClr val="0B1F44">
                <a:alpha val="14000"/>
              </a:srgbClr>
            </a:outerShdw>
          </a:effectLst>
        </p:spPr>
      </p:sp>
      <p:sp>
        <p:nvSpPr>
          <p:cNvPr id="5" name="Problem icon 1"/>
          <p:cNvSpPr/>
          <p:nvPr/>
        </p:nvSpPr>
        <p:spPr>
          <a:xfrm>
            <a:off x="868680" y="2103120"/>
            <a:ext cx="640080" cy="640080"/>
          </a:xfrm>
          <a:prstGeom prst="ellipse">
            <a:avLst/>
          </a:prstGeom>
          <a:solidFill>
            <a:schemeClr val="bg1"/>
          </a:solidFill>
          <a:ln/>
        </p:spPr>
      </p:sp>
      <p:pic>
        <p:nvPicPr>
          <p:cNvPr id="6" name="Problem icon 1 icon" descr="preencoded.png">    </p:cNvPr>
          <p:cNvPicPr>
            <a:picLocks noChangeAspect="1"/>
          </p:cNvPicPr>
          <p:nvPr/>
        </p:nvPicPr>
        <p:blipFill>
          <a:blip r:embed="rId1"/>
          <a:stretch>
            <a:fillRect/>
          </a:stretch>
        </p:blipFill>
        <p:spPr>
          <a:xfrm>
            <a:off x="1022299" y="2256739"/>
            <a:ext cx="332842" cy="332842"/>
          </a:xfrm>
          <a:prstGeom prst="rect">
            <a:avLst/>
          </a:prstGeom>
        </p:spPr>
      </p:pic>
      <p:sp>
        <p:nvSpPr>
          <p:cNvPr id="7" name="Problem tag 1"/>
          <p:cNvSpPr/>
          <p:nvPr/>
        </p:nvSpPr>
        <p:spPr>
          <a:xfrm>
            <a:off x="868680" y="2971800"/>
            <a:ext cx="777240" cy="274320"/>
          </a:xfrm>
          <a:prstGeom prst="roundRect">
            <a:avLst>
              <a:gd name="adj" fmla="val 50000"/>
            </a:avLst>
          </a:prstGeom>
          <a:solidFill>
            <a:schemeClr val="accent2"/>
          </a:solidFill>
          <a:ln/>
        </p:spPr>
      </p:sp>
      <p:sp>
        <p:nvSpPr>
          <p:cNvPr id="8" name="Text 5"/>
          <p:cNvSpPr txBox="1"/>
          <p:nvPr/>
        </p:nvSpPr>
        <p:spPr>
          <a:xfrm>
            <a:off x="868680" y="2971800"/>
            <a:ext cx="777240" cy="274320"/>
          </a:xfrm>
          <a:prstGeom prst="rect">
            <a:avLst/>
          </a:prstGeom>
          <a:noFill/>
          <a:ln/>
        </p:spPr>
        <p:txBody>
          <a:bodyPr wrap="square" lIns="0" tIns="0" rIns="0" bIns="0" rtlCol="0" anchor="ctr"/>
          <a:lstStyle/>
          <a:p>
            <a:pPr algn="ctr" indent="0" marL="0">
              <a:buNone/>
            </a:pPr>
            <a:r>
              <a:rPr lang="en-US" sz="1000" b="1" spc="200" kern="0" dirty="0">
                <a:solidFill>
                  <a:schemeClr val="bg1"/>
                </a:solidFill>
              </a:rPr>
              <a:t>KEPT</a:t>
            </a:r>
            <a:endParaRPr lang="en-US" sz="1000" dirty="0"/>
          </a:p>
        </p:txBody>
      </p:sp>
      <p:sp>
        <p:nvSpPr>
          <p:cNvPr id="9" name="Text 6"/>
          <p:cNvSpPr txBox="1"/>
          <p:nvPr/>
        </p:nvSpPr>
        <p:spPr>
          <a:xfrm>
            <a:off x="868680" y="3383280"/>
            <a:ext cx="2057400" cy="411480"/>
          </a:xfrm>
          <a:prstGeom prst="rect">
            <a:avLst/>
          </a:prstGeom>
          <a:noFill/>
          <a:ln/>
        </p:spPr>
        <p:txBody>
          <a:bodyPr wrap="square" lIns="0" tIns="0" rIns="0" bIns="0" rtlCol="0" anchor="t"/>
          <a:lstStyle/>
          <a:p>
            <a:pPr indent="0" marL="0">
              <a:buNone/>
            </a:pPr>
            <a:r>
              <a:rPr lang="en-US" sz="1900" b="1" dirty="0">
                <a:solidFill>
                  <a:schemeClr val="bg1"/>
                </a:solidFill>
              </a:rPr>
              <a:t>What happened</a:t>
            </a:r>
            <a:endParaRPr lang="en-US" sz="1900" dirty="0"/>
          </a:p>
        </p:txBody>
      </p:sp>
      <p:sp>
        <p:nvSpPr>
          <p:cNvPr id="10" name="Text 7"/>
          <p:cNvSpPr txBox="1"/>
          <p:nvPr/>
        </p:nvSpPr>
        <p:spPr>
          <a:xfrm>
            <a:off x="868680" y="3840480"/>
            <a:ext cx="2057400" cy="777240"/>
          </a:xfrm>
          <a:prstGeom prst="rect">
            <a:avLst/>
          </a:prstGeom>
          <a:noFill/>
          <a:ln/>
        </p:spPr>
        <p:txBody>
          <a:bodyPr wrap="square" lIns="0" tIns="0" rIns="0" bIns="0" rtlCol="0" anchor="t"/>
          <a:lstStyle/>
          <a:p>
            <a:pPr indent="0" marL="0">
              <a:buNone/>
            </a:pPr>
            <a:r>
              <a:rPr lang="en-US" sz="1400" dirty="0">
                <a:solidFill>
                  <a:schemeClr val="accent6"/>
                </a:solidFill>
              </a:rPr>
              <a:t>Stored in documents and repositories.</a:t>
            </a:r>
            <a:endParaRPr lang="en-US" sz="1400" dirty="0"/>
          </a:p>
        </p:txBody>
      </p:sp>
      <p:sp>
        <p:nvSpPr>
          <p:cNvPr id="11" name="Problem card 2"/>
          <p:cNvSpPr/>
          <p:nvPr/>
        </p:nvSpPr>
        <p:spPr>
          <a:xfrm>
            <a:off x="3364992" y="1783080"/>
            <a:ext cx="2606040" cy="3017520"/>
          </a:xfrm>
          <a:prstGeom prst="roundRect">
            <a:avLst>
              <a:gd name="adj" fmla="val 4211"/>
            </a:avLst>
          </a:prstGeom>
          <a:solidFill>
            <a:schemeClr val="bg1"/>
          </a:solidFill>
          <a:ln w="19050">
            <a:solidFill>
              <a:schemeClr val="accent5"/>
            </a:solidFill>
            <a:prstDash val="dash"/>
          </a:ln>
        </p:spPr>
      </p:sp>
      <p:sp>
        <p:nvSpPr>
          <p:cNvPr id="12" name="Problem icon 2"/>
          <p:cNvSpPr/>
          <p:nvPr/>
        </p:nvSpPr>
        <p:spPr>
          <a:xfrm>
            <a:off x="3685032" y="2103120"/>
            <a:ext cx="640080" cy="640080"/>
          </a:xfrm>
          <a:prstGeom prst="ellipse">
            <a:avLst/>
          </a:prstGeom>
          <a:solidFill>
            <a:schemeClr val="bg2"/>
          </a:solidFill>
          <a:ln/>
        </p:spPr>
      </p:sp>
      <p:pic>
        <p:nvPicPr>
          <p:cNvPr id="13" name="Problem icon 2 icon" descr="preencoded.png">    </p:cNvPr>
          <p:cNvPicPr>
            <a:picLocks noChangeAspect="1"/>
          </p:cNvPicPr>
          <p:nvPr/>
        </p:nvPicPr>
        <p:blipFill>
          <a:blip r:embed="rId2"/>
          <a:stretch>
            <a:fillRect/>
          </a:stretch>
        </p:blipFill>
        <p:spPr>
          <a:xfrm>
            <a:off x="3838651" y="2256739"/>
            <a:ext cx="332842" cy="332842"/>
          </a:xfrm>
          <a:prstGeom prst="rect">
            <a:avLst/>
          </a:prstGeom>
        </p:spPr>
      </p:pic>
      <p:sp>
        <p:nvSpPr>
          <p:cNvPr id="14" name="Problem tag 2"/>
          <p:cNvSpPr/>
          <p:nvPr/>
        </p:nvSpPr>
        <p:spPr>
          <a:xfrm>
            <a:off x="3685032" y="2971800"/>
            <a:ext cx="777240" cy="274320"/>
          </a:xfrm>
          <a:prstGeom prst="roundRect">
            <a:avLst>
              <a:gd name="adj" fmla="val 50000"/>
            </a:avLst>
          </a:prstGeom>
          <a:solidFill>
            <a:schemeClr val="accent5"/>
          </a:solidFill>
          <a:ln/>
        </p:spPr>
      </p:sp>
      <p:sp>
        <p:nvSpPr>
          <p:cNvPr id="15" name="Text 11"/>
          <p:cNvSpPr txBox="1"/>
          <p:nvPr/>
        </p:nvSpPr>
        <p:spPr>
          <a:xfrm>
            <a:off x="3685032" y="2971800"/>
            <a:ext cx="777240" cy="274320"/>
          </a:xfrm>
          <a:prstGeom prst="rect">
            <a:avLst/>
          </a:prstGeom>
          <a:noFill/>
          <a:ln/>
        </p:spPr>
        <p:txBody>
          <a:bodyPr wrap="square" lIns="0" tIns="0" rIns="0" bIns="0" rtlCol="0" anchor="ctr"/>
          <a:lstStyle/>
          <a:p>
            <a:pPr algn="ctr" indent="0" marL="0">
              <a:buNone/>
            </a:pPr>
            <a:r>
              <a:rPr lang="en-US" sz="1000" b="1" spc="200" kern="0" dirty="0">
                <a:solidFill>
                  <a:schemeClr val="bg1"/>
                </a:solidFill>
              </a:rPr>
              <a:t>LOST</a:t>
            </a:r>
            <a:endParaRPr lang="en-US" sz="1000" dirty="0"/>
          </a:p>
        </p:txBody>
      </p:sp>
      <p:sp>
        <p:nvSpPr>
          <p:cNvPr id="16" name="Text 12"/>
          <p:cNvSpPr txBox="1"/>
          <p:nvPr/>
        </p:nvSpPr>
        <p:spPr>
          <a:xfrm>
            <a:off x="3685032" y="3383280"/>
            <a:ext cx="2057400" cy="411480"/>
          </a:xfrm>
          <a:prstGeom prst="rect">
            <a:avLst/>
          </a:prstGeom>
          <a:noFill/>
          <a:ln/>
        </p:spPr>
        <p:txBody>
          <a:bodyPr wrap="square" lIns="0" tIns="0" rIns="0" bIns="0" rtlCol="0" anchor="t"/>
          <a:lstStyle/>
          <a:p>
            <a:pPr indent="0" marL="0">
              <a:buNone/>
            </a:pPr>
            <a:r>
              <a:rPr lang="en-US" sz="1900" b="1" dirty="0">
                <a:solidFill>
                  <a:schemeClr val="tx2"/>
                </a:solidFill>
              </a:rPr>
              <a:t>Why it was decided</a:t>
            </a:r>
            <a:endParaRPr lang="en-US" sz="1900" dirty="0"/>
          </a:p>
        </p:txBody>
      </p:sp>
      <p:sp>
        <p:nvSpPr>
          <p:cNvPr id="17" name="Text 13"/>
          <p:cNvSpPr txBox="1"/>
          <p:nvPr/>
        </p:nvSpPr>
        <p:spPr>
          <a:xfrm>
            <a:off x="3685032" y="3840480"/>
            <a:ext cx="2057400" cy="777240"/>
          </a:xfrm>
          <a:prstGeom prst="rect">
            <a:avLst/>
          </a:prstGeom>
          <a:noFill/>
          <a:ln/>
        </p:spPr>
        <p:txBody>
          <a:bodyPr wrap="square" lIns="0" tIns="0" rIns="0" bIns="0" rtlCol="0" anchor="t"/>
          <a:lstStyle/>
          <a:p>
            <a:pPr indent="0" marL="0">
              <a:buNone/>
            </a:pPr>
            <a:r>
              <a:rPr lang="en-US" sz="1400" dirty="0">
                <a:solidFill>
                  <a:schemeClr val="accent4"/>
                </a:solidFill>
              </a:rPr>
              <a:t>Buried in meetings, emails and memories.</a:t>
            </a:r>
            <a:endParaRPr lang="en-US" sz="1400" dirty="0"/>
          </a:p>
        </p:txBody>
      </p:sp>
      <p:sp>
        <p:nvSpPr>
          <p:cNvPr id="18" name="Problem card 3"/>
          <p:cNvSpPr/>
          <p:nvPr/>
        </p:nvSpPr>
        <p:spPr>
          <a:xfrm>
            <a:off x="6181344" y="1783080"/>
            <a:ext cx="2606040" cy="3017520"/>
          </a:xfrm>
          <a:prstGeom prst="roundRect">
            <a:avLst>
              <a:gd name="adj" fmla="val 4211"/>
            </a:avLst>
          </a:prstGeom>
          <a:solidFill>
            <a:schemeClr val="bg1"/>
          </a:solidFill>
          <a:ln w="19050">
            <a:solidFill>
              <a:schemeClr val="accent5"/>
            </a:solidFill>
            <a:prstDash val="dash"/>
          </a:ln>
        </p:spPr>
      </p:sp>
      <p:sp>
        <p:nvSpPr>
          <p:cNvPr id="19" name="Problem icon 3"/>
          <p:cNvSpPr/>
          <p:nvPr/>
        </p:nvSpPr>
        <p:spPr>
          <a:xfrm>
            <a:off x="6501384" y="2103120"/>
            <a:ext cx="640080" cy="640080"/>
          </a:xfrm>
          <a:prstGeom prst="ellipse">
            <a:avLst/>
          </a:prstGeom>
          <a:solidFill>
            <a:schemeClr val="bg2"/>
          </a:solidFill>
          <a:ln/>
        </p:spPr>
      </p:sp>
      <p:pic>
        <p:nvPicPr>
          <p:cNvPr id="20" name="Problem icon 3 icon" descr="preencoded.png">    </p:cNvPr>
          <p:cNvPicPr>
            <a:picLocks noChangeAspect="1"/>
          </p:cNvPicPr>
          <p:nvPr/>
        </p:nvPicPr>
        <p:blipFill>
          <a:blip r:embed="rId3"/>
          <a:stretch>
            <a:fillRect/>
          </a:stretch>
        </p:blipFill>
        <p:spPr>
          <a:xfrm>
            <a:off x="6655003" y="2256739"/>
            <a:ext cx="332842" cy="332842"/>
          </a:xfrm>
          <a:prstGeom prst="rect">
            <a:avLst/>
          </a:prstGeom>
        </p:spPr>
      </p:pic>
      <p:sp>
        <p:nvSpPr>
          <p:cNvPr id="21" name="Problem tag 3"/>
          <p:cNvSpPr/>
          <p:nvPr/>
        </p:nvSpPr>
        <p:spPr>
          <a:xfrm>
            <a:off x="6501384" y="2971800"/>
            <a:ext cx="777240" cy="274320"/>
          </a:xfrm>
          <a:prstGeom prst="roundRect">
            <a:avLst>
              <a:gd name="adj" fmla="val 50000"/>
            </a:avLst>
          </a:prstGeom>
          <a:solidFill>
            <a:schemeClr val="accent5"/>
          </a:solidFill>
          <a:ln/>
        </p:spPr>
      </p:sp>
      <p:sp>
        <p:nvSpPr>
          <p:cNvPr id="22" name="Text 17"/>
          <p:cNvSpPr txBox="1"/>
          <p:nvPr/>
        </p:nvSpPr>
        <p:spPr>
          <a:xfrm>
            <a:off x="6501384" y="2971800"/>
            <a:ext cx="777240" cy="274320"/>
          </a:xfrm>
          <a:prstGeom prst="rect">
            <a:avLst/>
          </a:prstGeom>
          <a:noFill/>
          <a:ln/>
        </p:spPr>
        <p:txBody>
          <a:bodyPr wrap="square" lIns="0" tIns="0" rIns="0" bIns="0" rtlCol="0" anchor="ctr"/>
          <a:lstStyle/>
          <a:p>
            <a:pPr algn="ctr" indent="0" marL="0">
              <a:buNone/>
            </a:pPr>
            <a:r>
              <a:rPr lang="en-US" sz="1000" b="1" spc="200" kern="0" dirty="0">
                <a:solidFill>
                  <a:schemeClr val="bg1"/>
                </a:solidFill>
              </a:rPr>
              <a:t>LOST</a:t>
            </a:r>
            <a:endParaRPr lang="en-US" sz="1000" dirty="0"/>
          </a:p>
        </p:txBody>
      </p:sp>
      <p:sp>
        <p:nvSpPr>
          <p:cNvPr id="23" name="Text 18"/>
          <p:cNvSpPr txBox="1"/>
          <p:nvPr/>
        </p:nvSpPr>
        <p:spPr>
          <a:xfrm>
            <a:off x="6501384" y="3383280"/>
            <a:ext cx="2057400" cy="411480"/>
          </a:xfrm>
          <a:prstGeom prst="rect">
            <a:avLst/>
          </a:prstGeom>
          <a:noFill/>
          <a:ln/>
        </p:spPr>
        <p:txBody>
          <a:bodyPr wrap="square" lIns="0" tIns="0" rIns="0" bIns="0" rtlCol="0" anchor="t"/>
          <a:lstStyle/>
          <a:p>
            <a:pPr indent="0" marL="0">
              <a:buNone/>
            </a:pPr>
            <a:r>
              <a:rPr lang="en-US" sz="1900" b="1" dirty="0">
                <a:solidFill>
                  <a:schemeClr val="tx2"/>
                </a:solidFill>
              </a:rPr>
              <a:t>Who knows about it</a:t>
            </a:r>
            <a:endParaRPr lang="en-US" sz="1900" dirty="0"/>
          </a:p>
        </p:txBody>
      </p:sp>
      <p:sp>
        <p:nvSpPr>
          <p:cNvPr id="24" name="Text 19"/>
          <p:cNvSpPr txBox="1"/>
          <p:nvPr/>
        </p:nvSpPr>
        <p:spPr>
          <a:xfrm>
            <a:off x="6501384" y="3840480"/>
            <a:ext cx="2057400" cy="777240"/>
          </a:xfrm>
          <a:prstGeom prst="rect">
            <a:avLst/>
          </a:prstGeom>
          <a:noFill/>
          <a:ln/>
        </p:spPr>
        <p:txBody>
          <a:bodyPr wrap="square" lIns="0" tIns="0" rIns="0" bIns="0" rtlCol="0" anchor="t"/>
          <a:lstStyle/>
          <a:p>
            <a:pPr indent="0" marL="0">
              <a:buNone/>
            </a:pPr>
            <a:r>
              <a:rPr lang="en-US" sz="1400" dirty="0">
                <a:solidFill>
                  <a:schemeClr val="accent4"/>
                </a:solidFill>
              </a:rPr>
              <a:t>Locked in people's heads, invisible to others.</a:t>
            </a:r>
            <a:endParaRPr lang="en-US" sz="1400" dirty="0"/>
          </a:p>
        </p:txBody>
      </p:sp>
      <p:sp>
        <p:nvSpPr>
          <p:cNvPr id="25" name="Problem card 4"/>
          <p:cNvSpPr/>
          <p:nvPr/>
        </p:nvSpPr>
        <p:spPr>
          <a:xfrm>
            <a:off x="8997696" y="1783080"/>
            <a:ext cx="2606040" cy="3017520"/>
          </a:xfrm>
          <a:prstGeom prst="roundRect">
            <a:avLst>
              <a:gd name="adj" fmla="val 4211"/>
            </a:avLst>
          </a:prstGeom>
          <a:solidFill>
            <a:schemeClr val="bg1"/>
          </a:solidFill>
          <a:ln w="19050">
            <a:solidFill>
              <a:schemeClr val="accent5"/>
            </a:solidFill>
            <a:prstDash val="dash"/>
          </a:ln>
        </p:spPr>
      </p:sp>
      <p:sp>
        <p:nvSpPr>
          <p:cNvPr id="26" name="Problem icon 4"/>
          <p:cNvSpPr/>
          <p:nvPr/>
        </p:nvSpPr>
        <p:spPr>
          <a:xfrm>
            <a:off x="9317736" y="2103120"/>
            <a:ext cx="640080" cy="640080"/>
          </a:xfrm>
          <a:prstGeom prst="ellipse">
            <a:avLst/>
          </a:prstGeom>
          <a:solidFill>
            <a:schemeClr val="bg2"/>
          </a:solidFill>
          <a:ln/>
        </p:spPr>
      </p:sp>
      <p:pic>
        <p:nvPicPr>
          <p:cNvPr id="27" name="Problem icon 4 icon" descr="preencoded.png">    </p:cNvPr>
          <p:cNvPicPr>
            <a:picLocks noChangeAspect="1"/>
          </p:cNvPicPr>
          <p:nvPr/>
        </p:nvPicPr>
        <p:blipFill>
          <a:blip r:embed="rId4"/>
          <a:stretch>
            <a:fillRect/>
          </a:stretch>
        </p:blipFill>
        <p:spPr>
          <a:xfrm>
            <a:off x="9471355" y="2256739"/>
            <a:ext cx="332842" cy="332842"/>
          </a:xfrm>
          <a:prstGeom prst="rect">
            <a:avLst/>
          </a:prstGeom>
        </p:spPr>
      </p:pic>
      <p:sp>
        <p:nvSpPr>
          <p:cNvPr id="28" name="Problem tag 4"/>
          <p:cNvSpPr/>
          <p:nvPr/>
        </p:nvSpPr>
        <p:spPr>
          <a:xfrm>
            <a:off x="9317736" y="2971800"/>
            <a:ext cx="777240" cy="274320"/>
          </a:xfrm>
          <a:prstGeom prst="roundRect">
            <a:avLst>
              <a:gd name="adj" fmla="val 50000"/>
            </a:avLst>
          </a:prstGeom>
          <a:solidFill>
            <a:schemeClr val="accent5"/>
          </a:solidFill>
          <a:ln/>
        </p:spPr>
      </p:sp>
      <p:sp>
        <p:nvSpPr>
          <p:cNvPr id="29" name="Text 23"/>
          <p:cNvSpPr txBox="1"/>
          <p:nvPr/>
        </p:nvSpPr>
        <p:spPr>
          <a:xfrm>
            <a:off x="9317736" y="2971800"/>
            <a:ext cx="777240" cy="274320"/>
          </a:xfrm>
          <a:prstGeom prst="rect">
            <a:avLst/>
          </a:prstGeom>
          <a:noFill/>
          <a:ln/>
        </p:spPr>
        <p:txBody>
          <a:bodyPr wrap="square" lIns="0" tIns="0" rIns="0" bIns="0" rtlCol="0" anchor="ctr"/>
          <a:lstStyle/>
          <a:p>
            <a:pPr algn="ctr" indent="0" marL="0">
              <a:buNone/>
            </a:pPr>
            <a:r>
              <a:rPr lang="en-US" sz="1000" b="1" spc="200" kern="0" dirty="0">
                <a:solidFill>
                  <a:schemeClr val="bg1"/>
                </a:solidFill>
              </a:rPr>
              <a:t>LOST</a:t>
            </a:r>
            <a:endParaRPr lang="en-US" sz="1000" dirty="0"/>
          </a:p>
        </p:txBody>
      </p:sp>
      <p:sp>
        <p:nvSpPr>
          <p:cNvPr id="30" name="Text 24"/>
          <p:cNvSpPr txBox="1"/>
          <p:nvPr/>
        </p:nvSpPr>
        <p:spPr>
          <a:xfrm>
            <a:off x="9317736" y="3383280"/>
            <a:ext cx="2057400" cy="411480"/>
          </a:xfrm>
          <a:prstGeom prst="rect">
            <a:avLst/>
          </a:prstGeom>
          <a:noFill/>
          <a:ln/>
        </p:spPr>
        <p:txBody>
          <a:bodyPr wrap="square" lIns="0" tIns="0" rIns="0" bIns="0" rtlCol="0" anchor="t"/>
          <a:lstStyle/>
          <a:p>
            <a:pPr indent="0" marL="0">
              <a:buNone/>
            </a:pPr>
            <a:r>
              <a:rPr lang="en-US" sz="1900" b="1" dirty="0">
                <a:solidFill>
                  <a:schemeClr val="tx2"/>
                </a:solidFill>
              </a:rPr>
              <a:t>What it relates to</a:t>
            </a:r>
            <a:endParaRPr lang="en-US" sz="1900" dirty="0"/>
          </a:p>
        </p:txBody>
      </p:sp>
      <p:sp>
        <p:nvSpPr>
          <p:cNvPr id="31" name="Text 25"/>
          <p:cNvSpPr txBox="1"/>
          <p:nvPr/>
        </p:nvSpPr>
        <p:spPr>
          <a:xfrm>
            <a:off x="9317736" y="3840480"/>
            <a:ext cx="2057400" cy="777240"/>
          </a:xfrm>
          <a:prstGeom prst="rect">
            <a:avLst/>
          </a:prstGeom>
          <a:noFill/>
          <a:ln/>
        </p:spPr>
        <p:txBody>
          <a:bodyPr wrap="square" lIns="0" tIns="0" rIns="0" bIns="0" rtlCol="0" anchor="t"/>
          <a:lstStyle/>
          <a:p>
            <a:pPr indent="0" marL="0">
              <a:buNone/>
            </a:pPr>
            <a:r>
              <a:rPr lang="en-US" sz="1400" dirty="0">
                <a:solidFill>
                  <a:schemeClr val="accent4"/>
                </a:solidFill>
              </a:rPr>
              <a:t>Scattered across teams, projects and folders.</a:t>
            </a:r>
            <a:endParaRPr lang="en-US" sz="1400" dirty="0"/>
          </a:p>
        </p:txBody>
      </p:sp>
      <p:sp>
        <p:nvSpPr>
          <p:cNvPr id="32" name="Search gap icon"/>
          <p:cNvSpPr/>
          <p:nvPr/>
        </p:nvSpPr>
        <p:spPr>
          <a:xfrm>
            <a:off x="548640" y="5193792"/>
            <a:ext cx="566928" cy="566928"/>
          </a:xfrm>
          <a:prstGeom prst="ellipse">
            <a:avLst/>
          </a:prstGeom>
          <a:solidFill>
            <a:schemeClr val="accent6"/>
          </a:solidFill>
          <a:ln/>
        </p:spPr>
      </p:sp>
      <p:pic>
        <p:nvPicPr>
          <p:cNvPr id="33" name="Search gap icon icon" descr="preencoded.png">    </p:cNvPr>
          <p:cNvPicPr>
            <a:picLocks noChangeAspect="1"/>
          </p:cNvPicPr>
          <p:nvPr/>
        </p:nvPicPr>
        <p:blipFill>
          <a:blip r:embed="rId5"/>
          <a:stretch>
            <a:fillRect/>
          </a:stretch>
        </p:blipFill>
        <p:spPr>
          <a:xfrm>
            <a:off x="684703" y="5329855"/>
            <a:ext cx="294803" cy="294803"/>
          </a:xfrm>
          <a:prstGeom prst="rect">
            <a:avLst/>
          </a:prstGeom>
        </p:spPr>
      </p:pic>
      <p:sp>
        <p:nvSpPr>
          <p:cNvPr id="34" name="Text 27"/>
          <p:cNvSpPr txBox="1"/>
          <p:nvPr/>
        </p:nvSpPr>
        <p:spPr>
          <a:xfrm>
            <a:off x="1298448" y="5138928"/>
            <a:ext cx="10332720" cy="676656"/>
          </a:xfrm>
          <a:prstGeom prst="rect">
            <a:avLst/>
          </a:prstGeom>
          <a:noFill/>
          <a:ln/>
        </p:spPr>
        <p:txBody>
          <a:bodyPr wrap="square" lIns="0" tIns="0" rIns="0" bIns="0" rtlCol="0" anchor="ctr"/>
          <a:lstStyle/>
          <a:p>
            <a:pPr indent="0" marL="0">
              <a:buNone/>
            </a:pPr>
            <a:r>
              <a:rPr lang="en-US" sz="1800" b="1" dirty="0">
                <a:solidFill>
                  <a:schemeClr val="tx2"/>
                </a:solidFill>
              </a:rPr>
              <a:t>Search finds files. </a:t>
            </a:r>
            <a:pPr indent="0" marL="0">
              <a:buNone/>
            </a:pPr>
            <a:r>
              <a:rPr lang="en-US" sz="1800" dirty="0">
                <a:solidFill>
                  <a:schemeClr val="tx2"/>
                </a:solidFill>
              </a:rPr>
              <a:t>It doesn't bring back the context around them, and that context is the gap KMS closes.</a:t>
            </a:r>
            <a:endParaRPr lang="en-US" sz="18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WHAT KMS IS</a:t>
            </a: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lIns="0" tIns="0" rIns="0" bIns="0" rtlCol="0" anchor="t"/>
          <a:lstStyle/>
          <a:p>
            <a:pPr algn="l" indent="0" marL="0">
              <a:buNone/>
            </a:pPr>
            <a:r>
              <a:rPr lang="en-US" sz="3400" b="1" dirty="0">
                <a:solidFill>
                  <a:schemeClr val="tx2"/>
                </a:solidFill>
              </a:rPr>
              <a:t>Not a document store. A knowledge operating system.</a:t>
            </a:r>
            <a:endParaRPr lang="en-US" sz="3400" dirty="0"/>
          </a:p>
        </p:txBody>
      </p:sp>
      <p:sp>
        <p:nvSpPr>
          <p:cNvPr id="4" name="Text 2"/>
          <p:cNvSpPr txBox="1"/>
          <p:nvPr/>
        </p:nvSpPr>
        <p:spPr>
          <a:xfrm>
            <a:off x="548640" y="1874520"/>
            <a:ext cx="4389120" cy="1554480"/>
          </a:xfrm>
          <a:prstGeom prst="rect">
            <a:avLst/>
          </a:prstGeom>
          <a:noFill/>
          <a:ln/>
        </p:spPr>
        <p:txBody>
          <a:bodyPr wrap="square" lIns="0" tIns="0" rIns="0" bIns="0" rtlCol="0" anchor="t"/>
          <a:lstStyle/>
          <a:p>
            <a:pPr indent="0" marL="0">
              <a:buNone/>
            </a:pPr>
            <a:r>
              <a:rPr lang="en-US" sz="2000" dirty="0">
                <a:solidFill>
                  <a:schemeClr val="tx2"/>
                </a:solidFill>
              </a:rPr>
              <a:t>KMS reads what your organization writes, understands it, and connects it to the people, projects, decisions and lessons behind it.</a:t>
            </a:r>
            <a:endParaRPr lang="en-US" sz="2000" dirty="0"/>
          </a:p>
        </p:txBody>
      </p:sp>
      <p:sp>
        <p:nvSpPr>
          <p:cNvPr id="5" name="Definition icon 1"/>
          <p:cNvSpPr/>
          <p:nvPr/>
        </p:nvSpPr>
        <p:spPr>
          <a:xfrm>
            <a:off x="548640" y="3657600"/>
            <a:ext cx="502920" cy="502920"/>
          </a:xfrm>
          <a:prstGeom prst="ellipse">
            <a:avLst/>
          </a:prstGeom>
          <a:solidFill>
            <a:schemeClr val="accent6"/>
          </a:solidFill>
          <a:ln/>
        </p:spPr>
      </p:sp>
      <p:pic>
        <p:nvPicPr>
          <p:cNvPr id="6" name="Definition icon 1 icon" descr="preencoded.png">    </p:cNvPr>
          <p:cNvPicPr>
            <a:picLocks noChangeAspect="1"/>
          </p:cNvPicPr>
          <p:nvPr/>
        </p:nvPicPr>
        <p:blipFill>
          <a:blip r:embed="rId1"/>
          <a:stretch>
            <a:fillRect/>
          </a:stretch>
        </p:blipFill>
        <p:spPr>
          <a:xfrm>
            <a:off x="669341" y="3778301"/>
            <a:ext cx="261518" cy="261518"/>
          </a:xfrm>
          <a:prstGeom prst="rect">
            <a:avLst/>
          </a:prstGeom>
        </p:spPr>
      </p:pic>
      <p:sp>
        <p:nvSpPr>
          <p:cNvPr id="7" name="Text 4"/>
          <p:cNvSpPr txBox="1"/>
          <p:nvPr/>
        </p:nvSpPr>
        <p:spPr>
          <a:xfrm>
            <a:off x="1234440" y="3657600"/>
            <a:ext cx="3749040" cy="502920"/>
          </a:xfrm>
          <a:prstGeom prst="rect">
            <a:avLst/>
          </a:prstGeom>
          <a:noFill/>
          <a:ln/>
        </p:spPr>
        <p:txBody>
          <a:bodyPr wrap="square" lIns="0" tIns="0" rIns="0" bIns="0" rtlCol="0" anchor="ctr"/>
          <a:lstStyle/>
          <a:p>
            <a:pPr indent="0" marL="0">
              <a:buNone/>
            </a:pPr>
            <a:r>
              <a:rPr lang="en-US" sz="1500" dirty="0">
                <a:solidFill>
                  <a:schemeClr val="tx1"/>
                </a:solidFill>
              </a:rPr>
              <a:t>Ask anything and get an answer with its sources</a:t>
            </a:r>
            <a:endParaRPr lang="en-US" sz="1500" dirty="0"/>
          </a:p>
        </p:txBody>
      </p:sp>
      <p:sp>
        <p:nvSpPr>
          <p:cNvPr id="8" name="Definition icon 2"/>
          <p:cNvSpPr/>
          <p:nvPr/>
        </p:nvSpPr>
        <p:spPr>
          <a:xfrm>
            <a:off x="548640" y="4370832"/>
            <a:ext cx="502920" cy="502920"/>
          </a:xfrm>
          <a:prstGeom prst="ellipse">
            <a:avLst/>
          </a:prstGeom>
          <a:solidFill>
            <a:schemeClr val="accent6"/>
          </a:solidFill>
          <a:ln/>
        </p:spPr>
      </p:sp>
      <p:pic>
        <p:nvPicPr>
          <p:cNvPr id="9" name="Definition icon 2 icon" descr="preencoded.png">    </p:cNvPr>
          <p:cNvPicPr>
            <a:picLocks noChangeAspect="1"/>
          </p:cNvPicPr>
          <p:nvPr/>
        </p:nvPicPr>
        <p:blipFill>
          <a:blip r:embed="rId2"/>
          <a:stretch>
            <a:fillRect/>
          </a:stretch>
        </p:blipFill>
        <p:spPr>
          <a:xfrm>
            <a:off x="669341" y="4491533"/>
            <a:ext cx="261518" cy="261518"/>
          </a:xfrm>
          <a:prstGeom prst="rect">
            <a:avLst/>
          </a:prstGeom>
        </p:spPr>
      </p:pic>
      <p:sp>
        <p:nvSpPr>
          <p:cNvPr id="10" name="Text 6"/>
          <p:cNvSpPr txBox="1"/>
          <p:nvPr/>
        </p:nvSpPr>
        <p:spPr>
          <a:xfrm>
            <a:off x="1234440" y="4370832"/>
            <a:ext cx="3749040" cy="502920"/>
          </a:xfrm>
          <a:prstGeom prst="rect">
            <a:avLst/>
          </a:prstGeom>
          <a:noFill/>
          <a:ln/>
        </p:spPr>
        <p:txBody>
          <a:bodyPr wrap="square" lIns="0" tIns="0" rIns="0" bIns="0" rtlCol="0" anchor="ctr"/>
          <a:lstStyle/>
          <a:p>
            <a:pPr indent="0" marL="0">
              <a:buNone/>
            </a:pPr>
            <a:r>
              <a:rPr lang="en-US" sz="1500" dirty="0">
                <a:solidFill>
                  <a:schemeClr val="tx1"/>
                </a:solidFill>
              </a:rPr>
              <a:t>Content organizes itself as it arrives</a:t>
            </a:r>
            <a:endParaRPr lang="en-US" sz="1500" dirty="0"/>
          </a:p>
        </p:txBody>
      </p:sp>
      <p:sp>
        <p:nvSpPr>
          <p:cNvPr id="11" name="Definition icon 3"/>
          <p:cNvSpPr/>
          <p:nvPr/>
        </p:nvSpPr>
        <p:spPr>
          <a:xfrm>
            <a:off x="548640" y="5084064"/>
            <a:ext cx="502920" cy="502920"/>
          </a:xfrm>
          <a:prstGeom prst="ellipse">
            <a:avLst/>
          </a:prstGeom>
          <a:solidFill>
            <a:schemeClr val="accent6"/>
          </a:solidFill>
          <a:ln/>
        </p:spPr>
      </p:sp>
      <p:pic>
        <p:nvPicPr>
          <p:cNvPr id="12" name="Definition icon 3 icon" descr="preencoded.png">    </p:cNvPr>
          <p:cNvPicPr>
            <a:picLocks noChangeAspect="1"/>
          </p:cNvPicPr>
          <p:nvPr/>
        </p:nvPicPr>
        <p:blipFill>
          <a:blip r:embed="rId3"/>
          <a:stretch>
            <a:fillRect/>
          </a:stretch>
        </p:blipFill>
        <p:spPr>
          <a:xfrm>
            <a:off x="669341" y="5204765"/>
            <a:ext cx="261518" cy="261518"/>
          </a:xfrm>
          <a:prstGeom prst="rect">
            <a:avLst/>
          </a:prstGeom>
        </p:spPr>
      </p:pic>
      <p:sp>
        <p:nvSpPr>
          <p:cNvPr id="13" name="Text 8"/>
          <p:cNvSpPr txBox="1"/>
          <p:nvPr/>
        </p:nvSpPr>
        <p:spPr>
          <a:xfrm>
            <a:off x="1234440" y="5084064"/>
            <a:ext cx="3749040" cy="502920"/>
          </a:xfrm>
          <a:prstGeom prst="rect">
            <a:avLst/>
          </a:prstGeom>
          <a:noFill/>
          <a:ln/>
        </p:spPr>
        <p:txBody>
          <a:bodyPr wrap="square" lIns="0" tIns="0" rIns="0" bIns="0" rtlCol="0" anchor="ctr"/>
          <a:lstStyle/>
          <a:p>
            <a:pPr indent="0" marL="0">
              <a:buNone/>
            </a:pPr>
            <a:r>
              <a:rPr lang="en-US" sz="1500" dirty="0">
                <a:solidFill>
                  <a:schemeClr val="tx1"/>
                </a:solidFill>
              </a:rPr>
              <a:t>Every document linked to people, projects and decisions</a:t>
            </a:r>
            <a:endParaRPr lang="en-US" sz="1500" dirty="0"/>
          </a:p>
        </p:txBody>
      </p:sp>
      <p:sp>
        <p:nvSpPr>
          <p:cNvPr id="14" name="Step 1"/>
          <p:cNvSpPr/>
          <p:nvPr/>
        </p:nvSpPr>
        <p:spPr>
          <a:xfrm>
            <a:off x="5440680" y="4663440"/>
            <a:ext cx="1417320" cy="1325880"/>
          </a:xfrm>
          <a:prstGeom prst="roundRect">
            <a:avLst>
              <a:gd name="adj" fmla="val 6897"/>
            </a:avLst>
          </a:prstGeom>
          <a:solidFill>
            <a:schemeClr val="bg2"/>
          </a:solidFill>
          <a:ln/>
        </p:spPr>
      </p:sp>
      <p:sp>
        <p:nvSpPr>
          <p:cNvPr id="15" name="Text 10"/>
          <p:cNvSpPr txBox="1"/>
          <p:nvPr/>
        </p:nvSpPr>
        <p:spPr>
          <a:xfrm>
            <a:off x="5577840" y="4828032"/>
            <a:ext cx="1143000" cy="685800"/>
          </a:xfrm>
          <a:prstGeom prst="rect">
            <a:avLst/>
          </a:prstGeom>
          <a:noFill/>
          <a:ln/>
        </p:spPr>
        <p:txBody>
          <a:bodyPr wrap="square" lIns="0" tIns="0" rIns="0" bIns="0" rtlCol="0" anchor="t"/>
          <a:lstStyle/>
          <a:p>
            <a:pPr indent="0" marL="0">
              <a:buNone/>
            </a:pPr>
            <a:r>
              <a:rPr lang="en-US" sz="1400" b="1" dirty="0">
                <a:solidFill>
                  <a:schemeClr val="tx2"/>
                </a:solidFill>
              </a:rPr>
              <a:t>Document management</a:t>
            </a:r>
            <a:endParaRPr lang="en-US" sz="1400" dirty="0"/>
          </a:p>
        </p:txBody>
      </p:sp>
      <p:sp>
        <p:nvSpPr>
          <p:cNvPr id="16" name="Text 11"/>
          <p:cNvSpPr txBox="1"/>
          <p:nvPr/>
        </p:nvSpPr>
        <p:spPr>
          <a:xfrm>
            <a:off x="5577840" y="5504688"/>
            <a:ext cx="1143000" cy="457200"/>
          </a:xfrm>
          <a:prstGeom prst="rect">
            <a:avLst/>
          </a:prstGeom>
          <a:noFill/>
          <a:ln/>
        </p:spPr>
        <p:txBody>
          <a:bodyPr wrap="square" lIns="0" tIns="0" rIns="0" bIns="0" rtlCol="0" anchor="t"/>
          <a:lstStyle/>
          <a:p>
            <a:pPr indent="0" marL="0">
              <a:buNone/>
            </a:pPr>
            <a:r>
              <a:rPr lang="en-US" sz="1200" dirty="0">
                <a:solidFill>
                  <a:schemeClr val="accent4"/>
                </a:solidFill>
              </a:rPr>
              <a:t>Stores files</a:t>
            </a:r>
            <a:endParaRPr lang="en-US" sz="1200" dirty="0"/>
          </a:p>
        </p:txBody>
      </p:sp>
      <p:sp>
        <p:nvSpPr>
          <p:cNvPr id="17" name="Step 2"/>
          <p:cNvSpPr/>
          <p:nvPr/>
        </p:nvSpPr>
        <p:spPr>
          <a:xfrm>
            <a:off x="6995160" y="3886200"/>
            <a:ext cx="1417320" cy="2103120"/>
          </a:xfrm>
          <a:prstGeom prst="roundRect">
            <a:avLst>
              <a:gd name="adj" fmla="val 6452"/>
            </a:avLst>
          </a:prstGeom>
          <a:solidFill>
            <a:schemeClr val="accent6"/>
          </a:solidFill>
          <a:ln/>
        </p:spPr>
      </p:sp>
      <p:sp>
        <p:nvSpPr>
          <p:cNvPr id="18" name="Text 13"/>
          <p:cNvSpPr txBox="1"/>
          <p:nvPr/>
        </p:nvSpPr>
        <p:spPr>
          <a:xfrm>
            <a:off x="7132320" y="4050792"/>
            <a:ext cx="1143000" cy="685800"/>
          </a:xfrm>
          <a:prstGeom prst="rect">
            <a:avLst/>
          </a:prstGeom>
          <a:noFill/>
          <a:ln/>
        </p:spPr>
        <p:txBody>
          <a:bodyPr wrap="square" lIns="0" tIns="0" rIns="0" bIns="0" rtlCol="0" anchor="t"/>
          <a:lstStyle/>
          <a:p>
            <a:pPr indent="0" marL="0">
              <a:buNone/>
            </a:pPr>
            <a:r>
              <a:rPr lang="en-US" sz="1400" b="1" dirty="0">
                <a:solidFill>
                  <a:schemeClr val="tx2"/>
                </a:solidFill>
              </a:rPr>
              <a:t>Knowledge management</a:t>
            </a:r>
            <a:endParaRPr lang="en-US" sz="1400" dirty="0"/>
          </a:p>
        </p:txBody>
      </p:sp>
      <p:sp>
        <p:nvSpPr>
          <p:cNvPr id="19" name="Text 14"/>
          <p:cNvSpPr txBox="1"/>
          <p:nvPr/>
        </p:nvSpPr>
        <p:spPr>
          <a:xfrm>
            <a:off x="7132320" y="4727448"/>
            <a:ext cx="1143000" cy="457200"/>
          </a:xfrm>
          <a:prstGeom prst="rect">
            <a:avLst/>
          </a:prstGeom>
          <a:noFill/>
          <a:ln/>
        </p:spPr>
        <p:txBody>
          <a:bodyPr wrap="square" lIns="0" tIns="0" rIns="0" bIns="0" rtlCol="0" anchor="t"/>
          <a:lstStyle/>
          <a:p>
            <a:pPr indent="0" marL="0">
              <a:buNone/>
            </a:pPr>
            <a:r>
              <a:rPr lang="en-US" sz="1200" dirty="0">
                <a:solidFill>
                  <a:schemeClr val="accent4"/>
                </a:solidFill>
              </a:rPr>
              <a:t>Organizes content</a:t>
            </a:r>
            <a:endParaRPr lang="en-US" sz="1200" dirty="0"/>
          </a:p>
        </p:txBody>
      </p:sp>
      <p:sp>
        <p:nvSpPr>
          <p:cNvPr id="20" name="Step 3"/>
          <p:cNvSpPr/>
          <p:nvPr/>
        </p:nvSpPr>
        <p:spPr>
          <a:xfrm>
            <a:off x="8549640" y="3108960"/>
            <a:ext cx="1417320" cy="2880360"/>
          </a:xfrm>
          <a:prstGeom prst="roundRect">
            <a:avLst>
              <a:gd name="adj" fmla="val 6452"/>
            </a:avLst>
          </a:prstGeom>
          <a:solidFill>
            <a:schemeClr val="accent2"/>
          </a:solidFill>
          <a:ln/>
        </p:spPr>
      </p:sp>
      <p:sp>
        <p:nvSpPr>
          <p:cNvPr id="21" name="Text 16"/>
          <p:cNvSpPr txBox="1"/>
          <p:nvPr/>
        </p:nvSpPr>
        <p:spPr>
          <a:xfrm>
            <a:off x="8686800" y="3273552"/>
            <a:ext cx="1143000" cy="685800"/>
          </a:xfrm>
          <a:prstGeom prst="rect">
            <a:avLst/>
          </a:prstGeom>
          <a:noFill/>
          <a:ln/>
        </p:spPr>
        <p:txBody>
          <a:bodyPr wrap="square" lIns="0" tIns="0" rIns="0" bIns="0" rtlCol="0" anchor="t"/>
          <a:lstStyle/>
          <a:p>
            <a:pPr indent="0" marL="0">
              <a:buNone/>
            </a:pPr>
            <a:r>
              <a:rPr lang="en-US" sz="1400" b="1" dirty="0">
                <a:solidFill>
                  <a:schemeClr val="bg1"/>
                </a:solidFill>
              </a:rPr>
              <a:t>Knowledge intelligence</a:t>
            </a:r>
            <a:endParaRPr lang="en-US" sz="1400" dirty="0"/>
          </a:p>
        </p:txBody>
      </p:sp>
      <p:sp>
        <p:nvSpPr>
          <p:cNvPr id="22" name="Text 17"/>
          <p:cNvSpPr txBox="1"/>
          <p:nvPr/>
        </p:nvSpPr>
        <p:spPr>
          <a:xfrm>
            <a:off x="8686800" y="3950208"/>
            <a:ext cx="1143000" cy="457200"/>
          </a:xfrm>
          <a:prstGeom prst="rect">
            <a:avLst/>
          </a:prstGeom>
          <a:noFill/>
          <a:ln/>
        </p:spPr>
        <p:txBody>
          <a:bodyPr wrap="square" lIns="0" tIns="0" rIns="0" bIns="0" rtlCol="0" anchor="t"/>
          <a:lstStyle/>
          <a:p>
            <a:pPr indent="0" marL="0">
              <a:buNone/>
            </a:pPr>
            <a:r>
              <a:rPr lang="en-US" sz="1200" dirty="0">
                <a:solidFill>
                  <a:schemeClr val="bg1"/>
                </a:solidFill>
              </a:rPr>
              <a:t>Understands and connects</a:t>
            </a:r>
            <a:endParaRPr lang="en-US" sz="1200" dirty="0"/>
          </a:p>
        </p:txBody>
      </p:sp>
      <p:sp>
        <p:nvSpPr>
          <p:cNvPr id="23" name="Step 4"/>
          <p:cNvSpPr/>
          <p:nvPr/>
        </p:nvSpPr>
        <p:spPr>
          <a:xfrm>
            <a:off x="10104120" y="2331720"/>
            <a:ext cx="1417320" cy="3657600"/>
          </a:xfrm>
          <a:prstGeom prst="roundRect">
            <a:avLst>
              <a:gd name="adj" fmla="val 6452"/>
            </a:avLst>
          </a:prstGeom>
          <a:solidFill>
            <a:schemeClr val="accent1"/>
          </a:solidFill>
          <a:ln/>
        </p:spPr>
      </p:sp>
      <p:sp>
        <p:nvSpPr>
          <p:cNvPr id="24" name="Text 19"/>
          <p:cNvSpPr txBox="1"/>
          <p:nvPr/>
        </p:nvSpPr>
        <p:spPr>
          <a:xfrm>
            <a:off x="10241280" y="2496312"/>
            <a:ext cx="1143000" cy="685800"/>
          </a:xfrm>
          <a:prstGeom prst="rect">
            <a:avLst/>
          </a:prstGeom>
          <a:noFill/>
          <a:ln/>
        </p:spPr>
        <p:txBody>
          <a:bodyPr wrap="square" lIns="0" tIns="0" rIns="0" bIns="0" rtlCol="0" anchor="t"/>
          <a:lstStyle/>
          <a:p>
            <a:pPr indent="0" marL="0">
              <a:buNone/>
            </a:pPr>
            <a:r>
              <a:rPr lang="en-US" sz="1400" b="1" dirty="0">
                <a:solidFill>
                  <a:schemeClr val="bg1"/>
                </a:solidFill>
              </a:rPr>
              <a:t>Knowledge operating system</a:t>
            </a:r>
            <a:endParaRPr lang="en-US" sz="1400" dirty="0"/>
          </a:p>
        </p:txBody>
      </p:sp>
      <p:sp>
        <p:nvSpPr>
          <p:cNvPr id="25" name="Text 20"/>
          <p:cNvSpPr txBox="1"/>
          <p:nvPr/>
        </p:nvSpPr>
        <p:spPr>
          <a:xfrm>
            <a:off x="10241280" y="3172968"/>
            <a:ext cx="1143000" cy="457200"/>
          </a:xfrm>
          <a:prstGeom prst="rect">
            <a:avLst/>
          </a:prstGeom>
          <a:noFill/>
          <a:ln/>
        </p:spPr>
        <p:txBody>
          <a:bodyPr wrap="square" lIns="0" tIns="0" rIns="0" bIns="0" rtlCol="0" anchor="t"/>
          <a:lstStyle/>
          <a:p>
            <a:pPr indent="0" marL="0">
              <a:buNone/>
            </a:pPr>
            <a:r>
              <a:rPr lang="en-US" sz="1200" dirty="0">
                <a:solidFill>
                  <a:schemeClr val="accent6"/>
                </a:solidFill>
              </a:rPr>
              <a:t>Remembers, learns and delivers</a:t>
            </a:r>
            <a:endParaRPr lang="en-US" sz="1200" dirty="0"/>
          </a:p>
        </p:txBody>
      </p:sp>
      <p:sp>
        <p:nvSpPr>
          <p:cNvPr id="26" name="KMS badge"/>
          <p:cNvSpPr/>
          <p:nvPr/>
        </p:nvSpPr>
        <p:spPr>
          <a:xfrm>
            <a:off x="10378440" y="1828800"/>
            <a:ext cx="868680" cy="347472"/>
          </a:xfrm>
          <a:prstGeom prst="roundRect">
            <a:avLst>
              <a:gd name="adj" fmla="val 50000"/>
            </a:avLst>
          </a:prstGeom>
          <a:solidFill>
            <a:schemeClr val="accent3"/>
          </a:solidFill>
          <a:ln/>
        </p:spPr>
      </p:sp>
      <p:sp>
        <p:nvSpPr>
          <p:cNvPr id="27" name="Text 22"/>
          <p:cNvSpPr txBox="1"/>
          <p:nvPr/>
        </p:nvSpPr>
        <p:spPr>
          <a:xfrm>
            <a:off x="10378440" y="1828800"/>
            <a:ext cx="868680" cy="347472"/>
          </a:xfrm>
          <a:prstGeom prst="rect">
            <a:avLst/>
          </a:prstGeom>
          <a:noFill/>
          <a:ln/>
        </p:spPr>
        <p:txBody>
          <a:bodyPr wrap="square" lIns="0" tIns="0" rIns="0" bIns="0" rtlCol="0" anchor="ctr"/>
          <a:lstStyle/>
          <a:p>
            <a:pPr algn="ctr" indent="0" marL="0">
              <a:buNone/>
            </a:pPr>
            <a:r>
              <a:rPr lang="en-US" sz="1400" b="1" dirty="0">
                <a:solidFill>
                  <a:schemeClr val="tx2"/>
                </a:solidFill>
              </a:rPr>
              <a:t>KMS</a:t>
            </a:r>
            <a:endParaRPr lang="en-US" sz="14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WHO IT'S FOR</a:t>
            </a: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lIns="0" tIns="0" rIns="0" bIns="0" rtlCol="0" anchor="t"/>
          <a:lstStyle/>
          <a:p>
            <a:pPr algn="l" indent="0" marL="0">
              <a:buNone/>
            </a:pPr>
            <a:r>
              <a:rPr lang="en-US" sz="3400" b="1" dirty="0">
                <a:solidFill>
                  <a:schemeClr val="tx2"/>
                </a:solidFill>
              </a:rPr>
              <a:t>For organizations that run on what their people know</a:t>
            </a:r>
            <a:endParaRPr lang="en-US" sz="3400" dirty="0"/>
          </a:p>
        </p:txBody>
      </p:sp>
      <p:sp>
        <p:nvSpPr>
          <p:cNvPr id="4" name="Text 2"/>
          <p:cNvSpPr txBox="1"/>
          <p:nvPr/>
        </p:nvSpPr>
        <p:spPr>
          <a:xfrm>
            <a:off x="548640" y="178308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TYPICAL ORGANIZATIONS</a:t>
            </a:r>
            <a:endParaRPr lang="en-US" sz="1200" dirty="0"/>
          </a:p>
        </p:txBody>
      </p:sp>
      <p:sp>
        <p:nvSpPr>
          <p:cNvPr id="5" name="Org chip 1"/>
          <p:cNvSpPr/>
          <p:nvPr/>
        </p:nvSpPr>
        <p:spPr>
          <a:xfrm>
            <a:off x="548640" y="2148840"/>
            <a:ext cx="2130552" cy="384048"/>
          </a:xfrm>
          <a:prstGeom prst="roundRect">
            <a:avLst>
              <a:gd name="adj" fmla="val 50000"/>
            </a:avLst>
          </a:prstGeom>
          <a:solidFill>
            <a:schemeClr val="bg2"/>
          </a:solidFill>
          <a:ln w="12700">
            <a:solidFill>
              <a:schemeClr val="accent6"/>
            </a:solidFill>
            <a:prstDash val="solid"/>
          </a:ln>
        </p:spPr>
      </p:sp>
      <p:sp>
        <p:nvSpPr>
          <p:cNvPr id="6" name="Text 4"/>
          <p:cNvSpPr txBox="1"/>
          <p:nvPr/>
        </p:nvSpPr>
        <p:spPr>
          <a:xfrm>
            <a:off x="548640" y="2148840"/>
            <a:ext cx="2130552" cy="384048"/>
          </a:xfrm>
          <a:prstGeom prst="rect">
            <a:avLst/>
          </a:prstGeom>
          <a:noFill/>
          <a:ln/>
        </p:spPr>
        <p:txBody>
          <a:bodyPr wrap="square" lIns="0" tIns="0" rIns="0" bIns="0" rtlCol="0" anchor="ctr"/>
          <a:lstStyle/>
          <a:p>
            <a:pPr algn="ctr" indent="0" marL="0">
              <a:buNone/>
            </a:pPr>
            <a:r>
              <a:rPr lang="en-US" sz="1300" dirty="0">
                <a:solidFill>
                  <a:schemeClr val="tx2"/>
                </a:solidFill>
              </a:rPr>
              <a:t>Engineering &amp; infrastructure</a:t>
            </a:r>
            <a:endParaRPr lang="en-US" sz="1300" dirty="0"/>
          </a:p>
        </p:txBody>
      </p:sp>
      <p:sp>
        <p:nvSpPr>
          <p:cNvPr id="7" name="Org chip 2"/>
          <p:cNvSpPr/>
          <p:nvPr/>
        </p:nvSpPr>
        <p:spPr>
          <a:xfrm>
            <a:off x="2788920" y="2148840"/>
            <a:ext cx="2130552" cy="384048"/>
          </a:xfrm>
          <a:prstGeom prst="roundRect">
            <a:avLst>
              <a:gd name="adj" fmla="val 50000"/>
            </a:avLst>
          </a:prstGeom>
          <a:solidFill>
            <a:schemeClr val="bg2"/>
          </a:solidFill>
          <a:ln w="12700">
            <a:solidFill>
              <a:schemeClr val="accent6"/>
            </a:solidFill>
            <a:prstDash val="solid"/>
          </a:ln>
        </p:spPr>
      </p:sp>
      <p:sp>
        <p:nvSpPr>
          <p:cNvPr id="8" name="Text 6"/>
          <p:cNvSpPr txBox="1"/>
          <p:nvPr/>
        </p:nvSpPr>
        <p:spPr>
          <a:xfrm>
            <a:off x="2788920" y="2148840"/>
            <a:ext cx="2130552" cy="384048"/>
          </a:xfrm>
          <a:prstGeom prst="rect">
            <a:avLst/>
          </a:prstGeom>
          <a:noFill/>
          <a:ln/>
        </p:spPr>
        <p:txBody>
          <a:bodyPr wrap="square" lIns="0" tIns="0" rIns="0" bIns="0" rtlCol="0" anchor="ctr"/>
          <a:lstStyle/>
          <a:p>
            <a:pPr algn="ctr" indent="0" marL="0">
              <a:buNone/>
            </a:pPr>
            <a:r>
              <a:rPr lang="en-US" sz="1300" dirty="0">
                <a:solidFill>
                  <a:schemeClr val="tx2"/>
                </a:solidFill>
              </a:rPr>
              <a:t>Utilities &amp; energy</a:t>
            </a:r>
            <a:endParaRPr lang="en-US" sz="1300" dirty="0"/>
          </a:p>
        </p:txBody>
      </p:sp>
      <p:sp>
        <p:nvSpPr>
          <p:cNvPr id="9" name="Org chip 3"/>
          <p:cNvSpPr/>
          <p:nvPr/>
        </p:nvSpPr>
        <p:spPr>
          <a:xfrm>
            <a:off x="548640" y="2624328"/>
            <a:ext cx="2130552" cy="384048"/>
          </a:xfrm>
          <a:prstGeom prst="roundRect">
            <a:avLst>
              <a:gd name="adj" fmla="val 50000"/>
            </a:avLst>
          </a:prstGeom>
          <a:solidFill>
            <a:schemeClr val="bg2"/>
          </a:solidFill>
          <a:ln w="12700">
            <a:solidFill>
              <a:schemeClr val="accent6"/>
            </a:solidFill>
            <a:prstDash val="solid"/>
          </a:ln>
        </p:spPr>
      </p:sp>
      <p:sp>
        <p:nvSpPr>
          <p:cNvPr id="10" name="Text 8"/>
          <p:cNvSpPr txBox="1"/>
          <p:nvPr/>
        </p:nvSpPr>
        <p:spPr>
          <a:xfrm>
            <a:off x="548640" y="2624328"/>
            <a:ext cx="2130552" cy="384048"/>
          </a:xfrm>
          <a:prstGeom prst="rect">
            <a:avLst/>
          </a:prstGeom>
          <a:noFill/>
          <a:ln/>
        </p:spPr>
        <p:txBody>
          <a:bodyPr wrap="square" lIns="0" tIns="0" rIns="0" bIns="0" rtlCol="0" anchor="ctr"/>
          <a:lstStyle/>
          <a:p>
            <a:pPr algn="ctr" indent="0" marL="0">
              <a:buNone/>
            </a:pPr>
            <a:r>
              <a:rPr lang="en-US" sz="1300" dirty="0">
                <a:solidFill>
                  <a:schemeClr val="tx2"/>
                </a:solidFill>
              </a:rPr>
              <a:t>Government agencies</a:t>
            </a:r>
            <a:endParaRPr lang="en-US" sz="1300" dirty="0"/>
          </a:p>
        </p:txBody>
      </p:sp>
      <p:sp>
        <p:nvSpPr>
          <p:cNvPr id="11" name="Org chip 4"/>
          <p:cNvSpPr/>
          <p:nvPr/>
        </p:nvSpPr>
        <p:spPr>
          <a:xfrm>
            <a:off x="2788920" y="2624328"/>
            <a:ext cx="2130552" cy="384048"/>
          </a:xfrm>
          <a:prstGeom prst="roundRect">
            <a:avLst>
              <a:gd name="adj" fmla="val 50000"/>
            </a:avLst>
          </a:prstGeom>
          <a:solidFill>
            <a:schemeClr val="bg2"/>
          </a:solidFill>
          <a:ln w="12700">
            <a:solidFill>
              <a:schemeClr val="accent6"/>
            </a:solidFill>
            <a:prstDash val="solid"/>
          </a:ln>
        </p:spPr>
      </p:sp>
      <p:sp>
        <p:nvSpPr>
          <p:cNvPr id="12" name="Text 10"/>
          <p:cNvSpPr txBox="1"/>
          <p:nvPr/>
        </p:nvSpPr>
        <p:spPr>
          <a:xfrm>
            <a:off x="2788920" y="2624328"/>
            <a:ext cx="2130552" cy="384048"/>
          </a:xfrm>
          <a:prstGeom prst="rect">
            <a:avLst/>
          </a:prstGeom>
          <a:noFill/>
          <a:ln/>
        </p:spPr>
        <p:txBody>
          <a:bodyPr wrap="square" lIns="0" tIns="0" rIns="0" bIns="0" rtlCol="0" anchor="ctr"/>
          <a:lstStyle/>
          <a:p>
            <a:pPr algn="ctr" indent="0" marL="0">
              <a:buNone/>
            </a:pPr>
            <a:r>
              <a:rPr lang="en-US" sz="1300" dirty="0">
                <a:solidFill>
                  <a:schemeClr val="tx2"/>
                </a:solidFill>
              </a:rPr>
              <a:t>Professional services</a:t>
            </a:r>
            <a:endParaRPr lang="en-US" sz="1300" dirty="0"/>
          </a:p>
        </p:txBody>
      </p:sp>
      <p:sp>
        <p:nvSpPr>
          <p:cNvPr id="13" name="Org chip 5"/>
          <p:cNvSpPr/>
          <p:nvPr/>
        </p:nvSpPr>
        <p:spPr>
          <a:xfrm>
            <a:off x="548640" y="3099816"/>
            <a:ext cx="2130552" cy="384048"/>
          </a:xfrm>
          <a:prstGeom prst="roundRect">
            <a:avLst>
              <a:gd name="adj" fmla="val 50000"/>
            </a:avLst>
          </a:prstGeom>
          <a:solidFill>
            <a:schemeClr val="bg2"/>
          </a:solidFill>
          <a:ln w="12700">
            <a:solidFill>
              <a:schemeClr val="accent6"/>
            </a:solidFill>
            <a:prstDash val="solid"/>
          </a:ln>
        </p:spPr>
      </p:sp>
      <p:sp>
        <p:nvSpPr>
          <p:cNvPr id="14" name="Text 12"/>
          <p:cNvSpPr txBox="1"/>
          <p:nvPr/>
        </p:nvSpPr>
        <p:spPr>
          <a:xfrm>
            <a:off x="548640" y="3099816"/>
            <a:ext cx="2130552" cy="384048"/>
          </a:xfrm>
          <a:prstGeom prst="rect">
            <a:avLst/>
          </a:prstGeom>
          <a:noFill/>
          <a:ln/>
        </p:spPr>
        <p:txBody>
          <a:bodyPr wrap="square" lIns="0" tIns="0" rIns="0" bIns="0" rtlCol="0" anchor="ctr"/>
          <a:lstStyle/>
          <a:p>
            <a:pPr algn="ctr" indent="0" marL="0">
              <a:buNone/>
            </a:pPr>
            <a:r>
              <a:rPr lang="en-US" sz="1300" dirty="0">
                <a:solidFill>
                  <a:schemeClr val="tx2"/>
                </a:solidFill>
              </a:rPr>
              <a:t>Legal &amp; compliance</a:t>
            </a:r>
            <a:endParaRPr lang="en-US" sz="1300" dirty="0"/>
          </a:p>
        </p:txBody>
      </p:sp>
      <p:sp>
        <p:nvSpPr>
          <p:cNvPr id="15" name="Org chip 6"/>
          <p:cNvSpPr/>
          <p:nvPr/>
        </p:nvSpPr>
        <p:spPr>
          <a:xfrm>
            <a:off x="2788920" y="3099816"/>
            <a:ext cx="2130552" cy="384048"/>
          </a:xfrm>
          <a:prstGeom prst="roundRect">
            <a:avLst>
              <a:gd name="adj" fmla="val 50000"/>
            </a:avLst>
          </a:prstGeom>
          <a:solidFill>
            <a:schemeClr val="bg2"/>
          </a:solidFill>
          <a:ln w="12700">
            <a:solidFill>
              <a:schemeClr val="accent6"/>
            </a:solidFill>
            <a:prstDash val="solid"/>
          </a:ln>
        </p:spPr>
      </p:sp>
      <p:sp>
        <p:nvSpPr>
          <p:cNvPr id="16" name="Text 14"/>
          <p:cNvSpPr txBox="1"/>
          <p:nvPr/>
        </p:nvSpPr>
        <p:spPr>
          <a:xfrm>
            <a:off x="2788920" y="3099816"/>
            <a:ext cx="2130552" cy="384048"/>
          </a:xfrm>
          <a:prstGeom prst="rect">
            <a:avLst/>
          </a:prstGeom>
          <a:noFill/>
          <a:ln/>
        </p:spPr>
        <p:txBody>
          <a:bodyPr wrap="square" lIns="0" tIns="0" rIns="0" bIns="0" rtlCol="0" anchor="ctr"/>
          <a:lstStyle/>
          <a:p>
            <a:pPr algn="ctr" indent="0" marL="0">
              <a:buNone/>
            </a:pPr>
            <a:r>
              <a:rPr lang="en-US" sz="1300" dirty="0">
                <a:solidFill>
                  <a:schemeClr val="tx2"/>
                </a:solidFill>
              </a:rPr>
              <a:t>Healthcare administration</a:t>
            </a:r>
            <a:endParaRPr lang="en-US" sz="1300" dirty="0"/>
          </a:p>
        </p:txBody>
      </p:sp>
      <p:sp>
        <p:nvSpPr>
          <p:cNvPr id="17" name="Org chip 7"/>
          <p:cNvSpPr/>
          <p:nvPr/>
        </p:nvSpPr>
        <p:spPr>
          <a:xfrm>
            <a:off x="548640" y="3575304"/>
            <a:ext cx="2130552" cy="384048"/>
          </a:xfrm>
          <a:prstGeom prst="roundRect">
            <a:avLst>
              <a:gd name="adj" fmla="val 50000"/>
            </a:avLst>
          </a:prstGeom>
          <a:solidFill>
            <a:schemeClr val="bg2"/>
          </a:solidFill>
          <a:ln w="12700">
            <a:solidFill>
              <a:schemeClr val="accent6"/>
            </a:solidFill>
            <a:prstDash val="solid"/>
          </a:ln>
        </p:spPr>
      </p:sp>
      <p:sp>
        <p:nvSpPr>
          <p:cNvPr id="18" name="Text 16"/>
          <p:cNvSpPr txBox="1"/>
          <p:nvPr/>
        </p:nvSpPr>
        <p:spPr>
          <a:xfrm>
            <a:off x="548640" y="3575304"/>
            <a:ext cx="2130552" cy="384048"/>
          </a:xfrm>
          <a:prstGeom prst="rect">
            <a:avLst/>
          </a:prstGeom>
          <a:noFill/>
          <a:ln/>
        </p:spPr>
        <p:txBody>
          <a:bodyPr wrap="square" lIns="0" tIns="0" rIns="0" bIns="0" rtlCol="0" anchor="ctr"/>
          <a:lstStyle/>
          <a:p>
            <a:pPr algn="ctr" indent="0" marL="0">
              <a:buNone/>
            </a:pPr>
            <a:r>
              <a:rPr lang="en-US" sz="1300" dirty="0">
                <a:solidFill>
                  <a:schemeClr val="tx2"/>
                </a:solidFill>
              </a:rPr>
              <a:t>Research &amp; development</a:t>
            </a:r>
            <a:endParaRPr lang="en-US" sz="1300" dirty="0"/>
          </a:p>
        </p:txBody>
      </p:sp>
      <p:sp>
        <p:nvSpPr>
          <p:cNvPr id="19" name="Text 17"/>
          <p:cNvSpPr txBox="1"/>
          <p:nvPr/>
        </p:nvSpPr>
        <p:spPr>
          <a:xfrm>
            <a:off x="548640" y="420624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SIGNS IT'S TIME</a:t>
            </a:r>
            <a:endParaRPr lang="en-US" sz="1200" dirty="0"/>
          </a:p>
        </p:txBody>
      </p:sp>
      <p:sp>
        <p:nvSpPr>
          <p:cNvPr id="20" name="Text 18"/>
          <p:cNvSpPr txBox="1"/>
          <p:nvPr/>
        </p:nvSpPr>
        <p:spPr>
          <a:xfrm>
            <a:off x="548640" y="4526280"/>
            <a:ext cx="448056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Experienced people retiring or moving on</a:t>
            </a:r>
            <a:endParaRPr lang="en-US" sz="1500" dirty="0"/>
          </a:p>
          <a:p>
            <a:pPr marL="342900" indent="-342900">
              <a:spcAft>
                <a:spcPts val="600"/>
              </a:spcAft>
              <a:buSzPct val="100000"/>
              <a:buChar char="•"/>
            </a:pPr>
            <a:r>
              <a:rPr lang="en-US" sz="1500" dirty="0">
                <a:solidFill>
                  <a:schemeClr val="tx1"/>
                </a:solidFill>
              </a:rPr>
              <a:t>Many projects running at the same time</a:t>
            </a:r>
            <a:endParaRPr lang="en-US" sz="1500" dirty="0"/>
          </a:p>
          <a:p>
            <a:pPr marL="342900" indent="-342900">
              <a:spcAft>
                <a:spcPts val="600"/>
              </a:spcAft>
              <a:buSzPct val="100000"/>
              <a:buChar char="•"/>
            </a:pPr>
            <a:r>
              <a:rPr lang="en-US" sz="1500" dirty="0">
                <a:solidFill>
                  <a:schemeClr val="tx1"/>
                </a:solidFill>
              </a:rPr>
              <a:t>Documents spread across SharePoint and drives</a:t>
            </a:r>
            <a:endParaRPr lang="en-US" sz="1500" dirty="0"/>
          </a:p>
        </p:txBody>
      </p:sp>
      <p:sp>
        <p:nvSpPr>
          <p:cNvPr id="21" name="Text 19"/>
          <p:cNvSpPr txBox="1"/>
          <p:nvPr/>
        </p:nvSpPr>
        <p:spPr>
          <a:xfrm>
            <a:off x="5440680" y="178308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WHO BENEFITS</a:t>
            </a:r>
            <a:endParaRPr lang="en-US" sz="1200" dirty="0"/>
          </a:p>
        </p:txBody>
      </p:sp>
      <p:sp>
        <p:nvSpPr>
          <p:cNvPr id="22" name="Persona row 1"/>
          <p:cNvSpPr/>
          <p:nvPr/>
        </p:nvSpPr>
        <p:spPr>
          <a:xfrm>
            <a:off x="5440680" y="2148840"/>
            <a:ext cx="6199632" cy="640080"/>
          </a:xfrm>
          <a:prstGeom prst="roundRect">
            <a:avLst>
              <a:gd name="adj" fmla="val 14286"/>
            </a:avLst>
          </a:prstGeom>
          <a:solidFill>
            <a:schemeClr val="bg2"/>
          </a:solidFill>
          <a:ln/>
        </p:spPr>
      </p:sp>
      <p:sp>
        <p:nvSpPr>
          <p:cNvPr id="23" name="Persona icon 1"/>
          <p:cNvSpPr/>
          <p:nvPr/>
        </p:nvSpPr>
        <p:spPr>
          <a:xfrm>
            <a:off x="5532120" y="2221992"/>
            <a:ext cx="493776" cy="493776"/>
          </a:xfrm>
          <a:prstGeom prst="ellipse">
            <a:avLst/>
          </a:prstGeom>
          <a:solidFill>
            <a:schemeClr val="accent1"/>
          </a:solidFill>
          <a:ln/>
        </p:spPr>
      </p:sp>
      <p:pic>
        <p:nvPicPr>
          <p:cNvPr id="24" name="Persona icon 1 icon" descr="preencoded.png">    </p:cNvPr>
          <p:cNvPicPr>
            <a:picLocks noChangeAspect="1"/>
          </p:cNvPicPr>
          <p:nvPr/>
        </p:nvPicPr>
        <p:blipFill>
          <a:blip r:embed="rId1"/>
          <a:stretch>
            <a:fillRect/>
          </a:stretch>
        </p:blipFill>
        <p:spPr>
          <a:xfrm>
            <a:off x="5650626" y="2340498"/>
            <a:ext cx="256764" cy="256764"/>
          </a:xfrm>
          <a:prstGeom prst="rect">
            <a:avLst/>
          </a:prstGeom>
        </p:spPr>
      </p:pic>
      <p:sp>
        <p:nvSpPr>
          <p:cNvPr id="25" name="Text 22"/>
          <p:cNvSpPr txBox="1"/>
          <p:nvPr/>
        </p:nvSpPr>
        <p:spPr>
          <a:xfrm>
            <a:off x="6199632" y="2148840"/>
            <a:ext cx="2103120" cy="640080"/>
          </a:xfrm>
          <a:prstGeom prst="rect">
            <a:avLst/>
          </a:prstGeom>
          <a:noFill/>
          <a:ln/>
        </p:spPr>
        <p:txBody>
          <a:bodyPr wrap="square" lIns="0" tIns="0" rIns="0" bIns="0" rtlCol="0" anchor="ctr"/>
          <a:lstStyle/>
          <a:p>
            <a:pPr indent="0" marL="0">
              <a:buNone/>
            </a:pPr>
            <a:r>
              <a:rPr lang="en-US" sz="1500" b="1" dirty="0">
                <a:solidFill>
                  <a:schemeClr val="tx2"/>
                </a:solidFill>
              </a:rPr>
              <a:t>New hire</a:t>
            </a:r>
            <a:endParaRPr lang="en-US" sz="1500" dirty="0"/>
          </a:p>
        </p:txBody>
      </p:sp>
      <p:sp>
        <p:nvSpPr>
          <p:cNvPr id="26" name="Text 23"/>
          <p:cNvSpPr txBox="1"/>
          <p:nvPr/>
        </p:nvSpPr>
        <p:spPr>
          <a:xfrm>
            <a:off x="8229600" y="2148840"/>
            <a:ext cx="3291840" cy="640080"/>
          </a:xfrm>
          <a:prstGeom prst="rect">
            <a:avLst/>
          </a:prstGeom>
          <a:noFill/>
          <a:ln/>
        </p:spPr>
        <p:txBody>
          <a:bodyPr wrap="square" lIns="0" tIns="0" rIns="0" bIns="0" rtlCol="0" anchor="ctr"/>
          <a:lstStyle/>
          <a:p>
            <a:pPr indent="0" marL="0">
              <a:buNone/>
            </a:pPr>
            <a:r>
              <a:rPr lang="en-US" sz="1400" i="1" dirty="0">
                <a:solidFill>
                  <a:schemeClr val="accent4"/>
                </a:solidFill>
              </a:rPr>
              <a:t>“Where do I even start?”</a:t>
            </a:r>
            <a:endParaRPr lang="en-US" sz="1400" dirty="0"/>
          </a:p>
        </p:txBody>
      </p:sp>
      <p:sp>
        <p:nvSpPr>
          <p:cNvPr id="27" name="Persona row 2"/>
          <p:cNvSpPr/>
          <p:nvPr/>
        </p:nvSpPr>
        <p:spPr>
          <a:xfrm>
            <a:off x="5440680" y="2907792"/>
            <a:ext cx="6199632" cy="640080"/>
          </a:xfrm>
          <a:prstGeom prst="roundRect">
            <a:avLst>
              <a:gd name="adj" fmla="val 14286"/>
            </a:avLst>
          </a:prstGeom>
          <a:solidFill>
            <a:schemeClr val="bg2"/>
          </a:solidFill>
          <a:ln/>
        </p:spPr>
      </p:sp>
      <p:sp>
        <p:nvSpPr>
          <p:cNvPr id="28" name="Persona icon 2"/>
          <p:cNvSpPr/>
          <p:nvPr/>
        </p:nvSpPr>
        <p:spPr>
          <a:xfrm>
            <a:off x="5532120" y="2980944"/>
            <a:ext cx="493776" cy="493776"/>
          </a:xfrm>
          <a:prstGeom prst="ellipse">
            <a:avLst/>
          </a:prstGeom>
          <a:solidFill>
            <a:schemeClr val="accent1"/>
          </a:solidFill>
          <a:ln/>
        </p:spPr>
      </p:sp>
      <p:pic>
        <p:nvPicPr>
          <p:cNvPr id="29" name="Persona icon 2 icon" descr="preencoded.png">    </p:cNvPr>
          <p:cNvPicPr>
            <a:picLocks noChangeAspect="1"/>
          </p:cNvPicPr>
          <p:nvPr/>
        </p:nvPicPr>
        <p:blipFill>
          <a:blip r:embed="rId2"/>
          <a:stretch>
            <a:fillRect/>
          </a:stretch>
        </p:blipFill>
        <p:spPr>
          <a:xfrm>
            <a:off x="5650626" y="3099450"/>
            <a:ext cx="256764" cy="256764"/>
          </a:xfrm>
          <a:prstGeom prst="rect">
            <a:avLst/>
          </a:prstGeom>
        </p:spPr>
      </p:pic>
      <p:sp>
        <p:nvSpPr>
          <p:cNvPr id="30" name="Text 26"/>
          <p:cNvSpPr txBox="1"/>
          <p:nvPr/>
        </p:nvSpPr>
        <p:spPr>
          <a:xfrm>
            <a:off x="6199632" y="2907792"/>
            <a:ext cx="2103120" cy="640080"/>
          </a:xfrm>
          <a:prstGeom prst="rect">
            <a:avLst/>
          </a:prstGeom>
          <a:noFill/>
          <a:ln/>
        </p:spPr>
        <p:txBody>
          <a:bodyPr wrap="square" lIns="0" tIns="0" rIns="0" bIns="0" rtlCol="0" anchor="ctr"/>
          <a:lstStyle/>
          <a:p>
            <a:pPr indent="0" marL="0">
              <a:buNone/>
            </a:pPr>
            <a:r>
              <a:rPr lang="en-US" sz="1500" b="1" dirty="0">
                <a:solidFill>
                  <a:schemeClr val="tx2"/>
                </a:solidFill>
              </a:rPr>
              <a:t>Project lead</a:t>
            </a:r>
            <a:endParaRPr lang="en-US" sz="1500" dirty="0"/>
          </a:p>
        </p:txBody>
      </p:sp>
      <p:sp>
        <p:nvSpPr>
          <p:cNvPr id="31" name="Text 27"/>
          <p:cNvSpPr txBox="1"/>
          <p:nvPr/>
        </p:nvSpPr>
        <p:spPr>
          <a:xfrm>
            <a:off x="8229600" y="2907792"/>
            <a:ext cx="3291840" cy="640080"/>
          </a:xfrm>
          <a:prstGeom prst="rect">
            <a:avLst/>
          </a:prstGeom>
          <a:noFill/>
          <a:ln/>
        </p:spPr>
        <p:txBody>
          <a:bodyPr wrap="square" lIns="0" tIns="0" rIns="0" bIns="0" rtlCol="0" anchor="ctr"/>
          <a:lstStyle/>
          <a:p>
            <a:pPr indent="0" marL="0">
              <a:buNone/>
            </a:pPr>
            <a:r>
              <a:rPr lang="en-US" sz="1400" i="1" dirty="0">
                <a:solidFill>
                  <a:schemeClr val="accent4"/>
                </a:solidFill>
              </a:rPr>
              <a:t>“Has anyone done this before?”</a:t>
            </a:r>
            <a:endParaRPr lang="en-US" sz="1400" dirty="0"/>
          </a:p>
        </p:txBody>
      </p:sp>
      <p:sp>
        <p:nvSpPr>
          <p:cNvPr id="32" name="Persona row 3"/>
          <p:cNvSpPr/>
          <p:nvPr/>
        </p:nvSpPr>
        <p:spPr>
          <a:xfrm>
            <a:off x="5440680" y="3666744"/>
            <a:ext cx="6199632" cy="640080"/>
          </a:xfrm>
          <a:prstGeom prst="roundRect">
            <a:avLst>
              <a:gd name="adj" fmla="val 14286"/>
            </a:avLst>
          </a:prstGeom>
          <a:solidFill>
            <a:schemeClr val="bg2"/>
          </a:solidFill>
          <a:ln/>
        </p:spPr>
      </p:sp>
      <p:sp>
        <p:nvSpPr>
          <p:cNvPr id="33" name="Persona icon 3"/>
          <p:cNvSpPr/>
          <p:nvPr/>
        </p:nvSpPr>
        <p:spPr>
          <a:xfrm>
            <a:off x="5532120" y="3739896"/>
            <a:ext cx="493776" cy="493776"/>
          </a:xfrm>
          <a:prstGeom prst="ellipse">
            <a:avLst/>
          </a:prstGeom>
          <a:solidFill>
            <a:schemeClr val="accent1"/>
          </a:solidFill>
          <a:ln/>
        </p:spPr>
      </p:sp>
      <p:pic>
        <p:nvPicPr>
          <p:cNvPr id="34" name="Persona icon 3 icon" descr="preencoded.png">    </p:cNvPr>
          <p:cNvPicPr>
            <a:picLocks noChangeAspect="1"/>
          </p:cNvPicPr>
          <p:nvPr/>
        </p:nvPicPr>
        <p:blipFill>
          <a:blip r:embed="rId3"/>
          <a:stretch>
            <a:fillRect/>
          </a:stretch>
        </p:blipFill>
        <p:spPr>
          <a:xfrm>
            <a:off x="5650626" y="3858402"/>
            <a:ext cx="256764" cy="256764"/>
          </a:xfrm>
          <a:prstGeom prst="rect">
            <a:avLst/>
          </a:prstGeom>
        </p:spPr>
      </p:pic>
      <p:sp>
        <p:nvSpPr>
          <p:cNvPr id="35" name="Text 30"/>
          <p:cNvSpPr txBox="1"/>
          <p:nvPr/>
        </p:nvSpPr>
        <p:spPr>
          <a:xfrm>
            <a:off x="6199632" y="3666744"/>
            <a:ext cx="2103120" cy="640080"/>
          </a:xfrm>
          <a:prstGeom prst="rect">
            <a:avLst/>
          </a:prstGeom>
          <a:noFill/>
          <a:ln/>
        </p:spPr>
        <p:txBody>
          <a:bodyPr wrap="square" lIns="0" tIns="0" rIns="0" bIns="0" rtlCol="0" anchor="ctr"/>
          <a:lstStyle/>
          <a:p>
            <a:pPr indent="0" marL="0">
              <a:buNone/>
            </a:pPr>
            <a:r>
              <a:rPr lang="en-US" sz="1500" b="1" dirty="0">
                <a:solidFill>
                  <a:schemeClr val="tx2"/>
                </a:solidFill>
              </a:rPr>
              <a:t>Department head</a:t>
            </a:r>
            <a:endParaRPr lang="en-US" sz="1500" dirty="0"/>
          </a:p>
        </p:txBody>
      </p:sp>
      <p:sp>
        <p:nvSpPr>
          <p:cNvPr id="36" name="Text 31"/>
          <p:cNvSpPr txBox="1"/>
          <p:nvPr/>
        </p:nvSpPr>
        <p:spPr>
          <a:xfrm>
            <a:off x="8229600" y="3666744"/>
            <a:ext cx="3291840" cy="640080"/>
          </a:xfrm>
          <a:prstGeom prst="rect">
            <a:avLst/>
          </a:prstGeom>
          <a:noFill/>
          <a:ln/>
        </p:spPr>
        <p:txBody>
          <a:bodyPr wrap="square" lIns="0" tIns="0" rIns="0" bIns="0" rtlCol="0" anchor="ctr"/>
          <a:lstStyle/>
          <a:p>
            <a:pPr indent="0" marL="0">
              <a:buNone/>
            </a:pPr>
            <a:r>
              <a:rPr lang="en-US" sz="1400" i="1" dirty="0">
                <a:solidFill>
                  <a:schemeClr val="accent4"/>
                </a:solidFill>
              </a:rPr>
              <a:t>“Why did we decide this?”</a:t>
            </a:r>
            <a:endParaRPr lang="en-US" sz="1400" dirty="0"/>
          </a:p>
        </p:txBody>
      </p:sp>
      <p:sp>
        <p:nvSpPr>
          <p:cNvPr id="37" name="Persona row 4"/>
          <p:cNvSpPr/>
          <p:nvPr/>
        </p:nvSpPr>
        <p:spPr>
          <a:xfrm>
            <a:off x="5440680" y="4425696"/>
            <a:ext cx="6199632" cy="640080"/>
          </a:xfrm>
          <a:prstGeom prst="roundRect">
            <a:avLst>
              <a:gd name="adj" fmla="val 14286"/>
            </a:avLst>
          </a:prstGeom>
          <a:solidFill>
            <a:schemeClr val="bg2"/>
          </a:solidFill>
          <a:ln/>
        </p:spPr>
      </p:sp>
      <p:sp>
        <p:nvSpPr>
          <p:cNvPr id="38" name="Persona icon 4"/>
          <p:cNvSpPr/>
          <p:nvPr/>
        </p:nvSpPr>
        <p:spPr>
          <a:xfrm>
            <a:off x="5532120" y="4498848"/>
            <a:ext cx="493776" cy="493776"/>
          </a:xfrm>
          <a:prstGeom prst="ellipse">
            <a:avLst/>
          </a:prstGeom>
          <a:solidFill>
            <a:schemeClr val="accent1"/>
          </a:solidFill>
          <a:ln/>
        </p:spPr>
      </p:sp>
      <p:pic>
        <p:nvPicPr>
          <p:cNvPr id="39" name="Persona icon 4 icon" descr="preencoded.png">    </p:cNvPr>
          <p:cNvPicPr>
            <a:picLocks noChangeAspect="1"/>
          </p:cNvPicPr>
          <p:nvPr/>
        </p:nvPicPr>
        <p:blipFill>
          <a:blip r:embed="rId4"/>
          <a:stretch>
            <a:fillRect/>
          </a:stretch>
        </p:blipFill>
        <p:spPr>
          <a:xfrm>
            <a:off x="5650626" y="4617354"/>
            <a:ext cx="256764" cy="256764"/>
          </a:xfrm>
          <a:prstGeom prst="rect">
            <a:avLst/>
          </a:prstGeom>
        </p:spPr>
      </p:pic>
      <p:sp>
        <p:nvSpPr>
          <p:cNvPr id="40" name="Text 34"/>
          <p:cNvSpPr txBox="1"/>
          <p:nvPr/>
        </p:nvSpPr>
        <p:spPr>
          <a:xfrm>
            <a:off x="6199632" y="4425696"/>
            <a:ext cx="2103120" cy="640080"/>
          </a:xfrm>
          <a:prstGeom prst="rect">
            <a:avLst/>
          </a:prstGeom>
          <a:noFill/>
          <a:ln/>
        </p:spPr>
        <p:txBody>
          <a:bodyPr wrap="square" lIns="0" tIns="0" rIns="0" bIns="0" rtlCol="0" anchor="ctr"/>
          <a:lstStyle/>
          <a:p>
            <a:pPr indent="0" marL="0">
              <a:buNone/>
            </a:pPr>
            <a:r>
              <a:rPr lang="en-US" sz="1500" b="1" dirty="0">
                <a:solidFill>
                  <a:schemeClr val="tx2"/>
                </a:solidFill>
              </a:rPr>
              <a:t>Subject-matter expert</a:t>
            </a:r>
            <a:endParaRPr lang="en-US" sz="1500" dirty="0"/>
          </a:p>
        </p:txBody>
      </p:sp>
      <p:sp>
        <p:nvSpPr>
          <p:cNvPr id="41" name="Text 35"/>
          <p:cNvSpPr txBox="1"/>
          <p:nvPr/>
        </p:nvSpPr>
        <p:spPr>
          <a:xfrm>
            <a:off x="8229600" y="4425696"/>
            <a:ext cx="3291840" cy="640080"/>
          </a:xfrm>
          <a:prstGeom prst="rect">
            <a:avLst/>
          </a:prstGeom>
          <a:noFill/>
          <a:ln/>
        </p:spPr>
        <p:txBody>
          <a:bodyPr wrap="square" lIns="0" tIns="0" rIns="0" bIns="0" rtlCol="0" anchor="ctr"/>
          <a:lstStyle/>
          <a:p>
            <a:pPr indent="0" marL="0">
              <a:buNone/>
            </a:pPr>
            <a:r>
              <a:rPr lang="en-US" sz="1400" i="1" dirty="0">
                <a:solidFill>
                  <a:schemeClr val="accent4"/>
                </a:solidFill>
              </a:rPr>
              <a:t>“I answer this every single week.”</a:t>
            </a:r>
            <a:endParaRPr lang="en-US" sz="1400" dirty="0"/>
          </a:p>
        </p:txBody>
      </p:sp>
      <p:sp>
        <p:nvSpPr>
          <p:cNvPr id="42" name="Persona row 5"/>
          <p:cNvSpPr/>
          <p:nvPr/>
        </p:nvSpPr>
        <p:spPr>
          <a:xfrm>
            <a:off x="5440680" y="5184648"/>
            <a:ext cx="6199632" cy="640080"/>
          </a:xfrm>
          <a:prstGeom prst="roundRect">
            <a:avLst>
              <a:gd name="adj" fmla="val 14286"/>
            </a:avLst>
          </a:prstGeom>
          <a:solidFill>
            <a:schemeClr val="bg2"/>
          </a:solidFill>
          <a:ln/>
        </p:spPr>
      </p:sp>
      <p:sp>
        <p:nvSpPr>
          <p:cNvPr id="43" name="Persona icon 5"/>
          <p:cNvSpPr/>
          <p:nvPr/>
        </p:nvSpPr>
        <p:spPr>
          <a:xfrm>
            <a:off x="5532120" y="5257800"/>
            <a:ext cx="493776" cy="493776"/>
          </a:xfrm>
          <a:prstGeom prst="ellipse">
            <a:avLst/>
          </a:prstGeom>
          <a:solidFill>
            <a:schemeClr val="accent1"/>
          </a:solidFill>
          <a:ln/>
        </p:spPr>
      </p:sp>
      <p:pic>
        <p:nvPicPr>
          <p:cNvPr id="44" name="Persona icon 5 icon" descr="preencoded.png">    </p:cNvPr>
          <p:cNvPicPr>
            <a:picLocks noChangeAspect="1"/>
          </p:cNvPicPr>
          <p:nvPr/>
        </p:nvPicPr>
        <p:blipFill>
          <a:blip r:embed="rId5"/>
          <a:stretch>
            <a:fillRect/>
          </a:stretch>
        </p:blipFill>
        <p:spPr>
          <a:xfrm>
            <a:off x="5650626" y="5376306"/>
            <a:ext cx="256764" cy="256764"/>
          </a:xfrm>
          <a:prstGeom prst="rect">
            <a:avLst/>
          </a:prstGeom>
        </p:spPr>
      </p:pic>
      <p:sp>
        <p:nvSpPr>
          <p:cNvPr id="45" name="Text 38"/>
          <p:cNvSpPr txBox="1"/>
          <p:nvPr/>
        </p:nvSpPr>
        <p:spPr>
          <a:xfrm>
            <a:off x="6199632" y="5184648"/>
            <a:ext cx="2103120" cy="640080"/>
          </a:xfrm>
          <a:prstGeom prst="rect">
            <a:avLst/>
          </a:prstGeom>
          <a:noFill/>
          <a:ln/>
        </p:spPr>
        <p:txBody>
          <a:bodyPr wrap="square" lIns="0" tIns="0" rIns="0" bIns="0" rtlCol="0" anchor="ctr"/>
          <a:lstStyle/>
          <a:p>
            <a:pPr indent="0" marL="0">
              <a:buNone/>
            </a:pPr>
            <a:r>
              <a:rPr lang="en-US" sz="1500" b="1" dirty="0">
                <a:solidFill>
                  <a:schemeClr val="tx2"/>
                </a:solidFill>
              </a:rPr>
              <a:t>Knowledge &amp; IT admin</a:t>
            </a:r>
            <a:endParaRPr lang="en-US" sz="1500" dirty="0"/>
          </a:p>
        </p:txBody>
      </p:sp>
      <p:sp>
        <p:nvSpPr>
          <p:cNvPr id="46" name="Text 39"/>
          <p:cNvSpPr txBox="1"/>
          <p:nvPr/>
        </p:nvSpPr>
        <p:spPr>
          <a:xfrm>
            <a:off x="8229600" y="5184648"/>
            <a:ext cx="3291840" cy="640080"/>
          </a:xfrm>
          <a:prstGeom prst="rect">
            <a:avLst/>
          </a:prstGeom>
          <a:noFill/>
          <a:ln/>
        </p:spPr>
        <p:txBody>
          <a:bodyPr wrap="square" lIns="0" tIns="0" rIns="0" bIns="0" rtlCol="0" anchor="ctr"/>
          <a:lstStyle/>
          <a:p>
            <a:pPr indent="0" marL="0">
              <a:buNone/>
            </a:pPr>
            <a:r>
              <a:rPr lang="en-US" sz="1400" i="1" dirty="0">
                <a:solidFill>
                  <a:schemeClr val="accent4"/>
                </a:solidFill>
              </a:rPr>
              <a:t>“Who's going to organize all this?”</a:t>
            </a:r>
            <a:endParaRPr lang="en-US" sz="14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HOW IT WORKS</a:t>
            </a: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lIns="0" tIns="0" rIns="0" bIns="0" rtlCol="0" anchor="t"/>
          <a:lstStyle/>
          <a:p>
            <a:pPr algn="l" indent="0" marL="0">
              <a:buNone/>
            </a:pPr>
            <a:r>
              <a:rPr lang="en-US" sz="3400" b="1" dirty="0">
                <a:solidFill>
                  <a:schemeClr val="tx2"/>
                </a:solidFill>
              </a:rPr>
              <a:t>Four capabilities, one connected knowledge layer</a:t>
            </a:r>
            <a:endParaRPr lang="en-US" sz="3400" dirty="0"/>
          </a:p>
        </p:txBody>
      </p:sp>
      <p:sp>
        <p:nvSpPr>
          <p:cNvPr id="4" name="Sources panel"/>
          <p:cNvSpPr/>
          <p:nvPr/>
        </p:nvSpPr>
        <p:spPr>
          <a:xfrm>
            <a:off x="548640" y="1783080"/>
            <a:ext cx="1691640" cy="4251960"/>
          </a:xfrm>
          <a:prstGeom prst="roundRect">
            <a:avLst>
              <a:gd name="adj" fmla="val 6486"/>
            </a:avLst>
          </a:prstGeom>
          <a:solidFill>
            <a:schemeClr val="tx2"/>
          </a:solidFill>
          <a:ln/>
        </p:spPr>
      </p:sp>
      <p:sp>
        <p:nvSpPr>
          <p:cNvPr id="5" name="Text 3"/>
          <p:cNvSpPr txBox="1"/>
          <p:nvPr/>
        </p:nvSpPr>
        <p:spPr>
          <a:xfrm>
            <a:off x="548640" y="1965960"/>
            <a:ext cx="1691640" cy="274320"/>
          </a:xfrm>
          <a:prstGeom prst="rect">
            <a:avLst/>
          </a:prstGeom>
          <a:noFill/>
          <a:ln/>
        </p:spPr>
        <p:txBody>
          <a:bodyPr wrap="square" lIns="0" tIns="0" rIns="0" bIns="0" rtlCol="0" anchor="t"/>
          <a:lstStyle/>
          <a:p>
            <a:pPr algn="ctr" indent="0" marL="0">
              <a:buNone/>
            </a:pPr>
            <a:r>
              <a:rPr lang="en-US" sz="1100" b="1" spc="200" kern="0" dirty="0">
                <a:solidFill>
                  <a:schemeClr val="accent2"/>
                </a:solidFill>
              </a:rPr>
              <a:t>YOUR CONTENT</a:t>
            </a:r>
            <a:endParaRPr lang="en-US" sz="1100" dirty="0"/>
          </a:p>
        </p:txBody>
      </p:sp>
      <p:sp>
        <p:nvSpPr>
          <p:cNvPr id="6" name="Source icon 1"/>
          <p:cNvSpPr/>
          <p:nvPr/>
        </p:nvSpPr>
        <p:spPr>
          <a:xfrm>
            <a:off x="1115568" y="2468880"/>
            <a:ext cx="548640" cy="548640"/>
          </a:xfrm>
          <a:prstGeom prst="ellipse">
            <a:avLst/>
          </a:prstGeom>
          <a:solidFill>
            <a:schemeClr val="accent1"/>
          </a:solidFill>
          <a:ln/>
        </p:spPr>
      </p:sp>
      <p:pic>
        <p:nvPicPr>
          <p:cNvPr id="7" name="Source icon 1 icon" descr="preencoded.png">    </p:cNvPr>
          <p:cNvPicPr>
            <a:picLocks noChangeAspect="1"/>
          </p:cNvPicPr>
          <p:nvPr/>
        </p:nvPicPr>
        <p:blipFill>
          <a:blip r:embed="rId1"/>
          <a:stretch>
            <a:fillRect/>
          </a:stretch>
        </p:blipFill>
        <p:spPr>
          <a:xfrm>
            <a:off x="1247242" y="2600554"/>
            <a:ext cx="285293" cy="285293"/>
          </a:xfrm>
          <a:prstGeom prst="rect">
            <a:avLst/>
          </a:prstGeom>
        </p:spPr>
      </p:pic>
      <p:sp>
        <p:nvSpPr>
          <p:cNvPr id="8" name="Text 5"/>
          <p:cNvSpPr txBox="1"/>
          <p:nvPr/>
        </p:nvSpPr>
        <p:spPr>
          <a:xfrm>
            <a:off x="640080" y="3063240"/>
            <a:ext cx="1508760" cy="457200"/>
          </a:xfrm>
          <a:prstGeom prst="rect">
            <a:avLst/>
          </a:prstGeom>
          <a:noFill/>
          <a:ln/>
        </p:spPr>
        <p:txBody>
          <a:bodyPr wrap="square" lIns="0" tIns="0" rIns="0" bIns="0" rtlCol="0" anchor="t"/>
          <a:lstStyle/>
          <a:p>
            <a:pPr algn="ctr" indent="0" marL="0">
              <a:buNone/>
            </a:pPr>
            <a:r>
              <a:rPr lang="en-US" sz="1200" dirty="0">
                <a:solidFill>
                  <a:schemeClr val="bg1"/>
                </a:solidFill>
              </a:rPr>
              <a:t>SharePoint sync</a:t>
            </a:r>
            <a:endParaRPr lang="en-US" sz="1200" dirty="0"/>
          </a:p>
        </p:txBody>
      </p:sp>
      <p:sp>
        <p:nvSpPr>
          <p:cNvPr id="9" name="Source icon 2"/>
          <p:cNvSpPr/>
          <p:nvPr/>
        </p:nvSpPr>
        <p:spPr>
          <a:xfrm>
            <a:off x="1115568" y="3611880"/>
            <a:ext cx="548640" cy="548640"/>
          </a:xfrm>
          <a:prstGeom prst="ellipse">
            <a:avLst/>
          </a:prstGeom>
          <a:solidFill>
            <a:schemeClr val="accent1"/>
          </a:solidFill>
          <a:ln/>
        </p:spPr>
      </p:sp>
      <p:pic>
        <p:nvPicPr>
          <p:cNvPr id="10" name="Source icon 2 icon" descr="preencoded.png">    </p:cNvPr>
          <p:cNvPicPr>
            <a:picLocks noChangeAspect="1"/>
          </p:cNvPicPr>
          <p:nvPr/>
        </p:nvPicPr>
        <p:blipFill>
          <a:blip r:embed="rId2"/>
          <a:stretch>
            <a:fillRect/>
          </a:stretch>
        </p:blipFill>
        <p:spPr>
          <a:xfrm>
            <a:off x="1247242" y="3743554"/>
            <a:ext cx="285293" cy="285293"/>
          </a:xfrm>
          <a:prstGeom prst="rect">
            <a:avLst/>
          </a:prstGeom>
        </p:spPr>
      </p:pic>
      <p:sp>
        <p:nvSpPr>
          <p:cNvPr id="11" name="Text 7"/>
          <p:cNvSpPr txBox="1"/>
          <p:nvPr/>
        </p:nvSpPr>
        <p:spPr>
          <a:xfrm>
            <a:off x="640080" y="4206240"/>
            <a:ext cx="1508760" cy="457200"/>
          </a:xfrm>
          <a:prstGeom prst="rect">
            <a:avLst/>
          </a:prstGeom>
          <a:noFill/>
          <a:ln/>
        </p:spPr>
        <p:txBody>
          <a:bodyPr wrap="square" lIns="0" tIns="0" rIns="0" bIns="0" rtlCol="0" anchor="t"/>
          <a:lstStyle/>
          <a:p>
            <a:pPr algn="ctr" indent="0" marL="0">
              <a:buNone/>
            </a:pPr>
            <a:r>
              <a:rPr lang="en-US" sz="1200" dirty="0">
                <a:solidFill>
                  <a:schemeClr val="bg1"/>
                </a:solidFill>
              </a:rPr>
              <a:t>Uploads</a:t>
            </a:r>
            <a:endParaRPr lang="en-US" sz="1200" dirty="0"/>
          </a:p>
        </p:txBody>
      </p:sp>
      <p:sp>
        <p:nvSpPr>
          <p:cNvPr id="12" name="Source icon 3"/>
          <p:cNvSpPr/>
          <p:nvPr/>
        </p:nvSpPr>
        <p:spPr>
          <a:xfrm>
            <a:off x="1115568" y="4754880"/>
            <a:ext cx="548640" cy="548640"/>
          </a:xfrm>
          <a:prstGeom prst="ellipse">
            <a:avLst/>
          </a:prstGeom>
          <a:solidFill>
            <a:schemeClr val="accent1"/>
          </a:solidFill>
          <a:ln/>
        </p:spPr>
      </p:sp>
      <p:pic>
        <p:nvPicPr>
          <p:cNvPr id="13" name="Source icon 3 icon" descr="preencoded.png">    </p:cNvPr>
          <p:cNvPicPr>
            <a:picLocks noChangeAspect="1"/>
          </p:cNvPicPr>
          <p:nvPr/>
        </p:nvPicPr>
        <p:blipFill>
          <a:blip r:embed="rId3"/>
          <a:stretch>
            <a:fillRect/>
          </a:stretch>
        </p:blipFill>
        <p:spPr>
          <a:xfrm>
            <a:off x="1247242" y="4886554"/>
            <a:ext cx="285293" cy="285293"/>
          </a:xfrm>
          <a:prstGeom prst="rect">
            <a:avLst/>
          </a:prstGeom>
        </p:spPr>
      </p:pic>
      <p:sp>
        <p:nvSpPr>
          <p:cNvPr id="14" name="Text 9"/>
          <p:cNvSpPr txBox="1"/>
          <p:nvPr/>
        </p:nvSpPr>
        <p:spPr>
          <a:xfrm>
            <a:off x="640080" y="5349240"/>
            <a:ext cx="1508760" cy="457200"/>
          </a:xfrm>
          <a:prstGeom prst="rect">
            <a:avLst/>
          </a:prstGeom>
          <a:noFill/>
          <a:ln/>
        </p:spPr>
        <p:txBody>
          <a:bodyPr wrap="square" lIns="0" tIns="0" rIns="0" bIns="0" rtlCol="0" anchor="t"/>
          <a:lstStyle/>
          <a:p>
            <a:pPr algn="ctr" indent="0" marL="0">
              <a:buNone/>
            </a:pPr>
            <a:r>
              <a:rPr lang="en-US" sz="1200" dirty="0">
                <a:solidFill>
                  <a:schemeClr val="bg1"/>
                </a:solidFill>
              </a:rPr>
              <a:t>Departments &amp; projects</a:t>
            </a:r>
            <a:endParaRPr lang="en-US" sz="1200" dirty="0"/>
          </a:p>
        </p:txBody>
      </p:sp>
      <p:pic>
        <p:nvPicPr>
          <p:cNvPr id="15" name="Flow arrow" descr="preencoded.png">    </p:cNvPr>
          <p:cNvPicPr>
            <a:picLocks noChangeAspect="1"/>
          </p:cNvPicPr>
          <p:nvPr/>
        </p:nvPicPr>
        <p:blipFill>
          <a:blip r:embed="rId4"/>
          <a:stretch>
            <a:fillRect/>
          </a:stretch>
        </p:blipFill>
        <p:spPr>
          <a:xfrm>
            <a:off x="2286000" y="3657600"/>
            <a:ext cx="457200" cy="457200"/>
          </a:xfrm>
          <a:prstGeom prst="rect">
            <a:avLst/>
          </a:prstGeom>
        </p:spPr>
      </p:pic>
      <p:sp>
        <p:nvSpPr>
          <p:cNvPr id="16" name="Pillar 1"/>
          <p:cNvSpPr/>
          <p:nvPr/>
        </p:nvSpPr>
        <p:spPr>
          <a:xfrm>
            <a:off x="2788920" y="1783080"/>
            <a:ext cx="2057400" cy="4251960"/>
          </a:xfrm>
          <a:prstGeom prst="roundRect">
            <a:avLst>
              <a:gd name="adj" fmla="val 5333"/>
            </a:avLst>
          </a:prstGeom>
          <a:solidFill>
            <a:schemeClr val="bg2"/>
          </a:solidFill>
          <a:ln/>
        </p:spPr>
      </p:sp>
      <p:sp>
        <p:nvSpPr>
          <p:cNvPr id="17" name="Pillar icon 1"/>
          <p:cNvSpPr/>
          <p:nvPr/>
        </p:nvSpPr>
        <p:spPr>
          <a:xfrm>
            <a:off x="2971800" y="2011680"/>
            <a:ext cx="566928" cy="566928"/>
          </a:xfrm>
          <a:prstGeom prst="ellipse">
            <a:avLst/>
          </a:prstGeom>
          <a:solidFill>
            <a:schemeClr val="accent1"/>
          </a:solidFill>
          <a:ln/>
        </p:spPr>
      </p:sp>
      <p:pic>
        <p:nvPicPr>
          <p:cNvPr id="18" name="Pillar icon 1 icon" descr="preencoded.png">    </p:cNvPr>
          <p:cNvPicPr>
            <a:picLocks noChangeAspect="1"/>
          </p:cNvPicPr>
          <p:nvPr/>
        </p:nvPicPr>
        <p:blipFill>
          <a:blip r:embed="rId5"/>
          <a:stretch>
            <a:fillRect/>
          </a:stretch>
        </p:blipFill>
        <p:spPr>
          <a:xfrm>
            <a:off x="3107863" y="2147743"/>
            <a:ext cx="294803" cy="294803"/>
          </a:xfrm>
          <a:prstGeom prst="rect">
            <a:avLst/>
          </a:prstGeom>
        </p:spPr>
      </p:pic>
      <p:sp>
        <p:nvSpPr>
          <p:cNvPr id="19" name="Text 12"/>
          <p:cNvSpPr txBox="1"/>
          <p:nvPr/>
        </p:nvSpPr>
        <p:spPr>
          <a:xfrm>
            <a:off x="2971800" y="2697480"/>
            <a:ext cx="1737360" cy="365760"/>
          </a:xfrm>
          <a:prstGeom prst="rect">
            <a:avLst/>
          </a:prstGeom>
          <a:noFill/>
          <a:ln/>
        </p:spPr>
        <p:txBody>
          <a:bodyPr wrap="square" lIns="0" tIns="0" rIns="0" bIns="0" rtlCol="0" anchor="t"/>
          <a:lstStyle/>
          <a:p>
            <a:pPr indent="0" marL="0">
              <a:buNone/>
            </a:pPr>
            <a:r>
              <a:rPr lang="en-US" sz="1900" b="1" spc="100" kern="0" dirty="0">
                <a:solidFill>
                  <a:schemeClr val="accent1"/>
                </a:solidFill>
              </a:rPr>
              <a:t>ASK</a:t>
            </a:r>
            <a:endParaRPr lang="en-US" sz="1900" dirty="0"/>
          </a:p>
        </p:txBody>
      </p:sp>
      <p:sp>
        <p:nvSpPr>
          <p:cNvPr id="20" name="Text 13"/>
          <p:cNvSpPr txBox="1"/>
          <p:nvPr/>
        </p:nvSpPr>
        <p:spPr>
          <a:xfrm>
            <a:off x="2971800" y="3081528"/>
            <a:ext cx="1737360" cy="594360"/>
          </a:xfrm>
          <a:prstGeom prst="rect">
            <a:avLst/>
          </a:prstGeom>
          <a:noFill/>
          <a:ln/>
        </p:spPr>
        <p:txBody>
          <a:bodyPr wrap="square" lIns="0" tIns="0" rIns="0" bIns="0" rtlCol="0" anchor="t"/>
          <a:lstStyle/>
          <a:p>
            <a:pPr indent="0" marL="0">
              <a:buNone/>
            </a:pPr>
            <a:r>
              <a:rPr lang="en-US" sz="1300" i="1" dirty="0">
                <a:solidFill>
                  <a:schemeClr val="accent4"/>
                </a:solidFill>
              </a:rPr>
              <a:t>Answers in plain language, with sources</a:t>
            </a:r>
            <a:endParaRPr lang="en-US" sz="1300" dirty="0"/>
          </a:p>
        </p:txBody>
      </p:sp>
      <p:sp>
        <p:nvSpPr>
          <p:cNvPr id="21" name="Text 14"/>
          <p:cNvSpPr txBox="1"/>
          <p:nvPr/>
        </p:nvSpPr>
        <p:spPr>
          <a:xfrm>
            <a:off x="2971800" y="3794760"/>
            <a:ext cx="1783080" cy="210312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Conversational Assistant</a:t>
            </a:r>
            <a:endParaRPr lang="en-US" sz="1300" dirty="0"/>
          </a:p>
          <a:p>
            <a:pPr marL="152400" indent="-152400">
              <a:spcAft>
                <a:spcPts val="500"/>
              </a:spcAft>
              <a:buSzPct val="100000"/>
              <a:buChar char="•"/>
            </a:pPr>
            <a:r>
              <a:rPr lang="en-US" sz="1300" dirty="0">
                <a:solidFill>
                  <a:schemeClr val="tx1"/>
                </a:solidFill>
              </a:rPr>
              <a:t>Semantic Retrieval</a:t>
            </a:r>
            <a:endParaRPr lang="en-US" sz="1300" dirty="0"/>
          </a:p>
          <a:p>
            <a:pPr marL="152400" indent="-152400">
              <a:spcAft>
                <a:spcPts val="500"/>
              </a:spcAft>
              <a:buSzPct val="100000"/>
              <a:buChar char="•"/>
            </a:pPr>
            <a:r>
              <a:rPr lang="en-US" sz="1300" dirty="0">
                <a:solidFill>
                  <a:schemeClr val="tx1"/>
                </a:solidFill>
              </a:rPr>
              <a:t>Knowledge Summarization</a:t>
            </a:r>
            <a:endParaRPr lang="en-US" sz="1300" dirty="0"/>
          </a:p>
        </p:txBody>
      </p:sp>
      <p:sp>
        <p:nvSpPr>
          <p:cNvPr id="22" name="Pillar 2"/>
          <p:cNvSpPr/>
          <p:nvPr/>
        </p:nvSpPr>
        <p:spPr>
          <a:xfrm>
            <a:off x="5010912" y="1783080"/>
            <a:ext cx="2057400" cy="4251960"/>
          </a:xfrm>
          <a:prstGeom prst="roundRect">
            <a:avLst>
              <a:gd name="adj" fmla="val 5333"/>
            </a:avLst>
          </a:prstGeom>
          <a:solidFill>
            <a:schemeClr val="bg2"/>
          </a:solidFill>
          <a:ln/>
        </p:spPr>
      </p:sp>
      <p:sp>
        <p:nvSpPr>
          <p:cNvPr id="23" name="Pillar icon 2"/>
          <p:cNvSpPr/>
          <p:nvPr/>
        </p:nvSpPr>
        <p:spPr>
          <a:xfrm>
            <a:off x="5193792" y="2011680"/>
            <a:ext cx="566928" cy="566928"/>
          </a:xfrm>
          <a:prstGeom prst="ellipse">
            <a:avLst/>
          </a:prstGeom>
          <a:solidFill>
            <a:schemeClr val="accent1"/>
          </a:solidFill>
          <a:ln/>
        </p:spPr>
      </p:sp>
      <p:pic>
        <p:nvPicPr>
          <p:cNvPr id="24" name="Pillar icon 2 icon" descr="preencoded.png">    </p:cNvPr>
          <p:cNvPicPr>
            <a:picLocks noChangeAspect="1"/>
          </p:cNvPicPr>
          <p:nvPr/>
        </p:nvPicPr>
        <p:blipFill>
          <a:blip r:embed="rId6"/>
          <a:stretch>
            <a:fillRect/>
          </a:stretch>
        </p:blipFill>
        <p:spPr>
          <a:xfrm>
            <a:off x="5329855" y="2147743"/>
            <a:ext cx="294803" cy="294803"/>
          </a:xfrm>
          <a:prstGeom prst="rect">
            <a:avLst/>
          </a:prstGeom>
        </p:spPr>
      </p:pic>
      <p:sp>
        <p:nvSpPr>
          <p:cNvPr id="25" name="Text 17"/>
          <p:cNvSpPr txBox="1"/>
          <p:nvPr/>
        </p:nvSpPr>
        <p:spPr>
          <a:xfrm>
            <a:off x="5193792" y="2697480"/>
            <a:ext cx="1737360" cy="365760"/>
          </a:xfrm>
          <a:prstGeom prst="rect">
            <a:avLst/>
          </a:prstGeom>
          <a:noFill/>
          <a:ln/>
        </p:spPr>
        <p:txBody>
          <a:bodyPr wrap="square" lIns="0" tIns="0" rIns="0" bIns="0" rtlCol="0" anchor="t"/>
          <a:lstStyle/>
          <a:p>
            <a:pPr indent="0" marL="0">
              <a:buNone/>
            </a:pPr>
            <a:r>
              <a:rPr lang="en-US" sz="1900" b="1" spc="100" kern="0" dirty="0">
                <a:solidFill>
                  <a:schemeClr val="accent1"/>
                </a:solidFill>
              </a:rPr>
              <a:t>UNDERSTAND</a:t>
            </a:r>
            <a:endParaRPr lang="en-US" sz="1900" dirty="0"/>
          </a:p>
        </p:txBody>
      </p:sp>
      <p:sp>
        <p:nvSpPr>
          <p:cNvPr id="26" name="Text 18"/>
          <p:cNvSpPr txBox="1"/>
          <p:nvPr/>
        </p:nvSpPr>
        <p:spPr>
          <a:xfrm>
            <a:off x="5193792" y="3081528"/>
            <a:ext cx="1737360" cy="594360"/>
          </a:xfrm>
          <a:prstGeom prst="rect">
            <a:avLst/>
          </a:prstGeom>
          <a:noFill/>
          <a:ln/>
        </p:spPr>
        <p:txBody>
          <a:bodyPr wrap="square" lIns="0" tIns="0" rIns="0" bIns="0" rtlCol="0" anchor="t"/>
          <a:lstStyle/>
          <a:p>
            <a:pPr indent="0" marL="0">
              <a:buNone/>
            </a:pPr>
            <a:r>
              <a:rPr lang="en-US" sz="1300" i="1" dirty="0">
                <a:solidFill>
                  <a:schemeClr val="accent4"/>
                </a:solidFill>
              </a:rPr>
              <a:t>Content organizes itself on arrival</a:t>
            </a:r>
            <a:endParaRPr lang="en-US" sz="1300" dirty="0"/>
          </a:p>
        </p:txBody>
      </p:sp>
      <p:sp>
        <p:nvSpPr>
          <p:cNvPr id="27" name="Text 19"/>
          <p:cNvSpPr txBox="1"/>
          <p:nvPr/>
        </p:nvSpPr>
        <p:spPr>
          <a:xfrm>
            <a:off x="5193792" y="3794760"/>
            <a:ext cx="1783080" cy="210312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Automated Ingestion</a:t>
            </a:r>
            <a:endParaRPr lang="en-US" sz="1300" dirty="0"/>
          </a:p>
          <a:p>
            <a:pPr marL="152400" indent="-152400">
              <a:spcAft>
                <a:spcPts val="500"/>
              </a:spcAft>
              <a:buSzPct val="100000"/>
              <a:buChar char="•"/>
            </a:pPr>
            <a:r>
              <a:rPr lang="en-US" sz="1300" dirty="0">
                <a:solidFill>
                  <a:schemeClr val="tx1"/>
                </a:solidFill>
              </a:rPr>
              <a:t>Auto-Classification</a:t>
            </a:r>
            <a:endParaRPr lang="en-US" sz="1300" dirty="0"/>
          </a:p>
          <a:p>
            <a:pPr marL="152400" indent="-152400">
              <a:spcAft>
                <a:spcPts val="500"/>
              </a:spcAft>
              <a:buSzPct val="100000"/>
              <a:buChar char="•"/>
            </a:pPr>
            <a:r>
              <a:rPr lang="en-US" sz="1300" dirty="0">
                <a:solidFill>
                  <a:schemeClr val="tx1"/>
                </a:solidFill>
              </a:rPr>
              <a:t>Cross-Document Reasoning</a:t>
            </a:r>
            <a:endParaRPr lang="en-US" sz="1300" dirty="0"/>
          </a:p>
          <a:p>
            <a:pPr marL="152400" indent="-152400">
              <a:spcAft>
                <a:spcPts val="500"/>
              </a:spcAft>
              <a:buSzPct val="100000"/>
              <a:buChar char="•"/>
            </a:pPr>
            <a:r>
              <a:rPr lang="en-US" sz="1300" dirty="0">
                <a:solidFill>
                  <a:schemeClr val="tx1"/>
                </a:solidFill>
              </a:rPr>
              <a:t>Enterprise Repository</a:t>
            </a:r>
            <a:endParaRPr lang="en-US" sz="1300" dirty="0"/>
          </a:p>
        </p:txBody>
      </p:sp>
      <p:sp>
        <p:nvSpPr>
          <p:cNvPr id="28" name="Pillar 3"/>
          <p:cNvSpPr/>
          <p:nvPr/>
        </p:nvSpPr>
        <p:spPr>
          <a:xfrm>
            <a:off x="7232904" y="1783080"/>
            <a:ext cx="2057400" cy="4251960"/>
          </a:xfrm>
          <a:prstGeom prst="roundRect">
            <a:avLst>
              <a:gd name="adj" fmla="val 5333"/>
            </a:avLst>
          </a:prstGeom>
          <a:solidFill>
            <a:schemeClr val="bg2"/>
          </a:solidFill>
          <a:ln/>
        </p:spPr>
      </p:sp>
      <p:sp>
        <p:nvSpPr>
          <p:cNvPr id="29" name="Pillar icon 3"/>
          <p:cNvSpPr/>
          <p:nvPr/>
        </p:nvSpPr>
        <p:spPr>
          <a:xfrm>
            <a:off x="7415784" y="2011680"/>
            <a:ext cx="566928" cy="566928"/>
          </a:xfrm>
          <a:prstGeom prst="ellipse">
            <a:avLst/>
          </a:prstGeom>
          <a:solidFill>
            <a:schemeClr val="accent1"/>
          </a:solidFill>
          <a:ln/>
        </p:spPr>
      </p:sp>
      <p:pic>
        <p:nvPicPr>
          <p:cNvPr id="30" name="Pillar icon 3 icon" descr="preencoded.png">    </p:cNvPr>
          <p:cNvPicPr>
            <a:picLocks noChangeAspect="1"/>
          </p:cNvPicPr>
          <p:nvPr/>
        </p:nvPicPr>
        <p:blipFill>
          <a:blip r:embed="rId7"/>
          <a:stretch>
            <a:fillRect/>
          </a:stretch>
        </p:blipFill>
        <p:spPr>
          <a:xfrm>
            <a:off x="7551847" y="2147743"/>
            <a:ext cx="294803" cy="294803"/>
          </a:xfrm>
          <a:prstGeom prst="rect">
            <a:avLst/>
          </a:prstGeom>
        </p:spPr>
      </p:pic>
      <p:sp>
        <p:nvSpPr>
          <p:cNvPr id="31" name="Text 22"/>
          <p:cNvSpPr txBox="1"/>
          <p:nvPr/>
        </p:nvSpPr>
        <p:spPr>
          <a:xfrm>
            <a:off x="7415784" y="2697480"/>
            <a:ext cx="1737360" cy="365760"/>
          </a:xfrm>
          <a:prstGeom prst="rect">
            <a:avLst/>
          </a:prstGeom>
          <a:noFill/>
          <a:ln/>
        </p:spPr>
        <p:txBody>
          <a:bodyPr wrap="square" lIns="0" tIns="0" rIns="0" bIns="0" rtlCol="0" anchor="t"/>
          <a:lstStyle/>
          <a:p>
            <a:pPr indent="0" marL="0">
              <a:buNone/>
            </a:pPr>
            <a:r>
              <a:rPr lang="en-US" sz="1900" b="1" spc="100" kern="0" dirty="0">
                <a:solidFill>
                  <a:schemeClr val="accent1"/>
                </a:solidFill>
              </a:rPr>
              <a:t>CONNECT</a:t>
            </a:r>
            <a:endParaRPr lang="en-US" sz="1900" dirty="0"/>
          </a:p>
        </p:txBody>
      </p:sp>
      <p:sp>
        <p:nvSpPr>
          <p:cNvPr id="32" name="Text 23"/>
          <p:cNvSpPr txBox="1"/>
          <p:nvPr/>
        </p:nvSpPr>
        <p:spPr>
          <a:xfrm>
            <a:off x="7415784" y="3081528"/>
            <a:ext cx="1737360" cy="594360"/>
          </a:xfrm>
          <a:prstGeom prst="rect">
            <a:avLst/>
          </a:prstGeom>
          <a:noFill/>
          <a:ln/>
        </p:spPr>
        <p:txBody>
          <a:bodyPr wrap="square" lIns="0" tIns="0" rIns="0" bIns="0" rtlCol="0" anchor="t"/>
          <a:lstStyle/>
          <a:p>
            <a:pPr indent="0" marL="0">
              <a:buNone/>
            </a:pPr>
            <a:r>
              <a:rPr lang="en-US" sz="1300" i="1" dirty="0">
                <a:solidFill>
                  <a:schemeClr val="accent4"/>
                </a:solidFill>
              </a:rPr>
              <a:t>Knowledge linked to people and projects</a:t>
            </a:r>
            <a:endParaRPr lang="en-US" sz="1300" dirty="0"/>
          </a:p>
        </p:txBody>
      </p:sp>
      <p:sp>
        <p:nvSpPr>
          <p:cNvPr id="33" name="Text 24"/>
          <p:cNvSpPr txBox="1"/>
          <p:nvPr/>
        </p:nvSpPr>
        <p:spPr>
          <a:xfrm>
            <a:off x="7415784" y="3794760"/>
            <a:ext cx="1783080" cy="210312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Context Engine</a:t>
            </a:r>
            <a:endParaRPr lang="en-US" sz="1300" dirty="0"/>
          </a:p>
          <a:p>
            <a:pPr marL="152400" indent="-152400">
              <a:spcAft>
                <a:spcPts val="500"/>
              </a:spcAft>
              <a:buSzPct val="100000"/>
              <a:buChar char="•"/>
            </a:pPr>
            <a:r>
              <a:rPr lang="en-US" sz="1300" dirty="0">
                <a:solidFill>
                  <a:schemeClr val="tx1"/>
                </a:solidFill>
              </a:rPr>
              <a:t>Expert Discovery</a:t>
            </a:r>
            <a:endParaRPr lang="en-US" sz="1300" dirty="0"/>
          </a:p>
          <a:p>
            <a:pPr marL="152400" indent="-152400">
              <a:spcAft>
                <a:spcPts val="500"/>
              </a:spcAft>
              <a:buSzPct val="100000"/>
              <a:buChar char="•"/>
            </a:pPr>
            <a:r>
              <a:rPr lang="en-US" sz="1300" dirty="0">
                <a:solidFill>
                  <a:schemeClr val="tx1"/>
                </a:solidFill>
              </a:rPr>
              <a:t>Recommendations</a:t>
            </a:r>
            <a:endParaRPr lang="en-US" sz="1300" dirty="0"/>
          </a:p>
          <a:p>
            <a:pPr marL="152400" indent="-152400">
              <a:spcAft>
                <a:spcPts val="500"/>
              </a:spcAft>
              <a:buSzPct val="100000"/>
              <a:buChar char="•"/>
            </a:pPr>
            <a:r>
              <a:rPr lang="en-US" sz="1300" dirty="0">
                <a:solidFill>
                  <a:schemeClr val="tx1"/>
                </a:solidFill>
              </a:rPr>
              <a:t>Relationship Discovery</a:t>
            </a:r>
            <a:endParaRPr lang="en-US" sz="1300" dirty="0"/>
          </a:p>
          <a:p>
            <a:pPr marL="152400" indent="-152400">
              <a:spcAft>
                <a:spcPts val="500"/>
              </a:spcAft>
              <a:buSzPct val="100000"/>
              <a:buChar char="•"/>
            </a:pPr>
            <a:r>
              <a:rPr lang="en-US" sz="1300" dirty="0">
                <a:solidFill>
                  <a:schemeClr val="tx1"/>
                </a:solidFill>
              </a:rPr>
              <a:t>Knowledge Graph</a:t>
            </a:r>
            <a:endParaRPr lang="en-US" sz="1300" dirty="0"/>
          </a:p>
          <a:p>
            <a:pPr marL="152400" indent="-152400">
              <a:spcAft>
                <a:spcPts val="500"/>
              </a:spcAft>
              <a:buSzPct val="100000"/>
              <a:buChar char="•"/>
            </a:pPr>
            <a:r>
              <a:rPr lang="en-US" sz="1300" dirty="0">
                <a:solidFill>
                  <a:schemeClr val="tx1"/>
                </a:solidFill>
              </a:rPr>
              <a:t>Project Intelligence</a:t>
            </a:r>
            <a:endParaRPr lang="en-US" sz="1300" dirty="0"/>
          </a:p>
        </p:txBody>
      </p:sp>
      <p:sp>
        <p:nvSpPr>
          <p:cNvPr id="34" name="Pillar 4"/>
          <p:cNvSpPr/>
          <p:nvPr/>
        </p:nvSpPr>
        <p:spPr>
          <a:xfrm>
            <a:off x="9454896" y="1783080"/>
            <a:ext cx="2057400" cy="4251960"/>
          </a:xfrm>
          <a:prstGeom prst="roundRect">
            <a:avLst>
              <a:gd name="adj" fmla="val 5333"/>
            </a:avLst>
          </a:prstGeom>
          <a:solidFill>
            <a:schemeClr val="bg2"/>
          </a:solidFill>
          <a:ln/>
        </p:spPr>
      </p:sp>
      <p:sp>
        <p:nvSpPr>
          <p:cNvPr id="35" name="Pillar icon 4"/>
          <p:cNvSpPr/>
          <p:nvPr/>
        </p:nvSpPr>
        <p:spPr>
          <a:xfrm>
            <a:off x="9637776" y="2011680"/>
            <a:ext cx="566928" cy="566928"/>
          </a:xfrm>
          <a:prstGeom prst="ellipse">
            <a:avLst/>
          </a:prstGeom>
          <a:solidFill>
            <a:schemeClr val="accent1"/>
          </a:solidFill>
          <a:ln/>
        </p:spPr>
      </p:sp>
      <p:pic>
        <p:nvPicPr>
          <p:cNvPr id="36" name="Pillar icon 4 icon" descr="preencoded.png">    </p:cNvPr>
          <p:cNvPicPr>
            <a:picLocks noChangeAspect="1"/>
          </p:cNvPicPr>
          <p:nvPr/>
        </p:nvPicPr>
        <p:blipFill>
          <a:blip r:embed="rId8"/>
          <a:stretch>
            <a:fillRect/>
          </a:stretch>
        </p:blipFill>
        <p:spPr>
          <a:xfrm>
            <a:off x="9773839" y="2147743"/>
            <a:ext cx="294803" cy="294803"/>
          </a:xfrm>
          <a:prstGeom prst="rect">
            <a:avLst/>
          </a:prstGeom>
        </p:spPr>
      </p:pic>
      <p:sp>
        <p:nvSpPr>
          <p:cNvPr id="37" name="Text 27"/>
          <p:cNvSpPr txBox="1"/>
          <p:nvPr/>
        </p:nvSpPr>
        <p:spPr>
          <a:xfrm>
            <a:off x="9637776" y="2697480"/>
            <a:ext cx="1737360" cy="365760"/>
          </a:xfrm>
          <a:prstGeom prst="rect">
            <a:avLst/>
          </a:prstGeom>
          <a:noFill/>
          <a:ln/>
        </p:spPr>
        <p:txBody>
          <a:bodyPr wrap="square" lIns="0" tIns="0" rIns="0" bIns="0" rtlCol="0" anchor="t"/>
          <a:lstStyle/>
          <a:p>
            <a:pPr indent="0" marL="0">
              <a:buNone/>
            </a:pPr>
            <a:r>
              <a:rPr lang="en-US" sz="1900" b="1" spc="100" kern="0" dirty="0">
                <a:solidFill>
                  <a:schemeClr val="accent1"/>
                </a:solidFill>
              </a:rPr>
              <a:t>LEARN</a:t>
            </a:r>
            <a:endParaRPr lang="en-US" sz="1900" dirty="0"/>
          </a:p>
        </p:txBody>
      </p:sp>
      <p:sp>
        <p:nvSpPr>
          <p:cNvPr id="38" name="Text 28"/>
          <p:cNvSpPr txBox="1"/>
          <p:nvPr/>
        </p:nvSpPr>
        <p:spPr>
          <a:xfrm>
            <a:off x="9637776" y="3081528"/>
            <a:ext cx="1737360" cy="594360"/>
          </a:xfrm>
          <a:prstGeom prst="rect">
            <a:avLst/>
          </a:prstGeom>
          <a:noFill/>
          <a:ln/>
        </p:spPr>
        <p:txBody>
          <a:bodyPr wrap="square" lIns="0" tIns="0" rIns="0" bIns="0" rtlCol="0" anchor="t"/>
          <a:lstStyle/>
          <a:p>
            <a:pPr indent="0" marL="0">
              <a:buNone/>
            </a:pPr>
            <a:r>
              <a:rPr lang="en-US" sz="1300" i="1" dirty="0">
                <a:solidFill>
                  <a:schemeClr val="accent4"/>
                </a:solidFill>
              </a:rPr>
              <a:t>What the organization learns, kept</a:t>
            </a:r>
            <a:endParaRPr lang="en-US" sz="1300" dirty="0"/>
          </a:p>
        </p:txBody>
      </p:sp>
      <p:sp>
        <p:nvSpPr>
          <p:cNvPr id="39" name="Text 29"/>
          <p:cNvSpPr txBox="1"/>
          <p:nvPr/>
        </p:nvSpPr>
        <p:spPr>
          <a:xfrm>
            <a:off x="9637776" y="3794760"/>
            <a:ext cx="1783080" cy="210312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Lessons Learned</a:t>
            </a:r>
            <a:endParaRPr lang="en-US" sz="1300" dirty="0"/>
          </a:p>
          <a:p>
            <a:pPr marL="152400" indent="-152400">
              <a:spcAft>
                <a:spcPts val="500"/>
              </a:spcAft>
              <a:buSzPct val="100000"/>
              <a:buChar char="•"/>
            </a:pPr>
            <a:r>
              <a:rPr lang="en-US" sz="1300" dirty="0">
                <a:solidFill>
                  <a:schemeClr val="tx1"/>
                </a:solidFill>
              </a:rPr>
              <a:t>Decision Intelligence</a:t>
            </a:r>
            <a:endParaRPr lang="en-US" sz="1300" dirty="0"/>
          </a:p>
          <a:p>
            <a:pPr marL="152400" indent="-152400">
              <a:spcAft>
                <a:spcPts val="500"/>
              </a:spcAft>
              <a:buSzPct val="100000"/>
              <a:buChar char="•"/>
            </a:pPr>
            <a:r>
              <a:rPr lang="en-US" sz="1300" dirty="0">
                <a:solidFill>
                  <a:schemeClr val="tx1"/>
                </a:solidFill>
              </a:rPr>
              <a:t>Topic Evolution</a:t>
            </a:r>
            <a:endParaRPr lang="en-US" sz="13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ersona badge"/>
          <p:cNvSpPr/>
          <p:nvPr/>
        </p:nvSpPr>
        <p:spPr>
          <a:xfrm>
            <a:off x="548640" y="457200"/>
            <a:ext cx="566928" cy="566928"/>
          </a:xfrm>
          <a:prstGeom prst="ellipse">
            <a:avLst/>
          </a:prstGeom>
          <a:solidFill>
            <a:schemeClr val="accent1"/>
          </a:solidFill>
          <a:ln/>
        </p:spPr>
      </p:sp>
      <p:pic>
        <p:nvPicPr>
          <p:cNvPr id="3" name="Persona badge icon" descr="preencoded.png">    </p:cNvPr>
          <p:cNvPicPr>
            <a:picLocks noChangeAspect="1"/>
          </p:cNvPicPr>
          <p:nvPr/>
        </p:nvPicPr>
        <p:blipFill>
          <a:blip r:embed="rId1"/>
          <a:stretch>
            <a:fillRect/>
          </a:stretch>
        </p:blipFill>
        <p:spPr>
          <a:xfrm>
            <a:off x="684703" y="593263"/>
            <a:ext cx="294803" cy="294803"/>
          </a:xfrm>
          <a:prstGeom prst="rect">
            <a:avLst/>
          </a:prstGeom>
        </p:spPr>
      </p:pic>
      <p:sp>
        <p:nvSpPr>
          <p:cNvPr id="4" name="Text 1"/>
          <p:cNvSpPr/>
          <p:nvPr>
            <p:ph idx="102" type="body" hasCustomPrompt="1"/>
          </p:nvPr>
        </p:nvSpPr>
        <p:spPr>
          <a:xfrm>
            <a:off x="1353312" y="566928"/>
            <a:ext cx="475488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FOR THE NEW HIRE</a:t>
            </a:r>
            <a:endParaRPr lang="en-US" sz="1300" dirty="0"/>
          </a:p>
        </p:txBody>
      </p:sp>
      <p:sp>
        <p:nvSpPr>
          <p:cNvPr id="5" name="Text 1"/>
          <p:cNvSpPr/>
          <p:nvPr>
            <p:ph idx="103" type="title" hasCustomPrompt="1"/>
          </p:nvPr>
        </p:nvSpPr>
        <p:spPr>
          <a:xfrm>
            <a:off x="548640" y="1207008"/>
            <a:ext cx="5486400" cy="960120"/>
          </a:xfrm>
          <a:prstGeom prst="rect">
            <a:avLst/>
          </a:prstGeom>
          <a:noFill/>
          <a:ln/>
        </p:spPr>
        <p:txBody>
          <a:bodyPr wrap="square" lIns="0" tIns="0" rIns="0" bIns="0" rtlCol="0" anchor="t"/>
          <a:lstStyle/>
          <a:p>
            <a:pPr algn="l" indent="0" marL="0">
              <a:buNone/>
            </a:pPr>
            <a:r>
              <a:rPr lang="en-US" sz="3000" b="1" dirty="0">
                <a:solidFill>
                  <a:schemeClr val="tx2"/>
                </a:solidFill>
              </a:rPr>
              <a:t>“Where do I even start?”</a:t>
            </a:r>
            <a:endParaRPr lang="en-US" sz="3000" dirty="0"/>
          </a:p>
        </p:txBody>
      </p:sp>
      <p:sp>
        <p:nvSpPr>
          <p:cNvPr id="6" name="Text 1"/>
          <p:cNvSpPr/>
          <p:nvPr>
            <p:ph idx="101" type="body" hasCustomPrompt="1"/>
          </p:nvPr>
        </p:nvSpPr>
        <p:spPr>
          <a:xfrm>
            <a:off x="6720840" y="5532120"/>
            <a:ext cx="5120640" cy="457200"/>
          </a:xfrm>
          <a:prstGeom prst="rect">
            <a:avLst/>
          </a:prstGeom>
          <a:noFill/>
          <a:ln/>
        </p:spPr>
        <p:txBody>
          <a:bodyPr wrap="square" lIns="0" tIns="0" rIns="0" bIns="0" rtlCol="0" anchor="t"/>
          <a:lstStyle/>
          <a:p>
            <a:pPr algn="ctr" indent="0" marL="0">
              <a:buNone/>
            </a:pPr>
            <a:r>
              <a:rPr lang="en-US" sz="1300" i="1" dirty="0">
                <a:solidFill>
                  <a:schemeClr val="accent4"/>
                </a:solidFill>
              </a:rPr>
              <a:t>Enterprise chat: a cited answer with a confidence score</a:t>
            </a:r>
            <a:endParaRPr lang="en-US" sz="1300" dirty="0"/>
          </a:p>
        </p:txBody>
      </p:sp>
      <p:sp>
        <p:nvSpPr>
          <p:cNvPr id="7" name="Chat mockup card"/>
          <p:cNvSpPr/>
          <p:nvPr/>
        </p:nvSpPr>
        <p:spPr>
          <a:xfrm>
            <a:off x="6720840" y="914400"/>
            <a:ext cx="5120640" cy="4069080"/>
          </a:xfrm>
          <a:prstGeom prst="roundRect">
            <a:avLst>
              <a:gd name="adj" fmla="val 2697"/>
            </a:avLst>
          </a:prstGeom>
          <a:solidFill>
            <a:schemeClr val="bg1"/>
          </a:solidFill>
          <a:ln w="12700">
            <a:solidFill>
              <a:schemeClr val="accent6"/>
            </a:solidFill>
            <a:prstDash val="solid"/>
          </a:ln>
          <a:effectLst>
            <a:outerShdw sx="100000" sy="100000" kx="0" ky="0" algn="bl" rotWithShape="0" blurRad="127000" dist="38100" dir="5400000">
              <a:srgbClr val="0B1F44">
                <a:alpha val="14000"/>
              </a:srgbClr>
            </a:outerShdw>
          </a:effectLst>
        </p:spPr>
      </p:sp>
      <p:pic>
        <p:nvPicPr>
          <p:cNvPr id="8" name="Panel header icon" descr="preencoded.png">    </p:cNvPr>
          <p:cNvPicPr>
            <a:picLocks noChangeAspect="1"/>
          </p:cNvPicPr>
          <p:nvPr/>
        </p:nvPicPr>
        <p:blipFill>
          <a:blip r:embed="rId2"/>
          <a:stretch>
            <a:fillRect/>
          </a:stretch>
        </p:blipFill>
        <p:spPr>
          <a:xfrm>
            <a:off x="6995160" y="1097280"/>
            <a:ext cx="274320" cy="274320"/>
          </a:xfrm>
          <a:prstGeom prst="rect">
            <a:avLst/>
          </a:prstGeom>
        </p:spPr>
      </p:pic>
      <p:sp>
        <p:nvSpPr>
          <p:cNvPr id="9" name="Text 5"/>
          <p:cNvSpPr txBox="1"/>
          <p:nvPr/>
        </p:nvSpPr>
        <p:spPr>
          <a:xfrm>
            <a:off x="7360920" y="1097280"/>
            <a:ext cx="3657600" cy="274320"/>
          </a:xfrm>
          <a:prstGeom prst="rect">
            <a:avLst/>
          </a:prstGeom>
          <a:noFill/>
          <a:ln/>
        </p:spPr>
        <p:txBody>
          <a:bodyPr wrap="square" lIns="0" tIns="0" rIns="0" bIns="0" rtlCol="0" anchor="ctr"/>
          <a:lstStyle/>
          <a:p>
            <a:pPr indent="0" marL="0">
              <a:buNone/>
            </a:pPr>
            <a:r>
              <a:rPr lang="en-US" sz="1300" b="1" dirty="0">
                <a:solidFill>
                  <a:schemeClr val="tx2"/>
                </a:solidFill>
              </a:rPr>
              <a:t>Enterprise chat</a:t>
            </a:r>
            <a:endParaRPr lang="en-US" sz="1300" dirty="0"/>
          </a:p>
        </p:txBody>
      </p:sp>
      <p:sp>
        <p:nvSpPr>
          <p:cNvPr id="10" name="Question bubble"/>
          <p:cNvSpPr/>
          <p:nvPr/>
        </p:nvSpPr>
        <p:spPr>
          <a:xfrm>
            <a:off x="8229600" y="1417320"/>
            <a:ext cx="3383280" cy="603504"/>
          </a:xfrm>
          <a:prstGeom prst="roundRect">
            <a:avLst>
              <a:gd name="adj" fmla="val 21212"/>
            </a:avLst>
          </a:prstGeom>
          <a:solidFill>
            <a:schemeClr val="accent1"/>
          </a:solidFill>
          <a:ln/>
        </p:spPr>
      </p:sp>
      <p:sp>
        <p:nvSpPr>
          <p:cNvPr id="11" name="Text 7"/>
          <p:cNvSpPr txBox="1"/>
          <p:nvPr/>
        </p:nvSpPr>
        <p:spPr>
          <a:xfrm>
            <a:off x="8394192" y="1417320"/>
            <a:ext cx="3108960" cy="603504"/>
          </a:xfrm>
          <a:prstGeom prst="rect">
            <a:avLst/>
          </a:prstGeom>
          <a:noFill/>
          <a:ln/>
        </p:spPr>
        <p:txBody>
          <a:bodyPr wrap="square" lIns="0" tIns="0" rIns="0" bIns="0" rtlCol="0" anchor="ctr"/>
          <a:lstStyle/>
          <a:p>
            <a:pPr indent="0" marL="0">
              <a:buNone/>
            </a:pPr>
            <a:r>
              <a:rPr lang="en-US" sz="1300" dirty="0">
                <a:solidFill>
                  <a:schemeClr val="bg1"/>
                </a:solidFill>
              </a:rPr>
              <a:t>What's our process for onboarding a new vendor?</a:t>
            </a:r>
            <a:endParaRPr lang="en-US" sz="1300" dirty="0"/>
          </a:p>
        </p:txBody>
      </p:sp>
      <p:sp>
        <p:nvSpPr>
          <p:cNvPr id="12" name="Answer bubble"/>
          <p:cNvSpPr/>
          <p:nvPr/>
        </p:nvSpPr>
        <p:spPr>
          <a:xfrm>
            <a:off x="6949440" y="2194560"/>
            <a:ext cx="4343400" cy="1325880"/>
          </a:xfrm>
          <a:prstGeom prst="roundRect">
            <a:avLst>
              <a:gd name="adj" fmla="val 9655"/>
            </a:avLst>
          </a:prstGeom>
          <a:solidFill>
            <a:schemeClr val="bg2"/>
          </a:solidFill>
          <a:ln/>
        </p:spPr>
      </p:sp>
      <p:sp>
        <p:nvSpPr>
          <p:cNvPr id="13" name="Text 9"/>
          <p:cNvSpPr txBox="1"/>
          <p:nvPr/>
        </p:nvSpPr>
        <p:spPr>
          <a:xfrm>
            <a:off x="7132320" y="2331720"/>
            <a:ext cx="4023360" cy="548640"/>
          </a:xfrm>
          <a:prstGeom prst="rect">
            <a:avLst/>
          </a:prstGeom>
          <a:noFill/>
          <a:ln/>
        </p:spPr>
        <p:txBody>
          <a:bodyPr wrap="square" lIns="0" tIns="0" rIns="0" bIns="0" rtlCol="0" anchor="t"/>
          <a:lstStyle/>
          <a:p>
            <a:pPr indent="0" marL="0">
              <a:buNone/>
            </a:pPr>
            <a:r>
              <a:rPr lang="en-US" sz="1300" dirty="0">
                <a:solidFill>
                  <a:schemeClr val="tx1"/>
                </a:solidFill>
              </a:rPr>
              <a:t>New vendors pass a security review, then a contract check, and are then set up in the finance system. [1] [2]</a:t>
            </a:r>
            <a:endParaRPr lang="en-US" sz="1300" dirty="0"/>
          </a:p>
        </p:txBody>
      </p:sp>
      <p:sp>
        <p:nvSpPr>
          <p:cNvPr id="14" name="Citation 1"/>
          <p:cNvSpPr/>
          <p:nvPr/>
        </p:nvSpPr>
        <p:spPr>
          <a:xfrm>
            <a:off x="7132320" y="3017520"/>
            <a:ext cx="1874520" cy="310896"/>
          </a:xfrm>
          <a:prstGeom prst="roundRect">
            <a:avLst>
              <a:gd name="adj" fmla="val 23529"/>
            </a:avLst>
          </a:prstGeom>
          <a:solidFill>
            <a:schemeClr val="bg1"/>
          </a:solidFill>
          <a:ln w="12700">
            <a:solidFill>
              <a:schemeClr val="accent6"/>
            </a:solidFill>
            <a:prstDash val="solid"/>
          </a:ln>
        </p:spPr>
      </p:sp>
      <p:pic>
        <p:nvPicPr>
          <p:cNvPr id="15" name="Citation 1 icon" descr="preencoded.png">    </p:cNvPr>
          <p:cNvPicPr>
            <a:picLocks noChangeAspect="1"/>
          </p:cNvPicPr>
          <p:nvPr/>
        </p:nvPicPr>
        <p:blipFill>
          <a:blip r:embed="rId3"/>
          <a:stretch>
            <a:fillRect/>
          </a:stretch>
        </p:blipFill>
        <p:spPr>
          <a:xfrm>
            <a:off x="7223760" y="3081528"/>
            <a:ext cx="182880" cy="182880"/>
          </a:xfrm>
          <a:prstGeom prst="rect">
            <a:avLst/>
          </a:prstGeom>
        </p:spPr>
      </p:pic>
      <p:sp>
        <p:nvSpPr>
          <p:cNvPr id="16" name="Text 11"/>
          <p:cNvSpPr txBox="1"/>
          <p:nvPr/>
        </p:nvSpPr>
        <p:spPr>
          <a:xfrm>
            <a:off x="7461504" y="3017520"/>
            <a:ext cx="1490472" cy="310896"/>
          </a:xfrm>
          <a:prstGeom prst="rect">
            <a:avLst/>
          </a:prstGeom>
          <a:noFill/>
          <a:ln/>
        </p:spPr>
        <p:txBody>
          <a:bodyPr wrap="square" lIns="0" tIns="0" rIns="0" bIns="0" rtlCol="0" anchor="ctr"/>
          <a:lstStyle/>
          <a:p>
            <a:pPr indent="0" marL="0">
              <a:buNone/>
            </a:pPr>
            <a:r>
              <a:rPr lang="en-US" sz="1100" dirty="0">
                <a:solidFill>
                  <a:schemeClr val="tx2"/>
                </a:solidFill>
              </a:rPr>
              <a:t>[1] Vendor Policy.pdf</a:t>
            </a:r>
            <a:endParaRPr lang="en-US" sz="1100" dirty="0"/>
          </a:p>
        </p:txBody>
      </p:sp>
      <p:sp>
        <p:nvSpPr>
          <p:cNvPr id="17" name="Citation 2"/>
          <p:cNvSpPr/>
          <p:nvPr/>
        </p:nvSpPr>
        <p:spPr>
          <a:xfrm>
            <a:off x="9144000" y="3017520"/>
            <a:ext cx="2011680" cy="310896"/>
          </a:xfrm>
          <a:prstGeom prst="roundRect">
            <a:avLst>
              <a:gd name="adj" fmla="val 23529"/>
            </a:avLst>
          </a:prstGeom>
          <a:solidFill>
            <a:schemeClr val="bg1"/>
          </a:solidFill>
          <a:ln w="12700">
            <a:solidFill>
              <a:schemeClr val="accent6"/>
            </a:solidFill>
            <a:prstDash val="solid"/>
          </a:ln>
        </p:spPr>
      </p:sp>
      <p:pic>
        <p:nvPicPr>
          <p:cNvPr id="18" name="Citation 2 icon" descr="preencoded.png">    </p:cNvPr>
          <p:cNvPicPr>
            <a:picLocks noChangeAspect="1"/>
          </p:cNvPicPr>
          <p:nvPr/>
        </p:nvPicPr>
        <p:blipFill>
          <a:blip r:embed="rId4"/>
          <a:stretch>
            <a:fillRect/>
          </a:stretch>
        </p:blipFill>
        <p:spPr>
          <a:xfrm>
            <a:off x="9235440" y="3081528"/>
            <a:ext cx="182880" cy="182880"/>
          </a:xfrm>
          <a:prstGeom prst="rect">
            <a:avLst/>
          </a:prstGeom>
        </p:spPr>
      </p:pic>
      <p:sp>
        <p:nvSpPr>
          <p:cNvPr id="19" name="Text 13"/>
          <p:cNvSpPr txBox="1"/>
          <p:nvPr/>
        </p:nvSpPr>
        <p:spPr>
          <a:xfrm>
            <a:off x="9473184" y="3017520"/>
            <a:ext cx="1627632" cy="310896"/>
          </a:xfrm>
          <a:prstGeom prst="rect">
            <a:avLst/>
          </a:prstGeom>
          <a:noFill/>
          <a:ln/>
        </p:spPr>
        <p:txBody>
          <a:bodyPr wrap="square" lIns="0" tIns="0" rIns="0" bIns="0" rtlCol="0" anchor="ctr"/>
          <a:lstStyle/>
          <a:p>
            <a:pPr indent="0" marL="0">
              <a:buNone/>
            </a:pPr>
            <a:r>
              <a:rPr lang="en-US" sz="1100" dirty="0">
                <a:solidFill>
                  <a:schemeClr val="tx2"/>
                </a:solidFill>
              </a:rPr>
              <a:t>[2] Onboarding SOP.docx</a:t>
            </a:r>
            <a:endParaRPr lang="en-US" sz="1100" dirty="0"/>
          </a:p>
        </p:txBody>
      </p:sp>
      <p:sp>
        <p:nvSpPr>
          <p:cNvPr id="20" name="Text 14"/>
          <p:cNvSpPr txBox="1"/>
          <p:nvPr/>
        </p:nvSpPr>
        <p:spPr>
          <a:xfrm>
            <a:off x="6949440" y="3749040"/>
            <a:ext cx="1097280" cy="274320"/>
          </a:xfrm>
          <a:prstGeom prst="rect">
            <a:avLst/>
          </a:prstGeom>
          <a:noFill/>
          <a:ln/>
        </p:spPr>
        <p:txBody>
          <a:bodyPr wrap="square" lIns="0" tIns="0" rIns="0" bIns="0" rtlCol="0" anchor="ctr"/>
          <a:lstStyle/>
          <a:p>
            <a:pPr indent="0" marL="0">
              <a:buNone/>
            </a:pPr>
            <a:r>
              <a:rPr lang="en-US" sz="1200" dirty="0">
                <a:solidFill>
                  <a:schemeClr val="accent4"/>
                </a:solidFill>
              </a:rPr>
              <a:t>Confidence</a:t>
            </a:r>
            <a:endParaRPr lang="en-US" sz="1200" dirty="0"/>
          </a:p>
        </p:txBody>
      </p:sp>
      <p:sp>
        <p:nvSpPr>
          <p:cNvPr id="21" name="Confidence track"/>
          <p:cNvSpPr/>
          <p:nvPr/>
        </p:nvSpPr>
        <p:spPr>
          <a:xfrm>
            <a:off x="8001000" y="3822192"/>
            <a:ext cx="2377440" cy="128016"/>
          </a:xfrm>
          <a:prstGeom prst="roundRect">
            <a:avLst>
              <a:gd name="adj" fmla="val 50000"/>
            </a:avLst>
          </a:prstGeom>
          <a:solidFill>
            <a:schemeClr val="accent6"/>
          </a:solidFill>
          <a:ln/>
        </p:spPr>
      </p:sp>
      <p:sp>
        <p:nvSpPr>
          <p:cNvPr id="22" name="Confidence fill"/>
          <p:cNvSpPr/>
          <p:nvPr/>
        </p:nvSpPr>
        <p:spPr>
          <a:xfrm>
            <a:off x="8001000" y="3822192"/>
            <a:ext cx="2011680" cy="128016"/>
          </a:xfrm>
          <a:prstGeom prst="roundRect">
            <a:avLst>
              <a:gd name="adj" fmla="val 50000"/>
            </a:avLst>
          </a:prstGeom>
          <a:solidFill>
            <a:schemeClr val="accent2"/>
          </a:solidFill>
          <a:ln/>
        </p:spPr>
      </p:sp>
      <p:sp>
        <p:nvSpPr>
          <p:cNvPr id="23" name="Text 17"/>
          <p:cNvSpPr txBox="1"/>
          <p:nvPr/>
        </p:nvSpPr>
        <p:spPr>
          <a:xfrm>
            <a:off x="10515600" y="3749040"/>
            <a:ext cx="731520" cy="274320"/>
          </a:xfrm>
          <a:prstGeom prst="rect">
            <a:avLst/>
          </a:prstGeom>
          <a:noFill/>
          <a:ln/>
        </p:spPr>
        <p:txBody>
          <a:bodyPr wrap="square" lIns="0" tIns="0" rIns="0" bIns="0" rtlCol="0" anchor="ctr"/>
          <a:lstStyle/>
          <a:p>
            <a:pPr indent="0" marL="0">
              <a:buNone/>
            </a:pPr>
            <a:r>
              <a:rPr lang="en-US" sz="1200" b="1" dirty="0">
                <a:solidFill>
                  <a:schemeClr val="accent2"/>
                </a:solidFill>
              </a:rPr>
              <a:t>High</a:t>
            </a:r>
            <a:endParaRPr lang="en-US" sz="1200" dirty="0"/>
          </a:p>
        </p:txBody>
      </p:sp>
      <p:sp>
        <p:nvSpPr>
          <p:cNvPr id="24" name="Text 18"/>
          <p:cNvSpPr txBox="1"/>
          <p:nvPr/>
        </p:nvSpPr>
        <p:spPr>
          <a:xfrm>
            <a:off x="6949440" y="4251960"/>
            <a:ext cx="2286000" cy="457200"/>
          </a:xfrm>
          <a:prstGeom prst="rect">
            <a:avLst/>
          </a:prstGeom>
          <a:noFill/>
          <a:ln/>
        </p:spPr>
        <p:txBody>
          <a:bodyPr wrap="square" lIns="0" tIns="0" rIns="0" bIns="0" rtlCol="0" anchor="ctr"/>
          <a:lstStyle/>
          <a:p>
            <a:pPr indent="0" marL="0">
              <a:buNone/>
            </a:pPr>
            <a:r>
              <a:rPr lang="en-US" sz="1200" b="1" dirty="0">
                <a:solidFill>
                  <a:schemeClr val="tx2"/>
                </a:solidFill>
              </a:rPr>
              <a:t>Suggested people to ask</a:t>
            </a:r>
            <a:endParaRPr lang="en-US" sz="1200" dirty="0"/>
          </a:p>
        </p:txBody>
      </p:sp>
      <p:sp>
        <p:nvSpPr>
          <p:cNvPr id="25" name="Person 1"/>
          <p:cNvSpPr/>
          <p:nvPr/>
        </p:nvSpPr>
        <p:spPr>
          <a:xfrm>
            <a:off x="9235440" y="4270248"/>
            <a:ext cx="420624" cy="420624"/>
          </a:xfrm>
          <a:prstGeom prst="ellipse">
            <a:avLst/>
          </a:prstGeom>
          <a:solidFill>
            <a:schemeClr val="accent1"/>
          </a:solidFill>
          <a:ln/>
        </p:spPr>
      </p:sp>
      <p:sp>
        <p:nvSpPr>
          <p:cNvPr id="26" name="Text 20"/>
          <p:cNvSpPr txBox="1"/>
          <p:nvPr/>
        </p:nvSpPr>
        <p:spPr>
          <a:xfrm>
            <a:off x="9235440" y="4270248"/>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AK</a:t>
            </a:r>
            <a:endParaRPr lang="en-US" sz="1200" dirty="0"/>
          </a:p>
        </p:txBody>
      </p:sp>
      <p:sp>
        <p:nvSpPr>
          <p:cNvPr id="27" name="Person 2"/>
          <p:cNvSpPr/>
          <p:nvPr/>
        </p:nvSpPr>
        <p:spPr>
          <a:xfrm>
            <a:off x="9582912" y="4270248"/>
            <a:ext cx="420624" cy="420624"/>
          </a:xfrm>
          <a:prstGeom prst="ellipse">
            <a:avLst/>
          </a:prstGeom>
          <a:solidFill>
            <a:schemeClr val="accent2"/>
          </a:solidFill>
          <a:ln/>
        </p:spPr>
      </p:sp>
      <p:sp>
        <p:nvSpPr>
          <p:cNvPr id="28" name="Text 22"/>
          <p:cNvSpPr txBox="1"/>
          <p:nvPr/>
        </p:nvSpPr>
        <p:spPr>
          <a:xfrm>
            <a:off x="9582912" y="4270248"/>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SM</a:t>
            </a:r>
            <a:endParaRPr lang="en-US" sz="1200" dirty="0"/>
          </a:p>
        </p:txBody>
      </p:sp>
      <p:sp>
        <p:nvSpPr>
          <p:cNvPr id="29" name="Text 23"/>
          <p:cNvSpPr txBox="1"/>
          <p:nvPr/>
        </p:nvSpPr>
        <p:spPr>
          <a:xfrm>
            <a:off x="10104120" y="4251960"/>
            <a:ext cx="1554480" cy="457200"/>
          </a:xfrm>
          <a:prstGeom prst="rect">
            <a:avLst/>
          </a:prstGeom>
          <a:noFill/>
          <a:ln/>
        </p:spPr>
        <p:txBody>
          <a:bodyPr wrap="square" lIns="0" tIns="0" rIns="0" bIns="0" rtlCol="0" anchor="ctr"/>
          <a:lstStyle/>
          <a:p>
            <a:pPr indent="0" marL="0">
              <a:buNone/>
            </a:pPr>
            <a:r>
              <a:rPr lang="en-US" sz="1100" dirty="0">
                <a:solidFill>
                  <a:schemeClr val="accent4"/>
                </a:solidFill>
              </a:rPr>
              <a:t>Procurement  ·  Finance</a:t>
            </a:r>
            <a:endParaRPr lang="en-US" sz="1100" dirty="0"/>
          </a:p>
        </p:txBody>
      </p:sp>
      <p:sp>
        <p:nvSpPr>
          <p:cNvPr id="30" name="Text 24"/>
          <p:cNvSpPr txBox="1"/>
          <p:nvPr/>
        </p:nvSpPr>
        <p:spPr>
          <a:xfrm>
            <a:off x="548640" y="2331720"/>
            <a:ext cx="27432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TODAY</a:t>
            </a:r>
            <a:endParaRPr lang="en-US" sz="1100" dirty="0"/>
          </a:p>
        </p:txBody>
      </p:sp>
      <p:sp>
        <p:nvSpPr>
          <p:cNvPr id="31" name="Text 25"/>
          <p:cNvSpPr txBox="1"/>
          <p:nvPr/>
        </p:nvSpPr>
        <p:spPr>
          <a:xfrm>
            <a:off x="548640" y="2606040"/>
            <a:ext cx="5440680" cy="566928"/>
          </a:xfrm>
          <a:prstGeom prst="rect">
            <a:avLst/>
          </a:prstGeom>
          <a:noFill/>
          <a:ln/>
        </p:spPr>
        <p:txBody>
          <a:bodyPr wrap="square" lIns="0" tIns="0" rIns="0" bIns="0" rtlCol="0" anchor="t"/>
          <a:lstStyle/>
          <a:p>
            <a:pPr indent="0" marL="0">
              <a:buNone/>
            </a:pPr>
            <a:r>
              <a:rPr lang="en-US" sz="1500" dirty="0">
                <a:solidFill>
                  <a:schemeClr val="accent4"/>
                </a:solidFill>
              </a:rPr>
              <a:t>Doesn't know what exists or who to ask, so keeps interrupting colleagues.</a:t>
            </a:r>
            <a:endParaRPr lang="en-US" sz="1500" dirty="0"/>
          </a:p>
        </p:txBody>
      </p:sp>
      <p:sp>
        <p:nvSpPr>
          <p:cNvPr id="32" name="Text 26"/>
          <p:cNvSpPr txBox="1"/>
          <p:nvPr/>
        </p:nvSpPr>
        <p:spPr>
          <a:xfrm>
            <a:off x="548640" y="3291840"/>
            <a:ext cx="27432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WITH KMS</a:t>
            </a:r>
            <a:endParaRPr lang="en-US" sz="1100" dirty="0"/>
          </a:p>
        </p:txBody>
      </p:sp>
      <p:pic>
        <p:nvPicPr>
          <p:cNvPr id="33" name="Check 1" descr="preencoded.png">    </p:cNvPr>
          <p:cNvPicPr>
            <a:picLocks noChangeAspect="1"/>
          </p:cNvPicPr>
          <p:nvPr/>
        </p:nvPicPr>
        <p:blipFill>
          <a:blip r:embed="rId5"/>
          <a:stretch>
            <a:fillRect/>
          </a:stretch>
        </p:blipFill>
        <p:spPr>
          <a:xfrm>
            <a:off x="548640" y="3639312"/>
            <a:ext cx="256032" cy="256032"/>
          </a:xfrm>
          <a:prstGeom prst="rect">
            <a:avLst/>
          </a:prstGeom>
        </p:spPr>
      </p:pic>
      <p:sp>
        <p:nvSpPr>
          <p:cNvPr id="34" name="Text 27"/>
          <p:cNvSpPr txBox="1"/>
          <p:nvPr/>
        </p:nvSpPr>
        <p:spPr>
          <a:xfrm>
            <a:off x="914400" y="3611880"/>
            <a:ext cx="5120640" cy="301752"/>
          </a:xfrm>
          <a:prstGeom prst="rect">
            <a:avLst/>
          </a:prstGeom>
          <a:noFill/>
          <a:ln/>
        </p:spPr>
        <p:txBody>
          <a:bodyPr wrap="square" lIns="0" tIns="0" rIns="0" bIns="0" rtlCol="0" anchor="t"/>
          <a:lstStyle/>
          <a:p>
            <a:pPr indent="0" marL="0">
              <a:buNone/>
            </a:pPr>
            <a:r>
              <a:rPr lang="en-US" sz="1500" dirty="0">
                <a:solidFill>
                  <a:schemeClr val="tx1"/>
                </a:solidFill>
              </a:rPr>
              <a:t>Asks in plain language, gets answers with sources</a:t>
            </a:r>
            <a:endParaRPr lang="en-US" sz="1500" dirty="0"/>
          </a:p>
        </p:txBody>
      </p:sp>
      <p:sp>
        <p:nvSpPr>
          <p:cNvPr id="35" name="Text 28"/>
          <p:cNvSpPr txBox="1"/>
          <p:nvPr/>
        </p:nvSpPr>
        <p:spPr>
          <a:xfrm>
            <a:off x="914400" y="3904488"/>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Conversational Assistant  ·  Semantic Retrieval</a:t>
            </a:r>
            <a:endParaRPr lang="en-US" sz="1100" dirty="0"/>
          </a:p>
        </p:txBody>
      </p:sp>
      <p:pic>
        <p:nvPicPr>
          <p:cNvPr id="36" name="Check 2" descr="preencoded.png">    </p:cNvPr>
          <p:cNvPicPr>
            <a:picLocks noChangeAspect="1"/>
          </p:cNvPicPr>
          <p:nvPr/>
        </p:nvPicPr>
        <p:blipFill>
          <a:blip r:embed="rId6"/>
          <a:stretch>
            <a:fillRect/>
          </a:stretch>
        </p:blipFill>
        <p:spPr>
          <a:xfrm>
            <a:off x="548640" y="4242816"/>
            <a:ext cx="256032" cy="256032"/>
          </a:xfrm>
          <a:prstGeom prst="rect">
            <a:avLst/>
          </a:prstGeom>
        </p:spPr>
      </p:pic>
      <p:sp>
        <p:nvSpPr>
          <p:cNvPr id="37" name="Text 29"/>
          <p:cNvSpPr txBox="1"/>
          <p:nvPr/>
        </p:nvSpPr>
        <p:spPr>
          <a:xfrm>
            <a:off x="914400" y="4215384"/>
            <a:ext cx="5120640" cy="301752"/>
          </a:xfrm>
          <a:prstGeom prst="rect">
            <a:avLst/>
          </a:prstGeom>
          <a:noFill/>
          <a:ln/>
        </p:spPr>
        <p:txBody>
          <a:bodyPr wrap="square" lIns="0" tIns="0" rIns="0" bIns="0" rtlCol="0" anchor="t"/>
          <a:lstStyle/>
          <a:p>
            <a:pPr indent="0" marL="0">
              <a:buNone/>
            </a:pPr>
            <a:r>
              <a:rPr lang="en-US" sz="1500" dirty="0">
                <a:solidFill>
                  <a:schemeClr val="tx1"/>
                </a:solidFill>
              </a:rPr>
              <a:t>Reads a summary instead of a 40-page document</a:t>
            </a:r>
            <a:endParaRPr lang="en-US" sz="1500" dirty="0"/>
          </a:p>
        </p:txBody>
      </p:sp>
      <p:sp>
        <p:nvSpPr>
          <p:cNvPr id="38" name="Text 30"/>
          <p:cNvSpPr txBox="1"/>
          <p:nvPr/>
        </p:nvSpPr>
        <p:spPr>
          <a:xfrm>
            <a:off x="914400" y="4507992"/>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Knowledge Summarization</a:t>
            </a:r>
            <a:endParaRPr lang="en-US" sz="1100" dirty="0"/>
          </a:p>
        </p:txBody>
      </p:sp>
      <p:pic>
        <p:nvPicPr>
          <p:cNvPr id="39" name="Check 3" descr="preencoded.png">    </p:cNvPr>
          <p:cNvPicPr>
            <a:picLocks noChangeAspect="1"/>
          </p:cNvPicPr>
          <p:nvPr/>
        </p:nvPicPr>
        <p:blipFill>
          <a:blip r:embed="rId7"/>
          <a:stretch>
            <a:fillRect/>
          </a:stretch>
        </p:blipFill>
        <p:spPr>
          <a:xfrm>
            <a:off x="548640" y="4846320"/>
            <a:ext cx="256032" cy="256032"/>
          </a:xfrm>
          <a:prstGeom prst="rect">
            <a:avLst/>
          </a:prstGeom>
        </p:spPr>
      </p:pic>
      <p:sp>
        <p:nvSpPr>
          <p:cNvPr id="40" name="Text 31"/>
          <p:cNvSpPr txBox="1"/>
          <p:nvPr/>
        </p:nvSpPr>
        <p:spPr>
          <a:xfrm>
            <a:off x="914400" y="4818888"/>
            <a:ext cx="5120640" cy="301752"/>
          </a:xfrm>
          <a:prstGeom prst="rect">
            <a:avLst/>
          </a:prstGeom>
          <a:noFill/>
          <a:ln/>
        </p:spPr>
        <p:txBody>
          <a:bodyPr wrap="square" lIns="0" tIns="0" rIns="0" bIns="0" rtlCol="0" anchor="t"/>
          <a:lstStyle/>
          <a:p>
            <a:pPr indent="0" marL="0">
              <a:buNone/>
            </a:pPr>
            <a:r>
              <a:rPr lang="en-US" sz="1500" dirty="0">
                <a:solidFill>
                  <a:schemeClr val="tx1"/>
                </a:solidFill>
              </a:rPr>
              <a:t>Sees what to read next and who to talk to</a:t>
            </a:r>
            <a:endParaRPr lang="en-US" sz="1500" dirty="0"/>
          </a:p>
        </p:txBody>
      </p:sp>
      <p:sp>
        <p:nvSpPr>
          <p:cNvPr id="41" name="Text 32"/>
          <p:cNvSpPr txBox="1"/>
          <p:nvPr/>
        </p:nvSpPr>
        <p:spPr>
          <a:xfrm>
            <a:off x="914400" y="5111496"/>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Recommendations  ·  Expert Discovery</a:t>
            </a:r>
            <a:endParaRPr lang="en-US" sz="1100" dirty="0"/>
          </a:p>
        </p:txBody>
      </p:sp>
      <p:sp>
        <p:nvSpPr>
          <p:cNvPr id="42" name="Outcome box"/>
          <p:cNvSpPr/>
          <p:nvPr/>
        </p:nvSpPr>
        <p:spPr>
          <a:xfrm>
            <a:off x="548640" y="5486400"/>
            <a:ext cx="5440680" cy="603504"/>
          </a:xfrm>
          <a:prstGeom prst="roundRect">
            <a:avLst>
              <a:gd name="adj" fmla="val 15152"/>
            </a:avLst>
          </a:prstGeom>
          <a:solidFill>
            <a:schemeClr val="accent1"/>
          </a:solidFill>
          <a:ln/>
          <a:effectLst>
            <a:outerShdw sx="100000" sy="100000" kx="0" ky="0" algn="bl" rotWithShape="0" blurRad="127000" dist="38100" dir="5400000">
              <a:srgbClr val="0B1F44">
                <a:alpha val="14000"/>
              </a:srgbClr>
            </a:outerShdw>
          </a:effectLst>
        </p:spPr>
      </p:sp>
      <p:pic>
        <p:nvPicPr>
          <p:cNvPr id="43" name="Outcome icon" descr="preencoded.png">    </p:cNvPr>
          <p:cNvPicPr>
            <a:picLocks noChangeAspect="1"/>
          </p:cNvPicPr>
          <p:nvPr/>
        </p:nvPicPr>
        <p:blipFill>
          <a:blip r:embed="rId8"/>
          <a:stretch>
            <a:fillRect/>
          </a:stretch>
        </p:blipFill>
        <p:spPr>
          <a:xfrm>
            <a:off x="731520" y="5641848"/>
            <a:ext cx="292608" cy="292608"/>
          </a:xfrm>
          <a:prstGeom prst="rect">
            <a:avLst/>
          </a:prstGeom>
        </p:spPr>
      </p:pic>
      <p:sp>
        <p:nvSpPr>
          <p:cNvPr id="44" name="Text 34"/>
          <p:cNvSpPr txBox="1"/>
          <p:nvPr/>
        </p:nvSpPr>
        <p:spPr>
          <a:xfrm>
            <a:off x="1143000" y="5486400"/>
            <a:ext cx="4754880" cy="603504"/>
          </a:xfrm>
          <a:prstGeom prst="rect">
            <a:avLst/>
          </a:prstGeom>
          <a:noFill/>
          <a:ln/>
        </p:spPr>
        <p:txBody>
          <a:bodyPr wrap="square" lIns="0" tIns="0" rIns="0" bIns="0" rtlCol="0" anchor="ctr"/>
          <a:lstStyle/>
          <a:p>
            <a:pPr indent="0" marL="0">
              <a:buNone/>
            </a:pPr>
            <a:r>
              <a:rPr lang="en-US" sz="1500" b="1" dirty="0">
                <a:solidFill>
                  <a:schemeClr val="accent6"/>
                </a:solidFill>
              </a:rPr>
              <a:t>Outcome:  </a:t>
            </a:r>
            <a:pPr indent="0" marL="0">
              <a:buNone/>
            </a:pPr>
            <a:r>
              <a:rPr lang="en-US" sz="1500" b="1" dirty="0">
                <a:solidFill>
                  <a:schemeClr val="bg1"/>
                </a:solidFill>
              </a:rPr>
              <a:t>Ramps up faster, without pulling the team off their work</a:t>
            </a:r>
            <a:endParaRPr lang="en-US" sz="15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ersona badge"/>
          <p:cNvSpPr/>
          <p:nvPr/>
        </p:nvSpPr>
        <p:spPr>
          <a:xfrm>
            <a:off x="548640" y="457200"/>
            <a:ext cx="566928" cy="566928"/>
          </a:xfrm>
          <a:prstGeom prst="ellipse">
            <a:avLst/>
          </a:prstGeom>
          <a:solidFill>
            <a:schemeClr val="accent1"/>
          </a:solidFill>
          <a:ln/>
        </p:spPr>
      </p:sp>
      <p:pic>
        <p:nvPicPr>
          <p:cNvPr id="3" name="Persona badge icon" descr="preencoded.png">    </p:cNvPr>
          <p:cNvPicPr>
            <a:picLocks noChangeAspect="1"/>
          </p:cNvPicPr>
          <p:nvPr/>
        </p:nvPicPr>
        <p:blipFill>
          <a:blip r:embed="rId1"/>
          <a:stretch>
            <a:fillRect/>
          </a:stretch>
        </p:blipFill>
        <p:spPr>
          <a:xfrm>
            <a:off x="684703" y="593263"/>
            <a:ext cx="294803" cy="294803"/>
          </a:xfrm>
          <a:prstGeom prst="rect">
            <a:avLst/>
          </a:prstGeom>
        </p:spPr>
      </p:pic>
      <p:sp>
        <p:nvSpPr>
          <p:cNvPr id="4" name="Text 1"/>
          <p:cNvSpPr/>
          <p:nvPr>
            <p:ph idx="102" type="body" hasCustomPrompt="1"/>
          </p:nvPr>
        </p:nvSpPr>
        <p:spPr>
          <a:xfrm>
            <a:off x="1353312" y="566928"/>
            <a:ext cx="475488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FOR THE PROJECT LEAD</a:t>
            </a:r>
            <a:endParaRPr lang="en-US" sz="1300" dirty="0"/>
          </a:p>
        </p:txBody>
      </p:sp>
      <p:sp>
        <p:nvSpPr>
          <p:cNvPr id="5" name="Text 1"/>
          <p:cNvSpPr/>
          <p:nvPr>
            <p:ph idx="103" type="title" hasCustomPrompt="1"/>
          </p:nvPr>
        </p:nvSpPr>
        <p:spPr>
          <a:xfrm>
            <a:off x="548640" y="1207008"/>
            <a:ext cx="5486400" cy="960120"/>
          </a:xfrm>
          <a:prstGeom prst="rect">
            <a:avLst/>
          </a:prstGeom>
          <a:noFill/>
          <a:ln/>
        </p:spPr>
        <p:txBody>
          <a:bodyPr wrap="square" lIns="0" tIns="0" rIns="0" bIns="0" rtlCol="0" anchor="t"/>
          <a:lstStyle/>
          <a:p>
            <a:pPr algn="l" indent="0" marL="0">
              <a:buNone/>
            </a:pPr>
            <a:r>
              <a:rPr lang="en-US" sz="3000" b="1" dirty="0">
                <a:solidFill>
                  <a:schemeClr val="tx2"/>
                </a:solidFill>
              </a:rPr>
              <a:t>“Has anyone done this before?”</a:t>
            </a:r>
            <a:endParaRPr lang="en-US" sz="3000" dirty="0"/>
          </a:p>
        </p:txBody>
      </p:sp>
      <p:sp>
        <p:nvSpPr>
          <p:cNvPr id="6" name="Text 1"/>
          <p:cNvSpPr/>
          <p:nvPr>
            <p:ph idx="101" type="body" hasCustomPrompt="1"/>
          </p:nvPr>
        </p:nvSpPr>
        <p:spPr>
          <a:xfrm>
            <a:off x="6720840" y="5532120"/>
            <a:ext cx="5120640" cy="457200"/>
          </a:xfrm>
          <a:prstGeom prst="rect">
            <a:avLst/>
          </a:prstGeom>
          <a:noFill/>
          <a:ln/>
        </p:spPr>
        <p:txBody>
          <a:bodyPr wrap="square" lIns="0" tIns="0" rIns="0" bIns="0" rtlCol="0" anchor="t"/>
          <a:lstStyle/>
          <a:p>
            <a:pPr algn="ctr" indent="0" marL="0">
              <a:buNone/>
            </a:pPr>
            <a:r>
              <a:rPr lang="en-US" sz="1300" i="1" dirty="0">
                <a:solidFill>
                  <a:schemeClr val="accent4"/>
                </a:solidFill>
              </a:rPr>
              <a:t>Project Intelligence: the full picture of one project</a:t>
            </a:r>
            <a:endParaRPr lang="en-US" sz="1300" dirty="0"/>
          </a:p>
        </p:txBody>
      </p:sp>
      <p:sp>
        <p:nvSpPr>
          <p:cNvPr id="7" name="Hub link 1"/>
          <p:cNvSpPr/>
          <p:nvPr/>
        </p:nvSpPr>
        <p:spPr>
          <a:xfrm flipH="1">
            <a:off x="9281160" y="1417320"/>
            <a:ext cx="914" cy="1600200"/>
          </a:xfrm>
          <a:prstGeom prst="line">
            <a:avLst/>
          </a:prstGeom>
          <a:noFill/>
          <a:ln w="25400">
            <a:solidFill>
              <a:schemeClr val="accent6"/>
            </a:solidFill>
            <a:prstDash val="solid"/>
          </a:ln>
        </p:spPr>
      </p:sp>
      <p:sp>
        <p:nvSpPr>
          <p:cNvPr id="8" name="Hub link 2"/>
          <p:cNvSpPr/>
          <p:nvPr/>
        </p:nvSpPr>
        <p:spPr>
          <a:xfrm flipH="1">
            <a:off x="9281160" y="2217420"/>
            <a:ext cx="1544193" cy="800100"/>
          </a:xfrm>
          <a:prstGeom prst="line">
            <a:avLst/>
          </a:prstGeom>
          <a:noFill/>
          <a:ln w="25400">
            <a:solidFill>
              <a:schemeClr val="accent6"/>
            </a:solidFill>
            <a:prstDash val="solid"/>
          </a:ln>
        </p:spPr>
      </p:sp>
      <p:sp>
        <p:nvSpPr>
          <p:cNvPr id="9" name="Hub link 3"/>
          <p:cNvSpPr/>
          <p:nvPr/>
        </p:nvSpPr>
        <p:spPr>
          <a:xfrm>
            <a:off x="9281160" y="3017520"/>
            <a:ext cx="1544193" cy="800100"/>
          </a:xfrm>
          <a:prstGeom prst="line">
            <a:avLst/>
          </a:prstGeom>
          <a:noFill/>
          <a:ln w="25400">
            <a:solidFill>
              <a:schemeClr val="accent6"/>
            </a:solidFill>
            <a:prstDash val="solid"/>
          </a:ln>
        </p:spPr>
      </p:sp>
      <p:sp>
        <p:nvSpPr>
          <p:cNvPr id="10" name="Hub link 4"/>
          <p:cNvSpPr/>
          <p:nvPr/>
        </p:nvSpPr>
        <p:spPr>
          <a:xfrm>
            <a:off x="9281160" y="3017520"/>
            <a:ext cx="914" cy="1600200"/>
          </a:xfrm>
          <a:prstGeom prst="line">
            <a:avLst/>
          </a:prstGeom>
          <a:noFill/>
          <a:ln w="25400">
            <a:solidFill>
              <a:schemeClr val="accent6"/>
            </a:solidFill>
            <a:prstDash val="solid"/>
          </a:ln>
        </p:spPr>
      </p:sp>
      <p:sp>
        <p:nvSpPr>
          <p:cNvPr id="11" name="Hub link 5"/>
          <p:cNvSpPr/>
          <p:nvPr/>
        </p:nvSpPr>
        <p:spPr>
          <a:xfrm flipH="1">
            <a:off x="7736967" y="3017520"/>
            <a:ext cx="1544193" cy="800100"/>
          </a:xfrm>
          <a:prstGeom prst="line">
            <a:avLst/>
          </a:prstGeom>
          <a:noFill/>
          <a:ln w="25400">
            <a:solidFill>
              <a:schemeClr val="accent6"/>
            </a:solidFill>
            <a:prstDash val="solid"/>
          </a:ln>
        </p:spPr>
      </p:sp>
      <p:sp>
        <p:nvSpPr>
          <p:cNvPr id="12" name="Hub link 6"/>
          <p:cNvSpPr/>
          <p:nvPr/>
        </p:nvSpPr>
        <p:spPr>
          <a:xfrm>
            <a:off x="7736967" y="2217420"/>
            <a:ext cx="1544193" cy="800100"/>
          </a:xfrm>
          <a:prstGeom prst="line">
            <a:avLst/>
          </a:prstGeom>
          <a:noFill/>
          <a:ln w="25400">
            <a:solidFill>
              <a:schemeClr val="accent2"/>
            </a:solidFill>
            <a:prstDash val="dash"/>
          </a:ln>
        </p:spPr>
      </p:sp>
      <p:sp>
        <p:nvSpPr>
          <p:cNvPr id="13" name="Project hub"/>
          <p:cNvSpPr/>
          <p:nvPr/>
        </p:nvSpPr>
        <p:spPr>
          <a:xfrm>
            <a:off x="8549640" y="2286000"/>
            <a:ext cx="1463040" cy="1463040"/>
          </a:xfrm>
          <a:prstGeom prst="ellipse">
            <a:avLst/>
          </a:prstGeom>
          <a:solidFill>
            <a:schemeClr val="accent1"/>
          </a:solidFill>
          <a:ln w="38100">
            <a:solidFill>
              <a:schemeClr val="bg1"/>
            </a:solidFill>
            <a:prstDash val="solid"/>
          </a:ln>
          <a:effectLst>
            <a:outerShdw sx="100000" sy="100000" kx="0" ky="0" algn="bl" rotWithShape="0" blurRad="127000" dist="38100" dir="5400000">
              <a:srgbClr val="0B1F44">
                <a:alpha val="14000"/>
              </a:srgbClr>
            </a:outerShdw>
          </a:effectLst>
        </p:spPr>
      </p:sp>
      <p:pic>
        <p:nvPicPr>
          <p:cNvPr id="14" name="Project hub icon" descr="preencoded.png">    </p:cNvPr>
          <p:cNvPicPr>
            <a:picLocks noChangeAspect="1"/>
          </p:cNvPicPr>
          <p:nvPr/>
        </p:nvPicPr>
        <p:blipFill>
          <a:blip r:embed="rId2"/>
          <a:stretch>
            <a:fillRect/>
          </a:stretch>
        </p:blipFill>
        <p:spPr>
          <a:xfrm>
            <a:off x="9079992" y="2560320"/>
            <a:ext cx="402336" cy="402336"/>
          </a:xfrm>
          <a:prstGeom prst="rect">
            <a:avLst/>
          </a:prstGeom>
        </p:spPr>
      </p:pic>
      <p:sp>
        <p:nvSpPr>
          <p:cNvPr id="15" name="Text 11"/>
          <p:cNvSpPr txBox="1"/>
          <p:nvPr/>
        </p:nvSpPr>
        <p:spPr>
          <a:xfrm>
            <a:off x="8595360" y="3035808"/>
            <a:ext cx="1371600" cy="365760"/>
          </a:xfrm>
          <a:prstGeom prst="rect">
            <a:avLst/>
          </a:prstGeom>
          <a:noFill/>
          <a:ln/>
        </p:spPr>
        <p:txBody>
          <a:bodyPr wrap="square" lIns="0" tIns="0" rIns="0" bIns="0" rtlCol="0" anchor="ctr"/>
          <a:lstStyle/>
          <a:p>
            <a:pPr algn="ctr" indent="0" marL="0">
              <a:buNone/>
            </a:pPr>
            <a:r>
              <a:rPr lang="en-US" sz="1400" b="1" dirty="0">
                <a:solidFill>
                  <a:schemeClr val="bg1"/>
                </a:solidFill>
              </a:rPr>
              <a:t>Your project</a:t>
            </a:r>
            <a:endParaRPr lang="en-US" sz="1400" dirty="0"/>
          </a:p>
        </p:txBody>
      </p:sp>
      <p:sp>
        <p:nvSpPr>
          <p:cNvPr id="16" name="Hub node 1"/>
          <p:cNvSpPr/>
          <p:nvPr/>
        </p:nvSpPr>
        <p:spPr>
          <a:xfrm>
            <a:off x="8540496" y="1143000"/>
            <a:ext cx="1481328" cy="548640"/>
          </a:xfrm>
          <a:prstGeom prst="roundRect">
            <a:avLst>
              <a:gd name="adj" fmla="val 50000"/>
            </a:avLst>
          </a:prstGeom>
          <a:solidFill>
            <a:schemeClr val="bg1"/>
          </a:solidFill>
          <a:ln w="15875">
            <a:solidFill>
              <a:schemeClr val="accent6"/>
            </a:solidFill>
            <a:prstDash val="solid"/>
          </a:ln>
          <a:effectLst>
            <a:outerShdw sx="100000" sy="100000" kx="0" ky="0" algn="bl" rotWithShape="0" blurRad="127000" dist="38100" dir="5400000">
              <a:srgbClr val="0B1F44">
                <a:alpha val="14000"/>
              </a:srgbClr>
            </a:outerShdw>
          </a:effectLst>
        </p:spPr>
      </p:sp>
      <p:pic>
        <p:nvPicPr>
          <p:cNvPr id="17" name="Hub node icon 1" descr="preencoded.png">    </p:cNvPr>
          <p:cNvPicPr>
            <a:picLocks noChangeAspect="1"/>
          </p:cNvPicPr>
          <p:nvPr/>
        </p:nvPicPr>
        <p:blipFill>
          <a:blip r:embed="rId3"/>
          <a:stretch>
            <a:fillRect/>
          </a:stretch>
        </p:blipFill>
        <p:spPr>
          <a:xfrm>
            <a:off x="8686800" y="1298448"/>
            <a:ext cx="237744" cy="237744"/>
          </a:xfrm>
          <a:prstGeom prst="rect">
            <a:avLst/>
          </a:prstGeom>
        </p:spPr>
      </p:pic>
      <p:sp>
        <p:nvSpPr>
          <p:cNvPr id="18" name="Text 13"/>
          <p:cNvSpPr txBox="1"/>
          <p:nvPr/>
        </p:nvSpPr>
        <p:spPr>
          <a:xfrm>
            <a:off x="8979408" y="1143000"/>
            <a:ext cx="978408" cy="548640"/>
          </a:xfrm>
          <a:prstGeom prst="rect">
            <a:avLst/>
          </a:prstGeom>
          <a:noFill/>
          <a:ln/>
        </p:spPr>
        <p:txBody>
          <a:bodyPr wrap="square" lIns="0" tIns="0" rIns="0" bIns="0" rtlCol="0" anchor="ctr"/>
          <a:lstStyle/>
          <a:p>
            <a:pPr indent="0" marL="0">
              <a:buNone/>
            </a:pPr>
            <a:r>
              <a:rPr lang="en-US" sz="1200" b="1" dirty="0">
                <a:solidFill>
                  <a:schemeClr val="tx2"/>
                </a:solidFill>
              </a:rPr>
              <a:t>Documents</a:t>
            </a:r>
            <a:endParaRPr lang="en-US" sz="1200" dirty="0"/>
          </a:p>
        </p:txBody>
      </p:sp>
      <p:sp>
        <p:nvSpPr>
          <p:cNvPr id="19" name="Hub node 2"/>
          <p:cNvSpPr/>
          <p:nvPr/>
        </p:nvSpPr>
        <p:spPr>
          <a:xfrm>
            <a:off x="10084689" y="1943100"/>
            <a:ext cx="1481328" cy="548640"/>
          </a:xfrm>
          <a:prstGeom prst="roundRect">
            <a:avLst>
              <a:gd name="adj" fmla="val 50000"/>
            </a:avLst>
          </a:prstGeom>
          <a:solidFill>
            <a:schemeClr val="bg1"/>
          </a:solidFill>
          <a:ln w="15875">
            <a:solidFill>
              <a:schemeClr val="accent6"/>
            </a:solidFill>
            <a:prstDash val="solid"/>
          </a:ln>
          <a:effectLst>
            <a:outerShdw sx="100000" sy="100000" kx="0" ky="0" algn="bl" rotWithShape="0" blurRad="127000" dist="38100" dir="5400000">
              <a:srgbClr val="0B1F44">
                <a:alpha val="14000"/>
              </a:srgbClr>
            </a:outerShdw>
          </a:effectLst>
        </p:spPr>
      </p:sp>
      <p:pic>
        <p:nvPicPr>
          <p:cNvPr id="20" name="Hub node icon 2" descr="preencoded.png">    </p:cNvPr>
          <p:cNvPicPr>
            <a:picLocks noChangeAspect="1"/>
          </p:cNvPicPr>
          <p:nvPr/>
        </p:nvPicPr>
        <p:blipFill>
          <a:blip r:embed="rId4"/>
          <a:stretch>
            <a:fillRect/>
          </a:stretch>
        </p:blipFill>
        <p:spPr>
          <a:xfrm>
            <a:off x="10230993" y="2098548"/>
            <a:ext cx="237744" cy="237744"/>
          </a:xfrm>
          <a:prstGeom prst="rect">
            <a:avLst/>
          </a:prstGeom>
        </p:spPr>
      </p:pic>
      <p:sp>
        <p:nvSpPr>
          <p:cNvPr id="21" name="Text 15"/>
          <p:cNvSpPr txBox="1"/>
          <p:nvPr/>
        </p:nvSpPr>
        <p:spPr>
          <a:xfrm>
            <a:off x="10523601" y="1943100"/>
            <a:ext cx="978408" cy="548640"/>
          </a:xfrm>
          <a:prstGeom prst="rect">
            <a:avLst/>
          </a:prstGeom>
          <a:noFill/>
          <a:ln/>
        </p:spPr>
        <p:txBody>
          <a:bodyPr wrap="square" lIns="0" tIns="0" rIns="0" bIns="0" rtlCol="0" anchor="ctr"/>
          <a:lstStyle/>
          <a:p>
            <a:pPr indent="0" marL="0">
              <a:buNone/>
            </a:pPr>
            <a:r>
              <a:rPr lang="en-US" sz="1200" b="1" dirty="0">
                <a:solidFill>
                  <a:schemeClr val="tx2"/>
                </a:solidFill>
              </a:rPr>
              <a:t>Topics</a:t>
            </a:r>
            <a:endParaRPr lang="en-US" sz="1200" dirty="0"/>
          </a:p>
        </p:txBody>
      </p:sp>
      <p:sp>
        <p:nvSpPr>
          <p:cNvPr id="22" name="Hub node 3"/>
          <p:cNvSpPr/>
          <p:nvPr/>
        </p:nvSpPr>
        <p:spPr>
          <a:xfrm>
            <a:off x="10084689" y="3543300"/>
            <a:ext cx="1481328" cy="548640"/>
          </a:xfrm>
          <a:prstGeom prst="roundRect">
            <a:avLst>
              <a:gd name="adj" fmla="val 50000"/>
            </a:avLst>
          </a:prstGeom>
          <a:solidFill>
            <a:schemeClr val="bg1"/>
          </a:solidFill>
          <a:ln w="15875">
            <a:solidFill>
              <a:schemeClr val="accent6"/>
            </a:solidFill>
            <a:prstDash val="solid"/>
          </a:ln>
          <a:effectLst>
            <a:outerShdw sx="100000" sy="100000" kx="0" ky="0" algn="bl" rotWithShape="0" blurRad="127000" dist="38100" dir="5400000">
              <a:srgbClr val="0B1F44">
                <a:alpha val="14000"/>
              </a:srgbClr>
            </a:outerShdw>
          </a:effectLst>
        </p:spPr>
      </p:sp>
      <p:pic>
        <p:nvPicPr>
          <p:cNvPr id="23" name="Hub node icon 3" descr="preencoded.png">    </p:cNvPr>
          <p:cNvPicPr>
            <a:picLocks noChangeAspect="1"/>
          </p:cNvPicPr>
          <p:nvPr/>
        </p:nvPicPr>
        <p:blipFill>
          <a:blip r:embed="rId5"/>
          <a:stretch>
            <a:fillRect/>
          </a:stretch>
        </p:blipFill>
        <p:spPr>
          <a:xfrm>
            <a:off x="10230993" y="3698748"/>
            <a:ext cx="237744" cy="237744"/>
          </a:xfrm>
          <a:prstGeom prst="rect">
            <a:avLst/>
          </a:prstGeom>
        </p:spPr>
      </p:pic>
      <p:sp>
        <p:nvSpPr>
          <p:cNvPr id="24" name="Text 17"/>
          <p:cNvSpPr txBox="1"/>
          <p:nvPr/>
        </p:nvSpPr>
        <p:spPr>
          <a:xfrm>
            <a:off x="10523601" y="3543300"/>
            <a:ext cx="978408" cy="548640"/>
          </a:xfrm>
          <a:prstGeom prst="rect">
            <a:avLst/>
          </a:prstGeom>
          <a:noFill/>
          <a:ln/>
        </p:spPr>
        <p:txBody>
          <a:bodyPr wrap="square" lIns="0" tIns="0" rIns="0" bIns="0" rtlCol="0" anchor="ctr"/>
          <a:lstStyle/>
          <a:p>
            <a:pPr indent="0" marL="0">
              <a:buNone/>
            </a:pPr>
            <a:r>
              <a:rPr lang="en-US" sz="1200" b="1" dirty="0">
                <a:solidFill>
                  <a:schemeClr val="tx2"/>
                </a:solidFill>
              </a:rPr>
              <a:t>Timeline</a:t>
            </a:r>
            <a:endParaRPr lang="en-US" sz="1200" dirty="0"/>
          </a:p>
        </p:txBody>
      </p:sp>
      <p:sp>
        <p:nvSpPr>
          <p:cNvPr id="25" name="Hub node 4"/>
          <p:cNvSpPr/>
          <p:nvPr/>
        </p:nvSpPr>
        <p:spPr>
          <a:xfrm>
            <a:off x="8540496" y="4343400"/>
            <a:ext cx="1481328" cy="548640"/>
          </a:xfrm>
          <a:prstGeom prst="roundRect">
            <a:avLst>
              <a:gd name="adj" fmla="val 50000"/>
            </a:avLst>
          </a:prstGeom>
          <a:solidFill>
            <a:schemeClr val="bg1"/>
          </a:solidFill>
          <a:ln w="15875">
            <a:solidFill>
              <a:schemeClr val="accent6"/>
            </a:solidFill>
            <a:prstDash val="solid"/>
          </a:ln>
          <a:effectLst>
            <a:outerShdw sx="100000" sy="100000" kx="0" ky="0" algn="bl" rotWithShape="0" blurRad="127000" dist="38100" dir="5400000">
              <a:srgbClr val="0B1F44">
                <a:alpha val="14000"/>
              </a:srgbClr>
            </a:outerShdw>
          </a:effectLst>
        </p:spPr>
      </p:sp>
      <p:pic>
        <p:nvPicPr>
          <p:cNvPr id="26" name="Hub node icon 4" descr="preencoded.png">    </p:cNvPr>
          <p:cNvPicPr>
            <a:picLocks noChangeAspect="1"/>
          </p:cNvPicPr>
          <p:nvPr/>
        </p:nvPicPr>
        <p:blipFill>
          <a:blip r:embed="rId6"/>
          <a:stretch>
            <a:fillRect/>
          </a:stretch>
        </p:blipFill>
        <p:spPr>
          <a:xfrm>
            <a:off x="8686800" y="4498848"/>
            <a:ext cx="237744" cy="237744"/>
          </a:xfrm>
          <a:prstGeom prst="rect">
            <a:avLst/>
          </a:prstGeom>
        </p:spPr>
      </p:pic>
      <p:sp>
        <p:nvSpPr>
          <p:cNvPr id="27" name="Text 19"/>
          <p:cNvSpPr txBox="1"/>
          <p:nvPr/>
        </p:nvSpPr>
        <p:spPr>
          <a:xfrm>
            <a:off x="8979408" y="4343400"/>
            <a:ext cx="978408" cy="548640"/>
          </a:xfrm>
          <a:prstGeom prst="rect">
            <a:avLst/>
          </a:prstGeom>
          <a:noFill/>
          <a:ln/>
        </p:spPr>
        <p:txBody>
          <a:bodyPr wrap="square" lIns="0" tIns="0" rIns="0" bIns="0" rtlCol="0" anchor="ctr"/>
          <a:lstStyle/>
          <a:p>
            <a:pPr indent="0" marL="0">
              <a:buNone/>
            </a:pPr>
            <a:r>
              <a:rPr lang="en-US" sz="1200" b="1" dirty="0">
                <a:solidFill>
                  <a:schemeClr val="tx2"/>
                </a:solidFill>
              </a:rPr>
              <a:t>Lessons</a:t>
            </a:r>
            <a:endParaRPr lang="en-US" sz="1200" dirty="0"/>
          </a:p>
        </p:txBody>
      </p:sp>
      <p:sp>
        <p:nvSpPr>
          <p:cNvPr id="28" name="Hub node 5"/>
          <p:cNvSpPr/>
          <p:nvPr/>
        </p:nvSpPr>
        <p:spPr>
          <a:xfrm>
            <a:off x="6996303" y="3543300"/>
            <a:ext cx="1481328" cy="548640"/>
          </a:xfrm>
          <a:prstGeom prst="roundRect">
            <a:avLst>
              <a:gd name="adj" fmla="val 50000"/>
            </a:avLst>
          </a:prstGeom>
          <a:solidFill>
            <a:schemeClr val="bg1"/>
          </a:solidFill>
          <a:ln w="15875">
            <a:solidFill>
              <a:schemeClr val="accent6"/>
            </a:solidFill>
            <a:prstDash val="solid"/>
          </a:ln>
          <a:effectLst>
            <a:outerShdw sx="100000" sy="100000" kx="0" ky="0" algn="bl" rotWithShape="0" blurRad="127000" dist="38100" dir="5400000">
              <a:srgbClr val="0B1F44">
                <a:alpha val="14000"/>
              </a:srgbClr>
            </a:outerShdw>
          </a:effectLst>
        </p:spPr>
      </p:sp>
      <p:pic>
        <p:nvPicPr>
          <p:cNvPr id="29" name="Hub node icon 5" descr="preencoded.png">    </p:cNvPr>
          <p:cNvPicPr>
            <a:picLocks noChangeAspect="1"/>
          </p:cNvPicPr>
          <p:nvPr/>
        </p:nvPicPr>
        <p:blipFill>
          <a:blip r:embed="rId7"/>
          <a:stretch>
            <a:fillRect/>
          </a:stretch>
        </p:blipFill>
        <p:spPr>
          <a:xfrm>
            <a:off x="7142607" y="3698748"/>
            <a:ext cx="237744" cy="237744"/>
          </a:xfrm>
          <a:prstGeom prst="rect">
            <a:avLst/>
          </a:prstGeom>
        </p:spPr>
      </p:pic>
      <p:sp>
        <p:nvSpPr>
          <p:cNvPr id="30" name="Text 21"/>
          <p:cNvSpPr txBox="1"/>
          <p:nvPr/>
        </p:nvSpPr>
        <p:spPr>
          <a:xfrm>
            <a:off x="7435215" y="3543300"/>
            <a:ext cx="978408" cy="548640"/>
          </a:xfrm>
          <a:prstGeom prst="rect">
            <a:avLst/>
          </a:prstGeom>
          <a:noFill/>
          <a:ln/>
        </p:spPr>
        <p:txBody>
          <a:bodyPr wrap="square" lIns="0" tIns="0" rIns="0" bIns="0" rtlCol="0" anchor="ctr"/>
          <a:lstStyle/>
          <a:p>
            <a:pPr indent="0" marL="0">
              <a:buNone/>
            </a:pPr>
            <a:r>
              <a:rPr lang="en-US" sz="1200" b="1" dirty="0">
                <a:solidFill>
                  <a:schemeClr val="tx2"/>
                </a:solidFill>
              </a:rPr>
              <a:t>Experts</a:t>
            </a:r>
            <a:endParaRPr lang="en-US" sz="1200" dirty="0"/>
          </a:p>
        </p:txBody>
      </p:sp>
      <p:sp>
        <p:nvSpPr>
          <p:cNvPr id="31" name="Hub node 6"/>
          <p:cNvSpPr/>
          <p:nvPr/>
        </p:nvSpPr>
        <p:spPr>
          <a:xfrm>
            <a:off x="6996303" y="1943100"/>
            <a:ext cx="1481328" cy="548640"/>
          </a:xfrm>
          <a:prstGeom prst="roundRect">
            <a:avLst>
              <a:gd name="adj" fmla="val 50000"/>
            </a:avLst>
          </a:prstGeom>
          <a:solidFill>
            <a:schemeClr val="bg1"/>
          </a:solidFill>
          <a:ln w="15875">
            <a:solidFill>
              <a:schemeClr val="accent2"/>
            </a:solidFill>
            <a:prstDash val="solid"/>
          </a:ln>
          <a:effectLst>
            <a:outerShdw sx="100000" sy="100000" kx="0" ky="0" algn="bl" rotWithShape="0" blurRad="127000" dist="38100" dir="5400000">
              <a:srgbClr val="0B1F44">
                <a:alpha val="14000"/>
              </a:srgbClr>
            </a:outerShdw>
          </a:effectLst>
        </p:spPr>
      </p:sp>
      <p:pic>
        <p:nvPicPr>
          <p:cNvPr id="32" name="Hub node icon 6" descr="preencoded.png">    </p:cNvPr>
          <p:cNvPicPr>
            <a:picLocks noChangeAspect="1"/>
          </p:cNvPicPr>
          <p:nvPr/>
        </p:nvPicPr>
        <p:blipFill>
          <a:blip r:embed="rId8"/>
          <a:stretch>
            <a:fillRect/>
          </a:stretch>
        </p:blipFill>
        <p:spPr>
          <a:xfrm>
            <a:off x="7142607" y="2098548"/>
            <a:ext cx="237744" cy="237744"/>
          </a:xfrm>
          <a:prstGeom prst="rect">
            <a:avLst/>
          </a:prstGeom>
        </p:spPr>
      </p:pic>
      <p:sp>
        <p:nvSpPr>
          <p:cNvPr id="33" name="Text 23"/>
          <p:cNvSpPr txBox="1"/>
          <p:nvPr/>
        </p:nvSpPr>
        <p:spPr>
          <a:xfrm>
            <a:off x="7435215" y="1943100"/>
            <a:ext cx="978408" cy="548640"/>
          </a:xfrm>
          <a:prstGeom prst="rect">
            <a:avLst/>
          </a:prstGeom>
          <a:noFill/>
          <a:ln/>
        </p:spPr>
        <p:txBody>
          <a:bodyPr wrap="square" lIns="0" tIns="0" rIns="0" bIns="0" rtlCol="0" anchor="ctr"/>
          <a:lstStyle/>
          <a:p>
            <a:pPr indent="0" marL="0">
              <a:buNone/>
            </a:pPr>
            <a:r>
              <a:rPr lang="en-US" sz="1200" b="1" dirty="0">
                <a:solidFill>
                  <a:schemeClr val="tx2"/>
                </a:solidFill>
              </a:rPr>
              <a:t>Related work</a:t>
            </a:r>
            <a:endParaRPr lang="en-US" sz="1200" dirty="0"/>
          </a:p>
        </p:txBody>
      </p:sp>
      <p:sp>
        <p:nvSpPr>
          <p:cNvPr id="34" name="Text 24"/>
          <p:cNvSpPr txBox="1"/>
          <p:nvPr/>
        </p:nvSpPr>
        <p:spPr>
          <a:xfrm>
            <a:off x="6996303" y="2528316"/>
            <a:ext cx="1481328" cy="228600"/>
          </a:xfrm>
          <a:prstGeom prst="rect">
            <a:avLst/>
          </a:prstGeom>
          <a:noFill/>
          <a:ln/>
        </p:spPr>
        <p:txBody>
          <a:bodyPr wrap="square" lIns="0" tIns="0" rIns="0" bIns="0" rtlCol="0" anchor="t"/>
          <a:lstStyle/>
          <a:p>
            <a:pPr algn="ctr" indent="0" marL="0">
              <a:buNone/>
            </a:pPr>
            <a:r>
              <a:rPr lang="en-US" sz="1000" i="1" dirty="0">
                <a:solidFill>
                  <a:schemeClr val="accent2"/>
                </a:solidFill>
              </a:rPr>
              <a:t>from other projects</a:t>
            </a:r>
            <a:endParaRPr lang="en-US" sz="1000" dirty="0"/>
          </a:p>
        </p:txBody>
      </p:sp>
      <p:sp>
        <p:nvSpPr>
          <p:cNvPr id="35" name="Text 25"/>
          <p:cNvSpPr txBox="1"/>
          <p:nvPr/>
        </p:nvSpPr>
        <p:spPr>
          <a:xfrm>
            <a:off x="548640" y="2331720"/>
            <a:ext cx="27432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TODAY</a:t>
            </a:r>
            <a:endParaRPr lang="en-US" sz="1100" dirty="0"/>
          </a:p>
        </p:txBody>
      </p:sp>
      <p:sp>
        <p:nvSpPr>
          <p:cNvPr id="36" name="Text 26"/>
          <p:cNvSpPr txBox="1"/>
          <p:nvPr/>
        </p:nvSpPr>
        <p:spPr>
          <a:xfrm>
            <a:off x="548640" y="2606040"/>
            <a:ext cx="5440680" cy="566928"/>
          </a:xfrm>
          <a:prstGeom prst="rect">
            <a:avLst/>
          </a:prstGeom>
          <a:noFill/>
          <a:ln/>
        </p:spPr>
        <p:txBody>
          <a:bodyPr wrap="square" lIns="0" tIns="0" rIns="0" bIns="0" rtlCol="0" anchor="t"/>
          <a:lstStyle/>
          <a:p>
            <a:pPr indent="0" marL="0">
              <a:buNone/>
            </a:pPr>
            <a:r>
              <a:rPr lang="en-US" sz="1500" dirty="0">
                <a:solidFill>
                  <a:schemeClr val="accent4"/>
                </a:solidFill>
              </a:rPr>
              <a:t>Every project starts from a blank page, and past mistakes get repeated.</a:t>
            </a:r>
            <a:endParaRPr lang="en-US" sz="1500" dirty="0"/>
          </a:p>
        </p:txBody>
      </p:sp>
      <p:sp>
        <p:nvSpPr>
          <p:cNvPr id="37" name="Text 27"/>
          <p:cNvSpPr txBox="1"/>
          <p:nvPr/>
        </p:nvSpPr>
        <p:spPr>
          <a:xfrm>
            <a:off x="548640" y="3291840"/>
            <a:ext cx="27432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WITH KMS</a:t>
            </a:r>
            <a:endParaRPr lang="en-US" sz="1100" dirty="0"/>
          </a:p>
        </p:txBody>
      </p:sp>
      <p:pic>
        <p:nvPicPr>
          <p:cNvPr id="38" name="Check 1" descr="preencoded.png">    </p:cNvPr>
          <p:cNvPicPr>
            <a:picLocks noChangeAspect="1"/>
          </p:cNvPicPr>
          <p:nvPr/>
        </p:nvPicPr>
        <p:blipFill>
          <a:blip r:embed="rId9"/>
          <a:stretch>
            <a:fillRect/>
          </a:stretch>
        </p:blipFill>
        <p:spPr>
          <a:xfrm>
            <a:off x="548640" y="3639312"/>
            <a:ext cx="256032" cy="256032"/>
          </a:xfrm>
          <a:prstGeom prst="rect">
            <a:avLst/>
          </a:prstGeom>
        </p:spPr>
      </p:pic>
      <p:sp>
        <p:nvSpPr>
          <p:cNvPr id="39" name="Text 28"/>
          <p:cNvSpPr txBox="1"/>
          <p:nvPr/>
        </p:nvSpPr>
        <p:spPr>
          <a:xfrm>
            <a:off x="914400" y="3611880"/>
            <a:ext cx="5120640" cy="301752"/>
          </a:xfrm>
          <a:prstGeom prst="rect">
            <a:avLst/>
          </a:prstGeom>
          <a:noFill/>
          <a:ln/>
        </p:spPr>
        <p:txBody>
          <a:bodyPr wrap="square" lIns="0" tIns="0" rIns="0" bIns="0" rtlCol="0" anchor="t"/>
          <a:lstStyle/>
          <a:p>
            <a:pPr indent="0" marL="0">
              <a:buNone/>
            </a:pPr>
            <a:r>
              <a:rPr lang="en-US" sz="1500" dirty="0">
                <a:solidFill>
                  <a:schemeClr val="tx1"/>
                </a:solidFill>
              </a:rPr>
              <a:t>One view of documents, topics, timeline and experts</a:t>
            </a:r>
            <a:endParaRPr lang="en-US" sz="1500" dirty="0"/>
          </a:p>
        </p:txBody>
      </p:sp>
      <p:sp>
        <p:nvSpPr>
          <p:cNvPr id="40" name="Text 29"/>
          <p:cNvSpPr txBox="1"/>
          <p:nvPr/>
        </p:nvSpPr>
        <p:spPr>
          <a:xfrm>
            <a:off x="914400" y="3904488"/>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Project Intelligence</a:t>
            </a:r>
            <a:endParaRPr lang="en-US" sz="1100" dirty="0"/>
          </a:p>
        </p:txBody>
      </p:sp>
      <p:pic>
        <p:nvPicPr>
          <p:cNvPr id="41" name="Check 2" descr="preencoded.png">    </p:cNvPr>
          <p:cNvPicPr>
            <a:picLocks noChangeAspect="1"/>
          </p:cNvPicPr>
          <p:nvPr/>
        </p:nvPicPr>
        <p:blipFill>
          <a:blip r:embed="rId10"/>
          <a:stretch>
            <a:fillRect/>
          </a:stretch>
        </p:blipFill>
        <p:spPr>
          <a:xfrm>
            <a:off x="548640" y="4242816"/>
            <a:ext cx="256032" cy="256032"/>
          </a:xfrm>
          <a:prstGeom prst="rect">
            <a:avLst/>
          </a:prstGeom>
        </p:spPr>
      </p:pic>
      <p:sp>
        <p:nvSpPr>
          <p:cNvPr id="42" name="Text 30"/>
          <p:cNvSpPr txBox="1"/>
          <p:nvPr/>
        </p:nvSpPr>
        <p:spPr>
          <a:xfrm>
            <a:off x="914400" y="4215384"/>
            <a:ext cx="5120640" cy="301752"/>
          </a:xfrm>
          <a:prstGeom prst="rect">
            <a:avLst/>
          </a:prstGeom>
          <a:noFill/>
          <a:ln/>
        </p:spPr>
        <p:txBody>
          <a:bodyPr wrap="square" lIns="0" tIns="0" rIns="0" bIns="0" rtlCol="0" anchor="t"/>
          <a:lstStyle/>
          <a:p>
            <a:pPr indent="0" marL="0">
              <a:buNone/>
            </a:pPr>
            <a:r>
              <a:rPr lang="en-US" sz="1500" dirty="0">
                <a:solidFill>
                  <a:schemeClr val="tx1"/>
                </a:solidFill>
              </a:rPr>
              <a:t>Related work from other projects, with the reason</a:t>
            </a:r>
            <a:endParaRPr lang="en-US" sz="1500" dirty="0"/>
          </a:p>
        </p:txBody>
      </p:sp>
      <p:sp>
        <p:nvSpPr>
          <p:cNvPr id="43" name="Text 31"/>
          <p:cNvSpPr txBox="1"/>
          <p:nvPr/>
        </p:nvSpPr>
        <p:spPr>
          <a:xfrm>
            <a:off x="914400" y="4507992"/>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Relationship Discovery</a:t>
            </a:r>
            <a:endParaRPr lang="en-US" sz="1100" dirty="0"/>
          </a:p>
        </p:txBody>
      </p:sp>
      <p:pic>
        <p:nvPicPr>
          <p:cNvPr id="44" name="Check 3" descr="preencoded.png">    </p:cNvPr>
          <p:cNvPicPr>
            <a:picLocks noChangeAspect="1"/>
          </p:cNvPicPr>
          <p:nvPr/>
        </p:nvPicPr>
        <p:blipFill>
          <a:blip r:embed="rId11"/>
          <a:stretch>
            <a:fillRect/>
          </a:stretch>
        </p:blipFill>
        <p:spPr>
          <a:xfrm>
            <a:off x="548640" y="4846320"/>
            <a:ext cx="256032" cy="256032"/>
          </a:xfrm>
          <a:prstGeom prst="rect">
            <a:avLst/>
          </a:prstGeom>
        </p:spPr>
      </p:pic>
      <p:sp>
        <p:nvSpPr>
          <p:cNvPr id="45" name="Text 32"/>
          <p:cNvSpPr txBox="1"/>
          <p:nvPr/>
        </p:nvSpPr>
        <p:spPr>
          <a:xfrm>
            <a:off x="914400" y="4818888"/>
            <a:ext cx="5120640" cy="301752"/>
          </a:xfrm>
          <a:prstGeom prst="rect">
            <a:avLst/>
          </a:prstGeom>
          <a:noFill/>
          <a:ln/>
        </p:spPr>
        <p:txBody>
          <a:bodyPr wrap="square" lIns="0" tIns="0" rIns="0" bIns="0" rtlCol="0" anchor="t"/>
          <a:lstStyle/>
          <a:p>
            <a:pPr indent="0" marL="0">
              <a:buNone/>
            </a:pPr>
            <a:r>
              <a:rPr lang="en-US" sz="1500" dirty="0">
                <a:solidFill>
                  <a:schemeClr val="tx1"/>
                </a:solidFill>
              </a:rPr>
              <a:t>Past lessons searchable, and answerable in chat</a:t>
            </a:r>
            <a:endParaRPr lang="en-US" sz="1500" dirty="0"/>
          </a:p>
        </p:txBody>
      </p:sp>
      <p:sp>
        <p:nvSpPr>
          <p:cNvPr id="46" name="Text 33"/>
          <p:cNvSpPr txBox="1"/>
          <p:nvPr/>
        </p:nvSpPr>
        <p:spPr>
          <a:xfrm>
            <a:off x="914400" y="5111496"/>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Lessons Learned Intelligence</a:t>
            </a:r>
            <a:endParaRPr lang="en-US" sz="1100" dirty="0"/>
          </a:p>
        </p:txBody>
      </p:sp>
      <p:sp>
        <p:nvSpPr>
          <p:cNvPr id="47" name="Outcome box"/>
          <p:cNvSpPr/>
          <p:nvPr/>
        </p:nvSpPr>
        <p:spPr>
          <a:xfrm>
            <a:off x="548640" y="5486400"/>
            <a:ext cx="5440680" cy="603504"/>
          </a:xfrm>
          <a:prstGeom prst="roundRect">
            <a:avLst>
              <a:gd name="adj" fmla="val 15152"/>
            </a:avLst>
          </a:prstGeom>
          <a:solidFill>
            <a:schemeClr val="accent1"/>
          </a:solidFill>
          <a:ln/>
          <a:effectLst>
            <a:outerShdw sx="100000" sy="100000" kx="0" ky="0" algn="bl" rotWithShape="0" blurRad="127000" dist="38100" dir="5400000">
              <a:srgbClr val="0B1F44">
                <a:alpha val="14000"/>
              </a:srgbClr>
            </a:outerShdw>
          </a:effectLst>
        </p:spPr>
      </p:sp>
      <p:pic>
        <p:nvPicPr>
          <p:cNvPr id="48" name="Outcome icon" descr="preencoded.png">    </p:cNvPr>
          <p:cNvPicPr>
            <a:picLocks noChangeAspect="1"/>
          </p:cNvPicPr>
          <p:nvPr/>
        </p:nvPicPr>
        <p:blipFill>
          <a:blip r:embed="rId12"/>
          <a:stretch>
            <a:fillRect/>
          </a:stretch>
        </p:blipFill>
        <p:spPr>
          <a:xfrm>
            <a:off x="731520" y="5641848"/>
            <a:ext cx="292608" cy="292608"/>
          </a:xfrm>
          <a:prstGeom prst="rect">
            <a:avLst/>
          </a:prstGeom>
        </p:spPr>
      </p:pic>
      <p:sp>
        <p:nvSpPr>
          <p:cNvPr id="49" name="Text 35"/>
          <p:cNvSpPr txBox="1"/>
          <p:nvPr/>
        </p:nvSpPr>
        <p:spPr>
          <a:xfrm>
            <a:off x="1143000" y="5486400"/>
            <a:ext cx="4754880" cy="603504"/>
          </a:xfrm>
          <a:prstGeom prst="rect">
            <a:avLst/>
          </a:prstGeom>
          <a:noFill/>
          <a:ln/>
        </p:spPr>
        <p:txBody>
          <a:bodyPr wrap="square" lIns="0" tIns="0" rIns="0" bIns="0" rtlCol="0" anchor="ctr"/>
          <a:lstStyle/>
          <a:p>
            <a:pPr indent="0" marL="0">
              <a:buNone/>
            </a:pPr>
            <a:r>
              <a:rPr lang="en-US" sz="1500" b="1" dirty="0">
                <a:solidFill>
                  <a:schemeClr val="accent6"/>
                </a:solidFill>
              </a:rPr>
              <a:t>Outcome:  </a:t>
            </a:r>
            <a:pPr indent="0" marL="0">
              <a:buNone/>
            </a:pPr>
            <a:r>
              <a:rPr lang="en-US" sz="1500" b="1" dirty="0">
                <a:solidFill>
                  <a:schemeClr val="bg1"/>
                </a:solidFill>
              </a:rPr>
              <a:t>Reuse what worked. Skip the mistakes already made.</a:t>
            </a:r>
            <a:endParaRPr lang="en-US" sz="15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ersona badge"/>
          <p:cNvSpPr/>
          <p:nvPr/>
        </p:nvSpPr>
        <p:spPr>
          <a:xfrm>
            <a:off x="548640" y="457200"/>
            <a:ext cx="566928" cy="566928"/>
          </a:xfrm>
          <a:prstGeom prst="ellipse">
            <a:avLst/>
          </a:prstGeom>
          <a:solidFill>
            <a:schemeClr val="accent1"/>
          </a:solidFill>
          <a:ln/>
        </p:spPr>
      </p:sp>
      <p:pic>
        <p:nvPicPr>
          <p:cNvPr id="3" name="Persona badge icon" descr="preencoded.png">    </p:cNvPr>
          <p:cNvPicPr>
            <a:picLocks noChangeAspect="1"/>
          </p:cNvPicPr>
          <p:nvPr/>
        </p:nvPicPr>
        <p:blipFill>
          <a:blip r:embed="rId1"/>
          <a:stretch>
            <a:fillRect/>
          </a:stretch>
        </p:blipFill>
        <p:spPr>
          <a:xfrm>
            <a:off x="684703" y="593263"/>
            <a:ext cx="294803" cy="294803"/>
          </a:xfrm>
          <a:prstGeom prst="rect">
            <a:avLst/>
          </a:prstGeom>
        </p:spPr>
      </p:pic>
      <p:sp>
        <p:nvSpPr>
          <p:cNvPr id="4" name="Text 1"/>
          <p:cNvSpPr/>
          <p:nvPr>
            <p:ph idx="102" type="body" hasCustomPrompt="1"/>
          </p:nvPr>
        </p:nvSpPr>
        <p:spPr>
          <a:xfrm>
            <a:off x="1353312" y="566928"/>
            <a:ext cx="475488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FOR THE DEPARTMENT HEAD</a:t>
            </a:r>
            <a:endParaRPr lang="en-US" sz="1300" dirty="0"/>
          </a:p>
        </p:txBody>
      </p:sp>
      <p:sp>
        <p:nvSpPr>
          <p:cNvPr id="5" name="Text 1"/>
          <p:cNvSpPr/>
          <p:nvPr>
            <p:ph idx="103" type="title" hasCustomPrompt="1"/>
          </p:nvPr>
        </p:nvSpPr>
        <p:spPr>
          <a:xfrm>
            <a:off x="548640" y="1207008"/>
            <a:ext cx="5486400" cy="960120"/>
          </a:xfrm>
          <a:prstGeom prst="rect">
            <a:avLst/>
          </a:prstGeom>
          <a:noFill/>
          <a:ln/>
        </p:spPr>
        <p:txBody>
          <a:bodyPr wrap="square" lIns="0" tIns="0" rIns="0" bIns="0" rtlCol="0" anchor="t"/>
          <a:lstStyle/>
          <a:p>
            <a:pPr algn="l" indent="0" marL="0">
              <a:buNone/>
            </a:pPr>
            <a:r>
              <a:rPr lang="en-US" sz="3000" b="1" dirty="0">
                <a:solidFill>
                  <a:schemeClr val="tx2"/>
                </a:solidFill>
              </a:rPr>
              <a:t>“Why did we decide this?”</a:t>
            </a:r>
            <a:endParaRPr lang="en-US" sz="3000" dirty="0"/>
          </a:p>
        </p:txBody>
      </p:sp>
      <p:sp>
        <p:nvSpPr>
          <p:cNvPr id="6" name="Text 1"/>
          <p:cNvSpPr/>
          <p:nvPr>
            <p:ph idx="101" type="body" hasCustomPrompt="1"/>
          </p:nvPr>
        </p:nvSpPr>
        <p:spPr>
          <a:xfrm>
            <a:off x="6720840" y="5532120"/>
            <a:ext cx="5120640" cy="457200"/>
          </a:xfrm>
          <a:prstGeom prst="rect">
            <a:avLst/>
          </a:prstGeom>
          <a:noFill/>
          <a:ln/>
        </p:spPr>
        <p:txBody>
          <a:bodyPr wrap="square" lIns="0" tIns="0" rIns="0" bIns="0" rtlCol="0" anchor="t"/>
          <a:lstStyle/>
          <a:p>
            <a:pPr algn="ctr" indent="0" marL="0">
              <a:buNone/>
            </a:pPr>
            <a:r>
              <a:rPr lang="en-US" sz="1300" i="1" dirty="0">
                <a:solidFill>
                  <a:schemeClr val="accent4"/>
                </a:solidFill>
              </a:rPr>
              <a:t>Decision Intelligence: rationale, source and current status</a:t>
            </a:r>
            <a:endParaRPr lang="en-US" sz="1300" dirty="0"/>
          </a:p>
        </p:txBody>
      </p:sp>
      <p:sp>
        <p:nvSpPr>
          <p:cNvPr id="7" name="Decision card"/>
          <p:cNvSpPr/>
          <p:nvPr/>
        </p:nvSpPr>
        <p:spPr>
          <a:xfrm>
            <a:off x="6720840" y="777240"/>
            <a:ext cx="5120640" cy="3246120"/>
          </a:xfrm>
          <a:prstGeom prst="roundRect">
            <a:avLst>
              <a:gd name="adj" fmla="val 3380"/>
            </a:avLst>
          </a:prstGeom>
          <a:solidFill>
            <a:schemeClr val="bg1"/>
          </a:solidFill>
          <a:ln w="12700">
            <a:solidFill>
              <a:schemeClr val="accent6"/>
            </a:solidFill>
            <a:prstDash val="solid"/>
          </a:ln>
          <a:effectLst>
            <a:outerShdw sx="100000" sy="100000" kx="0" ky="0" algn="bl" rotWithShape="0" blurRad="127000" dist="38100" dir="5400000">
              <a:srgbClr val="0B1F44">
                <a:alpha val="14000"/>
              </a:srgbClr>
            </a:outerShdw>
          </a:effectLst>
        </p:spPr>
      </p:sp>
      <p:sp>
        <p:nvSpPr>
          <p:cNvPr id="8" name="Decision tag"/>
          <p:cNvSpPr/>
          <p:nvPr/>
        </p:nvSpPr>
        <p:spPr>
          <a:xfrm>
            <a:off x="6995160" y="1024128"/>
            <a:ext cx="960120" cy="274320"/>
          </a:xfrm>
          <a:prstGeom prst="roundRect">
            <a:avLst>
              <a:gd name="adj" fmla="val 50000"/>
            </a:avLst>
          </a:prstGeom>
          <a:solidFill>
            <a:schemeClr val="accent1"/>
          </a:solidFill>
          <a:ln/>
        </p:spPr>
      </p:sp>
      <p:sp>
        <p:nvSpPr>
          <p:cNvPr id="9" name="Text 6"/>
          <p:cNvSpPr txBox="1"/>
          <p:nvPr/>
        </p:nvSpPr>
        <p:spPr>
          <a:xfrm>
            <a:off x="6995160" y="1024128"/>
            <a:ext cx="960120" cy="274320"/>
          </a:xfrm>
          <a:prstGeom prst="rect">
            <a:avLst/>
          </a:prstGeom>
          <a:noFill/>
          <a:ln/>
        </p:spPr>
        <p:txBody>
          <a:bodyPr wrap="square" lIns="0" tIns="0" rIns="0" bIns="0" rtlCol="0" anchor="ctr"/>
          <a:lstStyle/>
          <a:p>
            <a:pPr algn="ctr" indent="0" marL="0">
              <a:buNone/>
            </a:pPr>
            <a:r>
              <a:rPr lang="en-US" sz="1000" b="1" spc="150" kern="0" dirty="0">
                <a:solidFill>
                  <a:schemeClr val="bg1"/>
                </a:solidFill>
              </a:rPr>
              <a:t>DECISION</a:t>
            </a:r>
            <a:endParaRPr lang="en-US" sz="1000" dirty="0"/>
          </a:p>
        </p:txBody>
      </p:sp>
      <p:sp>
        <p:nvSpPr>
          <p:cNvPr id="10" name="Status tag"/>
          <p:cNvSpPr/>
          <p:nvPr/>
        </p:nvSpPr>
        <p:spPr>
          <a:xfrm>
            <a:off x="10744200" y="1024128"/>
            <a:ext cx="868680" cy="274320"/>
          </a:xfrm>
          <a:prstGeom prst="roundRect">
            <a:avLst>
              <a:gd name="adj" fmla="val 50000"/>
            </a:avLst>
          </a:prstGeom>
          <a:solidFill>
            <a:schemeClr val="accent2"/>
          </a:solidFill>
          <a:ln/>
        </p:spPr>
      </p:sp>
      <p:sp>
        <p:nvSpPr>
          <p:cNvPr id="11" name="Text 8"/>
          <p:cNvSpPr txBox="1"/>
          <p:nvPr/>
        </p:nvSpPr>
        <p:spPr>
          <a:xfrm>
            <a:off x="10744200" y="1024128"/>
            <a:ext cx="868680" cy="274320"/>
          </a:xfrm>
          <a:prstGeom prst="rect">
            <a:avLst/>
          </a:prstGeom>
          <a:noFill/>
          <a:ln/>
        </p:spPr>
        <p:txBody>
          <a:bodyPr wrap="square" lIns="0" tIns="0" rIns="0" bIns="0" rtlCol="0" anchor="ctr"/>
          <a:lstStyle/>
          <a:p>
            <a:pPr algn="ctr" indent="0" marL="0">
              <a:buNone/>
            </a:pPr>
            <a:r>
              <a:rPr lang="en-US" sz="1100" b="1" dirty="0">
                <a:solidFill>
                  <a:schemeClr val="bg1"/>
                </a:solidFill>
              </a:rPr>
              <a:t>Active</a:t>
            </a:r>
            <a:endParaRPr lang="en-US" sz="1100" dirty="0"/>
          </a:p>
        </p:txBody>
      </p:sp>
      <p:sp>
        <p:nvSpPr>
          <p:cNvPr id="12" name="Text 9"/>
          <p:cNvSpPr txBox="1"/>
          <p:nvPr/>
        </p:nvSpPr>
        <p:spPr>
          <a:xfrm>
            <a:off x="6995160" y="1444752"/>
            <a:ext cx="4572000" cy="640080"/>
          </a:xfrm>
          <a:prstGeom prst="rect">
            <a:avLst/>
          </a:prstGeom>
          <a:noFill/>
          <a:ln/>
        </p:spPr>
        <p:txBody>
          <a:bodyPr wrap="square" lIns="0" tIns="0" rIns="0" bIns="0" rtlCol="0" anchor="t"/>
          <a:lstStyle/>
          <a:p>
            <a:pPr indent="0" marL="0">
              <a:buNone/>
            </a:pPr>
            <a:r>
              <a:rPr lang="en-US" sz="1600" b="1" dirty="0">
                <a:solidFill>
                  <a:schemeClr val="tx2"/>
                </a:solidFill>
              </a:rPr>
              <a:t>Adopt PostgreSQL as the standard database for new projects</a:t>
            </a:r>
            <a:endParaRPr lang="en-US" sz="1600" dirty="0"/>
          </a:p>
        </p:txBody>
      </p:sp>
      <p:sp>
        <p:nvSpPr>
          <p:cNvPr id="13" name="Text 10"/>
          <p:cNvSpPr txBox="1"/>
          <p:nvPr/>
        </p:nvSpPr>
        <p:spPr>
          <a:xfrm>
            <a:off x="6995160" y="2212848"/>
            <a:ext cx="109728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WHY</a:t>
            </a:r>
            <a:endParaRPr lang="en-US" sz="1000" dirty="0"/>
          </a:p>
        </p:txBody>
      </p:sp>
      <p:sp>
        <p:nvSpPr>
          <p:cNvPr id="14" name="Text 11"/>
          <p:cNvSpPr txBox="1"/>
          <p:nvPr/>
        </p:nvSpPr>
        <p:spPr>
          <a:xfrm>
            <a:off x="6995160" y="2432304"/>
            <a:ext cx="4572000" cy="457200"/>
          </a:xfrm>
          <a:prstGeom prst="rect">
            <a:avLst/>
          </a:prstGeom>
          <a:noFill/>
          <a:ln/>
        </p:spPr>
        <p:txBody>
          <a:bodyPr wrap="square" lIns="0" tIns="0" rIns="0" bIns="0" rtlCol="0" anchor="t"/>
          <a:lstStyle/>
          <a:p>
            <a:pPr indent="0" marL="0">
              <a:buNone/>
            </a:pPr>
            <a:r>
              <a:rPr lang="en-US" sz="1300" dirty="0">
                <a:solidFill>
                  <a:schemeClr val="accent4"/>
                </a:solidFill>
              </a:rPr>
              <a:t>Team expertise, lower licensing cost and existing tooling support.</a:t>
            </a:r>
            <a:endParaRPr lang="en-US" sz="1300" dirty="0"/>
          </a:p>
        </p:txBody>
      </p:sp>
      <p:sp>
        <p:nvSpPr>
          <p:cNvPr id="15" name="Text 12"/>
          <p:cNvSpPr txBox="1"/>
          <p:nvPr/>
        </p:nvSpPr>
        <p:spPr>
          <a:xfrm>
            <a:off x="6995160" y="2999232"/>
            <a:ext cx="109728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SOURCE</a:t>
            </a:r>
            <a:endParaRPr lang="en-US" sz="1000" dirty="0"/>
          </a:p>
        </p:txBody>
      </p:sp>
      <p:sp>
        <p:nvSpPr>
          <p:cNvPr id="16" name="Decision source"/>
          <p:cNvSpPr/>
          <p:nvPr/>
        </p:nvSpPr>
        <p:spPr>
          <a:xfrm>
            <a:off x="6995160" y="3246120"/>
            <a:ext cx="2377440" cy="310896"/>
          </a:xfrm>
          <a:prstGeom prst="roundRect">
            <a:avLst>
              <a:gd name="adj" fmla="val 23529"/>
            </a:avLst>
          </a:prstGeom>
          <a:solidFill>
            <a:schemeClr val="bg1"/>
          </a:solidFill>
          <a:ln w="12700">
            <a:solidFill>
              <a:schemeClr val="accent6"/>
            </a:solidFill>
            <a:prstDash val="solid"/>
          </a:ln>
        </p:spPr>
      </p:sp>
      <p:pic>
        <p:nvPicPr>
          <p:cNvPr id="17" name="Decision source icon" descr="preencoded.png">    </p:cNvPr>
          <p:cNvPicPr>
            <a:picLocks noChangeAspect="1"/>
          </p:cNvPicPr>
          <p:nvPr/>
        </p:nvPicPr>
        <p:blipFill>
          <a:blip r:embed="rId2"/>
          <a:stretch>
            <a:fillRect/>
          </a:stretch>
        </p:blipFill>
        <p:spPr>
          <a:xfrm>
            <a:off x="7086600" y="3310128"/>
            <a:ext cx="182880" cy="182880"/>
          </a:xfrm>
          <a:prstGeom prst="rect">
            <a:avLst/>
          </a:prstGeom>
        </p:spPr>
      </p:pic>
      <p:sp>
        <p:nvSpPr>
          <p:cNvPr id="18" name="Text 14"/>
          <p:cNvSpPr txBox="1"/>
          <p:nvPr/>
        </p:nvSpPr>
        <p:spPr>
          <a:xfrm>
            <a:off x="7324344" y="3246120"/>
            <a:ext cx="1993392" cy="310896"/>
          </a:xfrm>
          <a:prstGeom prst="rect">
            <a:avLst/>
          </a:prstGeom>
          <a:noFill/>
          <a:ln/>
        </p:spPr>
        <p:txBody>
          <a:bodyPr wrap="square" lIns="0" tIns="0" rIns="0" bIns="0" rtlCol="0" anchor="ctr"/>
          <a:lstStyle/>
          <a:p>
            <a:pPr indent="0" marL="0">
              <a:buNone/>
            </a:pPr>
            <a:r>
              <a:rPr lang="en-US" sz="1100" dirty="0">
                <a:solidFill>
                  <a:schemeClr val="tx2"/>
                </a:solidFill>
              </a:rPr>
              <a:t>Architecture review notes.docx</a:t>
            </a:r>
            <a:endParaRPr lang="en-US" sz="1100" dirty="0"/>
          </a:p>
        </p:txBody>
      </p:sp>
      <p:pic>
        <p:nvPicPr>
          <p:cNvPr id="19" name="Reviewed icon" descr="preencoded.png">    </p:cNvPr>
          <p:cNvPicPr>
            <a:picLocks noChangeAspect="1"/>
          </p:cNvPicPr>
          <p:nvPr/>
        </p:nvPicPr>
        <p:blipFill>
          <a:blip r:embed="rId3"/>
          <a:stretch>
            <a:fillRect/>
          </a:stretch>
        </p:blipFill>
        <p:spPr>
          <a:xfrm>
            <a:off x="9646920" y="3291840"/>
            <a:ext cx="219456" cy="219456"/>
          </a:xfrm>
          <a:prstGeom prst="rect">
            <a:avLst/>
          </a:prstGeom>
        </p:spPr>
      </p:pic>
      <p:sp>
        <p:nvSpPr>
          <p:cNvPr id="20" name="Text 15"/>
          <p:cNvSpPr txBox="1"/>
          <p:nvPr/>
        </p:nvSpPr>
        <p:spPr>
          <a:xfrm>
            <a:off x="9921240" y="3246120"/>
            <a:ext cx="1828800" cy="310896"/>
          </a:xfrm>
          <a:prstGeom prst="rect">
            <a:avLst/>
          </a:prstGeom>
          <a:noFill/>
          <a:ln/>
        </p:spPr>
        <p:txBody>
          <a:bodyPr wrap="square" lIns="0" tIns="0" rIns="0" bIns="0" rtlCol="0" anchor="ctr"/>
          <a:lstStyle/>
          <a:p>
            <a:pPr indent="0" marL="0">
              <a:buNone/>
            </a:pPr>
            <a:r>
              <a:rPr lang="en-US" sz="1100" dirty="0">
                <a:solidFill>
                  <a:schemeClr val="accent4"/>
                </a:solidFill>
              </a:rPr>
              <a:t>Confirmed by department admin</a:t>
            </a:r>
            <a:endParaRPr lang="en-US" sz="1100" dirty="0"/>
          </a:p>
        </p:txBody>
      </p:sp>
      <p:sp>
        <p:nvSpPr>
          <p:cNvPr id="21" name="Text 16"/>
          <p:cNvSpPr txBox="1"/>
          <p:nvPr/>
        </p:nvSpPr>
        <p:spPr>
          <a:xfrm>
            <a:off x="6720840" y="4297680"/>
            <a:ext cx="274320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WHAT HAPPENED NEXT</a:t>
            </a:r>
            <a:endParaRPr lang="en-US" sz="1100" dirty="0"/>
          </a:p>
        </p:txBody>
      </p:sp>
      <p:sp>
        <p:nvSpPr>
          <p:cNvPr id="22" name="Outcome step 1"/>
          <p:cNvSpPr/>
          <p:nvPr/>
        </p:nvSpPr>
        <p:spPr>
          <a:xfrm>
            <a:off x="6720840" y="4645152"/>
            <a:ext cx="1463040" cy="384048"/>
          </a:xfrm>
          <a:prstGeom prst="roundRect">
            <a:avLst>
              <a:gd name="adj" fmla="val 50000"/>
            </a:avLst>
          </a:prstGeom>
          <a:solidFill>
            <a:schemeClr val="accent2"/>
          </a:solidFill>
          <a:ln/>
        </p:spPr>
      </p:sp>
      <p:sp>
        <p:nvSpPr>
          <p:cNvPr id="23" name="Text 18"/>
          <p:cNvSpPr txBox="1"/>
          <p:nvPr/>
        </p:nvSpPr>
        <p:spPr>
          <a:xfrm>
            <a:off x="6720840" y="4645152"/>
            <a:ext cx="1463040" cy="384048"/>
          </a:xfrm>
          <a:prstGeom prst="rect">
            <a:avLst/>
          </a:prstGeom>
          <a:noFill/>
          <a:ln/>
        </p:spPr>
        <p:txBody>
          <a:bodyPr wrap="square" lIns="0" tIns="0" rIns="0" bIns="0" rtlCol="0" anchor="ctr"/>
          <a:lstStyle/>
          <a:p>
            <a:pPr algn="ctr" indent="0" marL="0">
              <a:buNone/>
            </a:pPr>
            <a:r>
              <a:rPr lang="en-US" sz="1200" b="1" dirty="0">
                <a:solidFill>
                  <a:schemeClr val="bg1"/>
                </a:solidFill>
              </a:rPr>
              <a:t>Active</a:t>
            </a:r>
            <a:endParaRPr lang="en-US" sz="1200" dirty="0"/>
          </a:p>
        </p:txBody>
      </p:sp>
      <p:pic>
        <p:nvPicPr>
          <p:cNvPr id="24" name="Outcome arrow 1" descr="preencoded.png">    </p:cNvPr>
          <p:cNvPicPr>
            <a:picLocks noChangeAspect="1"/>
          </p:cNvPicPr>
          <p:nvPr/>
        </p:nvPicPr>
        <p:blipFill>
          <a:blip r:embed="rId4"/>
          <a:stretch>
            <a:fillRect/>
          </a:stretch>
        </p:blipFill>
        <p:spPr>
          <a:xfrm>
            <a:off x="8238744" y="4718304"/>
            <a:ext cx="237744" cy="237744"/>
          </a:xfrm>
          <a:prstGeom prst="rect">
            <a:avLst/>
          </a:prstGeom>
        </p:spPr>
      </p:pic>
      <p:sp>
        <p:nvSpPr>
          <p:cNvPr id="25" name="Outcome step 2"/>
          <p:cNvSpPr/>
          <p:nvPr/>
        </p:nvSpPr>
        <p:spPr>
          <a:xfrm>
            <a:off x="8503920" y="4645152"/>
            <a:ext cx="1463040" cy="384048"/>
          </a:xfrm>
          <a:prstGeom prst="roundRect">
            <a:avLst>
              <a:gd name="adj" fmla="val 50000"/>
            </a:avLst>
          </a:prstGeom>
          <a:solidFill>
            <a:schemeClr val="bg1"/>
          </a:solidFill>
          <a:ln w="19050">
            <a:solidFill>
              <a:schemeClr val="accent3"/>
            </a:solidFill>
            <a:prstDash val="solid"/>
          </a:ln>
        </p:spPr>
      </p:sp>
      <p:sp>
        <p:nvSpPr>
          <p:cNvPr id="26" name="Text 20"/>
          <p:cNvSpPr txBox="1"/>
          <p:nvPr/>
        </p:nvSpPr>
        <p:spPr>
          <a:xfrm>
            <a:off x="8503920" y="4645152"/>
            <a:ext cx="1463040" cy="384048"/>
          </a:xfrm>
          <a:prstGeom prst="rect">
            <a:avLst/>
          </a:prstGeom>
          <a:noFill/>
          <a:ln/>
        </p:spPr>
        <p:txBody>
          <a:bodyPr wrap="square" lIns="0" tIns="0" rIns="0" bIns="0" rtlCol="0" anchor="ctr"/>
          <a:lstStyle/>
          <a:p>
            <a:pPr algn="ctr" indent="0" marL="0">
              <a:buNone/>
            </a:pPr>
            <a:r>
              <a:rPr lang="en-US" sz="1200" b="1" dirty="0">
                <a:solidFill>
                  <a:schemeClr val="accent3"/>
                </a:solidFill>
              </a:rPr>
              <a:t>Superseded</a:t>
            </a:r>
            <a:endParaRPr lang="en-US" sz="1200" dirty="0"/>
          </a:p>
        </p:txBody>
      </p:sp>
      <p:pic>
        <p:nvPicPr>
          <p:cNvPr id="27" name="Outcome arrow 2" descr="preencoded.png">    </p:cNvPr>
          <p:cNvPicPr>
            <a:picLocks noChangeAspect="1"/>
          </p:cNvPicPr>
          <p:nvPr/>
        </p:nvPicPr>
        <p:blipFill>
          <a:blip r:embed="rId5"/>
          <a:stretch>
            <a:fillRect/>
          </a:stretch>
        </p:blipFill>
        <p:spPr>
          <a:xfrm>
            <a:off x="10021824" y="4718304"/>
            <a:ext cx="237744" cy="237744"/>
          </a:xfrm>
          <a:prstGeom prst="rect">
            <a:avLst/>
          </a:prstGeom>
        </p:spPr>
      </p:pic>
      <p:sp>
        <p:nvSpPr>
          <p:cNvPr id="28" name="Outcome step 3"/>
          <p:cNvSpPr/>
          <p:nvPr/>
        </p:nvSpPr>
        <p:spPr>
          <a:xfrm>
            <a:off x="10287000" y="4645152"/>
            <a:ext cx="1463040" cy="384048"/>
          </a:xfrm>
          <a:prstGeom prst="roundRect">
            <a:avLst>
              <a:gd name="adj" fmla="val 50000"/>
            </a:avLst>
          </a:prstGeom>
          <a:solidFill>
            <a:schemeClr val="bg1"/>
          </a:solidFill>
          <a:ln w="19050">
            <a:solidFill>
              <a:schemeClr val="accent1"/>
            </a:solidFill>
            <a:prstDash val="solid"/>
          </a:ln>
        </p:spPr>
      </p:sp>
      <p:sp>
        <p:nvSpPr>
          <p:cNvPr id="29" name="Text 22"/>
          <p:cNvSpPr txBox="1"/>
          <p:nvPr/>
        </p:nvSpPr>
        <p:spPr>
          <a:xfrm>
            <a:off x="10287000" y="4645152"/>
            <a:ext cx="1463040" cy="384048"/>
          </a:xfrm>
          <a:prstGeom prst="rect">
            <a:avLst/>
          </a:prstGeom>
          <a:noFill/>
          <a:ln/>
        </p:spPr>
        <p:txBody>
          <a:bodyPr wrap="square" lIns="0" tIns="0" rIns="0" bIns="0" rtlCol="0" anchor="ctr"/>
          <a:lstStyle/>
          <a:p>
            <a:pPr algn="ctr" indent="0" marL="0">
              <a:buNone/>
            </a:pPr>
            <a:r>
              <a:rPr lang="en-US" sz="1200" b="1" dirty="0">
                <a:solidFill>
                  <a:schemeClr val="accent1"/>
                </a:solidFill>
              </a:rPr>
              <a:t>Lesson recorded</a:t>
            </a:r>
            <a:endParaRPr lang="en-US" sz="1200" dirty="0"/>
          </a:p>
        </p:txBody>
      </p:sp>
      <p:sp>
        <p:nvSpPr>
          <p:cNvPr id="30" name="Text 23"/>
          <p:cNvSpPr txBox="1"/>
          <p:nvPr/>
        </p:nvSpPr>
        <p:spPr>
          <a:xfrm>
            <a:off x="548640" y="2331720"/>
            <a:ext cx="27432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TODAY</a:t>
            </a:r>
            <a:endParaRPr lang="en-US" sz="1100" dirty="0"/>
          </a:p>
        </p:txBody>
      </p:sp>
      <p:sp>
        <p:nvSpPr>
          <p:cNvPr id="31" name="Text 24"/>
          <p:cNvSpPr txBox="1"/>
          <p:nvPr/>
        </p:nvSpPr>
        <p:spPr>
          <a:xfrm>
            <a:off x="548640" y="2606040"/>
            <a:ext cx="5440680" cy="566928"/>
          </a:xfrm>
          <a:prstGeom prst="rect">
            <a:avLst/>
          </a:prstGeom>
          <a:noFill/>
          <a:ln/>
        </p:spPr>
        <p:txBody>
          <a:bodyPr wrap="square" lIns="0" tIns="0" rIns="0" bIns="0" rtlCol="0" anchor="t"/>
          <a:lstStyle/>
          <a:p>
            <a:pPr indent="0" marL="0">
              <a:buNone/>
            </a:pPr>
            <a:r>
              <a:rPr lang="en-US" sz="1500" dirty="0">
                <a:solidFill>
                  <a:schemeClr val="accent4"/>
                </a:solidFill>
              </a:rPr>
              <a:t>Past decisions live in old emails and in the memories of people who left.</a:t>
            </a:r>
            <a:endParaRPr lang="en-US" sz="1500" dirty="0"/>
          </a:p>
        </p:txBody>
      </p:sp>
      <p:sp>
        <p:nvSpPr>
          <p:cNvPr id="32" name="Text 25"/>
          <p:cNvSpPr txBox="1"/>
          <p:nvPr/>
        </p:nvSpPr>
        <p:spPr>
          <a:xfrm>
            <a:off x="548640" y="3291840"/>
            <a:ext cx="27432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WITH KMS</a:t>
            </a:r>
            <a:endParaRPr lang="en-US" sz="1100" dirty="0"/>
          </a:p>
        </p:txBody>
      </p:sp>
      <p:pic>
        <p:nvPicPr>
          <p:cNvPr id="33" name="Check 1" descr="preencoded.png">    </p:cNvPr>
          <p:cNvPicPr>
            <a:picLocks noChangeAspect="1"/>
          </p:cNvPicPr>
          <p:nvPr/>
        </p:nvPicPr>
        <p:blipFill>
          <a:blip r:embed="rId6"/>
          <a:stretch>
            <a:fillRect/>
          </a:stretch>
        </p:blipFill>
        <p:spPr>
          <a:xfrm>
            <a:off x="548640" y="3639312"/>
            <a:ext cx="256032" cy="256032"/>
          </a:xfrm>
          <a:prstGeom prst="rect">
            <a:avLst/>
          </a:prstGeom>
        </p:spPr>
      </p:pic>
      <p:sp>
        <p:nvSpPr>
          <p:cNvPr id="34" name="Text 26"/>
          <p:cNvSpPr txBox="1"/>
          <p:nvPr/>
        </p:nvSpPr>
        <p:spPr>
          <a:xfrm>
            <a:off x="914400" y="3611880"/>
            <a:ext cx="5120640" cy="301752"/>
          </a:xfrm>
          <a:prstGeom prst="rect">
            <a:avLst/>
          </a:prstGeom>
          <a:noFill/>
          <a:ln/>
        </p:spPr>
        <p:txBody>
          <a:bodyPr wrap="square" lIns="0" tIns="0" rIns="0" bIns="0" rtlCol="0" anchor="t"/>
          <a:lstStyle/>
          <a:p>
            <a:pPr indent="0" marL="0">
              <a:buNone/>
            </a:pPr>
            <a:r>
              <a:rPr lang="en-US" sz="1500" dirty="0">
                <a:solidFill>
                  <a:schemeClr val="tx1"/>
                </a:solidFill>
              </a:rPr>
              <a:t>Every decision with its reason, source and status</a:t>
            </a:r>
            <a:endParaRPr lang="en-US" sz="1500" dirty="0"/>
          </a:p>
        </p:txBody>
      </p:sp>
      <p:sp>
        <p:nvSpPr>
          <p:cNvPr id="35" name="Text 27"/>
          <p:cNvSpPr txBox="1"/>
          <p:nvPr/>
        </p:nvSpPr>
        <p:spPr>
          <a:xfrm>
            <a:off x="914400" y="3904488"/>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Decision Intelligence</a:t>
            </a:r>
            <a:endParaRPr lang="en-US" sz="1100" dirty="0"/>
          </a:p>
        </p:txBody>
      </p:sp>
      <p:pic>
        <p:nvPicPr>
          <p:cNvPr id="36" name="Check 2" descr="preencoded.png">    </p:cNvPr>
          <p:cNvPicPr>
            <a:picLocks noChangeAspect="1"/>
          </p:cNvPicPr>
          <p:nvPr/>
        </p:nvPicPr>
        <p:blipFill>
          <a:blip r:embed="rId7"/>
          <a:stretch>
            <a:fillRect/>
          </a:stretch>
        </p:blipFill>
        <p:spPr>
          <a:xfrm>
            <a:off x="548640" y="4242816"/>
            <a:ext cx="256032" cy="256032"/>
          </a:xfrm>
          <a:prstGeom prst="rect">
            <a:avLst/>
          </a:prstGeom>
        </p:spPr>
      </p:pic>
      <p:sp>
        <p:nvSpPr>
          <p:cNvPr id="37" name="Text 28"/>
          <p:cNvSpPr txBox="1"/>
          <p:nvPr/>
        </p:nvSpPr>
        <p:spPr>
          <a:xfrm>
            <a:off x="914400" y="4215384"/>
            <a:ext cx="5120640" cy="301752"/>
          </a:xfrm>
          <a:prstGeom prst="rect">
            <a:avLst/>
          </a:prstGeom>
          <a:noFill/>
          <a:ln/>
        </p:spPr>
        <p:txBody>
          <a:bodyPr wrap="square" lIns="0" tIns="0" rIns="0" bIns="0" rtlCol="0" anchor="t"/>
          <a:lstStyle/>
          <a:p>
            <a:pPr indent="0" marL="0">
              <a:buNone/>
            </a:pPr>
            <a:r>
              <a:rPr lang="en-US" sz="1500" dirty="0">
                <a:solidFill>
                  <a:schemeClr val="tx1"/>
                </a:solidFill>
              </a:rPr>
              <a:t>How key topics are growing and shifting over time</a:t>
            </a:r>
            <a:endParaRPr lang="en-US" sz="1500" dirty="0"/>
          </a:p>
        </p:txBody>
      </p:sp>
      <p:sp>
        <p:nvSpPr>
          <p:cNvPr id="38" name="Text 29"/>
          <p:cNvSpPr txBox="1"/>
          <p:nvPr/>
        </p:nvSpPr>
        <p:spPr>
          <a:xfrm>
            <a:off x="914400" y="4507992"/>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Topic Evolution Tracking</a:t>
            </a:r>
            <a:endParaRPr lang="en-US" sz="1100" dirty="0"/>
          </a:p>
        </p:txBody>
      </p:sp>
      <p:pic>
        <p:nvPicPr>
          <p:cNvPr id="39" name="Check 3" descr="preencoded.png">    </p:cNvPr>
          <p:cNvPicPr>
            <a:picLocks noChangeAspect="1"/>
          </p:cNvPicPr>
          <p:nvPr/>
        </p:nvPicPr>
        <p:blipFill>
          <a:blip r:embed="rId8"/>
          <a:stretch>
            <a:fillRect/>
          </a:stretch>
        </p:blipFill>
        <p:spPr>
          <a:xfrm>
            <a:off x="548640" y="4846320"/>
            <a:ext cx="256032" cy="256032"/>
          </a:xfrm>
          <a:prstGeom prst="rect">
            <a:avLst/>
          </a:prstGeom>
        </p:spPr>
      </p:pic>
      <p:sp>
        <p:nvSpPr>
          <p:cNvPr id="40" name="Text 30"/>
          <p:cNvSpPr txBox="1"/>
          <p:nvPr/>
        </p:nvSpPr>
        <p:spPr>
          <a:xfrm>
            <a:off x="914400" y="4818888"/>
            <a:ext cx="5120640" cy="301752"/>
          </a:xfrm>
          <a:prstGeom prst="rect">
            <a:avLst/>
          </a:prstGeom>
          <a:noFill/>
          <a:ln/>
        </p:spPr>
        <p:txBody>
          <a:bodyPr wrap="square" lIns="0" tIns="0" rIns="0" bIns="0" rtlCol="0" anchor="t"/>
          <a:lstStyle/>
          <a:p>
            <a:pPr indent="0" marL="0">
              <a:buNone/>
            </a:pPr>
            <a:r>
              <a:rPr lang="en-US" sz="1500" dirty="0">
                <a:solidFill>
                  <a:schemeClr val="tx1"/>
                </a:solidFill>
              </a:rPr>
              <a:t>Conflicting documents and gaps flagged in one place</a:t>
            </a:r>
            <a:endParaRPr lang="en-US" sz="1500" dirty="0"/>
          </a:p>
        </p:txBody>
      </p:sp>
      <p:sp>
        <p:nvSpPr>
          <p:cNvPr id="41" name="Text 31"/>
          <p:cNvSpPr txBox="1"/>
          <p:nvPr/>
        </p:nvSpPr>
        <p:spPr>
          <a:xfrm>
            <a:off x="914400" y="5111496"/>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Knowledge Health  ·  Cross-Document Reasoning</a:t>
            </a:r>
            <a:endParaRPr lang="en-US" sz="1100" dirty="0"/>
          </a:p>
        </p:txBody>
      </p:sp>
      <p:sp>
        <p:nvSpPr>
          <p:cNvPr id="42" name="Outcome box"/>
          <p:cNvSpPr/>
          <p:nvPr/>
        </p:nvSpPr>
        <p:spPr>
          <a:xfrm>
            <a:off x="548640" y="5486400"/>
            <a:ext cx="5440680" cy="603504"/>
          </a:xfrm>
          <a:prstGeom prst="roundRect">
            <a:avLst>
              <a:gd name="adj" fmla="val 15152"/>
            </a:avLst>
          </a:prstGeom>
          <a:solidFill>
            <a:schemeClr val="accent1"/>
          </a:solidFill>
          <a:ln/>
          <a:effectLst>
            <a:outerShdw sx="100000" sy="100000" kx="0" ky="0" algn="bl" rotWithShape="0" blurRad="127000" dist="38100" dir="5400000">
              <a:srgbClr val="0B1F44">
                <a:alpha val="14000"/>
              </a:srgbClr>
            </a:outerShdw>
          </a:effectLst>
        </p:spPr>
      </p:sp>
      <p:pic>
        <p:nvPicPr>
          <p:cNvPr id="43" name="Outcome icon" descr="preencoded.png">    </p:cNvPr>
          <p:cNvPicPr>
            <a:picLocks noChangeAspect="1"/>
          </p:cNvPicPr>
          <p:nvPr/>
        </p:nvPicPr>
        <p:blipFill>
          <a:blip r:embed="rId9"/>
          <a:stretch>
            <a:fillRect/>
          </a:stretch>
        </p:blipFill>
        <p:spPr>
          <a:xfrm>
            <a:off x="731520" y="5641848"/>
            <a:ext cx="292608" cy="292608"/>
          </a:xfrm>
          <a:prstGeom prst="rect">
            <a:avLst/>
          </a:prstGeom>
        </p:spPr>
      </p:pic>
      <p:sp>
        <p:nvSpPr>
          <p:cNvPr id="44" name="Text 33"/>
          <p:cNvSpPr txBox="1"/>
          <p:nvPr/>
        </p:nvSpPr>
        <p:spPr>
          <a:xfrm>
            <a:off x="1143000" y="5486400"/>
            <a:ext cx="4754880" cy="603504"/>
          </a:xfrm>
          <a:prstGeom prst="rect">
            <a:avLst/>
          </a:prstGeom>
          <a:noFill/>
          <a:ln/>
        </p:spPr>
        <p:txBody>
          <a:bodyPr wrap="square" lIns="0" tIns="0" rIns="0" bIns="0" rtlCol="0" anchor="ctr"/>
          <a:lstStyle/>
          <a:p>
            <a:pPr indent="0" marL="0">
              <a:buNone/>
            </a:pPr>
            <a:r>
              <a:rPr lang="en-US" sz="1500" b="1" dirty="0">
                <a:solidFill>
                  <a:schemeClr val="accent6"/>
                </a:solidFill>
              </a:rPr>
              <a:t>Outcome:  </a:t>
            </a:r>
            <a:pPr indent="0" marL="0">
              <a:buNone/>
            </a:pPr>
            <a:r>
              <a:rPr lang="en-US" sz="1500" b="1" dirty="0">
                <a:solidFill>
                  <a:schemeClr val="bg1"/>
                </a:solidFill>
              </a:rPr>
              <a:t>Decide with the full history in view</a:t>
            </a:r>
            <a:endParaRPr lang="en-US" sz="15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ersona badge"/>
          <p:cNvSpPr/>
          <p:nvPr/>
        </p:nvSpPr>
        <p:spPr>
          <a:xfrm>
            <a:off x="548640" y="457200"/>
            <a:ext cx="566928" cy="566928"/>
          </a:xfrm>
          <a:prstGeom prst="ellipse">
            <a:avLst/>
          </a:prstGeom>
          <a:solidFill>
            <a:schemeClr val="accent1"/>
          </a:solidFill>
          <a:ln/>
        </p:spPr>
      </p:sp>
      <p:pic>
        <p:nvPicPr>
          <p:cNvPr id="3" name="Persona badge icon" descr="preencoded.png">    </p:cNvPr>
          <p:cNvPicPr>
            <a:picLocks noChangeAspect="1"/>
          </p:cNvPicPr>
          <p:nvPr/>
        </p:nvPicPr>
        <p:blipFill>
          <a:blip r:embed="rId1"/>
          <a:stretch>
            <a:fillRect/>
          </a:stretch>
        </p:blipFill>
        <p:spPr>
          <a:xfrm>
            <a:off x="684703" y="593263"/>
            <a:ext cx="294803" cy="294803"/>
          </a:xfrm>
          <a:prstGeom prst="rect">
            <a:avLst/>
          </a:prstGeom>
        </p:spPr>
      </p:pic>
      <p:sp>
        <p:nvSpPr>
          <p:cNvPr id="4" name="Text 1"/>
          <p:cNvSpPr/>
          <p:nvPr>
            <p:ph idx="102" type="body" hasCustomPrompt="1"/>
          </p:nvPr>
        </p:nvSpPr>
        <p:spPr>
          <a:xfrm>
            <a:off x="1353312" y="566928"/>
            <a:ext cx="475488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FOR THE SUBJECT-MATTER EXPERT</a:t>
            </a:r>
            <a:endParaRPr lang="en-US" sz="1300" dirty="0"/>
          </a:p>
        </p:txBody>
      </p:sp>
      <p:sp>
        <p:nvSpPr>
          <p:cNvPr id="5" name="Text 1"/>
          <p:cNvSpPr/>
          <p:nvPr>
            <p:ph idx="103" type="title" hasCustomPrompt="1"/>
          </p:nvPr>
        </p:nvSpPr>
        <p:spPr>
          <a:xfrm>
            <a:off x="548640" y="1207008"/>
            <a:ext cx="5486400" cy="960120"/>
          </a:xfrm>
          <a:prstGeom prst="rect">
            <a:avLst/>
          </a:prstGeom>
          <a:noFill/>
          <a:ln/>
        </p:spPr>
        <p:txBody>
          <a:bodyPr wrap="square" lIns="0" tIns="0" rIns="0" bIns="0" rtlCol="0" anchor="t"/>
          <a:lstStyle/>
          <a:p>
            <a:pPr algn="l" indent="0" marL="0">
              <a:buNone/>
            </a:pPr>
            <a:r>
              <a:rPr lang="en-US" sz="3000" b="1" dirty="0">
                <a:solidFill>
                  <a:schemeClr val="tx2"/>
                </a:solidFill>
              </a:rPr>
              <a:t>“I answer this every single week.”</a:t>
            </a:r>
            <a:endParaRPr lang="en-US" sz="3000" dirty="0"/>
          </a:p>
        </p:txBody>
      </p:sp>
      <p:sp>
        <p:nvSpPr>
          <p:cNvPr id="6" name="Text 1"/>
          <p:cNvSpPr/>
          <p:nvPr>
            <p:ph idx="101" type="body" hasCustomPrompt="1"/>
          </p:nvPr>
        </p:nvSpPr>
        <p:spPr>
          <a:xfrm>
            <a:off x="6720840" y="5532120"/>
            <a:ext cx="5120640" cy="457200"/>
          </a:xfrm>
          <a:prstGeom prst="rect">
            <a:avLst/>
          </a:prstGeom>
          <a:noFill/>
          <a:ln/>
        </p:spPr>
        <p:txBody>
          <a:bodyPr wrap="square" lIns="0" tIns="0" rIns="0" bIns="0" rtlCol="0" anchor="t"/>
          <a:lstStyle/>
          <a:p>
            <a:pPr algn="ctr" indent="0" marL="0">
              <a:buNone/>
            </a:pPr>
            <a:r>
              <a:rPr lang="en-US" sz="1300" i="1" dirty="0">
                <a:solidFill>
                  <a:schemeClr val="accent4"/>
                </a:solidFill>
              </a:rPr>
              <a:t>Expert directory: who knows what, right now</a:t>
            </a:r>
            <a:endParaRPr lang="en-US" sz="1300" dirty="0"/>
          </a:p>
        </p:txBody>
      </p:sp>
      <p:sp>
        <p:nvSpPr>
          <p:cNvPr id="7" name="Expert directory card"/>
          <p:cNvSpPr/>
          <p:nvPr/>
        </p:nvSpPr>
        <p:spPr>
          <a:xfrm>
            <a:off x="6720840" y="777240"/>
            <a:ext cx="5120640" cy="4526280"/>
          </a:xfrm>
          <a:prstGeom prst="roundRect">
            <a:avLst>
              <a:gd name="adj" fmla="val 2424"/>
            </a:avLst>
          </a:prstGeom>
          <a:solidFill>
            <a:schemeClr val="bg1"/>
          </a:solidFill>
          <a:ln w="12700">
            <a:solidFill>
              <a:schemeClr val="accent6"/>
            </a:solidFill>
            <a:prstDash val="solid"/>
          </a:ln>
          <a:effectLst>
            <a:outerShdw sx="100000" sy="100000" kx="0" ky="0" algn="bl" rotWithShape="0" blurRad="127000" dist="38100" dir="5400000">
              <a:srgbClr val="0B1F44">
                <a:alpha val="14000"/>
              </a:srgbClr>
            </a:outerShdw>
          </a:effectLst>
        </p:spPr>
      </p:sp>
      <p:sp>
        <p:nvSpPr>
          <p:cNvPr id="8" name="Search bar"/>
          <p:cNvSpPr/>
          <p:nvPr/>
        </p:nvSpPr>
        <p:spPr>
          <a:xfrm>
            <a:off x="6949440" y="1005840"/>
            <a:ext cx="4663440" cy="457200"/>
          </a:xfrm>
          <a:prstGeom prst="roundRect">
            <a:avLst>
              <a:gd name="adj" fmla="val 50000"/>
            </a:avLst>
          </a:prstGeom>
          <a:solidFill>
            <a:schemeClr val="bg2"/>
          </a:solidFill>
          <a:ln/>
        </p:spPr>
      </p:sp>
      <p:pic>
        <p:nvPicPr>
          <p:cNvPr id="9" name="Search icon" descr="preencoded.png">    </p:cNvPr>
          <p:cNvPicPr>
            <a:picLocks noChangeAspect="1"/>
          </p:cNvPicPr>
          <p:nvPr/>
        </p:nvPicPr>
        <p:blipFill>
          <a:blip r:embed="rId2"/>
          <a:stretch>
            <a:fillRect/>
          </a:stretch>
        </p:blipFill>
        <p:spPr>
          <a:xfrm>
            <a:off x="7114032" y="1115568"/>
            <a:ext cx="237744" cy="237744"/>
          </a:xfrm>
          <a:prstGeom prst="rect">
            <a:avLst/>
          </a:prstGeom>
        </p:spPr>
      </p:pic>
      <p:sp>
        <p:nvSpPr>
          <p:cNvPr id="10" name="Text 6"/>
          <p:cNvSpPr txBox="1"/>
          <p:nvPr/>
        </p:nvSpPr>
        <p:spPr>
          <a:xfrm>
            <a:off x="7452360" y="1005840"/>
            <a:ext cx="2743200" cy="457200"/>
          </a:xfrm>
          <a:prstGeom prst="rect">
            <a:avLst/>
          </a:prstGeom>
          <a:noFill/>
          <a:ln/>
        </p:spPr>
        <p:txBody>
          <a:bodyPr wrap="square" lIns="0" tIns="0" rIns="0" bIns="0" rtlCol="0" anchor="ctr"/>
          <a:lstStyle/>
          <a:p>
            <a:pPr indent="0" marL="0">
              <a:buNone/>
            </a:pPr>
            <a:r>
              <a:rPr lang="en-US" sz="1300" dirty="0">
                <a:solidFill>
                  <a:schemeClr val="tx2"/>
                </a:solidFill>
              </a:rPr>
              <a:t>Vendor onboarding</a:t>
            </a:r>
            <a:endParaRPr lang="en-US" sz="1300" dirty="0"/>
          </a:p>
        </p:txBody>
      </p:sp>
      <p:sp>
        <p:nvSpPr>
          <p:cNvPr id="11" name="Expert avatar 1"/>
          <p:cNvSpPr/>
          <p:nvPr/>
        </p:nvSpPr>
        <p:spPr>
          <a:xfrm>
            <a:off x="6949440" y="1783080"/>
            <a:ext cx="548640" cy="548640"/>
          </a:xfrm>
          <a:prstGeom prst="ellipse">
            <a:avLst/>
          </a:prstGeom>
          <a:solidFill>
            <a:schemeClr val="accent1"/>
          </a:solidFill>
          <a:ln/>
        </p:spPr>
      </p:sp>
      <p:sp>
        <p:nvSpPr>
          <p:cNvPr id="12" name="Text 8"/>
          <p:cNvSpPr txBox="1"/>
          <p:nvPr/>
        </p:nvSpPr>
        <p:spPr>
          <a:xfrm>
            <a:off x="6949440" y="1783080"/>
            <a:ext cx="548640" cy="548640"/>
          </a:xfrm>
          <a:prstGeom prst="rect">
            <a:avLst/>
          </a:prstGeom>
          <a:noFill/>
          <a:ln/>
        </p:spPr>
        <p:txBody>
          <a:bodyPr wrap="square" lIns="0" tIns="0" rIns="0" bIns="0" rtlCol="0" anchor="ctr"/>
          <a:lstStyle/>
          <a:p>
            <a:pPr algn="ctr" indent="0" marL="0">
              <a:buNone/>
            </a:pPr>
            <a:r>
              <a:rPr lang="en-US" sz="1200" b="1" dirty="0">
                <a:solidFill>
                  <a:schemeClr val="bg1"/>
                </a:solidFill>
              </a:rPr>
              <a:t>AK</a:t>
            </a:r>
            <a:endParaRPr lang="en-US" sz="1200" dirty="0"/>
          </a:p>
        </p:txBody>
      </p:sp>
      <p:sp>
        <p:nvSpPr>
          <p:cNvPr id="13" name="Text 9"/>
          <p:cNvSpPr txBox="1"/>
          <p:nvPr/>
        </p:nvSpPr>
        <p:spPr>
          <a:xfrm>
            <a:off x="7635240" y="1746504"/>
            <a:ext cx="2377440" cy="310896"/>
          </a:xfrm>
          <a:prstGeom prst="rect">
            <a:avLst/>
          </a:prstGeom>
          <a:noFill/>
          <a:ln/>
        </p:spPr>
        <p:txBody>
          <a:bodyPr wrap="square" lIns="0" tIns="0" rIns="0" bIns="0" rtlCol="0" anchor="t"/>
          <a:lstStyle/>
          <a:p>
            <a:pPr indent="0" marL="0">
              <a:buNone/>
            </a:pPr>
            <a:r>
              <a:rPr lang="en-US" sz="1400" b="1" dirty="0">
                <a:solidFill>
                  <a:schemeClr val="tx2"/>
                </a:solidFill>
              </a:rPr>
              <a:t>Procurement Lead</a:t>
            </a:r>
            <a:endParaRPr lang="en-US" sz="1400" dirty="0"/>
          </a:p>
        </p:txBody>
      </p:sp>
      <p:sp>
        <p:nvSpPr>
          <p:cNvPr id="14" name="Text 10"/>
          <p:cNvSpPr txBox="1"/>
          <p:nvPr/>
        </p:nvSpPr>
        <p:spPr>
          <a:xfrm>
            <a:off x="7635240" y="2057400"/>
            <a:ext cx="2377440" cy="274320"/>
          </a:xfrm>
          <a:prstGeom prst="rect">
            <a:avLst/>
          </a:prstGeom>
          <a:noFill/>
          <a:ln/>
        </p:spPr>
        <p:txBody>
          <a:bodyPr wrap="square" lIns="0" tIns="0" rIns="0" bIns="0" rtlCol="0" anchor="t"/>
          <a:lstStyle/>
          <a:p>
            <a:pPr indent="0" marL="0">
              <a:buNone/>
            </a:pPr>
            <a:r>
              <a:rPr lang="en-US" sz="1200" dirty="0">
                <a:solidFill>
                  <a:schemeClr val="accent4"/>
                </a:solidFill>
              </a:rPr>
              <a:t>Active this month</a:t>
            </a:r>
            <a:endParaRPr lang="en-US" sz="1200" dirty="0"/>
          </a:p>
        </p:txBody>
      </p:sp>
      <p:sp>
        <p:nvSpPr>
          <p:cNvPr id="15" name="Score track 1"/>
          <p:cNvSpPr/>
          <p:nvPr/>
        </p:nvSpPr>
        <p:spPr>
          <a:xfrm>
            <a:off x="10104120" y="2103120"/>
            <a:ext cx="1508760" cy="128016"/>
          </a:xfrm>
          <a:prstGeom prst="roundRect">
            <a:avLst>
              <a:gd name="adj" fmla="val 50000"/>
            </a:avLst>
          </a:prstGeom>
          <a:solidFill>
            <a:schemeClr val="accent6"/>
          </a:solidFill>
          <a:ln/>
        </p:spPr>
      </p:sp>
      <p:sp>
        <p:nvSpPr>
          <p:cNvPr id="16" name="Score fill 1"/>
          <p:cNvSpPr/>
          <p:nvPr/>
        </p:nvSpPr>
        <p:spPr>
          <a:xfrm>
            <a:off x="10104120" y="2103120"/>
            <a:ext cx="1388059" cy="128016"/>
          </a:xfrm>
          <a:prstGeom prst="roundRect">
            <a:avLst>
              <a:gd name="adj" fmla="val 50000"/>
            </a:avLst>
          </a:prstGeom>
          <a:solidFill>
            <a:schemeClr val="accent1"/>
          </a:solidFill>
          <a:ln/>
        </p:spPr>
      </p:sp>
      <p:sp>
        <p:nvSpPr>
          <p:cNvPr id="17" name="Confirmed badge"/>
          <p:cNvSpPr/>
          <p:nvPr/>
        </p:nvSpPr>
        <p:spPr>
          <a:xfrm>
            <a:off x="10104120" y="1709928"/>
            <a:ext cx="1051560" cy="274320"/>
          </a:xfrm>
          <a:prstGeom prst="roundRect">
            <a:avLst>
              <a:gd name="adj" fmla="val 50000"/>
            </a:avLst>
          </a:prstGeom>
          <a:solidFill>
            <a:schemeClr val="accent2"/>
          </a:solidFill>
          <a:ln/>
        </p:spPr>
      </p:sp>
      <p:sp>
        <p:nvSpPr>
          <p:cNvPr id="18" name="Text 14"/>
          <p:cNvSpPr txBox="1"/>
          <p:nvPr/>
        </p:nvSpPr>
        <p:spPr>
          <a:xfrm>
            <a:off x="10104120" y="1709928"/>
            <a:ext cx="1051560" cy="274320"/>
          </a:xfrm>
          <a:prstGeom prst="rect">
            <a:avLst/>
          </a:prstGeom>
          <a:noFill/>
          <a:ln/>
        </p:spPr>
        <p:txBody>
          <a:bodyPr wrap="square" lIns="0" tIns="0" rIns="0" bIns="0" rtlCol="0" anchor="ctr"/>
          <a:lstStyle/>
          <a:p>
            <a:pPr algn="ctr" indent="0" marL="0">
              <a:buNone/>
            </a:pPr>
            <a:r>
              <a:rPr lang="en-US" sz="1000" b="1" dirty="0">
                <a:solidFill>
                  <a:schemeClr val="bg1"/>
                </a:solidFill>
              </a:rPr>
              <a:t>✓ Confirmed</a:t>
            </a:r>
            <a:endParaRPr lang="en-US" sz="1000" dirty="0"/>
          </a:p>
        </p:txBody>
      </p:sp>
      <p:sp>
        <p:nvSpPr>
          <p:cNvPr id="19" name="Row divider 1"/>
          <p:cNvSpPr/>
          <p:nvPr/>
        </p:nvSpPr>
        <p:spPr>
          <a:xfrm>
            <a:off x="6949440" y="2496312"/>
            <a:ext cx="4663440" cy="0"/>
          </a:xfrm>
          <a:prstGeom prst="line">
            <a:avLst/>
          </a:prstGeom>
          <a:noFill/>
          <a:ln w="12700">
            <a:solidFill>
              <a:schemeClr val="accent6"/>
            </a:solidFill>
            <a:prstDash val="solid"/>
          </a:ln>
        </p:spPr>
      </p:sp>
      <p:sp>
        <p:nvSpPr>
          <p:cNvPr id="20" name="Expert avatar 2"/>
          <p:cNvSpPr/>
          <p:nvPr/>
        </p:nvSpPr>
        <p:spPr>
          <a:xfrm>
            <a:off x="6949440" y="2697480"/>
            <a:ext cx="548640" cy="548640"/>
          </a:xfrm>
          <a:prstGeom prst="ellipse">
            <a:avLst/>
          </a:prstGeom>
          <a:solidFill>
            <a:schemeClr val="accent2"/>
          </a:solidFill>
          <a:ln/>
        </p:spPr>
      </p:sp>
      <p:sp>
        <p:nvSpPr>
          <p:cNvPr id="21" name="Text 17"/>
          <p:cNvSpPr txBox="1"/>
          <p:nvPr/>
        </p:nvSpPr>
        <p:spPr>
          <a:xfrm>
            <a:off x="6949440" y="2697480"/>
            <a:ext cx="548640" cy="548640"/>
          </a:xfrm>
          <a:prstGeom prst="rect">
            <a:avLst/>
          </a:prstGeom>
          <a:noFill/>
          <a:ln/>
        </p:spPr>
        <p:txBody>
          <a:bodyPr wrap="square" lIns="0" tIns="0" rIns="0" bIns="0" rtlCol="0" anchor="ctr"/>
          <a:lstStyle/>
          <a:p>
            <a:pPr algn="ctr" indent="0" marL="0">
              <a:buNone/>
            </a:pPr>
            <a:r>
              <a:rPr lang="en-US" sz="1200" b="1" dirty="0">
                <a:solidFill>
                  <a:schemeClr val="bg1"/>
                </a:solidFill>
              </a:rPr>
              <a:t>SM</a:t>
            </a:r>
            <a:endParaRPr lang="en-US" sz="1200" dirty="0"/>
          </a:p>
        </p:txBody>
      </p:sp>
      <p:sp>
        <p:nvSpPr>
          <p:cNvPr id="22" name="Text 18"/>
          <p:cNvSpPr txBox="1"/>
          <p:nvPr/>
        </p:nvSpPr>
        <p:spPr>
          <a:xfrm>
            <a:off x="7635240" y="2660904"/>
            <a:ext cx="2377440" cy="310896"/>
          </a:xfrm>
          <a:prstGeom prst="rect">
            <a:avLst/>
          </a:prstGeom>
          <a:noFill/>
          <a:ln/>
        </p:spPr>
        <p:txBody>
          <a:bodyPr wrap="square" lIns="0" tIns="0" rIns="0" bIns="0" rtlCol="0" anchor="t"/>
          <a:lstStyle/>
          <a:p>
            <a:pPr indent="0" marL="0">
              <a:buNone/>
            </a:pPr>
            <a:r>
              <a:rPr lang="en-US" sz="1400" b="1" dirty="0">
                <a:solidFill>
                  <a:schemeClr val="tx2"/>
                </a:solidFill>
              </a:rPr>
              <a:t>Finance Analyst</a:t>
            </a:r>
            <a:endParaRPr lang="en-US" sz="1400" dirty="0"/>
          </a:p>
        </p:txBody>
      </p:sp>
      <p:sp>
        <p:nvSpPr>
          <p:cNvPr id="23" name="Text 19"/>
          <p:cNvSpPr txBox="1"/>
          <p:nvPr/>
        </p:nvSpPr>
        <p:spPr>
          <a:xfrm>
            <a:off x="7635240" y="2971800"/>
            <a:ext cx="2377440" cy="274320"/>
          </a:xfrm>
          <a:prstGeom prst="rect">
            <a:avLst/>
          </a:prstGeom>
          <a:noFill/>
          <a:ln/>
        </p:spPr>
        <p:txBody>
          <a:bodyPr wrap="square" lIns="0" tIns="0" rIns="0" bIns="0" rtlCol="0" anchor="t"/>
          <a:lstStyle/>
          <a:p>
            <a:pPr indent="0" marL="0">
              <a:buNone/>
            </a:pPr>
            <a:r>
              <a:rPr lang="en-US" sz="1200" dirty="0">
                <a:solidFill>
                  <a:schemeClr val="accent4"/>
                </a:solidFill>
              </a:rPr>
              <a:t>Active last quarter</a:t>
            </a:r>
            <a:endParaRPr lang="en-US" sz="1200" dirty="0"/>
          </a:p>
        </p:txBody>
      </p:sp>
      <p:sp>
        <p:nvSpPr>
          <p:cNvPr id="24" name="Score track 2"/>
          <p:cNvSpPr/>
          <p:nvPr/>
        </p:nvSpPr>
        <p:spPr>
          <a:xfrm>
            <a:off x="10104120" y="3017520"/>
            <a:ext cx="1508760" cy="128016"/>
          </a:xfrm>
          <a:prstGeom prst="roundRect">
            <a:avLst>
              <a:gd name="adj" fmla="val 50000"/>
            </a:avLst>
          </a:prstGeom>
          <a:solidFill>
            <a:schemeClr val="accent6"/>
          </a:solidFill>
          <a:ln/>
        </p:spPr>
      </p:sp>
      <p:sp>
        <p:nvSpPr>
          <p:cNvPr id="25" name="Score fill 2"/>
          <p:cNvSpPr/>
          <p:nvPr/>
        </p:nvSpPr>
        <p:spPr>
          <a:xfrm>
            <a:off x="10104120" y="3017520"/>
            <a:ext cx="995782" cy="128016"/>
          </a:xfrm>
          <a:prstGeom prst="roundRect">
            <a:avLst>
              <a:gd name="adj" fmla="val 50000"/>
            </a:avLst>
          </a:prstGeom>
          <a:solidFill>
            <a:schemeClr val="accent1"/>
          </a:solidFill>
          <a:ln/>
        </p:spPr>
      </p:sp>
      <p:sp>
        <p:nvSpPr>
          <p:cNvPr id="26" name="Row divider 2"/>
          <p:cNvSpPr/>
          <p:nvPr/>
        </p:nvSpPr>
        <p:spPr>
          <a:xfrm>
            <a:off x="6949440" y="3410712"/>
            <a:ext cx="4663440" cy="0"/>
          </a:xfrm>
          <a:prstGeom prst="line">
            <a:avLst/>
          </a:prstGeom>
          <a:noFill/>
          <a:ln w="12700">
            <a:solidFill>
              <a:schemeClr val="accent6"/>
            </a:solidFill>
            <a:prstDash val="solid"/>
          </a:ln>
        </p:spPr>
      </p:sp>
      <p:sp>
        <p:nvSpPr>
          <p:cNvPr id="27" name="Expert avatar 3"/>
          <p:cNvSpPr/>
          <p:nvPr/>
        </p:nvSpPr>
        <p:spPr>
          <a:xfrm>
            <a:off x="6949440" y="3611880"/>
            <a:ext cx="548640" cy="548640"/>
          </a:xfrm>
          <a:prstGeom prst="ellipse">
            <a:avLst/>
          </a:prstGeom>
          <a:solidFill>
            <a:schemeClr val="accent4"/>
          </a:solidFill>
          <a:ln/>
        </p:spPr>
      </p:sp>
      <p:sp>
        <p:nvSpPr>
          <p:cNvPr id="28" name="Text 24"/>
          <p:cNvSpPr txBox="1"/>
          <p:nvPr/>
        </p:nvSpPr>
        <p:spPr>
          <a:xfrm>
            <a:off x="6949440" y="3611880"/>
            <a:ext cx="548640" cy="548640"/>
          </a:xfrm>
          <a:prstGeom prst="rect">
            <a:avLst/>
          </a:prstGeom>
          <a:noFill/>
          <a:ln/>
        </p:spPr>
        <p:txBody>
          <a:bodyPr wrap="square" lIns="0" tIns="0" rIns="0" bIns="0" rtlCol="0" anchor="ctr"/>
          <a:lstStyle/>
          <a:p>
            <a:pPr algn="ctr" indent="0" marL="0">
              <a:buNone/>
            </a:pPr>
            <a:r>
              <a:rPr lang="en-US" sz="1200" b="1" dirty="0">
                <a:solidFill>
                  <a:schemeClr val="bg1"/>
                </a:solidFill>
              </a:rPr>
              <a:t>DL</a:t>
            </a:r>
            <a:endParaRPr lang="en-US" sz="1200" dirty="0"/>
          </a:p>
        </p:txBody>
      </p:sp>
      <p:sp>
        <p:nvSpPr>
          <p:cNvPr id="29" name="Text 25"/>
          <p:cNvSpPr txBox="1"/>
          <p:nvPr/>
        </p:nvSpPr>
        <p:spPr>
          <a:xfrm>
            <a:off x="7635240" y="3575304"/>
            <a:ext cx="2377440" cy="310896"/>
          </a:xfrm>
          <a:prstGeom prst="rect">
            <a:avLst/>
          </a:prstGeom>
          <a:noFill/>
          <a:ln/>
        </p:spPr>
        <p:txBody>
          <a:bodyPr wrap="square" lIns="0" tIns="0" rIns="0" bIns="0" rtlCol="0" anchor="t"/>
          <a:lstStyle/>
          <a:p>
            <a:pPr indent="0" marL="0">
              <a:buNone/>
            </a:pPr>
            <a:r>
              <a:rPr lang="en-US" sz="1400" b="1" dirty="0">
                <a:solidFill>
                  <a:schemeClr val="tx2"/>
                </a:solidFill>
              </a:rPr>
              <a:t>Former Contracts Manager</a:t>
            </a:r>
            <a:endParaRPr lang="en-US" sz="1400" dirty="0"/>
          </a:p>
        </p:txBody>
      </p:sp>
      <p:sp>
        <p:nvSpPr>
          <p:cNvPr id="30" name="Text 26"/>
          <p:cNvSpPr txBox="1"/>
          <p:nvPr/>
        </p:nvSpPr>
        <p:spPr>
          <a:xfrm>
            <a:off x="7635240" y="3886200"/>
            <a:ext cx="2377440" cy="274320"/>
          </a:xfrm>
          <a:prstGeom prst="rect">
            <a:avLst/>
          </a:prstGeom>
          <a:noFill/>
          <a:ln/>
        </p:spPr>
        <p:txBody>
          <a:bodyPr wrap="square" lIns="0" tIns="0" rIns="0" bIns="0" rtlCol="0" anchor="t"/>
          <a:lstStyle/>
          <a:p>
            <a:pPr indent="0" marL="0">
              <a:buNone/>
            </a:pPr>
            <a:r>
              <a:rPr lang="en-US" sz="1200" dirty="0">
                <a:solidFill>
                  <a:schemeClr val="accent4"/>
                </a:solidFill>
              </a:rPr>
              <a:t>Last active two years ago</a:t>
            </a:r>
            <a:endParaRPr lang="en-US" sz="1200" dirty="0"/>
          </a:p>
        </p:txBody>
      </p:sp>
      <p:sp>
        <p:nvSpPr>
          <p:cNvPr id="31" name="Score track 3"/>
          <p:cNvSpPr/>
          <p:nvPr/>
        </p:nvSpPr>
        <p:spPr>
          <a:xfrm>
            <a:off x="10104120" y="3931920"/>
            <a:ext cx="1508760" cy="128016"/>
          </a:xfrm>
          <a:prstGeom prst="roundRect">
            <a:avLst>
              <a:gd name="adj" fmla="val 50000"/>
            </a:avLst>
          </a:prstGeom>
          <a:solidFill>
            <a:schemeClr val="accent6"/>
          </a:solidFill>
          <a:ln/>
        </p:spPr>
      </p:sp>
      <p:sp>
        <p:nvSpPr>
          <p:cNvPr id="32" name="Score fill 3"/>
          <p:cNvSpPr/>
          <p:nvPr/>
        </p:nvSpPr>
        <p:spPr>
          <a:xfrm>
            <a:off x="10104120" y="3931920"/>
            <a:ext cx="362102" cy="128016"/>
          </a:xfrm>
          <a:prstGeom prst="roundRect">
            <a:avLst>
              <a:gd name="adj" fmla="val 50000"/>
            </a:avLst>
          </a:prstGeom>
          <a:solidFill>
            <a:schemeClr val="accent1"/>
          </a:solidFill>
          <a:ln/>
        </p:spPr>
      </p:sp>
      <p:pic>
        <p:nvPicPr>
          <p:cNvPr id="33" name="Recency icon" descr="preencoded.png">    </p:cNvPr>
          <p:cNvPicPr>
            <a:picLocks noChangeAspect="1"/>
          </p:cNvPicPr>
          <p:nvPr/>
        </p:nvPicPr>
        <p:blipFill>
          <a:blip r:embed="rId3"/>
          <a:stretch>
            <a:fillRect/>
          </a:stretch>
        </p:blipFill>
        <p:spPr>
          <a:xfrm>
            <a:off x="6949440" y="4727448"/>
            <a:ext cx="237744" cy="237744"/>
          </a:xfrm>
          <a:prstGeom prst="rect">
            <a:avLst/>
          </a:prstGeom>
        </p:spPr>
      </p:pic>
      <p:sp>
        <p:nvSpPr>
          <p:cNvPr id="34" name="Text 29"/>
          <p:cNvSpPr txBox="1"/>
          <p:nvPr/>
        </p:nvSpPr>
        <p:spPr>
          <a:xfrm>
            <a:off x="7296912" y="4663440"/>
            <a:ext cx="4343400" cy="365760"/>
          </a:xfrm>
          <a:prstGeom prst="rect">
            <a:avLst/>
          </a:prstGeom>
          <a:noFill/>
          <a:ln/>
        </p:spPr>
        <p:txBody>
          <a:bodyPr wrap="square" lIns="0" tIns="0" rIns="0" bIns="0" rtlCol="0" anchor="ctr"/>
          <a:lstStyle/>
          <a:p>
            <a:pPr indent="0" marL="0">
              <a:buNone/>
            </a:pPr>
            <a:r>
              <a:rPr lang="en-US" sz="1200" i="1" dirty="0">
                <a:solidFill>
                  <a:schemeClr val="accent4"/>
                </a:solidFill>
              </a:rPr>
              <a:t>Recent work counts more, so the list reflects who knows the topic now.</a:t>
            </a:r>
            <a:endParaRPr lang="en-US" sz="1200" dirty="0"/>
          </a:p>
        </p:txBody>
      </p:sp>
      <p:sp>
        <p:nvSpPr>
          <p:cNvPr id="35" name="Text 30"/>
          <p:cNvSpPr txBox="1"/>
          <p:nvPr/>
        </p:nvSpPr>
        <p:spPr>
          <a:xfrm>
            <a:off x="548640" y="2331720"/>
            <a:ext cx="27432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TODAY</a:t>
            </a:r>
            <a:endParaRPr lang="en-US" sz="1100" dirty="0"/>
          </a:p>
        </p:txBody>
      </p:sp>
      <p:sp>
        <p:nvSpPr>
          <p:cNvPr id="36" name="Text 31"/>
          <p:cNvSpPr txBox="1"/>
          <p:nvPr/>
        </p:nvSpPr>
        <p:spPr>
          <a:xfrm>
            <a:off x="548640" y="2606040"/>
            <a:ext cx="5440680" cy="566928"/>
          </a:xfrm>
          <a:prstGeom prst="rect">
            <a:avLst/>
          </a:prstGeom>
          <a:noFill/>
          <a:ln/>
        </p:spPr>
        <p:txBody>
          <a:bodyPr wrap="square" lIns="0" tIns="0" rIns="0" bIns="0" rtlCol="0" anchor="t"/>
          <a:lstStyle/>
          <a:p>
            <a:pPr indent="0" marL="0">
              <a:buNone/>
            </a:pPr>
            <a:r>
              <a:rPr lang="en-US" sz="1500" dirty="0">
                <a:solidFill>
                  <a:schemeClr val="accent4"/>
                </a:solidFill>
              </a:rPr>
              <a:t>Their expertise is invisible on paper and constantly interrupted in practice.</a:t>
            </a:r>
            <a:endParaRPr lang="en-US" sz="1500" dirty="0"/>
          </a:p>
        </p:txBody>
      </p:sp>
      <p:sp>
        <p:nvSpPr>
          <p:cNvPr id="37" name="Text 32"/>
          <p:cNvSpPr txBox="1"/>
          <p:nvPr/>
        </p:nvSpPr>
        <p:spPr>
          <a:xfrm>
            <a:off x="548640" y="3291840"/>
            <a:ext cx="27432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WITH KMS</a:t>
            </a:r>
            <a:endParaRPr lang="en-US" sz="1100" dirty="0"/>
          </a:p>
        </p:txBody>
      </p:sp>
      <p:pic>
        <p:nvPicPr>
          <p:cNvPr id="38" name="Check 1" descr="preencoded.png">    </p:cNvPr>
          <p:cNvPicPr>
            <a:picLocks noChangeAspect="1"/>
          </p:cNvPicPr>
          <p:nvPr/>
        </p:nvPicPr>
        <p:blipFill>
          <a:blip r:embed="rId4"/>
          <a:stretch>
            <a:fillRect/>
          </a:stretch>
        </p:blipFill>
        <p:spPr>
          <a:xfrm>
            <a:off x="548640" y="3639312"/>
            <a:ext cx="256032" cy="256032"/>
          </a:xfrm>
          <a:prstGeom prst="rect">
            <a:avLst/>
          </a:prstGeom>
        </p:spPr>
      </p:pic>
      <p:sp>
        <p:nvSpPr>
          <p:cNvPr id="39" name="Text 33"/>
          <p:cNvSpPr txBox="1"/>
          <p:nvPr/>
        </p:nvSpPr>
        <p:spPr>
          <a:xfrm>
            <a:off x="914400" y="3611880"/>
            <a:ext cx="5120640" cy="301752"/>
          </a:xfrm>
          <a:prstGeom prst="rect">
            <a:avLst/>
          </a:prstGeom>
          <a:noFill/>
          <a:ln/>
        </p:spPr>
        <p:txBody>
          <a:bodyPr wrap="square" lIns="0" tIns="0" rIns="0" bIns="0" rtlCol="0" anchor="t"/>
          <a:lstStyle/>
          <a:p>
            <a:pPr indent="0" marL="0">
              <a:buNone/>
            </a:pPr>
            <a:r>
              <a:rPr lang="en-US" sz="1500" dirty="0">
                <a:solidFill>
                  <a:schemeClr val="tx1"/>
                </a:solidFill>
              </a:rPr>
              <a:t>Routine questions answered from their documents</a:t>
            </a:r>
            <a:endParaRPr lang="en-US" sz="1500" dirty="0"/>
          </a:p>
        </p:txBody>
      </p:sp>
      <p:sp>
        <p:nvSpPr>
          <p:cNvPr id="40" name="Text 34"/>
          <p:cNvSpPr txBox="1"/>
          <p:nvPr/>
        </p:nvSpPr>
        <p:spPr>
          <a:xfrm>
            <a:off x="914400" y="3904488"/>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Conversational Assistant</a:t>
            </a:r>
            <a:endParaRPr lang="en-US" sz="1100" dirty="0"/>
          </a:p>
        </p:txBody>
      </p:sp>
      <p:pic>
        <p:nvPicPr>
          <p:cNvPr id="41" name="Check 2" descr="preencoded.png">    </p:cNvPr>
          <p:cNvPicPr>
            <a:picLocks noChangeAspect="1"/>
          </p:cNvPicPr>
          <p:nvPr/>
        </p:nvPicPr>
        <p:blipFill>
          <a:blip r:embed="rId5"/>
          <a:stretch>
            <a:fillRect/>
          </a:stretch>
        </p:blipFill>
        <p:spPr>
          <a:xfrm>
            <a:off x="548640" y="4242816"/>
            <a:ext cx="256032" cy="256032"/>
          </a:xfrm>
          <a:prstGeom prst="rect">
            <a:avLst/>
          </a:prstGeom>
        </p:spPr>
      </p:pic>
      <p:sp>
        <p:nvSpPr>
          <p:cNvPr id="42" name="Text 35"/>
          <p:cNvSpPr txBox="1"/>
          <p:nvPr/>
        </p:nvSpPr>
        <p:spPr>
          <a:xfrm>
            <a:off x="914400" y="4215384"/>
            <a:ext cx="5120640" cy="301752"/>
          </a:xfrm>
          <a:prstGeom prst="rect">
            <a:avLst/>
          </a:prstGeom>
          <a:noFill/>
          <a:ln/>
        </p:spPr>
        <p:txBody>
          <a:bodyPr wrap="square" lIns="0" tIns="0" rIns="0" bIns="0" rtlCol="0" anchor="t"/>
          <a:lstStyle/>
          <a:p>
            <a:pPr indent="0" marL="0">
              <a:buNone/>
            </a:pPr>
            <a:r>
              <a:rPr lang="en-US" sz="1500" dirty="0">
                <a:solidFill>
                  <a:schemeClr val="tx1"/>
                </a:solidFill>
              </a:rPr>
              <a:t>Expertise recognized from real, recent work</a:t>
            </a:r>
            <a:endParaRPr lang="en-US" sz="1500" dirty="0"/>
          </a:p>
        </p:txBody>
      </p:sp>
      <p:sp>
        <p:nvSpPr>
          <p:cNvPr id="43" name="Text 36"/>
          <p:cNvSpPr txBox="1"/>
          <p:nvPr/>
        </p:nvSpPr>
        <p:spPr>
          <a:xfrm>
            <a:off x="914400" y="4507992"/>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Expert Discovery</a:t>
            </a:r>
            <a:endParaRPr lang="en-US" sz="1100" dirty="0"/>
          </a:p>
        </p:txBody>
      </p:sp>
      <p:pic>
        <p:nvPicPr>
          <p:cNvPr id="44" name="Check 3" descr="preencoded.png">    </p:cNvPr>
          <p:cNvPicPr>
            <a:picLocks noChangeAspect="1"/>
          </p:cNvPicPr>
          <p:nvPr/>
        </p:nvPicPr>
        <p:blipFill>
          <a:blip r:embed="rId6"/>
          <a:stretch>
            <a:fillRect/>
          </a:stretch>
        </p:blipFill>
        <p:spPr>
          <a:xfrm>
            <a:off x="548640" y="4846320"/>
            <a:ext cx="256032" cy="256032"/>
          </a:xfrm>
          <a:prstGeom prst="rect">
            <a:avLst/>
          </a:prstGeom>
        </p:spPr>
      </p:pic>
      <p:sp>
        <p:nvSpPr>
          <p:cNvPr id="45" name="Text 37"/>
          <p:cNvSpPr txBox="1"/>
          <p:nvPr/>
        </p:nvSpPr>
        <p:spPr>
          <a:xfrm>
            <a:off x="914400" y="4818888"/>
            <a:ext cx="5120640" cy="301752"/>
          </a:xfrm>
          <a:prstGeom prst="rect">
            <a:avLst/>
          </a:prstGeom>
          <a:noFill/>
          <a:ln/>
        </p:spPr>
        <p:txBody>
          <a:bodyPr wrap="square" lIns="0" tIns="0" rIns="0" bIns="0" rtlCol="0" anchor="t"/>
          <a:lstStyle/>
          <a:p>
            <a:pPr indent="0" marL="0">
              <a:buNone/>
            </a:pPr>
            <a:r>
              <a:rPr lang="en-US" sz="1500" dirty="0">
                <a:solidFill>
                  <a:schemeClr val="tx1"/>
                </a:solidFill>
              </a:rPr>
              <a:t>They confirm or correct what KMS thinks they know</a:t>
            </a:r>
            <a:endParaRPr lang="en-US" sz="1500" dirty="0"/>
          </a:p>
        </p:txBody>
      </p:sp>
      <p:sp>
        <p:nvSpPr>
          <p:cNvPr id="46" name="Text 38"/>
          <p:cNvSpPr txBox="1"/>
          <p:nvPr/>
        </p:nvSpPr>
        <p:spPr>
          <a:xfrm>
            <a:off x="914400" y="5111496"/>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Expert Discovery  ·  Human review</a:t>
            </a:r>
            <a:endParaRPr lang="en-US" sz="1100" dirty="0"/>
          </a:p>
        </p:txBody>
      </p:sp>
      <p:sp>
        <p:nvSpPr>
          <p:cNvPr id="47" name="Outcome box"/>
          <p:cNvSpPr/>
          <p:nvPr/>
        </p:nvSpPr>
        <p:spPr>
          <a:xfrm>
            <a:off x="548640" y="5486400"/>
            <a:ext cx="5440680" cy="603504"/>
          </a:xfrm>
          <a:prstGeom prst="roundRect">
            <a:avLst>
              <a:gd name="adj" fmla="val 15152"/>
            </a:avLst>
          </a:prstGeom>
          <a:solidFill>
            <a:schemeClr val="accent1"/>
          </a:solidFill>
          <a:ln/>
          <a:effectLst>
            <a:outerShdw sx="100000" sy="100000" kx="0" ky="0" algn="bl" rotWithShape="0" blurRad="127000" dist="38100" dir="5400000">
              <a:srgbClr val="0B1F44">
                <a:alpha val="14000"/>
              </a:srgbClr>
            </a:outerShdw>
          </a:effectLst>
        </p:spPr>
      </p:sp>
      <p:pic>
        <p:nvPicPr>
          <p:cNvPr id="48" name="Outcome icon" descr="preencoded.png">    </p:cNvPr>
          <p:cNvPicPr>
            <a:picLocks noChangeAspect="1"/>
          </p:cNvPicPr>
          <p:nvPr/>
        </p:nvPicPr>
        <p:blipFill>
          <a:blip r:embed="rId7"/>
          <a:stretch>
            <a:fillRect/>
          </a:stretch>
        </p:blipFill>
        <p:spPr>
          <a:xfrm>
            <a:off x="731520" y="5641848"/>
            <a:ext cx="292608" cy="292608"/>
          </a:xfrm>
          <a:prstGeom prst="rect">
            <a:avLst/>
          </a:prstGeom>
        </p:spPr>
      </p:pic>
      <p:sp>
        <p:nvSpPr>
          <p:cNvPr id="49" name="Text 40"/>
          <p:cNvSpPr txBox="1"/>
          <p:nvPr/>
        </p:nvSpPr>
        <p:spPr>
          <a:xfrm>
            <a:off x="1143000" y="5486400"/>
            <a:ext cx="4754880" cy="603504"/>
          </a:xfrm>
          <a:prstGeom prst="rect">
            <a:avLst/>
          </a:prstGeom>
          <a:noFill/>
          <a:ln/>
        </p:spPr>
        <p:txBody>
          <a:bodyPr wrap="square" lIns="0" tIns="0" rIns="0" bIns="0" rtlCol="0" anchor="ctr"/>
          <a:lstStyle/>
          <a:p>
            <a:pPr indent="0" marL="0">
              <a:buNone/>
            </a:pPr>
            <a:r>
              <a:rPr lang="en-US" sz="1500" b="1" dirty="0">
                <a:solidFill>
                  <a:schemeClr val="accent6"/>
                </a:solidFill>
              </a:rPr>
              <a:t>Outcome:  </a:t>
            </a:r>
            <a:pPr indent="0" marL="0">
              <a:buNone/>
            </a:pPr>
            <a:r>
              <a:rPr lang="en-US" sz="1500" b="1" dirty="0">
                <a:solidFill>
                  <a:schemeClr val="bg1"/>
                </a:solidFill>
              </a:rPr>
              <a:t>Time back for the work only they can do</a:t>
            </a:r>
            <a:endParaRPr lang="en-US" sz="15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ersona badge"/>
          <p:cNvSpPr/>
          <p:nvPr/>
        </p:nvSpPr>
        <p:spPr>
          <a:xfrm>
            <a:off x="548640" y="457200"/>
            <a:ext cx="566928" cy="566928"/>
          </a:xfrm>
          <a:prstGeom prst="ellipse">
            <a:avLst/>
          </a:prstGeom>
          <a:solidFill>
            <a:schemeClr val="accent1"/>
          </a:solidFill>
          <a:ln/>
        </p:spPr>
      </p:sp>
      <p:pic>
        <p:nvPicPr>
          <p:cNvPr id="3" name="Persona badge icon" descr="preencoded.png">    </p:cNvPr>
          <p:cNvPicPr>
            <a:picLocks noChangeAspect="1"/>
          </p:cNvPicPr>
          <p:nvPr/>
        </p:nvPicPr>
        <p:blipFill>
          <a:blip r:embed="rId1"/>
          <a:stretch>
            <a:fillRect/>
          </a:stretch>
        </p:blipFill>
        <p:spPr>
          <a:xfrm>
            <a:off x="684703" y="593263"/>
            <a:ext cx="294803" cy="294803"/>
          </a:xfrm>
          <a:prstGeom prst="rect">
            <a:avLst/>
          </a:prstGeom>
        </p:spPr>
      </p:pic>
      <p:sp>
        <p:nvSpPr>
          <p:cNvPr id="4" name="Text 1"/>
          <p:cNvSpPr/>
          <p:nvPr>
            <p:ph idx="102" type="body" hasCustomPrompt="1"/>
          </p:nvPr>
        </p:nvSpPr>
        <p:spPr>
          <a:xfrm>
            <a:off x="1353312" y="566928"/>
            <a:ext cx="475488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FOR THE KNOWLEDGE &amp; IT ADMIN</a:t>
            </a:r>
            <a:endParaRPr lang="en-US" sz="1300" dirty="0"/>
          </a:p>
        </p:txBody>
      </p:sp>
      <p:sp>
        <p:nvSpPr>
          <p:cNvPr id="5" name="Text 1"/>
          <p:cNvSpPr/>
          <p:nvPr>
            <p:ph idx="103" type="title" hasCustomPrompt="1"/>
          </p:nvPr>
        </p:nvSpPr>
        <p:spPr>
          <a:xfrm>
            <a:off x="548640" y="1207008"/>
            <a:ext cx="5486400" cy="960120"/>
          </a:xfrm>
          <a:prstGeom prst="rect">
            <a:avLst/>
          </a:prstGeom>
          <a:noFill/>
          <a:ln/>
        </p:spPr>
        <p:txBody>
          <a:bodyPr wrap="square" lIns="0" tIns="0" rIns="0" bIns="0" rtlCol="0" anchor="t"/>
          <a:lstStyle/>
          <a:p>
            <a:pPr algn="l" indent="0" marL="0">
              <a:buNone/>
            </a:pPr>
            <a:r>
              <a:rPr lang="en-US" sz="3000" b="1" dirty="0">
                <a:solidFill>
                  <a:schemeClr val="tx2"/>
                </a:solidFill>
              </a:rPr>
              <a:t>“Who's going to organize all this?”</a:t>
            </a:r>
            <a:endParaRPr lang="en-US" sz="3000" dirty="0"/>
          </a:p>
        </p:txBody>
      </p:sp>
      <p:sp>
        <p:nvSpPr>
          <p:cNvPr id="6" name="Text 1"/>
          <p:cNvSpPr/>
          <p:nvPr>
            <p:ph idx="101" type="body" hasCustomPrompt="1"/>
          </p:nvPr>
        </p:nvSpPr>
        <p:spPr>
          <a:xfrm>
            <a:off x="6720840" y="5532120"/>
            <a:ext cx="5120640" cy="457200"/>
          </a:xfrm>
          <a:prstGeom prst="rect">
            <a:avLst/>
          </a:prstGeom>
          <a:noFill/>
          <a:ln/>
        </p:spPr>
        <p:txBody>
          <a:bodyPr wrap="square" lIns="0" tIns="0" rIns="0" bIns="0" rtlCol="0" anchor="t"/>
          <a:lstStyle/>
          <a:p>
            <a:pPr algn="ctr" indent="0" marL="0">
              <a:buNone/>
            </a:pPr>
            <a:r>
              <a:rPr lang="en-US" sz="1300" i="1" dirty="0">
                <a:solidFill>
                  <a:schemeClr val="accent4"/>
                </a:solidFill>
              </a:rPr>
              <a:t>Automated intake: from SharePoint to organized, connected knowledge</a:t>
            </a:r>
            <a:endParaRPr lang="en-US" sz="1300" dirty="0"/>
          </a:p>
        </p:txBody>
      </p:sp>
      <p:sp>
        <p:nvSpPr>
          <p:cNvPr id="7" name="Pipeline spine"/>
          <p:cNvSpPr/>
          <p:nvPr/>
        </p:nvSpPr>
        <p:spPr>
          <a:xfrm>
            <a:off x="7104888" y="1143000"/>
            <a:ext cx="0" cy="3657600"/>
          </a:xfrm>
          <a:prstGeom prst="line">
            <a:avLst/>
          </a:prstGeom>
          <a:noFill/>
          <a:ln w="31750">
            <a:solidFill>
              <a:schemeClr val="accent6"/>
            </a:solidFill>
            <a:prstDash val="solid"/>
          </a:ln>
        </p:spPr>
      </p:sp>
      <p:sp>
        <p:nvSpPr>
          <p:cNvPr id="8" name="Pipeline step 1"/>
          <p:cNvSpPr/>
          <p:nvPr/>
        </p:nvSpPr>
        <p:spPr>
          <a:xfrm>
            <a:off x="6720840" y="868680"/>
            <a:ext cx="3611880" cy="548640"/>
          </a:xfrm>
          <a:prstGeom prst="roundRect">
            <a:avLst>
              <a:gd name="adj" fmla="val 20000"/>
            </a:avLst>
          </a:prstGeom>
          <a:solidFill>
            <a:schemeClr val="bg1"/>
          </a:solidFill>
          <a:ln w="12700">
            <a:solidFill>
              <a:schemeClr val="accent6"/>
            </a:solidFill>
            <a:prstDash val="solid"/>
          </a:ln>
          <a:effectLst>
            <a:outerShdw sx="100000" sy="100000" kx="0" ky="0" algn="bl" rotWithShape="0" blurRad="127000" dist="38100" dir="5400000">
              <a:srgbClr val="0B1F44">
                <a:alpha val="14000"/>
              </a:srgbClr>
            </a:outerShdw>
          </a:effectLst>
        </p:spPr>
      </p:sp>
      <p:sp>
        <p:nvSpPr>
          <p:cNvPr id="9" name="Pipeline icon 1"/>
          <p:cNvSpPr/>
          <p:nvPr/>
        </p:nvSpPr>
        <p:spPr>
          <a:xfrm>
            <a:off x="6858000" y="932688"/>
            <a:ext cx="420624" cy="420624"/>
          </a:xfrm>
          <a:prstGeom prst="ellipse">
            <a:avLst/>
          </a:prstGeom>
          <a:solidFill>
            <a:schemeClr val="accent6"/>
          </a:solidFill>
          <a:ln/>
        </p:spPr>
      </p:sp>
      <p:pic>
        <p:nvPicPr>
          <p:cNvPr id="10" name="Pipeline icon 1 icon" descr="preencoded.png">    </p:cNvPr>
          <p:cNvPicPr>
            <a:picLocks noChangeAspect="1"/>
          </p:cNvPicPr>
          <p:nvPr/>
        </p:nvPicPr>
        <p:blipFill>
          <a:blip r:embed="rId2"/>
          <a:stretch>
            <a:fillRect/>
          </a:stretch>
        </p:blipFill>
        <p:spPr>
          <a:xfrm>
            <a:off x="6958950" y="1033638"/>
            <a:ext cx="218724" cy="218724"/>
          </a:xfrm>
          <a:prstGeom prst="rect">
            <a:avLst/>
          </a:prstGeom>
        </p:spPr>
      </p:pic>
      <p:sp>
        <p:nvSpPr>
          <p:cNvPr id="11" name="Text 7"/>
          <p:cNvSpPr txBox="1"/>
          <p:nvPr/>
        </p:nvSpPr>
        <p:spPr>
          <a:xfrm>
            <a:off x="7406640" y="868680"/>
            <a:ext cx="2834640" cy="548640"/>
          </a:xfrm>
          <a:prstGeom prst="rect">
            <a:avLst/>
          </a:prstGeom>
          <a:noFill/>
          <a:ln/>
        </p:spPr>
        <p:txBody>
          <a:bodyPr wrap="square" lIns="0" tIns="0" rIns="0" bIns="0" rtlCol="0" anchor="ctr"/>
          <a:lstStyle/>
          <a:p>
            <a:pPr indent="0" marL="0">
              <a:buNone/>
            </a:pPr>
            <a:r>
              <a:rPr lang="en-US" sz="1400" b="1" dirty="0">
                <a:solidFill>
                  <a:schemeClr val="tx2"/>
                </a:solidFill>
              </a:rPr>
              <a:t>Synced from SharePoint</a:t>
            </a:r>
            <a:endParaRPr lang="en-US" sz="1400" dirty="0"/>
          </a:p>
        </p:txBody>
      </p:sp>
      <p:sp>
        <p:nvSpPr>
          <p:cNvPr id="12" name="Pipeline step 2"/>
          <p:cNvSpPr/>
          <p:nvPr/>
        </p:nvSpPr>
        <p:spPr>
          <a:xfrm>
            <a:off x="6720840" y="1600200"/>
            <a:ext cx="3611880" cy="548640"/>
          </a:xfrm>
          <a:prstGeom prst="roundRect">
            <a:avLst>
              <a:gd name="adj" fmla="val 20000"/>
            </a:avLst>
          </a:prstGeom>
          <a:solidFill>
            <a:schemeClr val="bg1"/>
          </a:solidFill>
          <a:ln w="12700">
            <a:solidFill>
              <a:schemeClr val="accent6"/>
            </a:solidFill>
            <a:prstDash val="solid"/>
          </a:ln>
          <a:effectLst>
            <a:outerShdw sx="100000" sy="100000" kx="0" ky="0" algn="bl" rotWithShape="0" blurRad="127000" dist="38100" dir="5400000">
              <a:srgbClr val="0B1F44">
                <a:alpha val="14000"/>
              </a:srgbClr>
            </a:outerShdw>
          </a:effectLst>
        </p:spPr>
      </p:sp>
      <p:sp>
        <p:nvSpPr>
          <p:cNvPr id="13" name="Pipeline icon 2"/>
          <p:cNvSpPr/>
          <p:nvPr/>
        </p:nvSpPr>
        <p:spPr>
          <a:xfrm>
            <a:off x="6858000" y="1664208"/>
            <a:ext cx="420624" cy="420624"/>
          </a:xfrm>
          <a:prstGeom prst="ellipse">
            <a:avLst/>
          </a:prstGeom>
          <a:solidFill>
            <a:schemeClr val="accent6"/>
          </a:solidFill>
          <a:ln/>
        </p:spPr>
      </p:sp>
      <p:pic>
        <p:nvPicPr>
          <p:cNvPr id="14" name="Pipeline icon 2 icon" descr="preencoded.png">    </p:cNvPr>
          <p:cNvPicPr>
            <a:picLocks noChangeAspect="1"/>
          </p:cNvPicPr>
          <p:nvPr/>
        </p:nvPicPr>
        <p:blipFill>
          <a:blip r:embed="rId3"/>
          <a:stretch>
            <a:fillRect/>
          </a:stretch>
        </p:blipFill>
        <p:spPr>
          <a:xfrm>
            <a:off x="6958950" y="1765158"/>
            <a:ext cx="218724" cy="218724"/>
          </a:xfrm>
          <a:prstGeom prst="rect">
            <a:avLst/>
          </a:prstGeom>
        </p:spPr>
      </p:pic>
      <p:sp>
        <p:nvSpPr>
          <p:cNvPr id="15" name="Text 10"/>
          <p:cNvSpPr txBox="1"/>
          <p:nvPr/>
        </p:nvSpPr>
        <p:spPr>
          <a:xfrm>
            <a:off x="7406640" y="1600200"/>
            <a:ext cx="2834640" cy="548640"/>
          </a:xfrm>
          <a:prstGeom prst="rect">
            <a:avLst/>
          </a:prstGeom>
          <a:noFill/>
          <a:ln/>
        </p:spPr>
        <p:txBody>
          <a:bodyPr wrap="square" lIns="0" tIns="0" rIns="0" bIns="0" rtlCol="0" anchor="ctr"/>
          <a:lstStyle/>
          <a:p>
            <a:pPr indent="0" marL="0">
              <a:buNone/>
            </a:pPr>
            <a:r>
              <a:rPr lang="en-US" sz="1400" b="1" dirty="0">
                <a:solidFill>
                  <a:schemeClr val="tx2"/>
                </a:solidFill>
              </a:rPr>
              <a:t>Read and summarized</a:t>
            </a:r>
            <a:endParaRPr lang="en-US" sz="1400" dirty="0"/>
          </a:p>
        </p:txBody>
      </p:sp>
      <p:sp>
        <p:nvSpPr>
          <p:cNvPr id="16" name="Pipeline step 3"/>
          <p:cNvSpPr/>
          <p:nvPr/>
        </p:nvSpPr>
        <p:spPr>
          <a:xfrm>
            <a:off x="6720840" y="2331720"/>
            <a:ext cx="3611880" cy="548640"/>
          </a:xfrm>
          <a:prstGeom prst="roundRect">
            <a:avLst>
              <a:gd name="adj" fmla="val 20000"/>
            </a:avLst>
          </a:prstGeom>
          <a:solidFill>
            <a:schemeClr val="bg1"/>
          </a:solidFill>
          <a:ln w="12700">
            <a:solidFill>
              <a:schemeClr val="accent6"/>
            </a:solidFill>
            <a:prstDash val="solid"/>
          </a:ln>
          <a:effectLst>
            <a:outerShdw sx="100000" sy="100000" kx="0" ky="0" algn="bl" rotWithShape="0" blurRad="127000" dist="38100" dir="5400000">
              <a:srgbClr val="0B1F44">
                <a:alpha val="14000"/>
              </a:srgbClr>
            </a:outerShdw>
          </a:effectLst>
        </p:spPr>
      </p:sp>
      <p:sp>
        <p:nvSpPr>
          <p:cNvPr id="17" name="Pipeline icon 3"/>
          <p:cNvSpPr/>
          <p:nvPr/>
        </p:nvSpPr>
        <p:spPr>
          <a:xfrm>
            <a:off x="6858000" y="2395728"/>
            <a:ext cx="420624" cy="420624"/>
          </a:xfrm>
          <a:prstGeom prst="ellipse">
            <a:avLst/>
          </a:prstGeom>
          <a:solidFill>
            <a:schemeClr val="accent6"/>
          </a:solidFill>
          <a:ln/>
        </p:spPr>
      </p:sp>
      <p:pic>
        <p:nvPicPr>
          <p:cNvPr id="18" name="Pipeline icon 3 icon" descr="preencoded.png">    </p:cNvPr>
          <p:cNvPicPr>
            <a:picLocks noChangeAspect="1"/>
          </p:cNvPicPr>
          <p:nvPr/>
        </p:nvPicPr>
        <p:blipFill>
          <a:blip r:embed="rId4"/>
          <a:stretch>
            <a:fillRect/>
          </a:stretch>
        </p:blipFill>
        <p:spPr>
          <a:xfrm>
            <a:off x="6958950" y="2496678"/>
            <a:ext cx="218724" cy="218724"/>
          </a:xfrm>
          <a:prstGeom prst="rect">
            <a:avLst/>
          </a:prstGeom>
        </p:spPr>
      </p:pic>
      <p:sp>
        <p:nvSpPr>
          <p:cNvPr id="19" name="Text 13"/>
          <p:cNvSpPr txBox="1"/>
          <p:nvPr/>
        </p:nvSpPr>
        <p:spPr>
          <a:xfrm>
            <a:off x="7406640" y="2331720"/>
            <a:ext cx="2834640" cy="548640"/>
          </a:xfrm>
          <a:prstGeom prst="rect">
            <a:avLst/>
          </a:prstGeom>
          <a:noFill/>
          <a:ln/>
        </p:spPr>
        <p:txBody>
          <a:bodyPr wrap="square" lIns="0" tIns="0" rIns="0" bIns="0" rtlCol="0" anchor="ctr"/>
          <a:lstStyle/>
          <a:p>
            <a:pPr indent="0" marL="0">
              <a:buNone/>
            </a:pPr>
            <a:r>
              <a:rPr lang="en-US" sz="1400" b="1" dirty="0">
                <a:solidFill>
                  <a:schemeClr val="tx2"/>
                </a:solidFill>
              </a:rPr>
              <a:t>Classified by category</a:t>
            </a:r>
            <a:endParaRPr lang="en-US" sz="1400" dirty="0"/>
          </a:p>
        </p:txBody>
      </p:sp>
      <p:sp>
        <p:nvSpPr>
          <p:cNvPr id="20" name="Review branch line"/>
          <p:cNvSpPr/>
          <p:nvPr/>
        </p:nvSpPr>
        <p:spPr>
          <a:xfrm>
            <a:off x="10332720" y="2606040"/>
            <a:ext cx="274320" cy="0"/>
          </a:xfrm>
          <a:prstGeom prst="line">
            <a:avLst/>
          </a:prstGeom>
          <a:noFill/>
          <a:ln w="19050">
            <a:solidFill>
              <a:schemeClr val="accent3"/>
            </a:solidFill>
            <a:prstDash val="dash"/>
          </a:ln>
        </p:spPr>
      </p:sp>
      <p:sp>
        <p:nvSpPr>
          <p:cNvPr id="21" name="Needs review box"/>
          <p:cNvSpPr/>
          <p:nvPr/>
        </p:nvSpPr>
        <p:spPr>
          <a:xfrm>
            <a:off x="10607040" y="2103120"/>
            <a:ext cx="1234440" cy="1005840"/>
          </a:xfrm>
          <a:prstGeom prst="roundRect">
            <a:avLst>
              <a:gd name="adj" fmla="val 10909"/>
            </a:avLst>
          </a:prstGeom>
          <a:solidFill>
            <a:schemeClr val="bg1"/>
          </a:solidFill>
          <a:ln w="19050">
            <a:solidFill>
              <a:schemeClr val="accent3"/>
            </a:solidFill>
            <a:prstDash val="dash"/>
          </a:ln>
        </p:spPr>
      </p:sp>
      <p:sp>
        <p:nvSpPr>
          <p:cNvPr id="22" name="Text 16"/>
          <p:cNvSpPr txBox="1"/>
          <p:nvPr/>
        </p:nvSpPr>
        <p:spPr>
          <a:xfrm>
            <a:off x="10716768" y="2194560"/>
            <a:ext cx="1051560" cy="274320"/>
          </a:xfrm>
          <a:prstGeom prst="rect">
            <a:avLst/>
          </a:prstGeom>
          <a:noFill/>
          <a:ln/>
        </p:spPr>
        <p:txBody>
          <a:bodyPr wrap="square" lIns="0" tIns="0" rIns="0" bIns="0" rtlCol="0" anchor="t"/>
          <a:lstStyle/>
          <a:p>
            <a:pPr indent="0" marL="0">
              <a:buNone/>
            </a:pPr>
            <a:r>
              <a:rPr lang="en-US" sz="1200" b="1" dirty="0">
                <a:solidFill>
                  <a:schemeClr val="accent3"/>
                </a:solidFill>
              </a:rPr>
              <a:t>Not sure?</a:t>
            </a:r>
            <a:endParaRPr lang="en-US" sz="1200" dirty="0"/>
          </a:p>
        </p:txBody>
      </p:sp>
      <p:sp>
        <p:nvSpPr>
          <p:cNvPr id="23" name="Text 17"/>
          <p:cNvSpPr txBox="1"/>
          <p:nvPr/>
        </p:nvSpPr>
        <p:spPr>
          <a:xfrm>
            <a:off x="10716768" y="2468880"/>
            <a:ext cx="1051560" cy="548640"/>
          </a:xfrm>
          <a:prstGeom prst="rect">
            <a:avLst/>
          </a:prstGeom>
          <a:noFill/>
          <a:ln/>
        </p:spPr>
        <p:txBody>
          <a:bodyPr wrap="square" lIns="0" tIns="0" rIns="0" bIns="0" rtlCol="0" anchor="t"/>
          <a:lstStyle/>
          <a:p>
            <a:pPr indent="0" marL="0">
              <a:buNone/>
            </a:pPr>
            <a:r>
              <a:rPr lang="en-US" sz="1100" dirty="0">
                <a:solidFill>
                  <a:schemeClr val="accent4"/>
                </a:solidFill>
              </a:rPr>
              <a:t>Sent to a person to review</a:t>
            </a:r>
            <a:endParaRPr lang="en-US" sz="1100" dirty="0"/>
          </a:p>
        </p:txBody>
      </p:sp>
      <p:sp>
        <p:nvSpPr>
          <p:cNvPr id="24" name="Pipeline step 4"/>
          <p:cNvSpPr/>
          <p:nvPr/>
        </p:nvSpPr>
        <p:spPr>
          <a:xfrm>
            <a:off x="6720840" y="3063240"/>
            <a:ext cx="3611880" cy="548640"/>
          </a:xfrm>
          <a:prstGeom prst="roundRect">
            <a:avLst>
              <a:gd name="adj" fmla="val 20000"/>
            </a:avLst>
          </a:prstGeom>
          <a:solidFill>
            <a:schemeClr val="bg1"/>
          </a:solidFill>
          <a:ln w="12700">
            <a:solidFill>
              <a:schemeClr val="accent6"/>
            </a:solidFill>
            <a:prstDash val="solid"/>
          </a:ln>
          <a:effectLst>
            <a:outerShdw sx="100000" sy="100000" kx="0" ky="0" algn="bl" rotWithShape="0" blurRad="127000" dist="38100" dir="5400000">
              <a:srgbClr val="0B1F44">
                <a:alpha val="14000"/>
              </a:srgbClr>
            </a:outerShdw>
          </a:effectLst>
        </p:spPr>
      </p:sp>
      <p:sp>
        <p:nvSpPr>
          <p:cNvPr id="25" name="Pipeline icon 4"/>
          <p:cNvSpPr/>
          <p:nvPr/>
        </p:nvSpPr>
        <p:spPr>
          <a:xfrm>
            <a:off x="6858000" y="3127248"/>
            <a:ext cx="420624" cy="420624"/>
          </a:xfrm>
          <a:prstGeom prst="ellipse">
            <a:avLst/>
          </a:prstGeom>
          <a:solidFill>
            <a:schemeClr val="accent6"/>
          </a:solidFill>
          <a:ln/>
        </p:spPr>
      </p:sp>
      <p:pic>
        <p:nvPicPr>
          <p:cNvPr id="26" name="Pipeline icon 4 icon" descr="preencoded.png">    </p:cNvPr>
          <p:cNvPicPr>
            <a:picLocks noChangeAspect="1"/>
          </p:cNvPicPr>
          <p:nvPr/>
        </p:nvPicPr>
        <p:blipFill>
          <a:blip r:embed="rId5"/>
          <a:stretch>
            <a:fillRect/>
          </a:stretch>
        </p:blipFill>
        <p:spPr>
          <a:xfrm>
            <a:off x="6958950" y="3228198"/>
            <a:ext cx="218724" cy="218724"/>
          </a:xfrm>
          <a:prstGeom prst="rect">
            <a:avLst/>
          </a:prstGeom>
        </p:spPr>
      </p:pic>
      <p:sp>
        <p:nvSpPr>
          <p:cNvPr id="27" name="Text 20"/>
          <p:cNvSpPr txBox="1"/>
          <p:nvPr/>
        </p:nvSpPr>
        <p:spPr>
          <a:xfrm>
            <a:off x="7406640" y="3063240"/>
            <a:ext cx="2834640" cy="548640"/>
          </a:xfrm>
          <a:prstGeom prst="rect">
            <a:avLst/>
          </a:prstGeom>
          <a:noFill/>
          <a:ln/>
        </p:spPr>
        <p:txBody>
          <a:bodyPr wrap="square" lIns="0" tIns="0" rIns="0" bIns="0" rtlCol="0" anchor="ctr"/>
          <a:lstStyle/>
          <a:p>
            <a:pPr indent="0" marL="0">
              <a:buNone/>
            </a:pPr>
            <a:r>
              <a:rPr lang="en-US" sz="1400" b="1" dirty="0">
                <a:solidFill>
                  <a:schemeClr val="tx2"/>
                </a:solidFill>
              </a:rPr>
              <a:t>Grouped into topics</a:t>
            </a:r>
            <a:endParaRPr lang="en-US" sz="1400" dirty="0"/>
          </a:p>
        </p:txBody>
      </p:sp>
      <p:sp>
        <p:nvSpPr>
          <p:cNvPr id="28" name="Pipeline step 5"/>
          <p:cNvSpPr/>
          <p:nvPr/>
        </p:nvSpPr>
        <p:spPr>
          <a:xfrm>
            <a:off x="6720840" y="3794760"/>
            <a:ext cx="3611880" cy="548640"/>
          </a:xfrm>
          <a:prstGeom prst="roundRect">
            <a:avLst>
              <a:gd name="adj" fmla="val 20000"/>
            </a:avLst>
          </a:prstGeom>
          <a:solidFill>
            <a:schemeClr val="bg1"/>
          </a:solidFill>
          <a:ln w="12700">
            <a:solidFill>
              <a:schemeClr val="accent6"/>
            </a:solidFill>
            <a:prstDash val="solid"/>
          </a:ln>
          <a:effectLst>
            <a:outerShdw sx="100000" sy="100000" kx="0" ky="0" algn="bl" rotWithShape="0" blurRad="127000" dist="38100" dir="5400000">
              <a:srgbClr val="0B1F44">
                <a:alpha val="14000"/>
              </a:srgbClr>
            </a:outerShdw>
          </a:effectLst>
        </p:spPr>
      </p:sp>
      <p:sp>
        <p:nvSpPr>
          <p:cNvPr id="29" name="Pipeline icon 5"/>
          <p:cNvSpPr/>
          <p:nvPr/>
        </p:nvSpPr>
        <p:spPr>
          <a:xfrm>
            <a:off x="6858000" y="3858768"/>
            <a:ext cx="420624" cy="420624"/>
          </a:xfrm>
          <a:prstGeom prst="ellipse">
            <a:avLst/>
          </a:prstGeom>
          <a:solidFill>
            <a:schemeClr val="accent6"/>
          </a:solidFill>
          <a:ln/>
        </p:spPr>
      </p:sp>
      <p:pic>
        <p:nvPicPr>
          <p:cNvPr id="30" name="Pipeline icon 5 icon" descr="preencoded.png">    </p:cNvPr>
          <p:cNvPicPr>
            <a:picLocks noChangeAspect="1"/>
          </p:cNvPicPr>
          <p:nvPr/>
        </p:nvPicPr>
        <p:blipFill>
          <a:blip r:embed="rId6"/>
          <a:stretch>
            <a:fillRect/>
          </a:stretch>
        </p:blipFill>
        <p:spPr>
          <a:xfrm>
            <a:off x="6958950" y="3959718"/>
            <a:ext cx="218724" cy="218724"/>
          </a:xfrm>
          <a:prstGeom prst="rect">
            <a:avLst/>
          </a:prstGeom>
        </p:spPr>
      </p:pic>
      <p:sp>
        <p:nvSpPr>
          <p:cNvPr id="31" name="Text 23"/>
          <p:cNvSpPr txBox="1"/>
          <p:nvPr/>
        </p:nvSpPr>
        <p:spPr>
          <a:xfrm>
            <a:off x="7406640" y="3794760"/>
            <a:ext cx="2834640" cy="548640"/>
          </a:xfrm>
          <a:prstGeom prst="rect">
            <a:avLst/>
          </a:prstGeom>
          <a:noFill/>
          <a:ln/>
        </p:spPr>
        <p:txBody>
          <a:bodyPr wrap="square" lIns="0" tIns="0" rIns="0" bIns="0" rtlCol="0" anchor="ctr"/>
          <a:lstStyle/>
          <a:p>
            <a:pPr indent="0" marL="0">
              <a:buNone/>
            </a:pPr>
            <a:r>
              <a:rPr lang="en-US" sz="1400" b="1" dirty="0">
                <a:solidFill>
                  <a:schemeClr val="tx2"/>
                </a:solidFill>
              </a:rPr>
              <a:t>Checked for duplicates</a:t>
            </a:r>
            <a:endParaRPr lang="en-US" sz="1400" dirty="0"/>
          </a:p>
        </p:txBody>
      </p:sp>
      <p:sp>
        <p:nvSpPr>
          <p:cNvPr id="32" name="Pipeline step 6"/>
          <p:cNvSpPr/>
          <p:nvPr/>
        </p:nvSpPr>
        <p:spPr>
          <a:xfrm>
            <a:off x="6720840" y="4526280"/>
            <a:ext cx="3611880" cy="548640"/>
          </a:xfrm>
          <a:prstGeom prst="roundRect">
            <a:avLst>
              <a:gd name="adj" fmla="val 20000"/>
            </a:avLst>
          </a:prstGeom>
          <a:solidFill>
            <a:schemeClr val="accent1"/>
          </a:solidFill>
          <a:ln w="12700">
            <a:solidFill>
              <a:schemeClr val="accent6"/>
            </a:solidFill>
            <a:prstDash val="solid"/>
          </a:ln>
          <a:effectLst>
            <a:outerShdw sx="100000" sy="100000" kx="0" ky="0" algn="bl" rotWithShape="0" blurRad="127000" dist="38100" dir="5400000">
              <a:srgbClr val="0B1F44">
                <a:alpha val="14000"/>
              </a:srgbClr>
            </a:outerShdw>
          </a:effectLst>
        </p:spPr>
      </p:sp>
      <p:sp>
        <p:nvSpPr>
          <p:cNvPr id="33" name="Pipeline icon 6"/>
          <p:cNvSpPr/>
          <p:nvPr/>
        </p:nvSpPr>
        <p:spPr>
          <a:xfrm>
            <a:off x="6858000" y="4590288"/>
            <a:ext cx="420624" cy="420624"/>
          </a:xfrm>
          <a:prstGeom prst="ellipse">
            <a:avLst/>
          </a:prstGeom>
          <a:solidFill>
            <a:schemeClr val="bg1"/>
          </a:solidFill>
          <a:ln/>
        </p:spPr>
      </p:sp>
      <p:pic>
        <p:nvPicPr>
          <p:cNvPr id="34" name="Pipeline icon 6 icon" descr="preencoded.png">    </p:cNvPr>
          <p:cNvPicPr>
            <a:picLocks noChangeAspect="1"/>
          </p:cNvPicPr>
          <p:nvPr/>
        </p:nvPicPr>
        <p:blipFill>
          <a:blip r:embed="rId7"/>
          <a:stretch>
            <a:fillRect/>
          </a:stretch>
        </p:blipFill>
        <p:spPr>
          <a:xfrm>
            <a:off x="6958950" y="4691238"/>
            <a:ext cx="218724" cy="218724"/>
          </a:xfrm>
          <a:prstGeom prst="rect">
            <a:avLst/>
          </a:prstGeom>
        </p:spPr>
      </p:pic>
      <p:sp>
        <p:nvSpPr>
          <p:cNvPr id="35" name="Text 26"/>
          <p:cNvSpPr txBox="1"/>
          <p:nvPr/>
        </p:nvSpPr>
        <p:spPr>
          <a:xfrm>
            <a:off x="7406640" y="4526280"/>
            <a:ext cx="2834640" cy="548640"/>
          </a:xfrm>
          <a:prstGeom prst="rect">
            <a:avLst/>
          </a:prstGeom>
          <a:noFill/>
          <a:ln/>
        </p:spPr>
        <p:txBody>
          <a:bodyPr wrap="square" lIns="0" tIns="0" rIns="0" bIns="0" rtlCol="0" anchor="ctr"/>
          <a:lstStyle/>
          <a:p>
            <a:pPr indent="0" marL="0">
              <a:buNone/>
            </a:pPr>
            <a:r>
              <a:rPr lang="en-US" sz="1400" b="1" dirty="0">
                <a:solidFill>
                  <a:schemeClr val="bg1"/>
                </a:solidFill>
              </a:rPr>
              <a:t>Connected in the knowledge graph</a:t>
            </a:r>
            <a:endParaRPr lang="en-US" sz="1400" dirty="0"/>
          </a:p>
        </p:txBody>
      </p:sp>
      <p:sp>
        <p:nvSpPr>
          <p:cNvPr id="36" name="Text 27"/>
          <p:cNvSpPr txBox="1"/>
          <p:nvPr/>
        </p:nvSpPr>
        <p:spPr>
          <a:xfrm>
            <a:off x="548640" y="2331720"/>
            <a:ext cx="27432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TODAY</a:t>
            </a:r>
            <a:endParaRPr lang="en-US" sz="1100" dirty="0"/>
          </a:p>
        </p:txBody>
      </p:sp>
      <p:sp>
        <p:nvSpPr>
          <p:cNvPr id="37" name="Text 28"/>
          <p:cNvSpPr txBox="1"/>
          <p:nvPr/>
        </p:nvSpPr>
        <p:spPr>
          <a:xfrm>
            <a:off x="548640" y="2606040"/>
            <a:ext cx="5440680" cy="566928"/>
          </a:xfrm>
          <a:prstGeom prst="rect">
            <a:avLst/>
          </a:prstGeom>
          <a:noFill/>
          <a:ln/>
        </p:spPr>
        <p:txBody>
          <a:bodyPr wrap="square" lIns="0" tIns="0" rIns="0" bIns="0" rtlCol="0" anchor="t"/>
          <a:lstStyle/>
          <a:p>
            <a:pPr indent="0" marL="0">
              <a:buNone/>
            </a:pPr>
            <a:r>
              <a:rPr lang="en-US" sz="1500" dirty="0">
                <a:solidFill>
                  <a:schemeClr val="accent4"/>
                </a:solidFill>
              </a:rPr>
              <a:t>Uploading, tagging, filing and de-duplicating, with no end in sight.</a:t>
            </a:r>
            <a:endParaRPr lang="en-US" sz="1500" dirty="0"/>
          </a:p>
        </p:txBody>
      </p:sp>
      <p:sp>
        <p:nvSpPr>
          <p:cNvPr id="38" name="Text 29"/>
          <p:cNvSpPr txBox="1"/>
          <p:nvPr/>
        </p:nvSpPr>
        <p:spPr>
          <a:xfrm>
            <a:off x="548640" y="3291840"/>
            <a:ext cx="27432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WITH KMS</a:t>
            </a:r>
            <a:endParaRPr lang="en-US" sz="1100" dirty="0"/>
          </a:p>
        </p:txBody>
      </p:sp>
      <p:pic>
        <p:nvPicPr>
          <p:cNvPr id="39" name="Check 1" descr="preencoded.png">    </p:cNvPr>
          <p:cNvPicPr>
            <a:picLocks noChangeAspect="1"/>
          </p:cNvPicPr>
          <p:nvPr/>
        </p:nvPicPr>
        <p:blipFill>
          <a:blip r:embed="rId8"/>
          <a:stretch>
            <a:fillRect/>
          </a:stretch>
        </p:blipFill>
        <p:spPr>
          <a:xfrm>
            <a:off x="548640" y="3639312"/>
            <a:ext cx="256032" cy="256032"/>
          </a:xfrm>
          <a:prstGeom prst="rect">
            <a:avLst/>
          </a:prstGeom>
        </p:spPr>
      </p:pic>
      <p:sp>
        <p:nvSpPr>
          <p:cNvPr id="40" name="Text 30"/>
          <p:cNvSpPr txBox="1"/>
          <p:nvPr/>
        </p:nvSpPr>
        <p:spPr>
          <a:xfrm>
            <a:off x="914400" y="3611880"/>
            <a:ext cx="5120640" cy="301752"/>
          </a:xfrm>
          <a:prstGeom prst="rect">
            <a:avLst/>
          </a:prstGeom>
          <a:noFill/>
          <a:ln/>
        </p:spPr>
        <p:txBody>
          <a:bodyPr wrap="square" lIns="0" tIns="0" rIns="0" bIns="0" rtlCol="0" anchor="t"/>
          <a:lstStyle/>
          <a:p>
            <a:pPr indent="0" marL="0">
              <a:buNone/>
            </a:pPr>
            <a:r>
              <a:rPr lang="en-US" sz="1500" dirty="0">
                <a:solidFill>
                  <a:schemeClr val="tx1"/>
                </a:solidFill>
              </a:rPr>
              <a:t>Documents flow in from SharePoint automatically</a:t>
            </a:r>
            <a:endParaRPr lang="en-US" sz="1500" dirty="0"/>
          </a:p>
        </p:txBody>
      </p:sp>
      <p:sp>
        <p:nvSpPr>
          <p:cNvPr id="41" name="Text 31"/>
          <p:cNvSpPr txBox="1"/>
          <p:nvPr/>
        </p:nvSpPr>
        <p:spPr>
          <a:xfrm>
            <a:off x="914400" y="3904488"/>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Automated Knowledge Ingestion</a:t>
            </a:r>
            <a:endParaRPr lang="en-US" sz="1100" dirty="0"/>
          </a:p>
        </p:txBody>
      </p:sp>
      <p:pic>
        <p:nvPicPr>
          <p:cNvPr id="42" name="Check 2" descr="preencoded.png">    </p:cNvPr>
          <p:cNvPicPr>
            <a:picLocks noChangeAspect="1"/>
          </p:cNvPicPr>
          <p:nvPr/>
        </p:nvPicPr>
        <p:blipFill>
          <a:blip r:embed="rId9"/>
          <a:stretch>
            <a:fillRect/>
          </a:stretch>
        </p:blipFill>
        <p:spPr>
          <a:xfrm>
            <a:off x="548640" y="4242816"/>
            <a:ext cx="256032" cy="256032"/>
          </a:xfrm>
          <a:prstGeom prst="rect">
            <a:avLst/>
          </a:prstGeom>
        </p:spPr>
      </p:pic>
      <p:sp>
        <p:nvSpPr>
          <p:cNvPr id="43" name="Text 32"/>
          <p:cNvSpPr txBox="1"/>
          <p:nvPr/>
        </p:nvSpPr>
        <p:spPr>
          <a:xfrm>
            <a:off x="914400" y="4215384"/>
            <a:ext cx="5120640" cy="301752"/>
          </a:xfrm>
          <a:prstGeom prst="rect">
            <a:avLst/>
          </a:prstGeom>
          <a:noFill/>
          <a:ln/>
        </p:spPr>
        <p:txBody>
          <a:bodyPr wrap="square" lIns="0" tIns="0" rIns="0" bIns="0" rtlCol="0" anchor="t"/>
          <a:lstStyle/>
          <a:p>
            <a:pPr indent="0" marL="0">
              <a:buNone/>
            </a:pPr>
            <a:r>
              <a:rPr lang="en-US" sz="1500" dirty="0">
                <a:solidFill>
                  <a:schemeClr val="tx1"/>
                </a:solidFill>
              </a:rPr>
              <a:t>Classified, grouped and checked for duplicates</a:t>
            </a:r>
            <a:endParaRPr lang="en-US" sz="1500" dirty="0"/>
          </a:p>
        </p:txBody>
      </p:sp>
      <p:sp>
        <p:nvSpPr>
          <p:cNvPr id="44" name="Text 33"/>
          <p:cNvSpPr txBox="1"/>
          <p:nvPr/>
        </p:nvSpPr>
        <p:spPr>
          <a:xfrm>
            <a:off x="914400" y="4507992"/>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Auto-Classification  ·  Cross-Document Reasoning</a:t>
            </a:r>
            <a:endParaRPr lang="en-US" sz="1100" dirty="0"/>
          </a:p>
        </p:txBody>
      </p:sp>
      <p:pic>
        <p:nvPicPr>
          <p:cNvPr id="45" name="Check 3" descr="preencoded.png">    </p:cNvPr>
          <p:cNvPicPr>
            <a:picLocks noChangeAspect="1"/>
          </p:cNvPicPr>
          <p:nvPr/>
        </p:nvPicPr>
        <p:blipFill>
          <a:blip r:embed="rId10"/>
          <a:stretch>
            <a:fillRect/>
          </a:stretch>
        </p:blipFill>
        <p:spPr>
          <a:xfrm>
            <a:off x="548640" y="4846320"/>
            <a:ext cx="256032" cy="256032"/>
          </a:xfrm>
          <a:prstGeom prst="rect">
            <a:avLst/>
          </a:prstGeom>
        </p:spPr>
      </p:pic>
      <p:sp>
        <p:nvSpPr>
          <p:cNvPr id="46" name="Text 34"/>
          <p:cNvSpPr txBox="1"/>
          <p:nvPr/>
        </p:nvSpPr>
        <p:spPr>
          <a:xfrm>
            <a:off x="914400" y="4818888"/>
            <a:ext cx="5120640" cy="301752"/>
          </a:xfrm>
          <a:prstGeom prst="rect">
            <a:avLst/>
          </a:prstGeom>
          <a:noFill/>
          <a:ln/>
        </p:spPr>
        <p:txBody>
          <a:bodyPr wrap="square" lIns="0" tIns="0" rIns="0" bIns="0" rtlCol="0" anchor="t"/>
          <a:lstStyle/>
          <a:p>
            <a:pPr indent="0" marL="0">
              <a:buNone/>
            </a:pPr>
            <a:r>
              <a:rPr lang="en-US" sz="1500" dirty="0">
                <a:solidFill>
                  <a:schemeClr val="tx1"/>
                </a:solidFill>
              </a:rPr>
              <a:t>A live map of how everything connects</a:t>
            </a:r>
            <a:endParaRPr lang="en-US" sz="1500" dirty="0"/>
          </a:p>
        </p:txBody>
      </p:sp>
      <p:sp>
        <p:nvSpPr>
          <p:cNvPr id="47" name="Text 35"/>
          <p:cNvSpPr txBox="1"/>
          <p:nvPr/>
        </p:nvSpPr>
        <p:spPr>
          <a:xfrm>
            <a:off x="914400" y="5111496"/>
            <a:ext cx="5120640" cy="237744"/>
          </a:xfrm>
          <a:prstGeom prst="rect">
            <a:avLst/>
          </a:prstGeom>
          <a:noFill/>
          <a:ln/>
        </p:spPr>
        <p:txBody>
          <a:bodyPr wrap="square" lIns="0" tIns="0" rIns="0" bIns="0" rtlCol="0" anchor="t"/>
          <a:lstStyle/>
          <a:p>
            <a:pPr indent="0" marL="0">
              <a:buNone/>
            </a:pPr>
            <a:r>
              <a:rPr lang="en-US" sz="1100" b="1" dirty="0">
                <a:solidFill>
                  <a:schemeClr val="accent2"/>
                </a:solidFill>
              </a:rPr>
              <a:t>Knowledge Graph  ·  Context Engine  ·  Repository</a:t>
            </a:r>
            <a:endParaRPr lang="en-US" sz="1100" dirty="0"/>
          </a:p>
        </p:txBody>
      </p:sp>
      <p:sp>
        <p:nvSpPr>
          <p:cNvPr id="48" name="Outcome box"/>
          <p:cNvSpPr/>
          <p:nvPr/>
        </p:nvSpPr>
        <p:spPr>
          <a:xfrm>
            <a:off x="548640" y="5486400"/>
            <a:ext cx="5440680" cy="603504"/>
          </a:xfrm>
          <a:prstGeom prst="roundRect">
            <a:avLst>
              <a:gd name="adj" fmla="val 15152"/>
            </a:avLst>
          </a:prstGeom>
          <a:solidFill>
            <a:schemeClr val="accent1"/>
          </a:solidFill>
          <a:ln/>
          <a:effectLst>
            <a:outerShdw sx="100000" sy="100000" kx="0" ky="0" algn="bl" rotWithShape="0" blurRad="127000" dist="38100" dir="5400000">
              <a:srgbClr val="0B1F44">
                <a:alpha val="14000"/>
              </a:srgbClr>
            </a:outerShdw>
          </a:effectLst>
        </p:spPr>
      </p:sp>
      <p:pic>
        <p:nvPicPr>
          <p:cNvPr id="49" name="Outcome icon" descr="preencoded.png">    </p:cNvPr>
          <p:cNvPicPr>
            <a:picLocks noChangeAspect="1"/>
          </p:cNvPicPr>
          <p:nvPr/>
        </p:nvPicPr>
        <p:blipFill>
          <a:blip r:embed="rId11"/>
          <a:stretch>
            <a:fillRect/>
          </a:stretch>
        </p:blipFill>
        <p:spPr>
          <a:xfrm>
            <a:off x="731520" y="5641848"/>
            <a:ext cx="292608" cy="292608"/>
          </a:xfrm>
          <a:prstGeom prst="rect">
            <a:avLst/>
          </a:prstGeom>
        </p:spPr>
      </p:pic>
      <p:sp>
        <p:nvSpPr>
          <p:cNvPr id="50" name="Text 37"/>
          <p:cNvSpPr txBox="1"/>
          <p:nvPr/>
        </p:nvSpPr>
        <p:spPr>
          <a:xfrm>
            <a:off x="1143000" y="5486400"/>
            <a:ext cx="4754880" cy="603504"/>
          </a:xfrm>
          <a:prstGeom prst="rect">
            <a:avLst/>
          </a:prstGeom>
          <a:noFill/>
          <a:ln/>
        </p:spPr>
        <p:txBody>
          <a:bodyPr wrap="square" lIns="0" tIns="0" rIns="0" bIns="0" rtlCol="0" anchor="ctr"/>
          <a:lstStyle/>
          <a:p>
            <a:pPr indent="0" marL="0">
              <a:buNone/>
            </a:pPr>
            <a:r>
              <a:rPr lang="en-US" sz="1500" b="1" dirty="0">
                <a:solidFill>
                  <a:schemeClr val="accent6"/>
                </a:solidFill>
              </a:rPr>
              <a:t>Outcome:  </a:t>
            </a:r>
            <a:pPr indent="0" marL="0">
              <a:buNone/>
            </a:pPr>
            <a:r>
              <a:rPr lang="en-US" sz="1500" b="1" dirty="0">
                <a:solidFill>
                  <a:schemeClr val="bg1"/>
                </a:solidFill>
              </a:rPr>
              <a:t>A knowledge base that organizes itself</a:t>
            </a:r>
            <a:endParaRPr lang="en-US" sz="15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lIns="0" tIns="0" rIns="0" bIns="0" rtlCol="0" anchor="ctr"/>
          <a:lstStyle/>
          <a:p>
            <a:pPr indent="0" marL="0">
              <a:buNone/>
            </a:pPr>
            <a:r>
              <a:rPr lang="en-US" sz="1300" b="1" spc="200" kern="0" dirty="0">
                <a:solidFill>
                  <a:schemeClr val="accent2"/>
                </a:solidFill>
              </a:rPr>
              <a:t>WHAT MAKES KMS DIFFERENT</a:t>
            </a: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lIns="0" tIns="0" rIns="0" bIns="0" rtlCol="0" anchor="t"/>
          <a:lstStyle/>
          <a:p>
            <a:pPr algn="l" indent="0" marL="0">
              <a:buNone/>
            </a:pPr>
            <a:r>
              <a:rPr lang="en-US" sz="3400" b="1" dirty="0">
                <a:solidFill>
                  <a:schemeClr val="bg1"/>
                </a:solidFill>
              </a:rPr>
              <a:t>It catches the decision nobody wrote down</a:t>
            </a:r>
            <a:endParaRPr lang="en-US" sz="3400" dirty="0"/>
          </a:p>
        </p:txBody>
      </p:sp>
      <p:sp>
        <p:nvSpPr>
          <p:cNvPr id="4" name="Flow card 1"/>
          <p:cNvSpPr/>
          <p:nvPr/>
        </p:nvSpPr>
        <p:spPr>
          <a:xfrm>
            <a:off x="548640" y="1874520"/>
            <a:ext cx="2560320" cy="3154680"/>
          </a:xfrm>
          <a:prstGeom prst="roundRect">
            <a:avLst>
              <a:gd name="adj" fmla="val 4286"/>
            </a:avLst>
          </a:prstGeom>
          <a:solidFill>
            <a:schemeClr val="bg1">
              <a:alpha val="9000"/>
            </a:schemeClr>
          </a:solidFill>
          <a:ln w="12700">
            <a:solidFill>
              <a:schemeClr val="accent2"/>
            </a:solidFill>
            <a:prstDash val="solid"/>
          </a:ln>
        </p:spPr>
      </p:sp>
      <p:sp>
        <p:nvSpPr>
          <p:cNvPr id="5" name="Flow number 1"/>
          <p:cNvSpPr/>
          <p:nvPr/>
        </p:nvSpPr>
        <p:spPr>
          <a:xfrm>
            <a:off x="822960" y="2148840"/>
            <a:ext cx="512064" cy="512064"/>
          </a:xfrm>
          <a:prstGeom prst="ellipse">
            <a:avLst/>
          </a:prstGeom>
          <a:solidFill>
            <a:schemeClr val="accent2"/>
          </a:solidFill>
          <a:ln/>
        </p:spPr>
      </p:sp>
      <p:sp>
        <p:nvSpPr>
          <p:cNvPr id="6" name="Text 4"/>
          <p:cNvSpPr txBox="1"/>
          <p:nvPr/>
        </p:nvSpPr>
        <p:spPr>
          <a:xfrm>
            <a:off x="822960" y="214884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822960" y="2834640"/>
            <a:ext cx="210312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IN A MEETING NOTE</a:t>
            </a:r>
            <a:endParaRPr lang="en-US" sz="1200" dirty="0"/>
          </a:p>
        </p:txBody>
      </p:sp>
      <p:sp>
        <p:nvSpPr>
          <p:cNvPr id="8" name="Text 6"/>
          <p:cNvSpPr txBox="1"/>
          <p:nvPr/>
        </p:nvSpPr>
        <p:spPr>
          <a:xfrm>
            <a:off x="822960" y="3200400"/>
            <a:ext cx="2057400" cy="1691640"/>
          </a:xfrm>
          <a:prstGeom prst="rect">
            <a:avLst/>
          </a:prstGeom>
          <a:noFill/>
          <a:ln/>
        </p:spPr>
        <p:txBody>
          <a:bodyPr wrap="square" lIns="0" tIns="0" rIns="0" bIns="0" rtlCol="0" anchor="t"/>
          <a:lstStyle/>
          <a:p>
            <a:pPr indent="0" marL="0">
              <a:spcAft>
                <a:spcPts val="600"/>
              </a:spcAft>
              <a:buNone/>
            </a:pPr>
            <a:r>
              <a:rPr lang="en-US" sz="1600" i="1" dirty="0">
                <a:solidFill>
                  <a:schemeClr val="bg1"/>
                </a:solidFill>
              </a:rPr>
              <a:t>“Okay, let's go ahead with the PostgreSQL approach.”</a:t>
            </a:r>
            <a:endParaRPr lang="en-US" sz="1600" dirty="0"/>
          </a:p>
          <a:p>
            <a:pPr indent="0" marL="0">
              <a:spcAft>
                <a:spcPts val="600"/>
              </a:spcAft>
              <a:buNone/>
            </a:pPr>
            <a:r>
              <a:rPr lang="en-US" sz="1300" dirty="0">
                <a:solidFill>
                  <a:schemeClr val="accent6"/>
                </a:solidFill>
              </a:rPr>
              <a:t>Nobody called it a decision.</a:t>
            </a:r>
            <a:endParaRPr lang="en-US" sz="1600" dirty="0"/>
          </a:p>
        </p:txBody>
      </p:sp>
      <p:pic>
        <p:nvPicPr>
          <p:cNvPr id="9" name="Flow arrow 1" descr="preencoded.png">    </p:cNvPr>
          <p:cNvPicPr>
            <a:picLocks noChangeAspect="1"/>
          </p:cNvPicPr>
          <p:nvPr/>
        </p:nvPicPr>
        <p:blipFill>
          <a:blip r:embed="rId1"/>
          <a:stretch>
            <a:fillRect/>
          </a:stretch>
        </p:blipFill>
        <p:spPr>
          <a:xfrm>
            <a:off x="3127248" y="3291840"/>
            <a:ext cx="237744" cy="237744"/>
          </a:xfrm>
          <a:prstGeom prst="rect">
            <a:avLst/>
          </a:prstGeom>
        </p:spPr>
      </p:pic>
      <p:sp>
        <p:nvSpPr>
          <p:cNvPr id="10" name="Flow card 2"/>
          <p:cNvSpPr/>
          <p:nvPr/>
        </p:nvSpPr>
        <p:spPr>
          <a:xfrm>
            <a:off x="3383280" y="1874520"/>
            <a:ext cx="2560320" cy="3154680"/>
          </a:xfrm>
          <a:prstGeom prst="roundRect">
            <a:avLst>
              <a:gd name="adj" fmla="val 4286"/>
            </a:avLst>
          </a:prstGeom>
          <a:solidFill>
            <a:schemeClr val="bg1">
              <a:alpha val="9000"/>
            </a:schemeClr>
          </a:solidFill>
          <a:ln w="12700">
            <a:solidFill>
              <a:schemeClr val="accent2"/>
            </a:solidFill>
            <a:prstDash val="solid"/>
          </a:ln>
        </p:spPr>
      </p:sp>
      <p:sp>
        <p:nvSpPr>
          <p:cNvPr id="11" name="Flow number 2"/>
          <p:cNvSpPr/>
          <p:nvPr/>
        </p:nvSpPr>
        <p:spPr>
          <a:xfrm>
            <a:off x="3657600" y="2148840"/>
            <a:ext cx="512064" cy="512064"/>
          </a:xfrm>
          <a:prstGeom prst="ellipse">
            <a:avLst/>
          </a:prstGeom>
          <a:solidFill>
            <a:schemeClr val="accent2"/>
          </a:solidFill>
          <a:ln/>
        </p:spPr>
      </p:sp>
      <p:sp>
        <p:nvSpPr>
          <p:cNvPr id="12" name="Text 9"/>
          <p:cNvSpPr txBox="1"/>
          <p:nvPr/>
        </p:nvSpPr>
        <p:spPr>
          <a:xfrm>
            <a:off x="3657600" y="214884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3657600" y="2834640"/>
            <a:ext cx="210312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KMS DETECTS IT</a:t>
            </a:r>
            <a:endParaRPr lang="en-US" sz="1200" dirty="0"/>
          </a:p>
        </p:txBody>
      </p:sp>
      <p:sp>
        <p:nvSpPr>
          <p:cNvPr id="14" name="Text 11"/>
          <p:cNvSpPr txBox="1"/>
          <p:nvPr/>
        </p:nvSpPr>
        <p:spPr>
          <a:xfrm>
            <a:off x="3657600" y="3200400"/>
            <a:ext cx="2057400" cy="1691640"/>
          </a:xfrm>
          <a:prstGeom prst="rect">
            <a:avLst/>
          </a:prstGeom>
          <a:noFill/>
          <a:ln/>
        </p:spPr>
        <p:txBody>
          <a:bodyPr wrap="square" lIns="0" tIns="0" rIns="0" bIns="0" rtlCol="0" anchor="t"/>
          <a:lstStyle/>
          <a:p>
            <a:pPr indent="0" marL="0">
              <a:spcAft>
                <a:spcPts val="600"/>
              </a:spcAft>
              <a:buNone/>
            </a:pPr>
            <a:r>
              <a:rPr lang="en-US" sz="1600" dirty="0">
                <a:solidFill>
                  <a:schemeClr val="bg1"/>
                </a:solidFill>
              </a:rPr>
              <a:t>Flagged as an implied decision, with the quoted evidence and a confidence level.</a:t>
            </a:r>
            <a:endParaRPr lang="en-US" sz="1600" dirty="0"/>
          </a:p>
        </p:txBody>
      </p:sp>
      <p:pic>
        <p:nvPicPr>
          <p:cNvPr id="15" name="Flow arrow 2" descr="preencoded.png">    </p:cNvPr>
          <p:cNvPicPr>
            <a:picLocks noChangeAspect="1"/>
          </p:cNvPicPr>
          <p:nvPr/>
        </p:nvPicPr>
        <p:blipFill>
          <a:blip r:embed="rId2"/>
          <a:stretch>
            <a:fillRect/>
          </a:stretch>
        </p:blipFill>
        <p:spPr>
          <a:xfrm>
            <a:off x="5961888" y="3291840"/>
            <a:ext cx="237744" cy="237744"/>
          </a:xfrm>
          <a:prstGeom prst="rect">
            <a:avLst/>
          </a:prstGeom>
        </p:spPr>
      </p:pic>
      <p:sp>
        <p:nvSpPr>
          <p:cNvPr id="16" name="Flow card 3"/>
          <p:cNvSpPr/>
          <p:nvPr/>
        </p:nvSpPr>
        <p:spPr>
          <a:xfrm>
            <a:off x="6217920" y="1874520"/>
            <a:ext cx="2560320" cy="3154680"/>
          </a:xfrm>
          <a:prstGeom prst="roundRect">
            <a:avLst>
              <a:gd name="adj" fmla="val 4286"/>
            </a:avLst>
          </a:prstGeom>
          <a:solidFill>
            <a:schemeClr val="bg1">
              <a:alpha val="9000"/>
            </a:schemeClr>
          </a:solidFill>
          <a:ln w="12700">
            <a:solidFill>
              <a:schemeClr val="accent2"/>
            </a:solidFill>
            <a:prstDash val="solid"/>
          </a:ln>
        </p:spPr>
      </p:sp>
      <p:sp>
        <p:nvSpPr>
          <p:cNvPr id="17" name="Flow number 3"/>
          <p:cNvSpPr/>
          <p:nvPr/>
        </p:nvSpPr>
        <p:spPr>
          <a:xfrm>
            <a:off x="6492240" y="2148840"/>
            <a:ext cx="512064" cy="512064"/>
          </a:xfrm>
          <a:prstGeom prst="ellipse">
            <a:avLst/>
          </a:prstGeom>
          <a:solidFill>
            <a:schemeClr val="accent2"/>
          </a:solidFill>
          <a:ln/>
        </p:spPr>
      </p:sp>
      <p:sp>
        <p:nvSpPr>
          <p:cNvPr id="18" name="Text 14"/>
          <p:cNvSpPr txBox="1"/>
          <p:nvPr/>
        </p:nvSpPr>
        <p:spPr>
          <a:xfrm>
            <a:off x="6492240" y="214884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Text 15"/>
          <p:cNvSpPr txBox="1"/>
          <p:nvPr/>
        </p:nvSpPr>
        <p:spPr>
          <a:xfrm>
            <a:off x="6492240" y="2834640"/>
            <a:ext cx="210312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A PERSON CONFIRMS</a:t>
            </a:r>
            <a:endParaRPr lang="en-US" sz="1200" dirty="0"/>
          </a:p>
        </p:txBody>
      </p:sp>
      <p:sp>
        <p:nvSpPr>
          <p:cNvPr id="20" name="Text 16"/>
          <p:cNvSpPr txBox="1"/>
          <p:nvPr/>
        </p:nvSpPr>
        <p:spPr>
          <a:xfrm>
            <a:off x="6492240" y="3200400"/>
            <a:ext cx="2057400" cy="1691640"/>
          </a:xfrm>
          <a:prstGeom prst="rect">
            <a:avLst/>
          </a:prstGeom>
          <a:noFill/>
          <a:ln/>
        </p:spPr>
        <p:txBody>
          <a:bodyPr wrap="square" lIns="0" tIns="0" rIns="0" bIns="0" rtlCol="0" anchor="t"/>
          <a:lstStyle/>
          <a:p>
            <a:pPr indent="0" marL="0">
              <a:spcAft>
                <a:spcPts val="600"/>
              </a:spcAft>
              <a:buNone/>
            </a:pPr>
            <a:r>
              <a:rPr lang="en-US" sz="1600" dirty="0">
                <a:solidFill>
                  <a:schemeClr val="bg1"/>
                </a:solidFill>
              </a:rPr>
              <a:t>A department admin approves, edits or rejects it. Nothing enters the record unreviewed.</a:t>
            </a:r>
            <a:endParaRPr lang="en-US" sz="1600" dirty="0"/>
          </a:p>
        </p:txBody>
      </p:sp>
      <p:pic>
        <p:nvPicPr>
          <p:cNvPr id="21" name="Flow arrow 3" descr="preencoded.png">    </p:cNvPr>
          <p:cNvPicPr>
            <a:picLocks noChangeAspect="1"/>
          </p:cNvPicPr>
          <p:nvPr/>
        </p:nvPicPr>
        <p:blipFill>
          <a:blip r:embed="rId3"/>
          <a:stretch>
            <a:fillRect/>
          </a:stretch>
        </p:blipFill>
        <p:spPr>
          <a:xfrm>
            <a:off x="8796528" y="3291840"/>
            <a:ext cx="237744" cy="237744"/>
          </a:xfrm>
          <a:prstGeom prst="rect">
            <a:avLst/>
          </a:prstGeom>
        </p:spPr>
      </p:pic>
      <p:sp>
        <p:nvSpPr>
          <p:cNvPr id="22" name="Flow card 4"/>
          <p:cNvSpPr/>
          <p:nvPr/>
        </p:nvSpPr>
        <p:spPr>
          <a:xfrm>
            <a:off x="9052560" y="1874520"/>
            <a:ext cx="2560320" cy="3154680"/>
          </a:xfrm>
          <a:prstGeom prst="roundRect">
            <a:avLst>
              <a:gd name="adj" fmla="val 4286"/>
            </a:avLst>
          </a:prstGeom>
          <a:solidFill>
            <a:schemeClr val="bg1">
              <a:alpha val="9000"/>
            </a:schemeClr>
          </a:solidFill>
          <a:ln w="12700">
            <a:solidFill>
              <a:schemeClr val="accent2"/>
            </a:solidFill>
            <a:prstDash val="solid"/>
          </a:ln>
        </p:spPr>
      </p:sp>
      <p:sp>
        <p:nvSpPr>
          <p:cNvPr id="23" name="Flow number 4"/>
          <p:cNvSpPr/>
          <p:nvPr/>
        </p:nvSpPr>
        <p:spPr>
          <a:xfrm>
            <a:off x="9326880" y="2148840"/>
            <a:ext cx="512064" cy="512064"/>
          </a:xfrm>
          <a:prstGeom prst="ellipse">
            <a:avLst/>
          </a:prstGeom>
          <a:solidFill>
            <a:schemeClr val="accent2"/>
          </a:solidFill>
          <a:ln/>
        </p:spPr>
      </p:sp>
      <p:sp>
        <p:nvSpPr>
          <p:cNvPr id="24" name="Text 19"/>
          <p:cNvSpPr txBox="1"/>
          <p:nvPr/>
        </p:nvSpPr>
        <p:spPr>
          <a:xfrm>
            <a:off x="9326880" y="2148840"/>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5" name="Text 20"/>
          <p:cNvSpPr txBox="1"/>
          <p:nvPr/>
        </p:nvSpPr>
        <p:spPr>
          <a:xfrm>
            <a:off x="9326880" y="2834640"/>
            <a:ext cx="210312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ANYONE CAN ASK</a:t>
            </a:r>
            <a:endParaRPr lang="en-US" sz="1200" dirty="0"/>
          </a:p>
        </p:txBody>
      </p:sp>
      <p:sp>
        <p:nvSpPr>
          <p:cNvPr id="26" name="Text 21"/>
          <p:cNvSpPr txBox="1"/>
          <p:nvPr/>
        </p:nvSpPr>
        <p:spPr>
          <a:xfrm>
            <a:off x="9326880" y="3200400"/>
            <a:ext cx="2057400" cy="1691640"/>
          </a:xfrm>
          <a:prstGeom prst="rect">
            <a:avLst/>
          </a:prstGeom>
          <a:noFill/>
          <a:ln/>
        </p:spPr>
        <p:txBody>
          <a:bodyPr wrap="square" lIns="0" tIns="0" rIns="0" bIns="0" rtlCol="0" anchor="t"/>
          <a:lstStyle/>
          <a:p>
            <a:pPr indent="0" marL="0">
              <a:spcAft>
                <a:spcPts val="600"/>
              </a:spcAft>
              <a:buNone/>
            </a:pPr>
            <a:r>
              <a:rPr lang="en-US" sz="1600" i="1" dirty="0">
                <a:solidFill>
                  <a:schemeClr val="bg1"/>
                </a:solidFill>
              </a:rPr>
              <a:t>“Why did we choose PostgreSQL?”</a:t>
            </a:r>
            <a:endParaRPr lang="en-US" sz="1600" dirty="0"/>
          </a:p>
          <a:p>
            <a:pPr indent="0" marL="0">
              <a:spcAft>
                <a:spcPts val="600"/>
              </a:spcAft>
              <a:buNone/>
            </a:pPr>
            <a:r>
              <a:rPr lang="en-US" sz="1300" dirty="0">
                <a:solidFill>
                  <a:schemeClr val="accent6"/>
                </a:solidFill>
              </a:rPr>
              <a:t>Answered with the reason and a link to the source.</a:t>
            </a:r>
            <a:endParaRPr lang="en-US" sz="1600" dirty="0"/>
          </a:p>
        </p:txBody>
      </p:sp>
      <p:sp>
        <p:nvSpPr>
          <p:cNvPr id="27" name="Text 22"/>
          <p:cNvSpPr txBox="1"/>
          <p:nvPr/>
        </p:nvSpPr>
        <p:spPr>
          <a:xfrm>
            <a:off x="548640" y="5349240"/>
            <a:ext cx="11064240" cy="502920"/>
          </a:xfrm>
          <a:prstGeom prst="rect">
            <a:avLst/>
          </a:prstGeom>
          <a:noFill/>
          <a:ln/>
        </p:spPr>
        <p:txBody>
          <a:bodyPr wrap="square" lIns="0" tIns="0" rIns="0" bIns="0" rtlCol="0" anchor="ctr"/>
          <a:lstStyle/>
          <a:p>
            <a:pPr indent="0" marL="0">
              <a:buNone/>
            </a:pPr>
            <a:r>
              <a:rPr lang="en-US" sz="1800" b="1" dirty="0">
                <a:solidFill>
                  <a:schemeClr val="accent2"/>
                </a:solidFill>
              </a:rPr>
              <a:t>Every decision, explicit or implied: </a:t>
            </a:r>
            <a:pPr indent="0" marL="0">
              <a:buNone/>
            </a:pPr>
            <a:r>
              <a:rPr lang="en-US" sz="1800" dirty="0">
                <a:solidFill>
                  <a:schemeClr val="bg1"/>
                </a:solidFill>
              </a:rPr>
              <a:t>recorded with its reason, its source, and whether it still holds.</a:t>
            </a:r>
            <a:endParaRPr lang="en-US" sz="18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lIns="0" tIns="0" rIns="0" bIns="0" rtlCol="0" anchor="ctr"/>
          <a:lstStyle/>
          <a:p>
            <a:pPr indent="0" marL="0">
              <a:buNone/>
            </a:pPr>
            <a:r>
              <a:rPr lang="en-US" sz="1300" b="1" spc="200" kern="0" dirty="0">
                <a:solidFill>
                  <a:schemeClr val="accent2"/>
                </a:solidFill>
              </a:rPr>
              <a:t>WHAT MAKES KMS DIFFERENT</a:t>
            </a: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lIns="0" tIns="0" rIns="0" bIns="0" rtlCol="0" anchor="t"/>
          <a:lstStyle/>
          <a:p>
            <a:pPr algn="l" indent="0" marL="0">
              <a:buNone/>
            </a:pPr>
            <a:r>
              <a:rPr lang="en-US" sz="3400" b="1" dirty="0">
                <a:solidFill>
                  <a:schemeClr val="bg1"/>
                </a:solidFill>
              </a:rPr>
              <a:t>It builds its own filing system</a:t>
            </a:r>
            <a:endParaRPr lang="en-US" sz="3400" dirty="0"/>
          </a:p>
        </p:txBody>
      </p:sp>
      <p:pic>
        <p:nvPicPr>
          <p:cNvPr id="4" name="Unsorted doc 1" descr="preencoded.png">    </p:cNvPr>
          <p:cNvPicPr>
            <a:picLocks noChangeAspect="1"/>
          </p:cNvPicPr>
          <p:nvPr/>
        </p:nvPicPr>
        <p:blipFill>
          <a:blip r:embed="rId1">
            <a:alphaModFix amt="85000"/>
          </a:blip>
          <a:stretch>
            <a:fillRect/>
          </a:stretch>
        </p:blipFill>
        <p:spPr>
          <a:xfrm rot="-840000">
            <a:off x="2556562" y="3589322"/>
            <a:ext cx="347538" cy="347538"/>
          </a:xfrm>
          <a:prstGeom prst="rect">
            <a:avLst/>
          </a:prstGeom>
        </p:spPr>
      </p:pic>
      <p:pic>
        <p:nvPicPr>
          <p:cNvPr id="5" name="Unsorted doc 2" descr="preencoded.png">    </p:cNvPr>
          <p:cNvPicPr>
            <a:picLocks noChangeAspect="1"/>
          </p:cNvPicPr>
          <p:nvPr/>
        </p:nvPicPr>
        <p:blipFill>
          <a:blip r:embed="rId2">
            <a:alphaModFix amt="90000"/>
          </a:blip>
          <a:stretch>
            <a:fillRect/>
          </a:stretch>
        </p:blipFill>
        <p:spPr>
          <a:xfrm rot="120000">
            <a:off x="4165922" y="3069102"/>
            <a:ext cx="386958" cy="386958"/>
          </a:xfrm>
          <a:prstGeom prst="rect">
            <a:avLst/>
          </a:prstGeom>
        </p:spPr>
      </p:pic>
      <p:pic>
        <p:nvPicPr>
          <p:cNvPr id="6" name="Unsorted doc 3" descr="preencoded.png">    </p:cNvPr>
          <p:cNvPicPr>
            <a:picLocks noChangeAspect="1"/>
          </p:cNvPicPr>
          <p:nvPr/>
        </p:nvPicPr>
        <p:blipFill>
          <a:blip r:embed="rId3">
            <a:alphaModFix amt="90000"/>
          </a:blip>
          <a:stretch>
            <a:fillRect/>
          </a:stretch>
        </p:blipFill>
        <p:spPr>
          <a:xfrm rot="-180000">
            <a:off x="3593959" y="3974338"/>
            <a:ext cx="369015" cy="369015"/>
          </a:xfrm>
          <a:prstGeom prst="rect">
            <a:avLst/>
          </a:prstGeom>
        </p:spPr>
      </p:pic>
      <p:pic>
        <p:nvPicPr>
          <p:cNvPr id="7" name="Unsorted doc 4" descr="preencoded.png">    </p:cNvPr>
          <p:cNvPicPr>
            <a:picLocks noChangeAspect="1"/>
          </p:cNvPicPr>
          <p:nvPr/>
        </p:nvPicPr>
        <p:blipFill>
          <a:blip r:embed="rId4">
            <a:alphaModFix amt="68000"/>
          </a:blip>
          <a:stretch>
            <a:fillRect/>
          </a:stretch>
        </p:blipFill>
        <p:spPr>
          <a:xfrm rot="-1440000">
            <a:off x="1357216" y="2628421"/>
            <a:ext cx="397243" cy="397243"/>
          </a:xfrm>
          <a:prstGeom prst="rect">
            <a:avLst/>
          </a:prstGeom>
        </p:spPr>
      </p:pic>
      <p:pic>
        <p:nvPicPr>
          <p:cNvPr id="8" name="Unsorted doc 5" descr="preencoded.png">    </p:cNvPr>
          <p:cNvPicPr>
            <a:picLocks noChangeAspect="1"/>
          </p:cNvPicPr>
          <p:nvPr/>
        </p:nvPicPr>
        <p:blipFill>
          <a:blip r:embed="rId5">
            <a:alphaModFix amt="78000"/>
          </a:blip>
          <a:stretch>
            <a:fillRect/>
          </a:stretch>
        </p:blipFill>
        <p:spPr>
          <a:xfrm rot="-1500000">
            <a:off x="3697258" y="3593042"/>
            <a:ext cx="454978" cy="454978"/>
          </a:xfrm>
          <a:prstGeom prst="rect">
            <a:avLst/>
          </a:prstGeom>
        </p:spPr>
      </p:pic>
      <p:pic>
        <p:nvPicPr>
          <p:cNvPr id="9" name="Unsorted doc 6" descr="preencoded.png">    </p:cNvPr>
          <p:cNvPicPr>
            <a:picLocks noChangeAspect="1"/>
          </p:cNvPicPr>
          <p:nvPr/>
        </p:nvPicPr>
        <p:blipFill>
          <a:blip r:embed="rId6">
            <a:alphaModFix amt="82000"/>
          </a:blip>
          <a:stretch>
            <a:fillRect/>
          </a:stretch>
        </p:blipFill>
        <p:spPr>
          <a:xfrm rot="-120000">
            <a:off x="3761704" y="2957829"/>
            <a:ext cx="373827" cy="373827"/>
          </a:xfrm>
          <a:prstGeom prst="rect">
            <a:avLst/>
          </a:prstGeom>
        </p:spPr>
      </p:pic>
      <p:pic>
        <p:nvPicPr>
          <p:cNvPr id="10" name="Unsorted doc 7" descr="preencoded.png">    </p:cNvPr>
          <p:cNvPicPr>
            <a:picLocks noChangeAspect="1"/>
          </p:cNvPicPr>
          <p:nvPr/>
        </p:nvPicPr>
        <p:blipFill>
          <a:blip r:embed="rId7">
            <a:alphaModFix amt="63000"/>
          </a:blip>
          <a:stretch>
            <a:fillRect/>
          </a:stretch>
        </p:blipFill>
        <p:spPr>
          <a:xfrm rot="1800000">
            <a:off x="729727" y="1928210"/>
            <a:ext cx="394440" cy="394440"/>
          </a:xfrm>
          <a:prstGeom prst="rect">
            <a:avLst/>
          </a:prstGeom>
        </p:spPr>
      </p:pic>
      <p:pic>
        <p:nvPicPr>
          <p:cNvPr id="11" name="Unsorted doc 8" descr="preencoded.png">    </p:cNvPr>
          <p:cNvPicPr>
            <a:picLocks noChangeAspect="1"/>
          </p:cNvPicPr>
          <p:nvPr/>
        </p:nvPicPr>
        <p:blipFill>
          <a:blip r:embed="rId8">
            <a:alphaModFix amt="86000"/>
          </a:blip>
          <a:stretch>
            <a:fillRect/>
          </a:stretch>
        </p:blipFill>
        <p:spPr>
          <a:xfrm rot="420000">
            <a:off x="2721435" y="3668173"/>
            <a:ext cx="505557" cy="505557"/>
          </a:xfrm>
          <a:prstGeom prst="rect">
            <a:avLst/>
          </a:prstGeom>
        </p:spPr>
      </p:pic>
      <p:pic>
        <p:nvPicPr>
          <p:cNvPr id="12" name="Unsorted doc 9" descr="preencoded.png">    </p:cNvPr>
          <p:cNvPicPr>
            <a:picLocks noChangeAspect="1"/>
          </p:cNvPicPr>
          <p:nvPr/>
        </p:nvPicPr>
        <p:blipFill>
          <a:blip r:embed="rId9">
            <a:alphaModFix amt="85000"/>
          </a:blip>
          <a:stretch>
            <a:fillRect/>
          </a:stretch>
        </p:blipFill>
        <p:spPr>
          <a:xfrm rot="480000">
            <a:off x="1638364" y="2694672"/>
            <a:ext cx="423037" cy="423037"/>
          </a:xfrm>
          <a:prstGeom prst="rect">
            <a:avLst/>
          </a:prstGeom>
        </p:spPr>
      </p:pic>
      <p:pic>
        <p:nvPicPr>
          <p:cNvPr id="13" name="Unsorted doc 10" descr="preencoded.png">    </p:cNvPr>
          <p:cNvPicPr>
            <a:picLocks noChangeAspect="1"/>
          </p:cNvPicPr>
          <p:nvPr/>
        </p:nvPicPr>
        <p:blipFill>
          <a:blip r:embed="rId10">
            <a:alphaModFix amt="87000"/>
          </a:blip>
          <a:stretch>
            <a:fillRect/>
          </a:stretch>
        </p:blipFill>
        <p:spPr>
          <a:xfrm rot="-180000">
            <a:off x="2571080" y="2242231"/>
            <a:ext cx="358095" cy="358095"/>
          </a:xfrm>
          <a:prstGeom prst="rect">
            <a:avLst/>
          </a:prstGeom>
        </p:spPr>
      </p:pic>
      <p:pic>
        <p:nvPicPr>
          <p:cNvPr id="14" name="Unsorted doc 11" descr="preencoded.png">    </p:cNvPr>
          <p:cNvPicPr>
            <a:picLocks noChangeAspect="1"/>
          </p:cNvPicPr>
          <p:nvPr/>
        </p:nvPicPr>
        <p:blipFill>
          <a:blip r:embed="rId11">
            <a:alphaModFix amt="96000"/>
          </a:blip>
          <a:stretch>
            <a:fillRect/>
          </a:stretch>
        </p:blipFill>
        <p:spPr>
          <a:xfrm rot="180000">
            <a:off x="916652" y="4174823"/>
            <a:ext cx="386253" cy="386253"/>
          </a:xfrm>
          <a:prstGeom prst="rect">
            <a:avLst/>
          </a:prstGeom>
        </p:spPr>
      </p:pic>
      <p:pic>
        <p:nvPicPr>
          <p:cNvPr id="15" name="Unsorted doc 12" descr="preencoded.png">    </p:cNvPr>
          <p:cNvPicPr>
            <a:picLocks noChangeAspect="1"/>
          </p:cNvPicPr>
          <p:nvPr/>
        </p:nvPicPr>
        <p:blipFill>
          <a:blip r:embed="rId12">
            <a:alphaModFix amt="78000"/>
          </a:blip>
          <a:stretch>
            <a:fillRect/>
          </a:stretch>
        </p:blipFill>
        <p:spPr>
          <a:xfrm rot="-1140000">
            <a:off x="2232551" y="3510371"/>
            <a:ext cx="547293" cy="547293"/>
          </a:xfrm>
          <a:prstGeom prst="rect">
            <a:avLst/>
          </a:prstGeom>
        </p:spPr>
      </p:pic>
      <p:pic>
        <p:nvPicPr>
          <p:cNvPr id="16" name="Unsorted doc 13" descr="preencoded.png">    </p:cNvPr>
          <p:cNvPicPr>
            <a:picLocks noChangeAspect="1"/>
          </p:cNvPicPr>
          <p:nvPr/>
        </p:nvPicPr>
        <p:blipFill>
          <a:blip r:embed="rId13">
            <a:alphaModFix amt="82000"/>
          </a:blip>
          <a:stretch>
            <a:fillRect/>
          </a:stretch>
        </p:blipFill>
        <p:spPr>
          <a:xfrm rot="-360000">
            <a:off x="1363233" y="3470028"/>
            <a:ext cx="547721" cy="547721"/>
          </a:xfrm>
          <a:prstGeom prst="rect">
            <a:avLst/>
          </a:prstGeom>
        </p:spPr>
      </p:pic>
      <p:pic>
        <p:nvPicPr>
          <p:cNvPr id="17" name="Unsorted doc 14" descr="preencoded.png">    </p:cNvPr>
          <p:cNvPicPr>
            <a:picLocks noChangeAspect="1"/>
          </p:cNvPicPr>
          <p:nvPr/>
        </p:nvPicPr>
        <p:blipFill>
          <a:blip r:embed="rId14">
            <a:alphaModFix amt="96000"/>
          </a:blip>
          <a:stretch>
            <a:fillRect/>
          </a:stretch>
        </p:blipFill>
        <p:spPr>
          <a:xfrm rot="1080000">
            <a:off x="1320824" y="3765036"/>
            <a:ext cx="497749" cy="497749"/>
          </a:xfrm>
          <a:prstGeom prst="rect">
            <a:avLst/>
          </a:prstGeom>
        </p:spPr>
      </p:pic>
      <p:pic>
        <p:nvPicPr>
          <p:cNvPr id="18" name="Unsorted doc 15" descr="preencoded.png">    </p:cNvPr>
          <p:cNvPicPr>
            <a:picLocks noChangeAspect="1"/>
          </p:cNvPicPr>
          <p:nvPr/>
        </p:nvPicPr>
        <p:blipFill>
          <a:blip r:embed="rId15">
            <a:alphaModFix amt="90000"/>
          </a:blip>
          <a:stretch>
            <a:fillRect/>
          </a:stretch>
        </p:blipFill>
        <p:spPr>
          <a:xfrm rot="-420000">
            <a:off x="1163559" y="3360841"/>
            <a:ext cx="353446" cy="353446"/>
          </a:xfrm>
          <a:prstGeom prst="rect">
            <a:avLst/>
          </a:prstGeom>
        </p:spPr>
      </p:pic>
      <p:pic>
        <p:nvPicPr>
          <p:cNvPr id="19" name="Unsorted doc 16" descr="preencoded.png">    </p:cNvPr>
          <p:cNvPicPr>
            <a:picLocks noChangeAspect="1"/>
          </p:cNvPicPr>
          <p:nvPr/>
        </p:nvPicPr>
        <p:blipFill>
          <a:blip r:embed="rId16">
            <a:alphaModFix amt="86000"/>
          </a:blip>
          <a:stretch>
            <a:fillRect/>
          </a:stretch>
        </p:blipFill>
        <p:spPr>
          <a:xfrm rot="1740000">
            <a:off x="2544333" y="2115917"/>
            <a:ext cx="449409" cy="449409"/>
          </a:xfrm>
          <a:prstGeom prst="rect">
            <a:avLst/>
          </a:prstGeom>
        </p:spPr>
      </p:pic>
      <p:pic>
        <p:nvPicPr>
          <p:cNvPr id="20" name="Unsorted doc 17" descr="preencoded.png">    </p:cNvPr>
          <p:cNvPicPr>
            <a:picLocks noChangeAspect="1"/>
          </p:cNvPicPr>
          <p:nvPr/>
        </p:nvPicPr>
        <p:blipFill>
          <a:blip r:embed="rId17">
            <a:alphaModFix amt="81000"/>
          </a:blip>
          <a:stretch>
            <a:fillRect/>
          </a:stretch>
        </p:blipFill>
        <p:spPr>
          <a:xfrm rot="1500000">
            <a:off x="1632065" y="3428480"/>
            <a:ext cx="502035" cy="502035"/>
          </a:xfrm>
          <a:prstGeom prst="rect">
            <a:avLst/>
          </a:prstGeom>
        </p:spPr>
      </p:pic>
      <p:pic>
        <p:nvPicPr>
          <p:cNvPr id="21" name="Unsorted doc 18" descr="preencoded.png">    </p:cNvPr>
          <p:cNvPicPr>
            <a:picLocks noChangeAspect="1"/>
          </p:cNvPicPr>
          <p:nvPr/>
        </p:nvPicPr>
        <p:blipFill>
          <a:blip r:embed="rId18">
            <a:alphaModFix amt="87000"/>
          </a:blip>
          <a:stretch>
            <a:fillRect/>
          </a:stretch>
        </p:blipFill>
        <p:spPr>
          <a:xfrm rot="1740000">
            <a:off x="3971765" y="2964142"/>
            <a:ext cx="436152" cy="436152"/>
          </a:xfrm>
          <a:prstGeom prst="rect">
            <a:avLst/>
          </a:prstGeom>
        </p:spPr>
      </p:pic>
      <p:pic>
        <p:nvPicPr>
          <p:cNvPr id="22" name="Unsorted doc 19" descr="preencoded.png">    </p:cNvPr>
          <p:cNvPicPr>
            <a:picLocks noChangeAspect="1"/>
          </p:cNvPicPr>
          <p:nvPr/>
        </p:nvPicPr>
        <p:blipFill>
          <a:blip r:embed="rId19">
            <a:alphaModFix amt="67000"/>
          </a:blip>
          <a:stretch>
            <a:fillRect/>
          </a:stretch>
        </p:blipFill>
        <p:spPr>
          <a:xfrm rot="180000">
            <a:off x="3772372" y="3606150"/>
            <a:ext cx="507237" cy="507237"/>
          </a:xfrm>
          <a:prstGeom prst="rect">
            <a:avLst/>
          </a:prstGeom>
        </p:spPr>
      </p:pic>
      <p:pic>
        <p:nvPicPr>
          <p:cNvPr id="23" name="Unsorted doc 20" descr="preencoded.png">    </p:cNvPr>
          <p:cNvPicPr>
            <a:picLocks noChangeAspect="1"/>
          </p:cNvPicPr>
          <p:nvPr/>
        </p:nvPicPr>
        <p:blipFill>
          <a:blip r:embed="rId20">
            <a:alphaModFix amt="82000"/>
          </a:blip>
          <a:stretch>
            <a:fillRect/>
          </a:stretch>
        </p:blipFill>
        <p:spPr>
          <a:xfrm rot="-660000">
            <a:off x="1782010" y="2675342"/>
            <a:ext cx="454338" cy="454338"/>
          </a:xfrm>
          <a:prstGeom prst="rect">
            <a:avLst/>
          </a:prstGeom>
        </p:spPr>
      </p:pic>
      <p:pic>
        <p:nvPicPr>
          <p:cNvPr id="24" name="Unsorted doc 21" descr="preencoded.png">    </p:cNvPr>
          <p:cNvPicPr>
            <a:picLocks noChangeAspect="1"/>
          </p:cNvPicPr>
          <p:nvPr/>
        </p:nvPicPr>
        <p:blipFill>
          <a:blip r:embed="rId21">
            <a:alphaModFix amt="82000"/>
          </a:blip>
          <a:stretch>
            <a:fillRect/>
          </a:stretch>
        </p:blipFill>
        <p:spPr>
          <a:xfrm rot="-60000">
            <a:off x="3012825" y="2021231"/>
            <a:ext cx="461487" cy="461487"/>
          </a:xfrm>
          <a:prstGeom prst="rect">
            <a:avLst/>
          </a:prstGeom>
        </p:spPr>
      </p:pic>
      <p:pic>
        <p:nvPicPr>
          <p:cNvPr id="25" name="Unsorted doc 22" descr="preencoded.png">    </p:cNvPr>
          <p:cNvPicPr>
            <a:picLocks noChangeAspect="1"/>
          </p:cNvPicPr>
          <p:nvPr/>
        </p:nvPicPr>
        <p:blipFill>
          <a:blip r:embed="rId22">
            <a:alphaModFix amt="63000"/>
          </a:blip>
          <a:stretch>
            <a:fillRect/>
          </a:stretch>
        </p:blipFill>
        <p:spPr>
          <a:xfrm rot="-180000">
            <a:off x="3185823" y="2779828"/>
            <a:ext cx="349384" cy="349384"/>
          </a:xfrm>
          <a:prstGeom prst="rect">
            <a:avLst/>
          </a:prstGeom>
        </p:spPr>
      </p:pic>
      <p:pic>
        <p:nvPicPr>
          <p:cNvPr id="26" name="Unsorted doc 23" descr="preencoded.png">    </p:cNvPr>
          <p:cNvPicPr>
            <a:picLocks noChangeAspect="1"/>
          </p:cNvPicPr>
          <p:nvPr/>
        </p:nvPicPr>
        <p:blipFill>
          <a:blip r:embed="rId23">
            <a:alphaModFix amt="90000"/>
          </a:blip>
          <a:stretch>
            <a:fillRect/>
          </a:stretch>
        </p:blipFill>
        <p:spPr>
          <a:xfrm rot="-300000">
            <a:off x="2213155" y="2556599"/>
            <a:ext cx="372649" cy="372649"/>
          </a:xfrm>
          <a:prstGeom prst="rect">
            <a:avLst/>
          </a:prstGeom>
        </p:spPr>
      </p:pic>
      <p:pic>
        <p:nvPicPr>
          <p:cNvPr id="27" name="Unsorted doc 24" descr="preencoded.png">    </p:cNvPr>
          <p:cNvPicPr>
            <a:picLocks noChangeAspect="1"/>
          </p:cNvPicPr>
          <p:nvPr/>
        </p:nvPicPr>
        <p:blipFill>
          <a:blip r:embed="rId24">
            <a:alphaModFix amt="81000"/>
          </a:blip>
          <a:stretch>
            <a:fillRect/>
          </a:stretch>
        </p:blipFill>
        <p:spPr>
          <a:xfrm rot="-1740000">
            <a:off x="3218615" y="4055992"/>
            <a:ext cx="421032" cy="421032"/>
          </a:xfrm>
          <a:prstGeom prst="rect">
            <a:avLst/>
          </a:prstGeom>
        </p:spPr>
      </p:pic>
      <p:pic>
        <p:nvPicPr>
          <p:cNvPr id="28" name="Unsorted doc 25" descr="preencoded.png">    </p:cNvPr>
          <p:cNvPicPr>
            <a:picLocks noChangeAspect="1"/>
          </p:cNvPicPr>
          <p:nvPr/>
        </p:nvPicPr>
        <p:blipFill>
          <a:blip r:embed="rId25">
            <a:alphaModFix amt="95000"/>
          </a:blip>
          <a:stretch>
            <a:fillRect/>
          </a:stretch>
        </p:blipFill>
        <p:spPr>
          <a:xfrm rot="-360000">
            <a:off x="2585501" y="2168278"/>
            <a:ext cx="512750" cy="512750"/>
          </a:xfrm>
          <a:prstGeom prst="rect">
            <a:avLst/>
          </a:prstGeom>
        </p:spPr>
      </p:pic>
      <p:pic>
        <p:nvPicPr>
          <p:cNvPr id="29" name="Unsorted doc 26" descr="preencoded.png">    </p:cNvPr>
          <p:cNvPicPr>
            <a:picLocks noChangeAspect="1"/>
          </p:cNvPicPr>
          <p:nvPr/>
        </p:nvPicPr>
        <p:blipFill>
          <a:blip r:embed="rId26">
            <a:alphaModFix amt="87000"/>
          </a:blip>
          <a:stretch>
            <a:fillRect/>
          </a:stretch>
        </p:blipFill>
        <p:spPr>
          <a:xfrm rot="360000">
            <a:off x="2082617" y="2052323"/>
            <a:ext cx="510905" cy="510905"/>
          </a:xfrm>
          <a:prstGeom prst="rect">
            <a:avLst/>
          </a:prstGeom>
        </p:spPr>
      </p:pic>
      <p:sp>
        <p:nvSpPr>
          <p:cNvPr id="30" name="Text 2"/>
          <p:cNvSpPr txBox="1"/>
          <p:nvPr/>
        </p:nvSpPr>
        <p:spPr>
          <a:xfrm>
            <a:off x="548640" y="4754880"/>
            <a:ext cx="4206240" cy="320040"/>
          </a:xfrm>
          <a:prstGeom prst="rect">
            <a:avLst/>
          </a:prstGeom>
          <a:noFill/>
          <a:ln/>
        </p:spPr>
        <p:txBody>
          <a:bodyPr wrap="square" lIns="0" tIns="0" rIns="0" bIns="0" rtlCol="0" anchor="t"/>
          <a:lstStyle/>
          <a:p>
            <a:pPr algn="ctr" indent="0" marL="0">
              <a:buNone/>
            </a:pPr>
            <a:r>
              <a:rPr lang="en-US" sz="1400" i="1" dirty="0">
                <a:solidFill>
                  <a:schemeClr val="accent6"/>
                </a:solidFill>
              </a:rPr>
              <a:t>Thousands of unsorted documents</a:t>
            </a:r>
            <a:endParaRPr lang="en-US" sz="1400" dirty="0"/>
          </a:p>
        </p:txBody>
      </p:sp>
      <p:pic>
        <p:nvPicPr>
          <p:cNvPr id="31" name="Transform arrow" descr="preencoded.png">    </p:cNvPr>
          <p:cNvPicPr>
            <a:picLocks noChangeAspect="1"/>
          </p:cNvPicPr>
          <p:nvPr/>
        </p:nvPicPr>
        <p:blipFill>
          <a:blip r:embed="rId27"/>
          <a:stretch>
            <a:fillRect/>
          </a:stretch>
        </p:blipFill>
        <p:spPr>
          <a:xfrm>
            <a:off x="5074920" y="2880360"/>
            <a:ext cx="868680" cy="868680"/>
          </a:xfrm>
          <a:prstGeom prst="rect">
            <a:avLst/>
          </a:prstGeom>
        </p:spPr>
      </p:pic>
      <p:sp>
        <p:nvSpPr>
          <p:cNvPr id="32" name="Text 3"/>
          <p:cNvSpPr txBox="1"/>
          <p:nvPr/>
        </p:nvSpPr>
        <p:spPr>
          <a:xfrm>
            <a:off x="4526280" y="3794760"/>
            <a:ext cx="1965960" cy="548640"/>
          </a:xfrm>
          <a:prstGeom prst="rect">
            <a:avLst/>
          </a:prstGeom>
          <a:noFill/>
          <a:ln/>
        </p:spPr>
        <p:txBody>
          <a:bodyPr wrap="square" lIns="0" tIns="0" rIns="0" bIns="0" rtlCol="0" anchor="t"/>
          <a:lstStyle/>
          <a:p>
            <a:pPr algn="ctr" indent="0" marL="0">
              <a:buNone/>
            </a:pPr>
            <a:r>
              <a:rPr lang="en-US" sz="1300" b="1" dirty="0">
                <a:solidFill>
                  <a:schemeClr val="accent2"/>
                </a:solidFill>
              </a:rPr>
              <a:t>Automatic topic discovery</a:t>
            </a:r>
            <a:endParaRPr lang="en-US" sz="1300" dirty="0"/>
          </a:p>
        </p:txBody>
      </p:sp>
      <p:sp>
        <p:nvSpPr>
          <p:cNvPr id="33" name="Topic 1"/>
          <p:cNvSpPr/>
          <p:nvPr/>
        </p:nvSpPr>
        <p:spPr>
          <a:xfrm>
            <a:off x="6629400" y="1783080"/>
            <a:ext cx="1828800" cy="1828800"/>
          </a:xfrm>
          <a:prstGeom prst="ellipse">
            <a:avLst/>
          </a:prstGeom>
          <a:solidFill>
            <a:schemeClr val="accent1"/>
          </a:solidFill>
          <a:ln w="12700">
            <a:solidFill>
              <a:schemeClr val="accent2"/>
            </a:solidFill>
            <a:prstDash val="solid"/>
          </a:ln>
        </p:spPr>
      </p:sp>
      <p:sp>
        <p:nvSpPr>
          <p:cNvPr id="34" name="Text 5"/>
          <p:cNvSpPr txBox="1"/>
          <p:nvPr/>
        </p:nvSpPr>
        <p:spPr>
          <a:xfrm>
            <a:off x="6739128" y="1783080"/>
            <a:ext cx="1609344" cy="1828800"/>
          </a:xfrm>
          <a:prstGeom prst="rect">
            <a:avLst/>
          </a:prstGeom>
          <a:noFill/>
          <a:ln/>
        </p:spPr>
        <p:txBody>
          <a:bodyPr wrap="square" lIns="0" tIns="0" rIns="0" bIns="0" rtlCol="0" anchor="ctr"/>
          <a:lstStyle/>
          <a:p>
            <a:pPr algn="ctr" indent="0" marL="0">
              <a:buNone/>
            </a:pPr>
            <a:r>
              <a:rPr lang="en-US" sz="1500" b="1" dirty="0">
                <a:solidFill>
                  <a:schemeClr val="bg1"/>
                </a:solidFill>
              </a:rPr>
              <a:t>Vendor onboarding</a:t>
            </a:r>
            <a:endParaRPr lang="en-US" sz="1500" dirty="0"/>
          </a:p>
        </p:txBody>
      </p:sp>
      <p:sp>
        <p:nvSpPr>
          <p:cNvPr id="35" name="Topic 2"/>
          <p:cNvSpPr/>
          <p:nvPr/>
        </p:nvSpPr>
        <p:spPr>
          <a:xfrm>
            <a:off x="8732520" y="1874520"/>
            <a:ext cx="1600200" cy="1600200"/>
          </a:xfrm>
          <a:prstGeom prst="ellipse">
            <a:avLst/>
          </a:prstGeom>
          <a:solidFill>
            <a:schemeClr val="accent2">
              <a:alpha val="90000"/>
            </a:schemeClr>
          </a:solidFill>
          <a:ln w="12700">
            <a:solidFill>
              <a:schemeClr val="accent2"/>
            </a:solidFill>
            <a:prstDash val="solid"/>
          </a:ln>
        </p:spPr>
      </p:sp>
      <p:sp>
        <p:nvSpPr>
          <p:cNvPr id="36" name="Text 7"/>
          <p:cNvSpPr txBox="1"/>
          <p:nvPr/>
        </p:nvSpPr>
        <p:spPr>
          <a:xfrm>
            <a:off x="8842248" y="1874520"/>
            <a:ext cx="1380744" cy="1600200"/>
          </a:xfrm>
          <a:prstGeom prst="rect">
            <a:avLst/>
          </a:prstGeom>
          <a:noFill/>
          <a:ln/>
        </p:spPr>
        <p:txBody>
          <a:bodyPr wrap="square" lIns="0" tIns="0" rIns="0" bIns="0" rtlCol="0" anchor="ctr"/>
          <a:lstStyle/>
          <a:p>
            <a:pPr algn="ctr" indent="0" marL="0">
              <a:buNone/>
            </a:pPr>
            <a:r>
              <a:rPr lang="en-US" sz="1500" b="1" dirty="0">
                <a:solidFill>
                  <a:schemeClr val="bg1"/>
                </a:solidFill>
              </a:rPr>
              <a:t>Safety procedures</a:t>
            </a:r>
            <a:endParaRPr lang="en-US" sz="1500" dirty="0"/>
          </a:p>
        </p:txBody>
      </p:sp>
      <p:sp>
        <p:nvSpPr>
          <p:cNvPr id="37" name="Topic 3"/>
          <p:cNvSpPr/>
          <p:nvPr/>
        </p:nvSpPr>
        <p:spPr>
          <a:xfrm>
            <a:off x="10469880" y="2286000"/>
            <a:ext cx="1143000" cy="1143000"/>
          </a:xfrm>
          <a:prstGeom prst="ellipse">
            <a:avLst/>
          </a:prstGeom>
          <a:solidFill>
            <a:schemeClr val="accent1">
              <a:alpha val="65000"/>
            </a:schemeClr>
          </a:solidFill>
          <a:ln w="12700">
            <a:solidFill>
              <a:schemeClr val="accent2"/>
            </a:solidFill>
            <a:prstDash val="solid"/>
          </a:ln>
        </p:spPr>
      </p:sp>
      <p:sp>
        <p:nvSpPr>
          <p:cNvPr id="38" name="Text 9"/>
          <p:cNvSpPr txBox="1"/>
          <p:nvPr/>
        </p:nvSpPr>
        <p:spPr>
          <a:xfrm>
            <a:off x="10579608" y="2286000"/>
            <a:ext cx="923544" cy="1143000"/>
          </a:xfrm>
          <a:prstGeom prst="rect">
            <a:avLst/>
          </a:prstGeom>
          <a:noFill/>
          <a:ln/>
        </p:spPr>
        <p:txBody>
          <a:bodyPr wrap="square" lIns="0" tIns="0" rIns="0" bIns="0" rtlCol="0" anchor="ctr"/>
          <a:lstStyle/>
          <a:p>
            <a:pPr algn="ctr" indent="0" marL="0">
              <a:buNone/>
            </a:pPr>
            <a:r>
              <a:rPr lang="en-US" sz="1300" b="1" dirty="0">
                <a:solidFill>
                  <a:schemeClr val="bg1"/>
                </a:solidFill>
              </a:rPr>
              <a:t>Budget planning</a:t>
            </a:r>
            <a:endParaRPr lang="en-US" sz="1300" dirty="0"/>
          </a:p>
        </p:txBody>
      </p:sp>
      <p:sp>
        <p:nvSpPr>
          <p:cNvPr id="39" name="Topic 4"/>
          <p:cNvSpPr/>
          <p:nvPr/>
        </p:nvSpPr>
        <p:spPr>
          <a:xfrm>
            <a:off x="7315200" y="3749040"/>
            <a:ext cx="1371600" cy="1371600"/>
          </a:xfrm>
          <a:prstGeom prst="ellipse">
            <a:avLst/>
          </a:prstGeom>
          <a:solidFill>
            <a:schemeClr val="accent2">
              <a:alpha val="70000"/>
            </a:schemeClr>
          </a:solidFill>
          <a:ln w="12700">
            <a:solidFill>
              <a:schemeClr val="accent2"/>
            </a:solidFill>
            <a:prstDash val="solid"/>
          </a:ln>
        </p:spPr>
      </p:sp>
      <p:sp>
        <p:nvSpPr>
          <p:cNvPr id="40" name="Text 11"/>
          <p:cNvSpPr txBox="1"/>
          <p:nvPr/>
        </p:nvSpPr>
        <p:spPr>
          <a:xfrm>
            <a:off x="7424928" y="3749040"/>
            <a:ext cx="1152144" cy="1371600"/>
          </a:xfrm>
          <a:prstGeom prst="rect">
            <a:avLst/>
          </a:prstGeom>
          <a:noFill/>
          <a:ln/>
        </p:spPr>
        <p:txBody>
          <a:bodyPr wrap="square" lIns="0" tIns="0" rIns="0" bIns="0" rtlCol="0" anchor="ctr"/>
          <a:lstStyle/>
          <a:p>
            <a:pPr algn="ctr" indent="0" marL="0">
              <a:buNone/>
            </a:pPr>
            <a:r>
              <a:rPr lang="en-US" sz="1300" b="1" dirty="0">
                <a:solidFill>
                  <a:schemeClr val="bg1"/>
                </a:solidFill>
              </a:rPr>
              <a:t>Cloud migration</a:t>
            </a:r>
            <a:endParaRPr lang="en-US" sz="1300" dirty="0"/>
          </a:p>
        </p:txBody>
      </p:sp>
      <p:sp>
        <p:nvSpPr>
          <p:cNvPr id="41" name="Topic 5"/>
          <p:cNvSpPr/>
          <p:nvPr/>
        </p:nvSpPr>
        <p:spPr>
          <a:xfrm>
            <a:off x="9006840" y="3657600"/>
            <a:ext cx="1280160" cy="1280160"/>
          </a:xfrm>
          <a:prstGeom prst="ellipse">
            <a:avLst/>
          </a:prstGeom>
          <a:solidFill>
            <a:schemeClr val="accent1">
              <a:alpha val="85000"/>
            </a:schemeClr>
          </a:solidFill>
          <a:ln w="12700">
            <a:solidFill>
              <a:schemeClr val="accent2"/>
            </a:solidFill>
            <a:prstDash val="solid"/>
          </a:ln>
        </p:spPr>
      </p:sp>
      <p:sp>
        <p:nvSpPr>
          <p:cNvPr id="42" name="Text 13"/>
          <p:cNvSpPr txBox="1"/>
          <p:nvPr/>
        </p:nvSpPr>
        <p:spPr>
          <a:xfrm>
            <a:off x="9116568" y="3657600"/>
            <a:ext cx="1060704" cy="1280160"/>
          </a:xfrm>
          <a:prstGeom prst="rect">
            <a:avLst/>
          </a:prstGeom>
          <a:noFill/>
          <a:ln/>
        </p:spPr>
        <p:txBody>
          <a:bodyPr wrap="square" lIns="0" tIns="0" rIns="0" bIns="0" rtlCol="0" anchor="ctr"/>
          <a:lstStyle/>
          <a:p>
            <a:pPr algn="ctr" indent="0" marL="0">
              <a:buNone/>
            </a:pPr>
            <a:r>
              <a:rPr lang="en-US" sz="1300" b="1" dirty="0">
                <a:solidFill>
                  <a:schemeClr val="bg1"/>
                </a:solidFill>
              </a:rPr>
              <a:t>HR policies</a:t>
            </a:r>
            <a:endParaRPr lang="en-US" sz="1300" dirty="0"/>
          </a:p>
        </p:txBody>
      </p:sp>
      <p:pic>
        <p:nvPicPr>
          <p:cNvPr id="43" name="Benefit check 1" descr="preencoded.png">    </p:cNvPr>
          <p:cNvPicPr>
            <a:picLocks noChangeAspect="1"/>
          </p:cNvPicPr>
          <p:nvPr/>
        </p:nvPicPr>
        <p:blipFill>
          <a:blip r:embed="rId28"/>
          <a:stretch>
            <a:fillRect/>
          </a:stretch>
        </p:blipFill>
        <p:spPr>
          <a:xfrm>
            <a:off x="548640" y="5486400"/>
            <a:ext cx="292608" cy="292608"/>
          </a:xfrm>
          <a:prstGeom prst="rect">
            <a:avLst/>
          </a:prstGeom>
        </p:spPr>
      </p:pic>
      <p:sp>
        <p:nvSpPr>
          <p:cNvPr id="44" name="Text 14"/>
          <p:cNvSpPr txBox="1"/>
          <p:nvPr/>
        </p:nvSpPr>
        <p:spPr>
          <a:xfrm>
            <a:off x="932688" y="5458968"/>
            <a:ext cx="2377440" cy="347472"/>
          </a:xfrm>
          <a:prstGeom prst="rect">
            <a:avLst/>
          </a:prstGeom>
          <a:noFill/>
          <a:ln/>
        </p:spPr>
        <p:txBody>
          <a:bodyPr wrap="square" lIns="0" tIns="0" rIns="0" bIns="0" rtlCol="0" anchor="ctr"/>
          <a:lstStyle/>
          <a:p>
            <a:pPr indent="0" marL="0">
              <a:buNone/>
            </a:pPr>
            <a:r>
              <a:rPr lang="en-US" sz="1500" dirty="0">
                <a:solidFill>
                  <a:schemeClr val="bg1"/>
                </a:solidFill>
              </a:rPr>
              <a:t>No taxonomy project</a:t>
            </a:r>
            <a:endParaRPr lang="en-US" sz="1500" dirty="0"/>
          </a:p>
        </p:txBody>
      </p:sp>
      <p:pic>
        <p:nvPicPr>
          <p:cNvPr id="45" name="Benefit check 2" descr="preencoded.png">    </p:cNvPr>
          <p:cNvPicPr>
            <a:picLocks noChangeAspect="1"/>
          </p:cNvPicPr>
          <p:nvPr/>
        </p:nvPicPr>
        <p:blipFill>
          <a:blip r:embed="rId29"/>
          <a:stretch>
            <a:fillRect/>
          </a:stretch>
        </p:blipFill>
        <p:spPr>
          <a:xfrm>
            <a:off x="3364992" y="5486400"/>
            <a:ext cx="292608" cy="292608"/>
          </a:xfrm>
          <a:prstGeom prst="rect">
            <a:avLst/>
          </a:prstGeom>
        </p:spPr>
      </p:pic>
      <p:sp>
        <p:nvSpPr>
          <p:cNvPr id="46" name="Text 15"/>
          <p:cNvSpPr txBox="1"/>
          <p:nvPr/>
        </p:nvSpPr>
        <p:spPr>
          <a:xfrm>
            <a:off x="3749040" y="5458968"/>
            <a:ext cx="2377440" cy="347472"/>
          </a:xfrm>
          <a:prstGeom prst="rect">
            <a:avLst/>
          </a:prstGeom>
          <a:noFill/>
          <a:ln/>
        </p:spPr>
        <p:txBody>
          <a:bodyPr wrap="square" lIns="0" tIns="0" rIns="0" bIns="0" rtlCol="0" anchor="ctr"/>
          <a:lstStyle/>
          <a:p>
            <a:pPr indent="0" marL="0">
              <a:buNone/>
            </a:pPr>
            <a:r>
              <a:rPr lang="en-US" sz="1500" dirty="0">
                <a:solidFill>
                  <a:schemeClr val="bg1"/>
                </a:solidFill>
              </a:rPr>
              <a:t>No manual tagging</a:t>
            </a:r>
            <a:endParaRPr lang="en-US" sz="1500" dirty="0"/>
          </a:p>
        </p:txBody>
      </p:sp>
      <p:pic>
        <p:nvPicPr>
          <p:cNvPr id="47" name="Benefit check 3" descr="preencoded.png">    </p:cNvPr>
          <p:cNvPicPr>
            <a:picLocks noChangeAspect="1"/>
          </p:cNvPicPr>
          <p:nvPr/>
        </p:nvPicPr>
        <p:blipFill>
          <a:blip r:embed="rId30"/>
          <a:stretch>
            <a:fillRect/>
          </a:stretch>
        </p:blipFill>
        <p:spPr>
          <a:xfrm>
            <a:off x="6181344" y="5486400"/>
            <a:ext cx="292608" cy="292608"/>
          </a:xfrm>
          <a:prstGeom prst="rect">
            <a:avLst/>
          </a:prstGeom>
        </p:spPr>
      </p:pic>
      <p:sp>
        <p:nvSpPr>
          <p:cNvPr id="48" name="Text 16"/>
          <p:cNvSpPr txBox="1"/>
          <p:nvPr/>
        </p:nvSpPr>
        <p:spPr>
          <a:xfrm>
            <a:off x="6565392" y="5458968"/>
            <a:ext cx="2377440" cy="347472"/>
          </a:xfrm>
          <a:prstGeom prst="rect">
            <a:avLst/>
          </a:prstGeom>
          <a:noFill/>
          <a:ln/>
        </p:spPr>
        <p:txBody>
          <a:bodyPr wrap="square" lIns="0" tIns="0" rIns="0" bIns="0" rtlCol="0" anchor="ctr"/>
          <a:lstStyle/>
          <a:p>
            <a:pPr indent="0" marL="0">
              <a:buNone/>
            </a:pPr>
            <a:r>
              <a:rPr lang="en-US" sz="1500" dirty="0">
                <a:solidFill>
                  <a:schemeClr val="bg1"/>
                </a:solidFill>
              </a:rPr>
              <a:t>Stays current as documents arrive</a:t>
            </a:r>
            <a:endParaRPr lang="en-US" sz="1500" dirty="0"/>
          </a:p>
        </p:txBody>
      </p:sp>
      <p:pic>
        <p:nvPicPr>
          <p:cNvPr id="49" name="Benefit check 4" descr="preencoded.png">    </p:cNvPr>
          <p:cNvPicPr>
            <a:picLocks noChangeAspect="1"/>
          </p:cNvPicPr>
          <p:nvPr/>
        </p:nvPicPr>
        <p:blipFill>
          <a:blip r:embed="rId31"/>
          <a:stretch>
            <a:fillRect/>
          </a:stretch>
        </p:blipFill>
        <p:spPr>
          <a:xfrm>
            <a:off x="8997696" y="5486400"/>
            <a:ext cx="292608" cy="292608"/>
          </a:xfrm>
          <a:prstGeom prst="rect">
            <a:avLst/>
          </a:prstGeom>
        </p:spPr>
      </p:pic>
      <p:sp>
        <p:nvSpPr>
          <p:cNvPr id="50" name="Text 17"/>
          <p:cNvSpPr txBox="1"/>
          <p:nvPr/>
        </p:nvSpPr>
        <p:spPr>
          <a:xfrm>
            <a:off x="9381744" y="5458968"/>
            <a:ext cx="2377440" cy="347472"/>
          </a:xfrm>
          <a:prstGeom prst="rect">
            <a:avLst/>
          </a:prstGeom>
          <a:noFill/>
          <a:ln/>
        </p:spPr>
        <p:txBody>
          <a:bodyPr wrap="square" lIns="0" tIns="0" rIns="0" bIns="0" rtlCol="0" anchor="ctr"/>
          <a:lstStyle/>
          <a:p>
            <a:pPr indent="0" marL="0">
              <a:buNone/>
            </a:pPr>
            <a:r>
              <a:rPr lang="en-US" sz="1500" dirty="0">
                <a:solidFill>
                  <a:schemeClr val="bg1"/>
                </a:solidFill>
              </a:rPr>
              <a:t>Duplicates and conflicts flagged</a:t>
            </a:r>
            <a:endParaRPr lang="en-US" sz="15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BUILT FOR TRUST</a:t>
            </a: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lIns="0" tIns="0" rIns="0" bIns="0" rtlCol="0" anchor="t"/>
          <a:lstStyle/>
          <a:p>
            <a:pPr algn="l" indent="0" marL="0">
              <a:buNone/>
            </a:pPr>
            <a:r>
              <a:rPr lang="en-US" sz="3400" b="1" dirty="0">
                <a:solidFill>
                  <a:schemeClr val="tx2"/>
                </a:solidFill>
              </a:rPr>
              <a:t>AI you can check, with people in control</a:t>
            </a:r>
            <a:endParaRPr lang="en-US" sz="3400" dirty="0"/>
          </a:p>
        </p:txBody>
      </p:sp>
      <p:sp>
        <p:nvSpPr>
          <p:cNvPr id="4" name="Trust tile 1"/>
          <p:cNvSpPr/>
          <p:nvPr/>
        </p:nvSpPr>
        <p:spPr>
          <a:xfrm>
            <a:off x="548640" y="1783080"/>
            <a:ext cx="5440680" cy="1874520"/>
          </a:xfrm>
          <a:prstGeom prst="roundRect">
            <a:avLst>
              <a:gd name="adj" fmla="val 5854"/>
            </a:avLst>
          </a:prstGeom>
          <a:solidFill>
            <a:schemeClr val="bg2"/>
          </a:solidFill>
          <a:ln/>
        </p:spPr>
      </p:sp>
      <p:sp>
        <p:nvSpPr>
          <p:cNvPr id="5" name="Trust icon 1"/>
          <p:cNvSpPr/>
          <p:nvPr/>
        </p:nvSpPr>
        <p:spPr>
          <a:xfrm>
            <a:off x="868680" y="2148840"/>
            <a:ext cx="731520" cy="731520"/>
          </a:xfrm>
          <a:prstGeom prst="ellipse">
            <a:avLst/>
          </a:prstGeom>
          <a:solidFill>
            <a:schemeClr val="accent1"/>
          </a:solidFill>
          <a:ln/>
        </p:spPr>
      </p:sp>
      <p:pic>
        <p:nvPicPr>
          <p:cNvPr id="6" name="Trust icon 1 icon" descr="preencoded.png">    </p:cNvPr>
          <p:cNvPicPr>
            <a:picLocks noChangeAspect="1"/>
          </p:cNvPicPr>
          <p:nvPr/>
        </p:nvPicPr>
        <p:blipFill>
          <a:blip r:embed="rId1"/>
          <a:stretch>
            <a:fillRect/>
          </a:stretch>
        </p:blipFill>
        <p:spPr>
          <a:xfrm>
            <a:off x="1044245" y="2324405"/>
            <a:ext cx="380390" cy="380390"/>
          </a:xfrm>
          <a:prstGeom prst="rect">
            <a:avLst/>
          </a:prstGeom>
        </p:spPr>
      </p:pic>
      <p:sp>
        <p:nvSpPr>
          <p:cNvPr id="7" name="Text 4"/>
          <p:cNvSpPr txBox="1"/>
          <p:nvPr/>
        </p:nvSpPr>
        <p:spPr>
          <a:xfrm>
            <a:off x="1874520" y="2130552"/>
            <a:ext cx="3840480" cy="438912"/>
          </a:xfrm>
          <a:prstGeom prst="rect">
            <a:avLst/>
          </a:prstGeom>
          <a:noFill/>
          <a:ln/>
        </p:spPr>
        <p:txBody>
          <a:bodyPr wrap="square" lIns="0" tIns="0" rIns="0" bIns="0" rtlCol="0" anchor="t"/>
          <a:lstStyle/>
          <a:p>
            <a:pPr indent="0" marL="0">
              <a:buNone/>
            </a:pPr>
            <a:r>
              <a:rPr lang="en-US" sz="1900" b="1" dirty="0">
                <a:solidFill>
                  <a:schemeClr val="tx2"/>
                </a:solidFill>
              </a:rPr>
              <a:t>Every answer shows its sources</a:t>
            </a:r>
            <a:endParaRPr lang="en-US" sz="1900" dirty="0"/>
          </a:p>
        </p:txBody>
      </p:sp>
      <p:sp>
        <p:nvSpPr>
          <p:cNvPr id="8" name="Text 5"/>
          <p:cNvSpPr txBox="1"/>
          <p:nvPr/>
        </p:nvSpPr>
        <p:spPr>
          <a:xfrm>
            <a:off x="1874520" y="2606040"/>
            <a:ext cx="3840480" cy="868680"/>
          </a:xfrm>
          <a:prstGeom prst="rect">
            <a:avLst/>
          </a:prstGeom>
          <a:noFill/>
          <a:ln/>
        </p:spPr>
        <p:txBody>
          <a:bodyPr wrap="square" lIns="0" tIns="0" rIns="0" bIns="0" rtlCol="0" anchor="t"/>
          <a:lstStyle/>
          <a:p>
            <a:pPr indent="0" marL="0">
              <a:buNone/>
            </a:pPr>
            <a:r>
              <a:rPr lang="en-US" sz="1500" dirty="0">
                <a:solidFill>
                  <a:schemeClr val="accent4"/>
                </a:solidFill>
              </a:rPr>
              <a:t>Citations and a confidence score come with every response, so people can verify before they act.</a:t>
            </a:r>
            <a:endParaRPr lang="en-US" sz="1500" dirty="0"/>
          </a:p>
        </p:txBody>
      </p:sp>
      <p:sp>
        <p:nvSpPr>
          <p:cNvPr id="9" name="Trust tile 2"/>
          <p:cNvSpPr/>
          <p:nvPr/>
        </p:nvSpPr>
        <p:spPr>
          <a:xfrm>
            <a:off x="6172200" y="1783080"/>
            <a:ext cx="5440680" cy="1874520"/>
          </a:xfrm>
          <a:prstGeom prst="roundRect">
            <a:avLst>
              <a:gd name="adj" fmla="val 5854"/>
            </a:avLst>
          </a:prstGeom>
          <a:solidFill>
            <a:schemeClr val="bg2"/>
          </a:solidFill>
          <a:ln/>
        </p:spPr>
      </p:sp>
      <p:sp>
        <p:nvSpPr>
          <p:cNvPr id="10" name="Trust icon 2"/>
          <p:cNvSpPr/>
          <p:nvPr/>
        </p:nvSpPr>
        <p:spPr>
          <a:xfrm>
            <a:off x="6492240" y="2148840"/>
            <a:ext cx="731520" cy="731520"/>
          </a:xfrm>
          <a:prstGeom prst="ellipse">
            <a:avLst/>
          </a:prstGeom>
          <a:solidFill>
            <a:schemeClr val="accent1"/>
          </a:solidFill>
          <a:ln/>
        </p:spPr>
      </p:sp>
      <p:pic>
        <p:nvPicPr>
          <p:cNvPr id="11" name="Trust icon 2 icon" descr="preencoded.png">    </p:cNvPr>
          <p:cNvPicPr>
            <a:picLocks noChangeAspect="1"/>
          </p:cNvPicPr>
          <p:nvPr/>
        </p:nvPicPr>
        <p:blipFill>
          <a:blip r:embed="rId2"/>
          <a:stretch>
            <a:fillRect/>
          </a:stretch>
        </p:blipFill>
        <p:spPr>
          <a:xfrm>
            <a:off x="6667805" y="2324405"/>
            <a:ext cx="380390" cy="380390"/>
          </a:xfrm>
          <a:prstGeom prst="rect">
            <a:avLst/>
          </a:prstGeom>
        </p:spPr>
      </p:pic>
      <p:sp>
        <p:nvSpPr>
          <p:cNvPr id="12" name="Text 8"/>
          <p:cNvSpPr txBox="1"/>
          <p:nvPr/>
        </p:nvSpPr>
        <p:spPr>
          <a:xfrm>
            <a:off x="7498080" y="2130552"/>
            <a:ext cx="3840480" cy="438912"/>
          </a:xfrm>
          <a:prstGeom prst="rect">
            <a:avLst/>
          </a:prstGeom>
          <a:noFill/>
          <a:ln/>
        </p:spPr>
        <p:txBody>
          <a:bodyPr wrap="square" lIns="0" tIns="0" rIns="0" bIns="0" rtlCol="0" anchor="t"/>
          <a:lstStyle/>
          <a:p>
            <a:pPr indent="0" marL="0">
              <a:buNone/>
            </a:pPr>
            <a:r>
              <a:rPr lang="en-US" sz="1900" b="1" dirty="0">
                <a:solidFill>
                  <a:schemeClr val="tx2"/>
                </a:solidFill>
              </a:rPr>
              <a:t>Access follows your organization</a:t>
            </a:r>
            <a:endParaRPr lang="en-US" sz="1900" dirty="0"/>
          </a:p>
        </p:txBody>
      </p:sp>
      <p:sp>
        <p:nvSpPr>
          <p:cNvPr id="13" name="Text 9"/>
          <p:cNvSpPr txBox="1"/>
          <p:nvPr/>
        </p:nvSpPr>
        <p:spPr>
          <a:xfrm>
            <a:off x="7498080" y="2606040"/>
            <a:ext cx="3840480" cy="868680"/>
          </a:xfrm>
          <a:prstGeom prst="rect">
            <a:avLst/>
          </a:prstGeom>
          <a:noFill/>
          <a:ln/>
        </p:spPr>
        <p:txBody>
          <a:bodyPr wrap="square" lIns="0" tIns="0" rIns="0" bIns="0" rtlCol="0" anchor="t"/>
          <a:lstStyle/>
          <a:p>
            <a:pPr indent="0" marL="0">
              <a:buNone/>
            </a:pPr>
            <a:r>
              <a:rPr lang="en-US" sz="1500" dirty="0">
                <a:solidFill>
                  <a:schemeClr val="accent4"/>
                </a:solidFill>
              </a:rPr>
              <a:t>Department, project and role permissions are enforced at retrieval. People only see what they're allowed to see.</a:t>
            </a:r>
            <a:endParaRPr lang="en-US" sz="1500" dirty="0"/>
          </a:p>
        </p:txBody>
      </p:sp>
      <p:sp>
        <p:nvSpPr>
          <p:cNvPr id="14" name="Trust tile 3"/>
          <p:cNvSpPr/>
          <p:nvPr/>
        </p:nvSpPr>
        <p:spPr>
          <a:xfrm>
            <a:off x="548640" y="3886200"/>
            <a:ext cx="5440680" cy="1874520"/>
          </a:xfrm>
          <a:prstGeom prst="roundRect">
            <a:avLst>
              <a:gd name="adj" fmla="val 5854"/>
            </a:avLst>
          </a:prstGeom>
          <a:solidFill>
            <a:schemeClr val="bg2"/>
          </a:solidFill>
          <a:ln/>
        </p:spPr>
      </p:sp>
      <p:sp>
        <p:nvSpPr>
          <p:cNvPr id="15" name="Trust icon 3"/>
          <p:cNvSpPr/>
          <p:nvPr/>
        </p:nvSpPr>
        <p:spPr>
          <a:xfrm>
            <a:off x="868680" y="4251960"/>
            <a:ext cx="731520" cy="731520"/>
          </a:xfrm>
          <a:prstGeom prst="ellipse">
            <a:avLst/>
          </a:prstGeom>
          <a:solidFill>
            <a:schemeClr val="accent1"/>
          </a:solidFill>
          <a:ln/>
        </p:spPr>
      </p:sp>
      <p:pic>
        <p:nvPicPr>
          <p:cNvPr id="16" name="Trust icon 3 icon" descr="preencoded.png">    </p:cNvPr>
          <p:cNvPicPr>
            <a:picLocks noChangeAspect="1"/>
          </p:cNvPicPr>
          <p:nvPr/>
        </p:nvPicPr>
        <p:blipFill>
          <a:blip r:embed="rId3"/>
          <a:stretch>
            <a:fillRect/>
          </a:stretch>
        </p:blipFill>
        <p:spPr>
          <a:xfrm>
            <a:off x="1044245" y="4427525"/>
            <a:ext cx="380390" cy="380390"/>
          </a:xfrm>
          <a:prstGeom prst="rect">
            <a:avLst/>
          </a:prstGeom>
        </p:spPr>
      </p:pic>
      <p:sp>
        <p:nvSpPr>
          <p:cNvPr id="17" name="Text 12"/>
          <p:cNvSpPr txBox="1"/>
          <p:nvPr/>
        </p:nvSpPr>
        <p:spPr>
          <a:xfrm>
            <a:off x="1874520" y="4233672"/>
            <a:ext cx="3840480" cy="438912"/>
          </a:xfrm>
          <a:prstGeom prst="rect">
            <a:avLst/>
          </a:prstGeom>
          <a:noFill/>
          <a:ln/>
        </p:spPr>
        <p:txBody>
          <a:bodyPr wrap="square" lIns="0" tIns="0" rIns="0" bIns="0" rtlCol="0" anchor="t"/>
          <a:lstStyle/>
          <a:p>
            <a:pPr indent="0" marL="0">
              <a:buNone/>
            </a:pPr>
            <a:r>
              <a:rPr lang="en-US" sz="1900" b="1" dirty="0">
                <a:solidFill>
                  <a:schemeClr val="tx2"/>
                </a:solidFill>
              </a:rPr>
              <a:t>People approve what counts</a:t>
            </a:r>
            <a:endParaRPr lang="en-US" sz="1900" dirty="0"/>
          </a:p>
        </p:txBody>
      </p:sp>
      <p:sp>
        <p:nvSpPr>
          <p:cNvPr id="18" name="Text 13"/>
          <p:cNvSpPr txBox="1"/>
          <p:nvPr/>
        </p:nvSpPr>
        <p:spPr>
          <a:xfrm>
            <a:off x="1874520" y="4709160"/>
            <a:ext cx="3840480" cy="868680"/>
          </a:xfrm>
          <a:prstGeom prst="rect">
            <a:avLst/>
          </a:prstGeom>
          <a:noFill/>
          <a:ln/>
        </p:spPr>
        <p:txBody>
          <a:bodyPr wrap="square" lIns="0" tIns="0" rIns="0" bIns="0" rtlCol="0" anchor="t"/>
          <a:lstStyle/>
          <a:p>
            <a:pPr indent="0" marL="0">
              <a:buNone/>
            </a:pPr>
            <a:r>
              <a:rPr lang="en-US" sz="1500" dirty="0">
                <a:solidFill>
                  <a:schemeClr val="accent4"/>
                </a:solidFill>
              </a:rPr>
              <a:t>Decisions, lessons and expertise are reviewed by a person before they become part of the record.</a:t>
            </a:r>
            <a:endParaRPr lang="en-US" sz="1500" dirty="0"/>
          </a:p>
        </p:txBody>
      </p:sp>
      <p:sp>
        <p:nvSpPr>
          <p:cNvPr id="19" name="Trust tile 4"/>
          <p:cNvSpPr/>
          <p:nvPr/>
        </p:nvSpPr>
        <p:spPr>
          <a:xfrm>
            <a:off x="6172200" y="3886200"/>
            <a:ext cx="5440680" cy="1874520"/>
          </a:xfrm>
          <a:prstGeom prst="roundRect">
            <a:avLst>
              <a:gd name="adj" fmla="val 5854"/>
            </a:avLst>
          </a:prstGeom>
          <a:solidFill>
            <a:schemeClr val="bg2"/>
          </a:solidFill>
          <a:ln/>
        </p:spPr>
      </p:sp>
      <p:sp>
        <p:nvSpPr>
          <p:cNvPr id="20" name="Trust icon 4"/>
          <p:cNvSpPr/>
          <p:nvPr/>
        </p:nvSpPr>
        <p:spPr>
          <a:xfrm>
            <a:off x="6492240" y="4251960"/>
            <a:ext cx="731520" cy="731520"/>
          </a:xfrm>
          <a:prstGeom prst="ellipse">
            <a:avLst/>
          </a:prstGeom>
          <a:solidFill>
            <a:schemeClr val="accent1"/>
          </a:solidFill>
          <a:ln/>
        </p:spPr>
      </p:sp>
      <p:pic>
        <p:nvPicPr>
          <p:cNvPr id="21" name="Trust icon 4 icon" descr="preencoded.png">    </p:cNvPr>
          <p:cNvPicPr>
            <a:picLocks noChangeAspect="1"/>
          </p:cNvPicPr>
          <p:nvPr/>
        </p:nvPicPr>
        <p:blipFill>
          <a:blip r:embed="rId4"/>
          <a:stretch>
            <a:fillRect/>
          </a:stretch>
        </p:blipFill>
        <p:spPr>
          <a:xfrm>
            <a:off x="6667805" y="4427525"/>
            <a:ext cx="380390" cy="380390"/>
          </a:xfrm>
          <a:prstGeom prst="rect">
            <a:avLst/>
          </a:prstGeom>
        </p:spPr>
      </p:pic>
      <p:sp>
        <p:nvSpPr>
          <p:cNvPr id="22" name="Text 16"/>
          <p:cNvSpPr txBox="1"/>
          <p:nvPr/>
        </p:nvSpPr>
        <p:spPr>
          <a:xfrm>
            <a:off x="7498080" y="4233672"/>
            <a:ext cx="3840480" cy="438912"/>
          </a:xfrm>
          <a:prstGeom prst="rect">
            <a:avLst/>
          </a:prstGeom>
          <a:noFill/>
          <a:ln/>
        </p:spPr>
        <p:txBody>
          <a:bodyPr wrap="square" lIns="0" tIns="0" rIns="0" bIns="0" rtlCol="0" anchor="t"/>
          <a:lstStyle/>
          <a:p>
            <a:pPr indent="0" marL="0">
              <a:buNone/>
            </a:pPr>
            <a:r>
              <a:rPr lang="en-US" sz="1900" b="1" dirty="0">
                <a:solidFill>
                  <a:schemeClr val="tx2"/>
                </a:solidFill>
              </a:rPr>
              <a:t>Contradictions surfaced, not hidden</a:t>
            </a:r>
            <a:endParaRPr lang="en-US" sz="1900" dirty="0"/>
          </a:p>
        </p:txBody>
      </p:sp>
      <p:sp>
        <p:nvSpPr>
          <p:cNvPr id="23" name="Text 17"/>
          <p:cNvSpPr txBox="1"/>
          <p:nvPr/>
        </p:nvSpPr>
        <p:spPr>
          <a:xfrm>
            <a:off x="7498080" y="4709160"/>
            <a:ext cx="3840480" cy="868680"/>
          </a:xfrm>
          <a:prstGeom prst="rect">
            <a:avLst/>
          </a:prstGeom>
          <a:noFill/>
          <a:ln/>
        </p:spPr>
        <p:txBody>
          <a:bodyPr wrap="square" lIns="0" tIns="0" rIns="0" bIns="0" rtlCol="0" anchor="t"/>
          <a:lstStyle/>
          <a:p>
            <a:pPr indent="0" marL="0">
              <a:buNone/>
            </a:pPr>
            <a:r>
              <a:rPr lang="en-US" sz="1500" dirty="0">
                <a:solidFill>
                  <a:schemeClr val="accent4"/>
                </a:solidFill>
              </a:rPr>
              <a:t>When two documents disagree, KMS flags it for a person to resolve instead of guessing.</a:t>
            </a:r>
            <a:endParaRPr lang="en-US" sz="15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THE DIFFERENCE</a:t>
            </a: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lIns="0" tIns="0" rIns="0" bIns="0" rtlCol="0" anchor="t"/>
          <a:lstStyle/>
          <a:p>
            <a:pPr algn="l" indent="0" marL="0">
              <a:buNone/>
            </a:pPr>
            <a:r>
              <a:rPr lang="en-US" sz="3400" b="1" dirty="0">
                <a:solidFill>
                  <a:schemeClr val="tx2"/>
                </a:solidFill>
              </a:rPr>
              <a:t>What changes with KMS</a:t>
            </a:r>
            <a:endParaRPr lang="en-US" sz="3400" dirty="0"/>
          </a:p>
        </p:txBody>
      </p:sp>
      <p:sp>
        <p:nvSpPr>
          <p:cNvPr id="4" name="Text 2"/>
          <p:cNvSpPr txBox="1"/>
          <p:nvPr/>
        </p:nvSpPr>
        <p:spPr>
          <a:xfrm>
            <a:off x="3337560" y="1755648"/>
            <a:ext cx="393192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TODAY</a:t>
            </a:r>
            <a:endParaRPr lang="en-US" sz="1200" dirty="0"/>
          </a:p>
        </p:txBody>
      </p:sp>
      <p:sp>
        <p:nvSpPr>
          <p:cNvPr id="5" name="Text 3"/>
          <p:cNvSpPr txBox="1"/>
          <p:nvPr/>
        </p:nvSpPr>
        <p:spPr>
          <a:xfrm>
            <a:off x="7406640" y="1755648"/>
            <a:ext cx="4206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WITH KMS</a:t>
            </a:r>
            <a:endParaRPr lang="en-US" sz="1200" dirty="0"/>
          </a:p>
        </p:txBody>
      </p:sp>
      <p:sp>
        <p:nvSpPr>
          <p:cNvPr id="6" name="Text 4"/>
          <p:cNvSpPr txBox="1"/>
          <p:nvPr/>
        </p:nvSpPr>
        <p:spPr>
          <a:xfrm>
            <a:off x="548640" y="2103120"/>
            <a:ext cx="2651760" cy="530352"/>
          </a:xfrm>
          <a:prstGeom prst="rect">
            <a:avLst/>
          </a:prstGeom>
          <a:noFill/>
          <a:ln/>
        </p:spPr>
        <p:txBody>
          <a:bodyPr wrap="square" lIns="0" tIns="0" rIns="0" bIns="0" rtlCol="0" anchor="ctr"/>
          <a:lstStyle/>
          <a:p>
            <a:pPr indent="0" marL="0">
              <a:buNone/>
            </a:pPr>
            <a:r>
              <a:rPr lang="en-US" sz="1500" b="1" dirty="0">
                <a:solidFill>
                  <a:schemeClr val="tx2"/>
                </a:solidFill>
              </a:rPr>
              <a:t>Finding an answer</a:t>
            </a:r>
            <a:endParaRPr lang="en-US" sz="1500" dirty="0"/>
          </a:p>
        </p:txBody>
      </p:sp>
      <p:sp>
        <p:nvSpPr>
          <p:cNvPr id="7" name="Today cell 1"/>
          <p:cNvSpPr/>
          <p:nvPr/>
        </p:nvSpPr>
        <p:spPr>
          <a:xfrm>
            <a:off x="3246120" y="2103120"/>
            <a:ext cx="3977640" cy="530352"/>
          </a:xfrm>
          <a:prstGeom prst="roundRect">
            <a:avLst>
              <a:gd name="adj" fmla="val 13793"/>
            </a:avLst>
          </a:prstGeom>
          <a:solidFill>
            <a:schemeClr val="bg2"/>
          </a:solidFill>
          <a:ln/>
        </p:spPr>
      </p:sp>
      <p:pic>
        <p:nvPicPr>
          <p:cNvPr id="8" name="Today mark 1" descr="preencoded.png">    </p:cNvPr>
          <p:cNvPicPr>
            <a:picLocks noChangeAspect="1"/>
          </p:cNvPicPr>
          <p:nvPr/>
        </p:nvPicPr>
        <p:blipFill>
          <a:blip r:embed="rId1"/>
          <a:stretch>
            <a:fillRect/>
          </a:stretch>
        </p:blipFill>
        <p:spPr>
          <a:xfrm>
            <a:off x="3401568" y="2258568"/>
            <a:ext cx="219456" cy="219456"/>
          </a:xfrm>
          <a:prstGeom prst="rect">
            <a:avLst/>
          </a:prstGeom>
        </p:spPr>
      </p:pic>
      <p:sp>
        <p:nvSpPr>
          <p:cNvPr id="9" name="Text 6"/>
          <p:cNvSpPr txBox="1"/>
          <p:nvPr/>
        </p:nvSpPr>
        <p:spPr>
          <a:xfrm>
            <a:off x="3749040" y="2103120"/>
            <a:ext cx="3383280" cy="530352"/>
          </a:xfrm>
          <a:prstGeom prst="rect">
            <a:avLst/>
          </a:prstGeom>
          <a:noFill/>
          <a:ln/>
        </p:spPr>
        <p:txBody>
          <a:bodyPr wrap="square" lIns="0" tIns="0" rIns="0" bIns="0" rtlCol="0" anchor="ctr"/>
          <a:lstStyle/>
          <a:p>
            <a:pPr indent="0" marL="0">
              <a:buNone/>
            </a:pPr>
            <a:r>
              <a:rPr lang="en-US" sz="1400" dirty="0">
                <a:solidFill>
                  <a:schemeClr val="accent4"/>
                </a:solidFill>
              </a:rPr>
              <a:t>Search, open, skim, then ask a colleague</a:t>
            </a:r>
            <a:endParaRPr lang="en-US" sz="1400" dirty="0"/>
          </a:p>
        </p:txBody>
      </p:sp>
      <p:sp>
        <p:nvSpPr>
          <p:cNvPr id="10" name="KMS cell 1"/>
          <p:cNvSpPr/>
          <p:nvPr/>
        </p:nvSpPr>
        <p:spPr>
          <a:xfrm>
            <a:off x="7360920" y="2103120"/>
            <a:ext cx="4279392" cy="530352"/>
          </a:xfrm>
          <a:prstGeom prst="roundRect">
            <a:avLst>
              <a:gd name="adj" fmla="val 13793"/>
            </a:avLst>
          </a:prstGeom>
          <a:solidFill>
            <a:schemeClr val="accent6"/>
          </a:solidFill>
          <a:ln/>
        </p:spPr>
      </p:sp>
      <p:pic>
        <p:nvPicPr>
          <p:cNvPr id="11" name="KMS mark 1" descr="preencoded.png">    </p:cNvPr>
          <p:cNvPicPr>
            <a:picLocks noChangeAspect="1"/>
          </p:cNvPicPr>
          <p:nvPr/>
        </p:nvPicPr>
        <p:blipFill>
          <a:blip r:embed="rId2"/>
          <a:stretch>
            <a:fillRect/>
          </a:stretch>
        </p:blipFill>
        <p:spPr>
          <a:xfrm>
            <a:off x="7516368" y="2258568"/>
            <a:ext cx="219456" cy="219456"/>
          </a:xfrm>
          <a:prstGeom prst="rect">
            <a:avLst/>
          </a:prstGeom>
        </p:spPr>
      </p:pic>
      <p:sp>
        <p:nvSpPr>
          <p:cNvPr id="12" name="Text 8"/>
          <p:cNvSpPr txBox="1"/>
          <p:nvPr/>
        </p:nvSpPr>
        <p:spPr>
          <a:xfrm>
            <a:off x="7863840" y="2103120"/>
            <a:ext cx="3703320" cy="530352"/>
          </a:xfrm>
          <a:prstGeom prst="rect">
            <a:avLst/>
          </a:prstGeom>
          <a:noFill/>
          <a:ln/>
        </p:spPr>
        <p:txBody>
          <a:bodyPr wrap="square" lIns="0" tIns="0" rIns="0" bIns="0" rtlCol="0" anchor="ctr"/>
          <a:lstStyle/>
          <a:p>
            <a:pPr indent="0" marL="0">
              <a:buNone/>
            </a:pPr>
            <a:r>
              <a:rPr lang="en-US" sz="1400" b="1" dirty="0">
                <a:solidFill>
                  <a:schemeClr val="tx2"/>
                </a:solidFill>
              </a:rPr>
              <a:t>Ask once and get an answer with its sources</a:t>
            </a:r>
            <a:endParaRPr lang="en-US" sz="1400" dirty="0"/>
          </a:p>
        </p:txBody>
      </p:sp>
      <p:sp>
        <p:nvSpPr>
          <p:cNvPr id="13" name="Text 9"/>
          <p:cNvSpPr txBox="1"/>
          <p:nvPr/>
        </p:nvSpPr>
        <p:spPr>
          <a:xfrm>
            <a:off x="548640" y="2724912"/>
            <a:ext cx="2651760" cy="530352"/>
          </a:xfrm>
          <a:prstGeom prst="rect">
            <a:avLst/>
          </a:prstGeom>
          <a:noFill/>
          <a:ln/>
        </p:spPr>
        <p:txBody>
          <a:bodyPr wrap="square" lIns="0" tIns="0" rIns="0" bIns="0" rtlCol="0" anchor="ctr"/>
          <a:lstStyle/>
          <a:p>
            <a:pPr indent="0" marL="0">
              <a:buNone/>
            </a:pPr>
            <a:r>
              <a:rPr lang="en-US" sz="1500" b="1" dirty="0">
                <a:solidFill>
                  <a:schemeClr val="tx2"/>
                </a:solidFill>
              </a:rPr>
              <a:t>Finding an expert</a:t>
            </a:r>
            <a:endParaRPr lang="en-US" sz="1500" dirty="0"/>
          </a:p>
        </p:txBody>
      </p:sp>
      <p:sp>
        <p:nvSpPr>
          <p:cNvPr id="14" name="Today cell 2"/>
          <p:cNvSpPr/>
          <p:nvPr/>
        </p:nvSpPr>
        <p:spPr>
          <a:xfrm>
            <a:off x="3246120" y="2724912"/>
            <a:ext cx="3977640" cy="530352"/>
          </a:xfrm>
          <a:prstGeom prst="roundRect">
            <a:avLst>
              <a:gd name="adj" fmla="val 13793"/>
            </a:avLst>
          </a:prstGeom>
          <a:solidFill>
            <a:schemeClr val="bg2"/>
          </a:solidFill>
          <a:ln/>
        </p:spPr>
      </p:sp>
      <p:pic>
        <p:nvPicPr>
          <p:cNvPr id="15" name="Today mark 2" descr="preencoded.png">    </p:cNvPr>
          <p:cNvPicPr>
            <a:picLocks noChangeAspect="1"/>
          </p:cNvPicPr>
          <p:nvPr/>
        </p:nvPicPr>
        <p:blipFill>
          <a:blip r:embed="rId3"/>
          <a:stretch>
            <a:fillRect/>
          </a:stretch>
        </p:blipFill>
        <p:spPr>
          <a:xfrm>
            <a:off x="3401568" y="2880360"/>
            <a:ext cx="219456" cy="219456"/>
          </a:xfrm>
          <a:prstGeom prst="rect">
            <a:avLst/>
          </a:prstGeom>
        </p:spPr>
      </p:pic>
      <p:sp>
        <p:nvSpPr>
          <p:cNvPr id="16" name="Text 11"/>
          <p:cNvSpPr txBox="1"/>
          <p:nvPr/>
        </p:nvSpPr>
        <p:spPr>
          <a:xfrm>
            <a:off x="3749040" y="2724912"/>
            <a:ext cx="3383280" cy="530352"/>
          </a:xfrm>
          <a:prstGeom prst="rect">
            <a:avLst/>
          </a:prstGeom>
          <a:noFill/>
          <a:ln/>
        </p:spPr>
        <p:txBody>
          <a:bodyPr wrap="square" lIns="0" tIns="0" rIns="0" bIns="0" rtlCol="0" anchor="ctr"/>
          <a:lstStyle/>
          <a:p>
            <a:pPr indent="0" marL="0">
              <a:buNone/>
            </a:pPr>
            <a:r>
              <a:rPr lang="en-US" sz="1400" dirty="0">
                <a:solidFill>
                  <a:schemeClr val="accent4"/>
                </a:solidFill>
              </a:rPr>
              <a:t>Ask around and hope</a:t>
            </a:r>
            <a:endParaRPr lang="en-US" sz="1400" dirty="0"/>
          </a:p>
        </p:txBody>
      </p:sp>
      <p:sp>
        <p:nvSpPr>
          <p:cNvPr id="17" name="KMS cell 2"/>
          <p:cNvSpPr/>
          <p:nvPr/>
        </p:nvSpPr>
        <p:spPr>
          <a:xfrm>
            <a:off x="7360920" y="2724912"/>
            <a:ext cx="4279392" cy="530352"/>
          </a:xfrm>
          <a:prstGeom prst="roundRect">
            <a:avLst>
              <a:gd name="adj" fmla="val 13793"/>
            </a:avLst>
          </a:prstGeom>
          <a:solidFill>
            <a:schemeClr val="accent6"/>
          </a:solidFill>
          <a:ln/>
        </p:spPr>
      </p:sp>
      <p:pic>
        <p:nvPicPr>
          <p:cNvPr id="18" name="KMS mark 2" descr="preencoded.png">    </p:cNvPr>
          <p:cNvPicPr>
            <a:picLocks noChangeAspect="1"/>
          </p:cNvPicPr>
          <p:nvPr/>
        </p:nvPicPr>
        <p:blipFill>
          <a:blip r:embed="rId4"/>
          <a:stretch>
            <a:fillRect/>
          </a:stretch>
        </p:blipFill>
        <p:spPr>
          <a:xfrm>
            <a:off x="7516368" y="2880360"/>
            <a:ext cx="219456" cy="219456"/>
          </a:xfrm>
          <a:prstGeom prst="rect">
            <a:avLst/>
          </a:prstGeom>
        </p:spPr>
      </p:pic>
      <p:sp>
        <p:nvSpPr>
          <p:cNvPr id="19" name="Text 13"/>
          <p:cNvSpPr txBox="1"/>
          <p:nvPr/>
        </p:nvSpPr>
        <p:spPr>
          <a:xfrm>
            <a:off x="7863840" y="2724912"/>
            <a:ext cx="3703320" cy="530352"/>
          </a:xfrm>
          <a:prstGeom prst="rect">
            <a:avLst/>
          </a:prstGeom>
          <a:noFill/>
          <a:ln/>
        </p:spPr>
        <p:txBody>
          <a:bodyPr wrap="square" lIns="0" tIns="0" rIns="0" bIns="0" rtlCol="0" anchor="ctr"/>
          <a:lstStyle/>
          <a:p>
            <a:pPr indent="0" marL="0">
              <a:buNone/>
            </a:pPr>
            <a:r>
              <a:rPr lang="en-US" sz="1400" b="1" dirty="0">
                <a:solidFill>
                  <a:schemeClr val="tx2"/>
                </a:solidFill>
              </a:rPr>
              <a:t>Look up who knows the topic today</a:t>
            </a:r>
            <a:endParaRPr lang="en-US" sz="1400" dirty="0"/>
          </a:p>
        </p:txBody>
      </p:sp>
      <p:sp>
        <p:nvSpPr>
          <p:cNvPr id="20" name="Text 14"/>
          <p:cNvSpPr txBox="1"/>
          <p:nvPr/>
        </p:nvSpPr>
        <p:spPr>
          <a:xfrm>
            <a:off x="548640" y="3346704"/>
            <a:ext cx="2651760" cy="530352"/>
          </a:xfrm>
          <a:prstGeom prst="rect">
            <a:avLst/>
          </a:prstGeom>
          <a:noFill/>
          <a:ln/>
        </p:spPr>
        <p:txBody>
          <a:bodyPr wrap="square" lIns="0" tIns="0" rIns="0" bIns="0" rtlCol="0" anchor="ctr"/>
          <a:lstStyle/>
          <a:p>
            <a:pPr indent="0" marL="0">
              <a:buNone/>
            </a:pPr>
            <a:r>
              <a:rPr lang="en-US" sz="1500" b="1" dirty="0">
                <a:solidFill>
                  <a:schemeClr val="tx2"/>
                </a:solidFill>
              </a:rPr>
              <a:t>Organizing content</a:t>
            </a:r>
            <a:endParaRPr lang="en-US" sz="1500" dirty="0"/>
          </a:p>
        </p:txBody>
      </p:sp>
      <p:sp>
        <p:nvSpPr>
          <p:cNvPr id="21" name="Today cell 3"/>
          <p:cNvSpPr/>
          <p:nvPr/>
        </p:nvSpPr>
        <p:spPr>
          <a:xfrm>
            <a:off x="3246120" y="3346704"/>
            <a:ext cx="3977640" cy="530352"/>
          </a:xfrm>
          <a:prstGeom prst="roundRect">
            <a:avLst>
              <a:gd name="adj" fmla="val 13793"/>
            </a:avLst>
          </a:prstGeom>
          <a:solidFill>
            <a:schemeClr val="bg2"/>
          </a:solidFill>
          <a:ln/>
        </p:spPr>
      </p:sp>
      <p:pic>
        <p:nvPicPr>
          <p:cNvPr id="22" name="Today mark 3" descr="preencoded.png">    </p:cNvPr>
          <p:cNvPicPr>
            <a:picLocks noChangeAspect="1"/>
          </p:cNvPicPr>
          <p:nvPr/>
        </p:nvPicPr>
        <p:blipFill>
          <a:blip r:embed="rId5"/>
          <a:stretch>
            <a:fillRect/>
          </a:stretch>
        </p:blipFill>
        <p:spPr>
          <a:xfrm>
            <a:off x="3401568" y="3502152"/>
            <a:ext cx="219456" cy="219456"/>
          </a:xfrm>
          <a:prstGeom prst="rect">
            <a:avLst/>
          </a:prstGeom>
        </p:spPr>
      </p:pic>
      <p:sp>
        <p:nvSpPr>
          <p:cNvPr id="23" name="Text 16"/>
          <p:cNvSpPr txBox="1"/>
          <p:nvPr/>
        </p:nvSpPr>
        <p:spPr>
          <a:xfrm>
            <a:off x="3749040" y="3346704"/>
            <a:ext cx="3383280" cy="530352"/>
          </a:xfrm>
          <a:prstGeom prst="rect">
            <a:avLst/>
          </a:prstGeom>
          <a:noFill/>
          <a:ln/>
        </p:spPr>
        <p:txBody>
          <a:bodyPr wrap="square" lIns="0" tIns="0" rIns="0" bIns="0" rtlCol="0" anchor="ctr"/>
          <a:lstStyle/>
          <a:p>
            <a:pPr indent="0" marL="0">
              <a:buNone/>
            </a:pPr>
            <a:r>
              <a:rPr lang="en-US" sz="1400" dirty="0">
                <a:solidFill>
                  <a:schemeClr val="accent4"/>
                </a:solidFill>
              </a:rPr>
              <a:t>Manual folders and tagging</a:t>
            </a:r>
            <a:endParaRPr lang="en-US" sz="1400" dirty="0"/>
          </a:p>
        </p:txBody>
      </p:sp>
      <p:sp>
        <p:nvSpPr>
          <p:cNvPr id="24" name="KMS cell 3"/>
          <p:cNvSpPr/>
          <p:nvPr/>
        </p:nvSpPr>
        <p:spPr>
          <a:xfrm>
            <a:off x="7360920" y="3346704"/>
            <a:ext cx="4279392" cy="530352"/>
          </a:xfrm>
          <a:prstGeom prst="roundRect">
            <a:avLst>
              <a:gd name="adj" fmla="val 13793"/>
            </a:avLst>
          </a:prstGeom>
          <a:solidFill>
            <a:schemeClr val="accent6"/>
          </a:solidFill>
          <a:ln/>
        </p:spPr>
      </p:sp>
      <p:pic>
        <p:nvPicPr>
          <p:cNvPr id="25" name="KMS mark 3" descr="preencoded.png">    </p:cNvPr>
          <p:cNvPicPr>
            <a:picLocks noChangeAspect="1"/>
          </p:cNvPicPr>
          <p:nvPr/>
        </p:nvPicPr>
        <p:blipFill>
          <a:blip r:embed="rId6"/>
          <a:stretch>
            <a:fillRect/>
          </a:stretch>
        </p:blipFill>
        <p:spPr>
          <a:xfrm>
            <a:off x="7516368" y="3502152"/>
            <a:ext cx="219456" cy="219456"/>
          </a:xfrm>
          <a:prstGeom prst="rect">
            <a:avLst/>
          </a:prstGeom>
        </p:spPr>
      </p:pic>
      <p:sp>
        <p:nvSpPr>
          <p:cNvPr id="26" name="Text 18"/>
          <p:cNvSpPr txBox="1"/>
          <p:nvPr/>
        </p:nvSpPr>
        <p:spPr>
          <a:xfrm>
            <a:off x="7863840" y="3346704"/>
            <a:ext cx="3703320" cy="530352"/>
          </a:xfrm>
          <a:prstGeom prst="rect">
            <a:avLst/>
          </a:prstGeom>
          <a:noFill/>
          <a:ln/>
        </p:spPr>
        <p:txBody>
          <a:bodyPr wrap="square" lIns="0" tIns="0" rIns="0" bIns="0" rtlCol="0" anchor="ctr"/>
          <a:lstStyle/>
          <a:p>
            <a:pPr indent="0" marL="0">
              <a:buNone/>
            </a:pPr>
            <a:r>
              <a:rPr lang="en-US" sz="1400" b="1" dirty="0">
                <a:solidFill>
                  <a:schemeClr val="tx2"/>
                </a:solidFill>
              </a:rPr>
              <a:t>Classified and grouped automatically</a:t>
            </a:r>
            <a:endParaRPr lang="en-US" sz="1400" dirty="0"/>
          </a:p>
        </p:txBody>
      </p:sp>
      <p:sp>
        <p:nvSpPr>
          <p:cNvPr id="27" name="Text 19"/>
          <p:cNvSpPr txBox="1"/>
          <p:nvPr/>
        </p:nvSpPr>
        <p:spPr>
          <a:xfrm>
            <a:off x="548640" y="3968496"/>
            <a:ext cx="2651760" cy="530352"/>
          </a:xfrm>
          <a:prstGeom prst="rect">
            <a:avLst/>
          </a:prstGeom>
          <a:noFill/>
          <a:ln/>
        </p:spPr>
        <p:txBody>
          <a:bodyPr wrap="square" lIns="0" tIns="0" rIns="0" bIns="0" rtlCol="0" anchor="ctr"/>
          <a:lstStyle/>
          <a:p>
            <a:pPr indent="0" marL="0">
              <a:buNone/>
            </a:pPr>
            <a:r>
              <a:rPr lang="en-US" sz="1500" b="1" dirty="0">
                <a:solidFill>
                  <a:schemeClr val="tx2"/>
                </a:solidFill>
              </a:rPr>
              <a:t>Past decisions</a:t>
            </a:r>
            <a:endParaRPr lang="en-US" sz="1500" dirty="0"/>
          </a:p>
        </p:txBody>
      </p:sp>
      <p:sp>
        <p:nvSpPr>
          <p:cNvPr id="28" name="Today cell 4"/>
          <p:cNvSpPr/>
          <p:nvPr/>
        </p:nvSpPr>
        <p:spPr>
          <a:xfrm>
            <a:off x="3246120" y="3968496"/>
            <a:ext cx="3977640" cy="530352"/>
          </a:xfrm>
          <a:prstGeom prst="roundRect">
            <a:avLst>
              <a:gd name="adj" fmla="val 13793"/>
            </a:avLst>
          </a:prstGeom>
          <a:solidFill>
            <a:schemeClr val="bg2"/>
          </a:solidFill>
          <a:ln/>
        </p:spPr>
      </p:sp>
      <p:pic>
        <p:nvPicPr>
          <p:cNvPr id="29" name="Today mark 4" descr="preencoded.png">    </p:cNvPr>
          <p:cNvPicPr>
            <a:picLocks noChangeAspect="1"/>
          </p:cNvPicPr>
          <p:nvPr/>
        </p:nvPicPr>
        <p:blipFill>
          <a:blip r:embed="rId7"/>
          <a:stretch>
            <a:fillRect/>
          </a:stretch>
        </p:blipFill>
        <p:spPr>
          <a:xfrm>
            <a:off x="3401568" y="4123944"/>
            <a:ext cx="219456" cy="219456"/>
          </a:xfrm>
          <a:prstGeom prst="rect">
            <a:avLst/>
          </a:prstGeom>
        </p:spPr>
      </p:pic>
      <p:sp>
        <p:nvSpPr>
          <p:cNvPr id="30" name="Text 21"/>
          <p:cNvSpPr txBox="1"/>
          <p:nvPr/>
        </p:nvSpPr>
        <p:spPr>
          <a:xfrm>
            <a:off x="3749040" y="3968496"/>
            <a:ext cx="3383280" cy="530352"/>
          </a:xfrm>
          <a:prstGeom prst="rect">
            <a:avLst/>
          </a:prstGeom>
          <a:noFill/>
          <a:ln/>
        </p:spPr>
        <p:txBody>
          <a:bodyPr wrap="square" lIns="0" tIns="0" rIns="0" bIns="0" rtlCol="0" anchor="ctr"/>
          <a:lstStyle/>
          <a:p>
            <a:pPr indent="0" marL="0">
              <a:buNone/>
            </a:pPr>
            <a:r>
              <a:rPr lang="en-US" sz="1400" dirty="0">
                <a:solidFill>
                  <a:schemeClr val="accent4"/>
                </a:solidFill>
              </a:rPr>
              <a:t>Lost when people leave</a:t>
            </a:r>
            <a:endParaRPr lang="en-US" sz="1400" dirty="0"/>
          </a:p>
        </p:txBody>
      </p:sp>
      <p:sp>
        <p:nvSpPr>
          <p:cNvPr id="31" name="KMS cell 4"/>
          <p:cNvSpPr/>
          <p:nvPr/>
        </p:nvSpPr>
        <p:spPr>
          <a:xfrm>
            <a:off x="7360920" y="3968496"/>
            <a:ext cx="4279392" cy="530352"/>
          </a:xfrm>
          <a:prstGeom prst="roundRect">
            <a:avLst>
              <a:gd name="adj" fmla="val 13793"/>
            </a:avLst>
          </a:prstGeom>
          <a:solidFill>
            <a:schemeClr val="accent6"/>
          </a:solidFill>
          <a:ln/>
        </p:spPr>
      </p:sp>
      <p:pic>
        <p:nvPicPr>
          <p:cNvPr id="32" name="KMS mark 4" descr="preencoded.png">    </p:cNvPr>
          <p:cNvPicPr>
            <a:picLocks noChangeAspect="1"/>
          </p:cNvPicPr>
          <p:nvPr/>
        </p:nvPicPr>
        <p:blipFill>
          <a:blip r:embed="rId8"/>
          <a:stretch>
            <a:fillRect/>
          </a:stretch>
        </p:blipFill>
        <p:spPr>
          <a:xfrm>
            <a:off x="7516368" y="4123944"/>
            <a:ext cx="219456" cy="219456"/>
          </a:xfrm>
          <a:prstGeom prst="rect">
            <a:avLst/>
          </a:prstGeom>
        </p:spPr>
      </p:pic>
      <p:sp>
        <p:nvSpPr>
          <p:cNvPr id="33" name="Text 23"/>
          <p:cNvSpPr txBox="1"/>
          <p:nvPr/>
        </p:nvSpPr>
        <p:spPr>
          <a:xfrm>
            <a:off x="7863840" y="3968496"/>
            <a:ext cx="3703320" cy="530352"/>
          </a:xfrm>
          <a:prstGeom prst="rect">
            <a:avLst/>
          </a:prstGeom>
          <a:noFill/>
          <a:ln/>
        </p:spPr>
        <p:txBody>
          <a:bodyPr wrap="square" lIns="0" tIns="0" rIns="0" bIns="0" rtlCol="0" anchor="ctr"/>
          <a:lstStyle/>
          <a:p>
            <a:pPr indent="0" marL="0">
              <a:buNone/>
            </a:pPr>
            <a:r>
              <a:rPr lang="en-US" sz="1400" b="1" dirty="0">
                <a:solidFill>
                  <a:schemeClr val="tx2"/>
                </a:solidFill>
              </a:rPr>
              <a:t>Recorded with the reason and the outcome</a:t>
            </a:r>
            <a:endParaRPr lang="en-US" sz="1400" dirty="0"/>
          </a:p>
        </p:txBody>
      </p:sp>
      <p:sp>
        <p:nvSpPr>
          <p:cNvPr id="34" name="Text 24"/>
          <p:cNvSpPr txBox="1"/>
          <p:nvPr/>
        </p:nvSpPr>
        <p:spPr>
          <a:xfrm>
            <a:off x="548640" y="4590288"/>
            <a:ext cx="2651760" cy="530352"/>
          </a:xfrm>
          <a:prstGeom prst="rect">
            <a:avLst/>
          </a:prstGeom>
          <a:noFill/>
          <a:ln/>
        </p:spPr>
        <p:txBody>
          <a:bodyPr wrap="square" lIns="0" tIns="0" rIns="0" bIns="0" rtlCol="0" anchor="ctr"/>
          <a:lstStyle/>
          <a:p>
            <a:pPr indent="0" marL="0">
              <a:buNone/>
            </a:pPr>
            <a:r>
              <a:rPr lang="en-US" sz="1500" b="1" dirty="0">
                <a:solidFill>
                  <a:schemeClr val="tx2"/>
                </a:solidFill>
              </a:rPr>
              <a:t>Lessons learned</a:t>
            </a:r>
            <a:endParaRPr lang="en-US" sz="1500" dirty="0"/>
          </a:p>
        </p:txBody>
      </p:sp>
      <p:sp>
        <p:nvSpPr>
          <p:cNvPr id="35" name="Today cell 5"/>
          <p:cNvSpPr/>
          <p:nvPr/>
        </p:nvSpPr>
        <p:spPr>
          <a:xfrm>
            <a:off x="3246120" y="4590288"/>
            <a:ext cx="3977640" cy="530352"/>
          </a:xfrm>
          <a:prstGeom prst="roundRect">
            <a:avLst>
              <a:gd name="adj" fmla="val 13793"/>
            </a:avLst>
          </a:prstGeom>
          <a:solidFill>
            <a:schemeClr val="bg2"/>
          </a:solidFill>
          <a:ln/>
        </p:spPr>
      </p:sp>
      <p:pic>
        <p:nvPicPr>
          <p:cNvPr id="36" name="Today mark 5" descr="preencoded.png">    </p:cNvPr>
          <p:cNvPicPr>
            <a:picLocks noChangeAspect="1"/>
          </p:cNvPicPr>
          <p:nvPr/>
        </p:nvPicPr>
        <p:blipFill>
          <a:blip r:embed="rId9"/>
          <a:stretch>
            <a:fillRect/>
          </a:stretch>
        </p:blipFill>
        <p:spPr>
          <a:xfrm>
            <a:off x="3401568" y="4745736"/>
            <a:ext cx="219456" cy="219456"/>
          </a:xfrm>
          <a:prstGeom prst="rect">
            <a:avLst/>
          </a:prstGeom>
        </p:spPr>
      </p:pic>
      <p:sp>
        <p:nvSpPr>
          <p:cNvPr id="37" name="Text 26"/>
          <p:cNvSpPr txBox="1"/>
          <p:nvPr/>
        </p:nvSpPr>
        <p:spPr>
          <a:xfrm>
            <a:off x="3749040" y="4590288"/>
            <a:ext cx="3383280" cy="530352"/>
          </a:xfrm>
          <a:prstGeom prst="rect">
            <a:avLst/>
          </a:prstGeom>
          <a:noFill/>
          <a:ln/>
        </p:spPr>
        <p:txBody>
          <a:bodyPr wrap="square" lIns="0" tIns="0" rIns="0" bIns="0" rtlCol="0" anchor="ctr"/>
          <a:lstStyle/>
          <a:p>
            <a:pPr indent="0" marL="0">
              <a:buNone/>
            </a:pPr>
            <a:r>
              <a:rPr lang="en-US" sz="1400" dirty="0">
                <a:solidFill>
                  <a:schemeClr val="accent4"/>
                </a:solidFill>
              </a:rPr>
              <a:t>Written once, never read again</a:t>
            </a:r>
            <a:endParaRPr lang="en-US" sz="1400" dirty="0"/>
          </a:p>
        </p:txBody>
      </p:sp>
      <p:sp>
        <p:nvSpPr>
          <p:cNvPr id="38" name="KMS cell 5"/>
          <p:cNvSpPr/>
          <p:nvPr/>
        </p:nvSpPr>
        <p:spPr>
          <a:xfrm>
            <a:off x="7360920" y="4590288"/>
            <a:ext cx="4279392" cy="530352"/>
          </a:xfrm>
          <a:prstGeom prst="roundRect">
            <a:avLst>
              <a:gd name="adj" fmla="val 13793"/>
            </a:avLst>
          </a:prstGeom>
          <a:solidFill>
            <a:schemeClr val="accent6"/>
          </a:solidFill>
          <a:ln/>
        </p:spPr>
      </p:sp>
      <p:pic>
        <p:nvPicPr>
          <p:cNvPr id="39" name="KMS mark 5" descr="preencoded.png">    </p:cNvPr>
          <p:cNvPicPr>
            <a:picLocks noChangeAspect="1"/>
          </p:cNvPicPr>
          <p:nvPr/>
        </p:nvPicPr>
        <p:blipFill>
          <a:blip r:embed="rId10"/>
          <a:stretch>
            <a:fillRect/>
          </a:stretch>
        </p:blipFill>
        <p:spPr>
          <a:xfrm>
            <a:off x="7516368" y="4745736"/>
            <a:ext cx="219456" cy="219456"/>
          </a:xfrm>
          <a:prstGeom prst="rect">
            <a:avLst/>
          </a:prstGeom>
        </p:spPr>
      </p:pic>
      <p:sp>
        <p:nvSpPr>
          <p:cNvPr id="40" name="Text 28"/>
          <p:cNvSpPr txBox="1"/>
          <p:nvPr/>
        </p:nvSpPr>
        <p:spPr>
          <a:xfrm>
            <a:off x="7863840" y="4590288"/>
            <a:ext cx="3703320" cy="530352"/>
          </a:xfrm>
          <a:prstGeom prst="rect">
            <a:avLst/>
          </a:prstGeom>
          <a:noFill/>
          <a:ln/>
        </p:spPr>
        <p:txBody>
          <a:bodyPr wrap="square" lIns="0" tIns="0" rIns="0" bIns="0" rtlCol="0" anchor="ctr"/>
          <a:lstStyle/>
          <a:p>
            <a:pPr indent="0" marL="0">
              <a:buNone/>
            </a:pPr>
            <a:r>
              <a:rPr lang="en-US" sz="1400" b="1" dirty="0">
                <a:solidFill>
                  <a:schemeClr val="tx2"/>
                </a:solidFill>
              </a:rPr>
              <a:t>Surfaced when the next project starts</a:t>
            </a:r>
            <a:endParaRPr lang="en-US" sz="1400" dirty="0"/>
          </a:p>
        </p:txBody>
      </p:sp>
      <p:sp>
        <p:nvSpPr>
          <p:cNvPr id="41" name="Text 29"/>
          <p:cNvSpPr txBox="1"/>
          <p:nvPr/>
        </p:nvSpPr>
        <p:spPr>
          <a:xfrm>
            <a:off x="548640" y="5212080"/>
            <a:ext cx="2651760" cy="530352"/>
          </a:xfrm>
          <a:prstGeom prst="rect">
            <a:avLst/>
          </a:prstGeom>
          <a:noFill/>
          <a:ln/>
        </p:spPr>
        <p:txBody>
          <a:bodyPr wrap="square" lIns="0" tIns="0" rIns="0" bIns="0" rtlCol="0" anchor="ctr"/>
          <a:lstStyle/>
          <a:p>
            <a:pPr indent="0" marL="0">
              <a:buNone/>
            </a:pPr>
            <a:r>
              <a:rPr lang="en-US" sz="1500" b="1" dirty="0">
                <a:solidFill>
                  <a:schemeClr val="tx2"/>
                </a:solidFill>
              </a:rPr>
              <a:t>Starting a project</a:t>
            </a:r>
            <a:endParaRPr lang="en-US" sz="1500" dirty="0"/>
          </a:p>
        </p:txBody>
      </p:sp>
      <p:sp>
        <p:nvSpPr>
          <p:cNvPr id="42" name="Today cell 6"/>
          <p:cNvSpPr/>
          <p:nvPr/>
        </p:nvSpPr>
        <p:spPr>
          <a:xfrm>
            <a:off x="3246120" y="5212080"/>
            <a:ext cx="3977640" cy="530352"/>
          </a:xfrm>
          <a:prstGeom prst="roundRect">
            <a:avLst>
              <a:gd name="adj" fmla="val 13793"/>
            </a:avLst>
          </a:prstGeom>
          <a:solidFill>
            <a:schemeClr val="bg2"/>
          </a:solidFill>
          <a:ln/>
        </p:spPr>
      </p:sp>
      <p:pic>
        <p:nvPicPr>
          <p:cNvPr id="43" name="Today mark 6" descr="preencoded.png">    </p:cNvPr>
          <p:cNvPicPr>
            <a:picLocks noChangeAspect="1"/>
          </p:cNvPicPr>
          <p:nvPr/>
        </p:nvPicPr>
        <p:blipFill>
          <a:blip r:embed="rId11"/>
          <a:stretch>
            <a:fillRect/>
          </a:stretch>
        </p:blipFill>
        <p:spPr>
          <a:xfrm>
            <a:off x="3401568" y="5367528"/>
            <a:ext cx="219456" cy="219456"/>
          </a:xfrm>
          <a:prstGeom prst="rect">
            <a:avLst/>
          </a:prstGeom>
        </p:spPr>
      </p:pic>
      <p:sp>
        <p:nvSpPr>
          <p:cNvPr id="44" name="Text 31"/>
          <p:cNvSpPr txBox="1"/>
          <p:nvPr/>
        </p:nvSpPr>
        <p:spPr>
          <a:xfrm>
            <a:off x="3749040" y="5212080"/>
            <a:ext cx="3383280" cy="530352"/>
          </a:xfrm>
          <a:prstGeom prst="rect">
            <a:avLst/>
          </a:prstGeom>
          <a:noFill/>
          <a:ln/>
        </p:spPr>
        <p:txBody>
          <a:bodyPr wrap="square" lIns="0" tIns="0" rIns="0" bIns="0" rtlCol="0" anchor="ctr"/>
          <a:lstStyle/>
          <a:p>
            <a:pPr indent="0" marL="0">
              <a:buNone/>
            </a:pPr>
            <a:r>
              <a:rPr lang="en-US" sz="1400" dirty="0">
                <a:solidFill>
                  <a:schemeClr val="accent4"/>
                </a:solidFill>
              </a:rPr>
              <a:t>A blank page</a:t>
            </a:r>
            <a:endParaRPr lang="en-US" sz="1400" dirty="0"/>
          </a:p>
        </p:txBody>
      </p:sp>
      <p:sp>
        <p:nvSpPr>
          <p:cNvPr id="45" name="KMS cell 6"/>
          <p:cNvSpPr/>
          <p:nvPr/>
        </p:nvSpPr>
        <p:spPr>
          <a:xfrm>
            <a:off x="7360920" y="5212080"/>
            <a:ext cx="4279392" cy="530352"/>
          </a:xfrm>
          <a:prstGeom prst="roundRect">
            <a:avLst>
              <a:gd name="adj" fmla="val 13793"/>
            </a:avLst>
          </a:prstGeom>
          <a:solidFill>
            <a:schemeClr val="accent6"/>
          </a:solidFill>
          <a:ln/>
        </p:spPr>
      </p:sp>
      <p:pic>
        <p:nvPicPr>
          <p:cNvPr id="46" name="KMS mark 6" descr="preencoded.png">    </p:cNvPr>
          <p:cNvPicPr>
            <a:picLocks noChangeAspect="1"/>
          </p:cNvPicPr>
          <p:nvPr/>
        </p:nvPicPr>
        <p:blipFill>
          <a:blip r:embed="rId12"/>
          <a:stretch>
            <a:fillRect/>
          </a:stretch>
        </p:blipFill>
        <p:spPr>
          <a:xfrm>
            <a:off x="7516368" y="5367528"/>
            <a:ext cx="219456" cy="219456"/>
          </a:xfrm>
          <a:prstGeom prst="rect">
            <a:avLst/>
          </a:prstGeom>
        </p:spPr>
      </p:pic>
      <p:sp>
        <p:nvSpPr>
          <p:cNvPr id="47" name="Text 33"/>
          <p:cNvSpPr txBox="1"/>
          <p:nvPr/>
        </p:nvSpPr>
        <p:spPr>
          <a:xfrm>
            <a:off x="7863840" y="5212080"/>
            <a:ext cx="3703320" cy="530352"/>
          </a:xfrm>
          <a:prstGeom prst="rect">
            <a:avLst/>
          </a:prstGeom>
          <a:noFill/>
          <a:ln/>
        </p:spPr>
        <p:txBody>
          <a:bodyPr wrap="square" lIns="0" tIns="0" rIns="0" bIns="0" rtlCol="0" anchor="ctr"/>
          <a:lstStyle/>
          <a:p>
            <a:pPr indent="0" marL="0">
              <a:buNone/>
            </a:pPr>
            <a:r>
              <a:rPr lang="en-US" sz="1400" b="1" dirty="0">
                <a:solidFill>
                  <a:schemeClr val="tx2"/>
                </a:solidFill>
              </a:rPr>
              <a:t>One view of everything related</a:t>
            </a:r>
            <a:endParaRPr lang="en-US" sz="14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WHAT'S NEXT</a:t>
            </a:r>
            <a:endParaRPr lang="en-US" sz="1300" dirty="0"/>
          </a:p>
        </p:txBody>
      </p:sp>
      <p:sp>
        <p:nvSpPr>
          <p:cNvPr id="3" name="Text 0"/>
          <p:cNvSpPr/>
          <p:nvPr>
            <p:ph idx="101" type="title" hasCustomPrompt="1"/>
          </p:nvPr>
        </p:nvSpPr>
        <p:spPr>
          <a:xfrm>
            <a:off x="548640" y="749808"/>
            <a:ext cx="11064240" cy="822960"/>
          </a:xfrm>
          <a:prstGeom prst="rect">
            <a:avLst/>
          </a:prstGeom>
          <a:noFill/>
          <a:ln/>
        </p:spPr>
        <p:txBody>
          <a:bodyPr wrap="square" lIns="0" tIns="0" rIns="0" bIns="0" rtlCol="0" anchor="t"/>
          <a:lstStyle/>
          <a:p>
            <a:pPr algn="l" indent="0" marL="0">
              <a:buNone/>
            </a:pPr>
            <a:r>
              <a:rPr lang="en-US" sz="3400" b="1" dirty="0">
                <a:solidFill>
                  <a:schemeClr val="tx2"/>
                </a:solidFill>
              </a:rPr>
              <a:t>From knowing to acting</a:t>
            </a:r>
            <a:endParaRPr lang="en-US" sz="3400" dirty="0"/>
          </a:p>
        </p:txBody>
      </p:sp>
      <p:sp>
        <p:nvSpPr>
          <p:cNvPr id="4" name="Journey line"/>
          <p:cNvSpPr/>
          <p:nvPr/>
        </p:nvSpPr>
        <p:spPr>
          <a:xfrm>
            <a:off x="1463040" y="2130552"/>
            <a:ext cx="9144000" cy="0"/>
          </a:xfrm>
          <a:prstGeom prst="line">
            <a:avLst/>
          </a:prstGeom>
          <a:noFill/>
          <a:ln w="38100">
            <a:solidFill>
              <a:schemeClr val="accent6"/>
            </a:solidFill>
            <a:prstDash val="solid"/>
          </a:ln>
        </p:spPr>
      </p:sp>
      <p:sp>
        <p:nvSpPr>
          <p:cNvPr id="5" name="Stage 1"/>
          <p:cNvSpPr/>
          <p:nvPr/>
        </p:nvSpPr>
        <p:spPr>
          <a:xfrm>
            <a:off x="1188720" y="1856232"/>
            <a:ext cx="548640" cy="548640"/>
          </a:xfrm>
          <a:prstGeom prst="ellipse">
            <a:avLst/>
          </a:prstGeom>
          <a:solidFill>
            <a:schemeClr val="accent1"/>
          </a:solidFill>
          <a:ln w="31750">
            <a:solidFill>
              <a:schemeClr val="accent1"/>
            </a:solidFill>
            <a:prstDash val="solid"/>
          </a:ln>
        </p:spPr>
      </p:sp>
      <p:pic>
        <p:nvPicPr>
          <p:cNvPr id="6" name="Stage icon 1" descr="preencoded.png">    </p:cNvPr>
          <p:cNvPicPr>
            <a:picLocks noChangeAspect="1"/>
          </p:cNvPicPr>
          <p:nvPr/>
        </p:nvPicPr>
        <p:blipFill>
          <a:blip r:embed="rId1"/>
          <a:stretch>
            <a:fillRect/>
          </a:stretch>
        </p:blipFill>
        <p:spPr>
          <a:xfrm>
            <a:off x="1316736" y="1984248"/>
            <a:ext cx="292608" cy="292608"/>
          </a:xfrm>
          <a:prstGeom prst="rect">
            <a:avLst/>
          </a:prstGeom>
        </p:spPr>
      </p:pic>
      <p:sp>
        <p:nvSpPr>
          <p:cNvPr id="7" name="Text 4"/>
          <p:cNvSpPr txBox="1"/>
          <p:nvPr/>
        </p:nvSpPr>
        <p:spPr>
          <a:xfrm>
            <a:off x="548640" y="2487168"/>
            <a:ext cx="1828800" cy="292608"/>
          </a:xfrm>
          <a:prstGeom prst="rect">
            <a:avLst/>
          </a:prstGeom>
          <a:noFill/>
          <a:ln/>
        </p:spPr>
        <p:txBody>
          <a:bodyPr wrap="square" lIns="0" tIns="0" rIns="0" bIns="0" rtlCol="0" anchor="t"/>
          <a:lstStyle/>
          <a:p>
            <a:pPr algn="ctr" indent="0" marL="0">
              <a:buNone/>
            </a:pPr>
            <a:r>
              <a:rPr lang="en-US" sz="1500" b="1" dirty="0">
                <a:solidFill>
                  <a:schemeClr val="tx2"/>
                </a:solidFill>
              </a:rPr>
              <a:t>Ask</a:t>
            </a:r>
            <a:endParaRPr lang="en-US" sz="1500" dirty="0"/>
          </a:p>
        </p:txBody>
      </p:sp>
      <p:sp>
        <p:nvSpPr>
          <p:cNvPr id="8" name="Text 5"/>
          <p:cNvSpPr txBox="1"/>
          <p:nvPr/>
        </p:nvSpPr>
        <p:spPr>
          <a:xfrm>
            <a:off x="548640" y="2761488"/>
            <a:ext cx="1828800" cy="237744"/>
          </a:xfrm>
          <a:prstGeom prst="rect">
            <a:avLst/>
          </a:prstGeom>
          <a:noFill/>
          <a:ln/>
        </p:spPr>
        <p:txBody>
          <a:bodyPr wrap="square" lIns="0" tIns="0" rIns="0" bIns="0" rtlCol="0" anchor="t"/>
          <a:lstStyle/>
          <a:p>
            <a:pPr algn="ctr" indent="0" marL="0">
              <a:buNone/>
            </a:pPr>
            <a:r>
              <a:rPr lang="en-US" sz="1100" dirty="0">
                <a:solidFill>
                  <a:schemeClr val="accent4"/>
                </a:solidFill>
              </a:rPr>
              <a:t>Available today</a:t>
            </a:r>
            <a:endParaRPr lang="en-US" sz="1100" dirty="0"/>
          </a:p>
        </p:txBody>
      </p:sp>
      <p:sp>
        <p:nvSpPr>
          <p:cNvPr id="9" name="Stage 2"/>
          <p:cNvSpPr/>
          <p:nvPr/>
        </p:nvSpPr>
        <p:spPr>
          <a:xfrm>
            <a:off x="3474720" y="1856232"/>
            <a:ext cx="548640" cy="548640"/>
          </a:xfrm>
          <a:prstGeom prst="ellipse">
            <a:avLst/>
          </a:prstGeom>
          <a:solidFill>
            <a:schemeClr val="accent1"/>
          </a:solidFill>
          <a:ln w="31750">
            <a:solidFill>
              <a:schemeClr val="accent1"/>
            </a:solidFill>
            <a:prstDash val="solid"/>
          </a:ln>
        </p:spPr>
      </p:sp>
      <p:pic>
        <p:nvPicPr>
          <p:cNvPr id="10" name="Stage icon 2" descr="preencoded.png">    </p:cNvPr>
          <p:cNvPicPr>
            <a:picLocks noChangeAspect="1"/>
          </p:cNvPicPr>
          <p:nvPr/>
        </p:nvPicPr>
        <p:blipFill>
          <a:blip r:embed="rId2"/>
          <a:stretch>
            <a:fillRect/>
          </a:stretch>
        </p:blipFill>
        <p:spPr>
          <a:xfrm>
            <a:off x="3602736" y="1984248"/>
            <a:ext cx="292608" cy="292608"/>
          </a:xfrm>
          <a:prstGeom prst="rect">
            <a:avLst/>
          </a:prstGeom>
        </p:spPr>
      </p:pic>
      <p:sp>
        <p:nvSpPr>
          <p:cNvPr id="11" name="Text 7"/>
          <p:cNvSpPr txBox="1"/>
          <p:nvPr/>
        </p:nvSpPr>
        <p:spPr>
          <a:xfrm>
            <a:off x="2834640" y="2487168"/>
            <a:ext cx="1828800" cy="292608"/>
          </a:xfrm>
          <a:prstGeom prst="rect">
            <a:avLst/>
          </a:prstGeom>
          <a:noFill/>
          <a:ln/>
        </p:spPr>
        <p:txBody>
          <a:bodyPr wrap="square" lIns="0" tIns="0" rIns="0" bIns="0" rtlCol="0" anchor="t"/>
          <a:lstStyle/>
          <a:p>
            <a:pPr algn="ctr" indent="0" marL="0">
              <a:buNone/>
            </a:pPr>
            <a:r>
              <a:rPr lang="en-US" sz="1500" b="1" dirty="0">
                <a:solidFill>
                  <a:schemeClr val="tx2"/>
                </a:solidFill>
              </a:rPr>
              <a:t>Understand</a:t>
            </a:r>
            <a:endParaRPr lang="en-US" sz="1500" dirty="0"/>
          </a:p>
        </p:txBody>
      </p:sp>
      <p:sp>
        <p:nvSpPr>
          <p:cNvPr id="12" name="Text 8"/>
          <p:cNvSpPr txBox="1"/>
          <p:nvPr/>
        </p:nvSpPr>
        <p:spPr>
          <a:xfrm>
            <a:off x="2834640" y="2761488"/>
            <a:ext cx="1828800" cy="237744"/>
          </a:xfrm>
          <a:prstGeom prst="rect">
            <a:avLst/>
          </a:prstGeom>
          <a:noFill/>
          <a:ln/>
        </p:spPr>
        <p:txBody>
          <a:bodyPr wrap="square" lIns="0" tIns="0" rIns="0" bIns="0" rtlCol="0" anchor="t"/>
          <a:lstStyle/>
          <a:p>
            <a:pPr algn="ctr" indent="0" marL="0">
              <a:buNone/>
            </a:pPr>
            <a:r>
              <a:rPr lang="en-US" sz="1100" dirty="0">
                <a:solidFill>
                  <a:schemeClr val="accent4"/>
                </a:solidFill>
              </a:rPr>
              <a:t>Available today</a:t>
            </a:r>
            <a:endParaRPr lang="en-US" sz="1100" dirty="0"/>
          </a:p>
        </p:txBody>
      </p:sp>
      <p:sp>
        <p:nvSpPr>
          <p:cNvPr id="13" name="Stage 3"/>
          <p:cNvSpPr/>
          <p:nvPr/>
        </p:nvSpPr>
        <p:spPr>
          <a:xfrm>
            <a:off x="5760720" y="1856232"/>
            <a:ext cx="548640" cy="548640"/>
          </a:xfrm>
          <a:prstGeom prst="ellipse">
            <a:avLst/>
          </a:prstGeom>
          <a:solidFill>
            <a:schemeClr val="accent1"/>
          </a:solidFill>
          <a:ln w="31750">
            <a:solidFill>
              <a:schemeClr val="accent1"/>
            </a:solidFill>
            <a:prstDash val="solid"/>
          </a:ln>
        </p:spPr>
      </p:sp>
      <p:pic>
        <p:nvPicPr>
          <p:cNvPr id="14" name="Stage icon 3" descr="preencoded.png">    </p:cNvPr>
          <p:cNvPicPr>
            <a:picLocks noChangeAspect="1"/>
          </p:cNvPicPr>
          <p:nvPr/>
        </p:nvPicPr>
        <p:blipFill>
          <a:blip r:embed="rId3"/>
          <a:stretch>
            <a:fillRect/>
          </a:stretch>
        </p:blipFill>
        <p:spPr>
          <a:xfrm>
            <a:off x="5888736" y="1984248"/>
            <a:ext cx="292608" cy="292608"/>
          </a:xfrm>
          <a:prstGeom prst="rect">
            <a:avLst/>
          </a:prstGeom>
        </p:spPr>
      </p:pic>
      <p:sp>
        <p:nvSpPr>
          <p:cNvPr id="15" name="Text 10"/>
          <p:cNvSpPr txBox="1"/>
          <p:nvPr/>
        </p:nvSpPr>
        <p:spPr>
          <a:xfrm>
            <a:off x="5120640" y="2487168"/>
            <a:ext cx="1828800" cy="292608"/>
          </a:xfrm>
          <a:prstGeom prst="rect">
            <a:avLst/>
          </a:prstGeom>
          <a:noFill/>
          <a:ln/>
        </p:spPr>
        <p:txBody>
          <a:bodyPr wrap="square" lIns="0" tIns="0" rIns="0" bIns="0" rtlCol="0" anchor="t"/>
          <a:lstStyle/>
          <a:p>
            <a:pPr algn="ctr" indent="0" marL="0">
              <a:buNone/>
            </a:pPr>
            <a:r>
              <a:rPr lang="en-US" sz="1500" b="1" dirty="0">
                <a:solidFill>
                  <a:schemeClr val="tx2"/>
                </a:solidFill>
              </a:rPr>
              <a:t>Connect</a:t>
            </a:r>
            <a:endParaRPr lang="en-US" sz="1500" dirty="0"/>
          </a:p>
        </p:txBody>
      </p:sp>
      <p:sp>
        <p:nvSpPr>
          <p:cNvPr id="16" name="Text 11"/>
          <p:cNvSpPr txBox="1"/>
          <p:nvPr/>
        </p:nvSpPr>
        <p:spPr>
          <a:xfrm>
            <a:off x="5120640" y="2761488"/>
            <a:ext cx="1828800" cy="237744"/>
          </a:xfrm>
          <a:prstGeom prst="rect">
            <a:avLst/>
          </a:prstGeom>
          <a:noFill/>
          <a:ln/>
        </p:spPr>
        <p:txBody>
          <a:bodyPr wrap="square" lIns="0" tIns="0" rIns="0" bIns="0" rtlCol="0" anchor="t"/>
          <a:lstStyle/>
          <a:p>
            <a:pPr algn="ctr" indent="0" marL="0">
              <a:buNone/>
            </a:pPr>
            <a:r>
              <a:rPr lang="en-US" sz="1100" dirty="0">
                <a:solidFill>
                  <a:schemeClr val="accent4"/>
                </a:solidFill>
              </a:rPr>
              <a:t>Available today</a:t>
            </a:r>
            <a:endParaRPr lang="en-US" sz="1100" dirty="0"/>
          </a:p>
        </p:txBody>
      </p:sp>
      <p:sp>
        <p:nvSpPr>
          <p:cNvPr id="17" name="Stage 4"/>
          <p:cNvSpPr/>
          <p:nvPr/>
        </p:nvSpPr>
        <p:spPr>
          <a:xfrm>
            <a:off x="8046720" y="1856232"/>
            <a:ext cx="548640" cy="548640"/>
          </a:xfrm>
          <a:prstGeom prst="ellipse">
            <a:avLst/>
          </a:prstGeom>
          <a:solidFill>
            <a:schemeClr val="accent1"/>
          </a:solidFill>
          <a:ln w="31750">
            <a:solidFill>
              <a:schemeClr val="accent1"/>
            </a:solidFill>
            <a:prstDash val="solid"/>
          </a:ln>
        </p:spPr>
      </p:sp>
      <p:pic>
        <p:nvPicPr>
          <p:cNvPr id="18" name="Stage icon 4" descr="preencoded.png">    </p:cNvPr>
          <p:cNvPicPr>
            <a:picLocks noChangeAspect="1"/>
          </p:cNvPicPr>
          <p:nvPr/>
        </p:nvPicPr>
        <p:blipFill>
          <a:blip r:embed="rId4"/>
          <a:stretch>
            <a:fillRect/>
          </a:stretch>
        </p:blipFill>
        <p:spPr>
          <a:xfrm>
            <a:off x="8174736" y="1984248"/>
            <a:ext cx="292608" cy="292608"/>
          </a:xfrm>
          <a:prstGeom prst="rect">
            <a:avLst/>
          </a:prstGeom>
        </p:spPr>
      </p:pic>
      <p:sp>
        <p:nvSpPr>
          <p:cNvPr id="19" name="Text 13"/>
          <p:cNvSpPr txBox="1"/>
          <p:nvPr/>
        </p:nvSpPr>
        <p:spPr>
          <a:xfrm>
            <a:off x="7406640" y="2487168"/>
            <a:ext cx="1828800" cy="292608"/>
          </a:xfrm>
          <a:prstGeom prst="rect">
            <a:avLst/>
          </a:prstGeom>
          <a:noFill/>
          <a:ln/>
        </p:spPr>
        <p:txBody>
          <a:bodyPr wrap="square" lIns="0" tIns="0" rIns="0" bIns="0" rtlCol="0" anchor="t"/>
          <a:lstStyle/>
          <a:p>
            <a:pPr algn="ctr" indent="0" marL="0">
              <a:buNone/>
            </a:pPr>
            <a:r>
              <a:rPr lang="en-US" sz="1500" b="1" dirty="0">
                <a:solidFill>
                  <a:schemeClr val="tx2"/>
                </a:solidFill>
              </a:rPr>
              <a:t>Learn</a:t>
            </a:r>
            <a:endParaRPr lang="en-US" sz="1500" dirty="0"/>
          </a:p>
        </p:txBody>
      </p:sp>
      <p:sp>
        <p:nvSpPr>
          <p:cNvPr id="20" name="Text 14"/>
          <p:cNvSpPr txBox="1"/>
          <p:nvPr/>
        </p:nvSpPr>
        <p:spPr>
          <a:xfrm>
            <a:off x="7406640" y="2761488"/>
            <a:ext cx="1828800" cy="237744"/>
          </a:xfrm>
          <a:prstGeom prst="rect">
            <a:avLst/>
          </a:prstGeom>
          <a:noFill/>
          <a:ln/>
        </p:spPr>
        <p:txBody>
          <a:bodyPr wrap="square" lIns="0" tIns="0" rIns="0" bIns="0" rtlCol="0" anchor="t"/>
          <a:lstStyle/>
          <a:p>
            <a:pPr algn="ctr" indent="0" marL="0">
              <a:buNone/>
            </a:pPr>
            <a:r>
              <a:rPr lang="en-US" sz="1100" dirty="0">
                <a:solidFill>
                  <a:schemeClr val="accent4"/>
                </a:solidFill>
              </a:rPr>
              <a:t>Available today</a:t>
            </a:r>
            <a:endParaRPr lang="en-US" sz="1100" dirty="0"/>
          </a:p>
        </p:txBody>
      </p:sp>
      <p:sp>
        <p:nvSpPr>
          <p:cNvPr id="21" name="Stage 5"/>
          <p:cNvSpPr/>
          <p:nvPr/>
        </p:nvSpPr>
        <p:spPr>
          <a:xfrm>
            <a:off x="10332720" y="1856232"/>
            <a:ext cx="548640" cy="548640"/>
          </a:xfrm>
          <a:prstGeom prst="ellipse">
            <a:avLst/>
          </a:prstGeom>
          <a:solidFill>
            <a:schemeClr val="bg1"/>
          </a:solidFill>
          <a:ln w="31750">
            <a:solidFill>
              <a:schemeClr val="accent3"/>
            </a:solidFill>
            <a:prstDash val="solid"/>
          </a:ln>
        </p:spPr>
      </p:sp>
      <p:pic>
        <p:nvPicPr>
          <p:cNvPr id="22" name="Stage icon 5" descr="preencoded.png">    </p:cNvPr>
          <p:cNvPicPr>
            <a:picLocks noChangeAspect="1"/>
          </p:cNvPicPr>
          <p:nvPr/>
        </p:nvPicPr>
        <p:blipFill>
          <a:blip r:embed="rId5"/>
          <a:stretch>
            <a:fillRect/>
          </a:stretch>
        </p:blipFill>
        <p:spPr>
          <a:xfrm>
            <a:off x="10460736" y="1984248"/>
            <a:ext cx="292608" cy="292608"/>
          </a:xfrm>
          <a:prstGeom prst="rect">
            <a:avLst/>
          </a:prstGeom>
        </p:spPr>
      </p:pic>
      <p:sp>
        <p:nvSpPr>
          <p:cNvPr id="23" name="Text 16"/>
          <p:cNvSpPr txBox="1"/>
          <p:nvPr/>
        </p:nvSpPr>
        <p:spPr>
          <a:xfrm>
            <a:off x="9692640" y="2487168"/>
            <a:ext cx="1828800" cy="292608"/>
          </a:xfrm>
          <a:prstGeom prst="rect">
            <a:avLst/>
          </a:prstGeom>
          <a:noFill/>
          <a:ln/>
        </p:spPr>
        <p:txBody>
          <a:bodyPr wrap="square" lIns="0" tIns="0" rIns="0" bIns="0" rtlCol="0" anchor="t"/>
          <a:lstStyle/>
          <a:p>
            <a:pPr algn="ctr" indent="0" marL="0">
              <a:buNone/>
            </a:pPr>
            <a:r>
              <a:rPr lang="en-US" sz="1500" b="1" dirty="0">
                <a:solidFill>
                  <a:schemeClr val="tx2"/>
                </a:solidFill>
              </a:rPr>
              <a:t>Act</a:t>
            </a:r>
            <a:endParaRPr lang="en-US" sz="1500" dirty="0"/>
          </a:p>
        </p:txBody>
      </p:sp>
      <p:sp>
        <p:nvSpPr>
          <p:cNvPr id="24" name="Text 17"/>
          <p:cNvSpPr txBox="1"/>
          <p:nvPr/>
        </p:nvSpPr>
        <p:spPr>
          <a:xfrm>
            <a:off x="9692640" y="2761488"/>
            <a:ext cx="1828800" cy="237744"/>
          </a:xfrm>
          <a:prstGeom prst="rect">
            <a:avLst/>
          </a:prstGeom>
          <a:noFill/>
          <a:ln/>
        </p:spPr>
        <p:txBody>
          <a:bodyPr wrap="square" lIns="0" tIns="0" rIns="0" bIns="0" rtlCol="0" anchor="t"/>
          <a:lstStyle/>
          <a:p>
            <a:pPr algn="ctr" indent="0" marL="0">
              <a:buNone/>
            </a:pPr>
            <a:r>
              <a:rPr lang="en-US" sz="1100" b="1" dirty="0">
                <a:solidFill>
                  <a:schemeClr val="accent3"/>
                </a:solidFill>
              </a:rPr>
              <a:t>Roadmap</a:t>
            </a:r>
            <a:endParaRPr lang="en-US" sz="1100" dirty="0"/>
          </a:p>
        </p:txBody>
      </p:sp>
      <p:sp>
        <p:nvSpPr>
          <p:cNvPr id="25" name="Roadmap card 1"/>
          <p:cNvSpPr/>
          <p:nvPr/>
        </p:nvSpPr>
        <p:spPr>
          <a:xfrm>
            <a:off x="548640" y="3291840"/>
            <a:ext cx="3566160" cy="2697480"/>
          </a:xfrm>
          <a:prstGeom prst="roundRect">
            <a:avLst>
              <a:gd name="adj" fmla="val 4068"/>
            </a:avLst>
          </a:prstGeom>
          <a:solidFill>
            <a:schemeClr val="bg1"/>
          </a:solidFill>
          <a:ln w="15875">
            <a:solidFill>
              <a:schemeClr val="accent6"/>
            </a:solidFill>
            <a:prstDash val="solid"/>
          </a:ln>
          <a:effectLst>
            <a:outerShdw sx="100000" sy="100000" kx="0" ky="0" algn="bl" rotWithShape="0" blurRad="127000" dist="38100" dir="5400000">
              <a:srgbClr val="0B1F44">
                <a:alpha val="14000"/>
              </a:srgbClr>
            </a:outerShdw>
          </a:effectLst>
        </p:spPr>
      </p:sp>
      <p:sp>
        <p:nvSpPr>
          <p:cNvPr id="26" name="Roadmap icon 1"/>
          <p:cNvSpPr/>
          <p:nvPr/>
        </p:nvSpPr>
        <p:spPr>
          <a:xfrm>
            <a:off x="822960" y="3566160"/>
            <a:ext cx="566928" cy="566928"/>
          </a:xfrm>
          <a:prstGeom prst="ellipse">
            <a:avLst/>
          </a:prstGeom>
          <a:solidFill>
            <a:schemeClr val="accent6"/>
          </a:solidFill>
          <a:ln/>
        </p:spPr>
      </p:sp>
      <p:pic>
        <p:nvPicPr>
          <p:cNvPr id="27" name="Roadmap icon 1 icon" descr="preencoded.png">    </p:cNvPr>
          <p:cNvPicPr>
            <a:picLocks noChangeAspect="1"/>
          </p:cNvPicPr>
          <p:nvPr/>
        </p:nvPicPr>
        <p:blipFill>
          <a:blip r:embed="rId6"/>
          <a:stretch>
            <a:fillRect/>
          </a:stretch>
        </p:blipFill>
        <p:spPr>
          <a:xfrm>
            <a:off x="959023" y="3702223"/>
            <a:ext cx="294803" cy="294803"/>
          </a:xfrm>
          <a:prstGeom prst="rect">
            <a:avLst/>
          </a:prstGeom>
        </p:spPr>
      </p:pic>
      <p:sp>
        <p:nvSpPr>
          <p:cNvPr id="28" name="Text 20"/>
          <p:cNvSpPr txBox="1"/>
          <p:nvPr/>
        </p:nvSpPr>
        <p:spPr>
          <a:xfrm>
            <a:off x="1536192" y="3566160"/>
            <a:ext cx="2377440" cy="566928"/>
          </a:xfrm>
          <a:prstGeom prst="rect">
            <a:avLst/>
          </a:prstGeom>
          <a:noFill/>
          <a:ln/>
        </p:spPr>
        <p:txBody>
          <a:bodyPr wrap="square" lIns="0" tIns="0" rIns="0" bIns="0" rtlCol="0" anchor="ctr"/>
          <a:lstStyle/>
          <a:p>
            <a:pPr indent="0" marL="0">
              <a:buNone/>
            </a:pPr>
            <a:r>
              <a:rPr lang="en-US" sz="1800" b="1" dirty="0">
                <a:solidFill>
                  <a:schemeClr val="tx2"/>
                </a:solidFill>
              </a:rPr>
              <a:t>Everyday guidance</a:t>
            </a:r>
            <a:endParaRPr lang="en-US" sz="1800" dirty="0"/>
          </a:p>
        </p:txBody>
      </p:sp>
      <p:sp>
        <p:nvSpPr>
          <p:cNvPr id="29" name="Text 21"/>
          <p:cNvSpPr txBox="1"/>
          <p:nvPr/>
        </p:nvSpPr>
        <p:spPr>
          <a:xfrm>
            <a:off x="822960" y="4315968"/>
            <a:ext cx="310896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Onboarding assistant</a:t>
            </a:r>
            <a:endParaRPr lang="en-US" sz="1400" dirty="0"/>
          </a:p>
          <a:p>
            <a:pPr marL="342900" indent="-342900">
              <a:spcAft>
                <a:spcPts val="500"/>
              </a:spcAft>
              <a:buSzPct val="100000"/>
              <a:buChar char="•"/>
            </a:pPr>
            <a:r>
              <a:rPr lang="en-US" sz="1400" dirty="0">
                <a:solidFill>
                  <a:schemeClr val="tx1"/>
                </a:solidFill>
              </a:rPr>
              <a:t>SOP and process guidance</a:t>
            </a:r>
            <a:endParaRPr lang="en-US" sz="1400" dirty="0"/>
          </a:p>
          <a:p>
            <a:pPr marL="342900" indent="-342900">
              <a:spcAft>
                <a:spcPts val="500"/>
              </a:spcAft>
              <a:buSzPct val="100000"/>
              <a:buChar char="•"/>
            </a:pPr>
            <a:r>
              <a:rPr lang="en-US" sz="1400" dirty="0">
                <a:solidFill>
                  <a:schemeClr val="tx1"/>
                </a:solidFill>
              </a:rPr>
              <a:t>Personalized workspace</a:t>
            </a:r>
            <a:endParaRPr lang="en-US" sz="1400" dirty="0"/>
          </a:p>
          <a:p>
            <a:pPr marL="342900" indent="-342900">
              <a:spcAft>
                <a:spcPts val="500"/>
              </a:spcAft>
              <a:buSzPct val="100000"/>
              <a:buChar char="•"/>
            </a:pPr>
            <a:r>
              <a:rPr lang="en-US" sz="1400" dirty="0">
                <a:solidFill>
                  <a:schemeClr val="tx1"/>
                </a:solidFill>
              </a:rPr>
              <a:t>Meeting and conversation capture</a:t>
            </a:r>
            <a:endParaRPr lang="en-US" sz="1400" dirty="0"/>
          </a:p>
        </p:txBody>
      </p:sp>
      <p:sp>
        <p:nvSpPr>
          <p:cNvPr id="30" name="Roadmap card 2"/>
          <p:cNvSpPr/>
          <p:nvPr/>
        </p:nvSpPr>
        <p:spPr>
          <a:xfrm>
            <a:off x="4297680" y="3291840"/>
            <a:ext cx="3566160" cy="2697480"/>
          </a:xfrm>
          <a:prstGeom prst="roundRect">
            <a:avLst>
              <a:gd name="adj" fmla="val 4068"/>
            </a:avLst>
          </a:prstGeom>
          <a:solidFill>
            <a:schemeClr val="bg1"/>
          </a:solidFill>
          <a:ln w="15875">
            <a:solidFill>
              <a:schemeClr val="accent6"/>
            </a:solidFill>
            <a:prstDash val="solid"/>
          </a:ln>
          <a:effectLst>
            <a:outerShdw sx="100000" sy="100000" kx="0" ky="0" algn="bl" rotWithShape="0" blurRad="127000" dist="38100" dir="5400000">
              <a:srgbClr val="0B1F44">
                <a:alpha val="14000"/>
              </a:srgbClr>
            </a:outerShdw>
          </a:effectLst>
        </p:spPr>
      </p:sp>
      <p:sp>
        <p:nvSpPr>
          <p:cNvPr id="31" name="Roadmap icon 2"/>
          <p:cNvSpPr/>
          <p:nvPr/>
        </p:nvSpPr>
        <p:spPr>
          <a:xfrm>
            <a:off x="4572000" y="3566160"/>
            <a:ext cx="566928" cy="566928"/>
          </a:xfrm>
          <a:prstGeom prst="ellipse">
            <a:avLst/>
          </a:prstGeom>
          <a:solidFill>
            <a:schemeClr val="accent6"/>
          </a:solidFill>
          <a:ln/>
        </p:spPr>
      </p:sp>
      <p:pic>
        <p:nvPicPr>
          <p:cNvPr id="32" name="Roadmap icon 2 icon" descr="preencoded.png">    </p:cNvPr>
          <p:cNvPicPr>
            <a:picLocks noChangeAspect="1"/>
          </p:cNvPicPr>
          <p:nvPr/>
        </p:nvPicPr>
        <p:blipFill>
          <a:blip r:embed="rId7"/>
          <a:stretch>
            <a:fillRect/>
          </a:stretch>
        </p:blipFill>
        <p:spPr>
          <a:xfrm>
            <a:off x="4708063" y="3702223"/>
            <a:ext cx="294803" cy="294803"/>
          </a:xfrm>
          <a:prstGeom prst="rect">
            <a:avLst/>
          </a:prstGeom>
        </p:spPr>
      </p:pic>
      <p:sp>
        <p:nvSpPr>
          <p:cNvPr id="33" name="Text 24"/>
          <p:cNvSpPr txBox="1"/>
          <p:nvPr/>
        </p:nvSpPr>
        <p:spPr>
          <a:xfrm>
            <a:off x="5285232" y="3566160"/>
            <a:ext cx="2377440" cy="566928"/>
          </a:xfrm>
          <a:prstGeom prst="rect">
            <a:avLst/>
          </a:prstGeom>
          <a:noFill/>
          <a:ln/>
        </p:spPr>
        <p:txBody>
          <a:bodyPr wrap="square" lIns="0" tIns="0" rIns="0" bIns="0" rtlCol="0" anchor="ctr"/>
          <a:lstStyle/>
          <a:p>
            <a:pPr indent="0" marL="0">
              <a:buNone/>
            </a:pPr>
            <a:r>
              <a:rPr lang="en-US" sz="1800" b="1" dirty="0">
                <a:solidFill>
                  <a:schemeClr val="tx2"/>
                </a:solidFill>
              </a:rPr>
              <a:t>Governance at scale</a:t>
            </a:r>
            <a:endParaRPr lang="en-US" sz="1800" dirty="0"/>
          </a:p>
        </p:txBody>
      </p:sp>
      <p:sp>
        <p:nvSpPr>
          <p:cNvPr id="34" name="Text 25"/>
          <p:cNvSpPr txBox="1"/>
          <p:nvPr/>
        </p:nvSpPr>
        <p:spPr>
          <a:xfrm>
            <a:off x="4572000" y="4315968"/>
            <a:ext cx="310896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Version control and approvals</a:t>
            </a:r>
            <a:endParaRPr lang="en-US" sz="1400" dirty="0"/>
          </a:p>
          <a:p>
            <a:pPr marL="342900" indent="-342900">
              <a:spcAft>
                <a:spcPts val="500"/>
              </a:spcAft>
              <a:buSzPct val="100000"/>
              <a:buChar char="•"/>
            </a:pPr>
            <a:r>
              <a:rPr lang="en-US" sz="1400" dirty="0">
                <a:solidFill>
                  <a:schemeClr val="tx1"/>
                </a:solidFill>
              </a:rPr>
              <a:t>Audit trail and data lineage</a:t>
            </a:r>
            <a:endParaRPr lang="en-US" sz="1400" dirty="0"/>
          </a:p>
          <a:p>
            <a:pPr marL="342900" indent="-342900">
              <a:spcAft>
                <a:spcPts val="500"/>
              </a:spcAft>
              <a:buSzPct val="100000"/>
              <a:buChar char="•"/>
            </a:pPr>
            <a:r>
              <a:rPr lang="en-US" sz="1400" dirty="0">
                <a:solidFill>
                  <a:schemeClr val="tx1"/>
                </a:solidFill>
              </a:rPr>
              <a:t>Retention and lifecycle policies</a:t>
            </a:r>
            <a:endParaRPr lang="en-US" sz="1400" dirty="0"/>
          </a:p>
          <a:p>
            <a:pPr marL="342900" indent="-342900">
              <a:spcAft>
                <a:spcPts val="500"/>
              </a:spcAft>
              <a:buSzPct val="100000"/>
              <a:buChar char="•"/>
            </a:pPr>
            <a:r>
              <a:rPr lang="en-US" sz="1400" dirty="0">
                <a:solidFill>
                  <a:schemeClr val="tx1"/>
                </a:solidFill>
              </a:rPr>
              <a:t>Knowledge ownership</a:t>
            </a:r>
            <a:endParaRPr lang="en-US" sz="1400" dirty="0"/>
          </a:p>
        </p:txBody>
      </p:sp>
      <p:sp>
        <p:nvSpPr>
          <p:cNvPr id="35" name="Roadmap card 3"/>
          <p:cNvSpPr/>
          <p:nvPr/>
        </p:nvSpPr>
        <p:spPr>
          <a:xfrm>
            <a:off x="8046720" y="3291840"/>
            <a:ext cx="3566160" cy="2697480"/>
          </a:xfrm>
          <a:prstGeom prst="roundRect">
            <a:avLst>
              <a:gd name="adj" fmla="val 4068"/>
            </a:avLst>
          </a:prstGeom>
          <a:solidFill>
            <a:schemeClr val="bg1"/>
          </a:solidFill>
          <a:ln w="15875">
            <a:solidFill>
              <a:schemeClr val="accent6"/>
            </a:solidFill>
            <a:prstDash val="solid"/>
          </a:ln>
          <a:effectLst>
            <a:outerShdw sx="100000" sy="100000" kx="0" ky="0" algn="bl" rotWithShape="0" blurRad="127000" dist="38100" dir="5400000">
              <a:srgbClr val="0B1F44">
                <a:alpha val="14000"/>
              </a:srgbClr>
            </a:outerShdw>
          </a:effectLst>
        </p:spPr>
      </p:sp>
      <p:sp>
        <p:nvSpPr>
          <p:cNvPr id="36" name="Roadmap icon 3"/>
          <p:cNvSpPr/>
          <p:nvPr/>
        </p:nvSpPr>
        <p:spPr>
          <a:xfrm>
            <a:off x="8321040" y="3566160"/>
            <a:ext cx="566928" cy="566928"/>
          </a:xfrm>
          <a:prstGeom prst="ellipse">
            <a:avLst/>
          </a:prstGeom>
          <a:solidFill>
            <a:schemeClr val="accent6"/>
          </a:solidFill>
          <a:ln/>
        </p:spPr>
      </p:sp>
      <p:pic>
        <p:nvPicPr>
          <p:cNvPr id="37" name="Roadmap icon 3 icon" descr="preencoded.png">    </p:cNvPr>
          <p:cNvPicPr>
            <a:picLocks noChangeAspect="1"/>
          </p:cNvPicPr>
          <p:nvPr/>
        </p:nvPicPr>
        <p:blipFill>
          <a:blip r:embed="rId8"/>
          <a:stretch>
            <a:fillRect/>
          </a:stretch>
        </p:blipFill>
        <p:spPr>
          <a:xfrm>
            <a:off x="8457103" y="3702223"/>
            <a:ext cx="294803" cy="294803"/>
          </a:xfrm>
          <a:prstGeom prst="rect">
            <a:avLst/>
          </a:prstGeom>
        </p:spPr>
      </p:pic>
      <p:sp>
        <p:nvSpPr>
          <p:cNvPr id="38" name="Text 28"/>
          <p:cNvSpPr txBox="1"/>
          <p:nvPr/>
        </p:nvSpPr>
        <p:spPr>
          <a:xfrm>
            <a:off x="9034272" y="3566160"/>
            <a:ext cx="2377440" cy="566928"/>
          </a:xfrm>
          <a:prstGeom prst="rect">
            <a:avLst/>
          </a:prstGeom>
          <a:noFill/>
          <a:ln/>
        </p:spPr>
        <p:txBody>
          <a:bodyPr wrap="square" lIns="0" tIns="0" rIns="0" bIns="0" rtlCol="0" anchor="ctr"/>
          <a:lstStyle/>
          <a:p>
            <a:pPr indent="0" marL="0">
              <a:buNone/>
            </a:pPr>
            <a:r>
              <a:rPr lang="en-US" sz="1800" b="1" dirty="0">
                <a:solidFill>
                  <a:schemeClr val="tx2"/>
                </a:solidFill>
              </a:rPr>
              <a:t>Autonomous intelligence</a:t>
            </a:r>
            <a:endParaRPr lang="en-US" sz="1800" dirty="0"/>
          </a:p>
        </p:txBody>
      </p:sp>
      <p:sp>
        <p:nvSpPr>
          <p:cNvPr id="39" name="Text 29"/>
          <p:cNvSpPr txBox="1"/>
          <p:nvPr/>
        </p:nvSpPr>
        <p:spPr>
          <a:xfrm>
            <a:off x="8321040" y="4315968"/>
            <a:ext cx="310896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Knowledge gap and risk detection</a:t>
            </a:r>
            <a:endParaRPr lang="en-US" sz="1400" dirty="0"/>
          </a:p>
          <a:p>
            <a:pPr marL="342900" indent="-342900">
              <a:spcAft>
                <a:spcPts val="500"/>
              </a:spcAft>
              <a:buSzPct val="100000"/>
              <a:buChar char="•"/>
            </a:pPr>
            <a:r>
              <a:rPr lang="en-US" sz="1400" dirty="0">
                <a:solidFill>
                  <a:schemeClr val="tx1"/>
                </a:solidFill>
              </a:rPr>
              <a:t>Emerging topic detection</a:t>
            </a:r>
            <a:endParaRPr lang="en-US" sz="1400" dirty="0"/>
          </a:p>
          <a:p>
            <a:pPr marL="342900" indent="-342900">
              <a:spcAft>
                <a:spcPts val="500"/>
              </a:spcAft>
              <a:buSzPct val="100000"/>
              <a:buChar char="•"/>
            </a:pPr>
            <a:r>
              <a:rPr lang="en-US" sz="1400" dirty="0">
                <a:solidFill>
                  <a:schemeClr val="tx1"/>
                </a:solidFill>
              </a:rPr>
              <a:t>Predictive knowledge delivery</a:t>
            </a:r>
            <a:endParaRPr lang="en-US" sz="1400" dirty="0"/>
          </a:p>
          <a:p>
            <a:pPr marL="342900" indent="-342900">
              <a:spcAft>
                <a:spcPts val="500"/>
              </a:spcAft>
              <a:buSzPct val="100000"/>
              <a:buChar char="•"/>
            </a:pPr>
            <a:r>
              <a:rPr lang="en-US" sz="1400" dirty="0">
                <a:solidFill>
                  <a:schemeClr val="tx1"/>
                </a:solidFill>
              </a:rPr>
              <a:t>AI knowledge curator</a:t>
            </a:r>
            <a:endParaRPr lang="en-US" sz="1400" dirty="0"/>
          </a:p>
        </p:txBody>
      </p:sp>
      <p:sp>
        <p:nvSpPr>
          <p:cNvPr id="25" name="Slide Number Placeholder 0"/>
          <p:cNvSpPr>
            <a:spLocks noGrp="1"/>
          </p:cNvSpPr>
          <p:nvPr>
            <p:ph type="sldNum" sz="quarter" idx="4294967295"/>
          </p:nvPr>
        </p:nvSpPr>
        <p:spPr>
          <a:xfrm>
            <a:off x="11183112" y="6318504"/>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548640" y="2011680"/>
            <a:ext cx="6583680" cy="329184"/>
          </a:xfrm>
          <a:prstGeom prst="rect">
            <a:avLst/>
          </a:prstGeom>
          <a:noFill/>
          <a:ln/>
        </p:spPr>
        <p:txBody>
          <a:bodyPr wrap="square" lIns="0" tIns="0" rIns="0" bIns="0" rtlCol="0" anchor="ctr"/>
          <a:lstStyle/>
          <a:p>
            <a:pPr indent="0" marL="0">
              <a:buNone/>
            </a:pPr>
            <a:r>
              <a:rPr lang="en-US" sz="1300" b="1" spc="200" kern="0" dirty="0">
                <a:solidFill>
                  <a:schemeClr val="accent2"/>
                </a:solidFill>
              </a:rPr>
              <a:t>BACK TO WHERE WE STARTED</a:t>
            </a:r>
            <a:endParaRPr lang="en-US" sz="1300" dirty="0"/>
          </a:p>
        </p:txBody>
      </p:sp>
      <p:sp>
        <p:nvSpPr>
          <p:cNvPr id="3" name="Text 0"/>
          <p:cNvSpPr/>
          <p:nvPr>
            <p:ph idx="102" type="title" hasCustomPrompt="1"/>
          </p:nvPr>
        </p:nvSpPr>
        <p:spPr>
          <a:xfrm>
            <a:off x="548640" y="2423160"/>
            <a:ext cx="6949440" cy="1920240"/>
          </a:xfrm>
          <a:prstGeom prst="rect">
            <a:avLst/>
          </a:prstGeom>
          <a:noFill/>
          <a:ln/>
        </p:spPr>
        <p:txBody>
          <a:bodyPr wrap="square" lIns="0" tIns="0" rIns="0" bIns="0" rtlCol="0" anchor="t"/>
          <a:lstStyle/>
          <a:p>
            <a:pPr algn="l" indent="0" marL="0">
              <a:buNone/>
            </a:pPr>
            <a:r>
              <a:rPr lang="en-US" sz="4800" b="1" dirty="0">
                <a:solidFill>
                  <a:schemeClr val="bg1"/>
                </a:solidFill>
              </a:rPr>
              <a:t>Two years from now, someone will ask </a:t>
            </a:r>
            <a:pPr algn="l" indent="0" marL="0">
              <a:buNone/>
            </a:pPr>
            <a:r>
              <a:rPr lang="en-US" sz="4800" b="1" dirty="0">
                <a:solidFill>
                  <a:schemeClr val="accent2"/>
                </a:solidFill>
              </a:rPr>
              <a:t>why.</a:t>
            </a:r>
            <a:endParaRPr lang="en-US" sz="4800" dirty="0"/>
          </a:p>
        </p:txBody>
      </p:sp>
      <p:sp>
        <p:nvSpPr>
          <p:cNvPr id="4" name="Text 0"/>
          <p:cNvSpPr/>
          <p:nvPr>
            <p:ph idx="103" type="body" hasCustomPrompt="1"/>
          </p:nvPr>
        </p:nvSpPr>
        <p:spPr>
          <a:xfrm>
            <a:off x="548640" y="4434840"/>
            <a:ext cx="6035040" cy="1097280"/>
          </a:xfrm>
          <a:prstGeom prst="rect">
            <a:avLst/>
          </a:prstGeom>
          <a:noFill/>
          <a:ln/>
        </p:spPr>
        <p:txBody>
          <a:bodyPr wrap="square" lIns="0" tIns="0" rIns="0" bIns="0" rtlCol="0" anchor="t"/>
          <a:lstStyle/>
          <a:p>
            <a:pPr indent="0" marL="0">
              <a:buNone/>
            </a:pPr>
            <a:r>
              <a:rPr lang="en-US" sz="1800" dirty="0">
                <a:solidFill>
                  <a:schemeClr val="accent6"/>
                </a:solidFill>
              </a:rPr>
              <a:t>With KMS, the answer will be there, with its reason, its source and the person who knows.</a:t>
            </a:r>
            <a:endParaRPr lang="en-US" sz="1800" dirty="0"/>
          </a:p>
          <a:p>
            <a:pPr indent="0" marL="0">
              <a:buNone/>
            </a:pPr>
            <a:r>
              <a:rPr lang="en-US" sz="800" dirty="0">
                <a:solidFill>
                  <a:schemeClr val="accent6"/>
                </a:solidFill>
              </a:rPr>
              <a:t> </a:t>
            </a:r>
            <a:endParaRPr lang="en-US" sz="1800" dirty="0"/>
          </a:p>
          <a:p>
            <a:pPr indent="0" marL="0">
              <a:buNone/>
            </a:pPr>
            <a:r>
              <a:rPr lang="en-US" sz="1800" b="1" dirty="0">
                <a:solidFill>
                  <a:schemeClr val="bg1"/>
                </a:solidFill>
              </a:rPr>
              <a:t>Let's start with your own documents.</a:t>
            </a:r>
            <a:endParaRPr lang="en-US" sz="1800" dirty="0"/>
          </a:p>
        </p:txBody>
      </p:sp>
    </p:spTree>
  </p:cSld>
  <p:clrMapOvr>
    <a:masterClrMapping/>
  </p:clrMapOvr>
</p:sld>
</file>

<file path=ppt/theme/theme1.xml><?xml version="1.0" encoding="utf-8"?>
<a:theme xmlns:a="http://schemas.openxmlformats.org/drawingml/2006/main" name="KMS NGI">
  <a:themeElements>
    <a:clrScheme name="KMS NGI">
      <a:dk1>
        <a:srgbClr val="0F172A"/>
      </a:dk1>
      <a:lt1>
        <a:srgbClr val="FFFFFF"/>
      </a:lt1>
      <a:dk2>
        <a:srgbClr val="0B1F44"/>
      </a:dk2>
      <a:lt2>
        <a:srgbClr val="EEF3FA"/>
      </a:lt2>
      <a:accent1>
        <a:srgbClr val="1864D7"/>
      </a:accent1>
      <a:accent2>
        <a:srgbClr val="0CA5D5"/>
      </a:accent2>
      <a:accent3>
        <a:srgbClr val="F2A33A"/>
      </a:accent3>
      <a:accent4>
        <a:srgbClr val="5B6B82"/>
      </a:accent4>
      <a:accent5>
        <a:srgbClr val="E05D5D"/>
      </a:accent5>
      <a:accent6>
        <a:srgbClr val="DCE8F7"/>
      </a:accent6>
      <a:hlink>
        <a:srgbClr val="1864D7"/>
      </a:hlink>
      <a:folHlink>
        <a:srgbClr val="0B1F44"/>
      </a:folHlink>
    </a:clrScheme>
    <a:fontScheme name="KMS NG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Next Generation Innovation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KMS — Enterprise Knowledge Operating System</dc:title>
  <dc:subject>PptxGenJS Presentation</dc:subject>
  <dc:creator>Next Generation Innovation L.L.C.</dc:creator>
  <cp:lastModifiedBy>Next Generation Innovation L.L.C.</cp:lastModifiedBy>
  <cp:revision>1</cp:revision>
  <dcterms:created xsi:type="dcterms:W3CDTF">2026-10-06T01:38:49Z</dcterms:created>
  <dcterms:modified xsi:type="dcterms:W3CDTF">2026-10-06T01:38:49Z</dcterms:modified>
</cp:coreProperties>
</file>